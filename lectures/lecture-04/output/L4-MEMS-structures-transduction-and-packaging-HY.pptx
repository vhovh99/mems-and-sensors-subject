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0:00. BEFORE THE BELL: have the L3 exit tickets in front of you, the</a:t>
            </a:r>
          </a:p>
          <a:p>
            <a:r>
              <a:t>ISM330DHCX datasheet open at the zero-g level rows with the page number written</a:t>
            </a:r>
          </a:p>
          <a:p>
            <a:r>
              <a:t>on your hand, and the twelve sets of sequencing cards counted out.</a:t>
            </a:r>
          </a:p>
          <a:p/>
          <a:p>
            <a:r>
              <a:t>Write 8.73 mg on the physical board before anyone arrives and do not erase it.</a:t>
            </a:r>
          </a:p>
          <a:p>
            <a:r>
              <a:t>You will point at it six times today.</a:t>
            </a:r>
          </a:p>
          <a:p/>
          <a:p>
            <a:r>
              <a:t>Say the hook line out loud rather than reading it: "Lecture 2 ended with a</a:t>
            </a:r>
          </a:p>
          <a:p>
            <a:r>
              <a:t>question I could not answer. That was deliberate. Today we open the box."</a:t>
            </a:r>
          </a:p>
          <a:p/>
          <a:p>
            <a:r>
              <a:t>Then go straight to the muddiest points. Do not preamble.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0:00–0:02. TEMPLATE SLIDE — you must fill it in before class.</a:t>
            </a:r>
          </a:p>
          <a:p/>
          <a:p>
            <a:r>
              <a:t>Transcribe the three most frequent muddiest points from Lecture 3 and answer each</a:t>
            </a:r>
          </a:p>
          <a:p>
            <a:r>
              <a:t>in about twenty-five seconds. Name the concept, never the student.</a:t>
            </a:r>
          </a:p>
          <a:p/>
          <a:p>
            <a:r>
              <a:t>If aliasing or anti-alias filtering is still unresolved for a large part of the</a:t>
            </a:r>
          </a:p>
          <a:p>
            <a:r>
              <a:t>room, say one sentence and promise Laboratory 2 — do not re-teach it here, you</a:t>
            </a:r>
          </a:p>
          <a:p>
            <a:r>
              <a:t>have no slack today.</a:t>
            </a:r>
          </a:p>
          <a:p/>
          <a:p>
            <a:r>
              <a:t>If the tickets were useless, delete this slide rather than improvising. A hollow</a:t>
            </a:r>
          </a:p>
          <a:p>
            <a:r>
              <a:t>ritual is worse than none, and today's opening needs its two minutes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0:02–0:05. RETRIEVAL PRACTICE, not review. Ask before you show.</a:t>
            </a:r>
          </a:p>
          <a:p/>
          <a:p>
            <a:r>
              <a:t>"Notes down. Four relations from Lecture 1 — mass, stiffness, resonance, surface</a:t>
            </a:r>
          </a:p>
          <a:p>
            <a:r>
              <a:t>to volume. Somebody give me one." Take four students, one relation each, and let</a:t>
            </a:r>
          </a:p>
          <a:p>
            <a:r>
              <a:t>the room correct them. It costs ninety seconds and beats re-explaining.</a:t>
            </a:r>
          </a:p>
          <a:p/>
          <a:p>
            <a:r>
              <a:t>If they cannot produce m ∝ L³, write it up and leave it up — the honest ledger at</a:t>
            </a:r>
          </a:p>
          <a:p>
            <a:r>
              <a:t>minute 73 collapses without it.</a:t>
            </a:r>
          </a:p>
          <a:p/>
          <a:p>
            <a:r>
              <a:t>Then the bridge: "You have used these to predict behaviour. Today they turn into</a:t>
            </a:r>
          </a:p>
          <a:p>
            <a:r>
              <a:t>process steps and a stress path."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0:05–0:07. Put it up in silence and let them recognise it. Somebody will.</a:t>
            </a:r>
          </a:p>
          <a:p/>
          <a:p>
            <a:r>
              <a:t>Then say plainly: "Two weeks ago I told you a number could not exist and moved</a:t>
            </a:r>
          </a:p>
          <a:p>
            <a:r>
              <a:t>on. That was a debt. A course that leaves debts like that unpaid teaches students</a:t>
            </a:r>
          </a:p>
          <a:p>
            <a:r>
              <a:t>that engineering has magic in it."</a:t>
            </a:r>
          </a:p>
          <a:p/>
          <a:p>
            <a:r>
              <a:t>Ask for the reason, take two answers, accept none of them yet: "Hold those. In</a:t>
            </a:r>
          </a:p>
          <a:p>
            <a:r>
              <a:t>three minutes you will vote on it, and I will not tell you the answer until</a:t>
            </a:r>
          </a:p>
          <a:p>
            <a:r>
              <a:t>minute seventy, by which point you will not need me to."</a:t>
            </a:r>
          </a:p>
          <a:p/>
          <a:p>
            <a:r>
              <a:t>Do not explain. The poll is coming.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0:07–0:08. Sixty seconds, four lines, read them and stop.</a:t>
            </a:r>
          </a:p>
          <a:p/>
          <a:p>
            <a:r>
              <a:t>Point at line 4 and make it physical: "You will tighten that screw yourself, in</a:t>
            </a:r>
          </a:p>
          <a:p>
            <a:r>
              <a:t>the capstone, with a screwdriver, by feel. That torque is now part of your</a:t>
            </a:r>
          </a:p>
          <a:p>
            <a:r>
              <a:t>instrument."</a:t>
            </a:r>
          </a:p>
          <a:p/>
          <a:p>
            <a:r>
              <a:t>The sentence to land, in the first person because that is how habits install:</a:t>
            </a:r>
          </a:p>
          <a:p>
            <a:r>
              <a:t>"The datasheet describes a die. I bought an assembly, and I built the rest of it."</a:t>
            </a:r>
          </a:p>
          <a:p/>
          <a:p>
            <a:r>
              <a:t>Do not go further. This slide only has to make the poll feel answerable rather</a:t>
            </a:r>
          </a:p>
          <a:p>
            <a:r>
              <a:t>than mystical. Go straight to the vote.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0:08–0:11. Baseline. DO NOT REVEAL. Record the distribution; you re-show</a:t>
            </a:r>
          </a:p>
          <a:p>
            <a:r>
              <a:t>this slide at minute seventy.</a:t>
            </a:r>
          </a:p>
          <a:p/>
          <a:p>
            <a:r>
              <a:t>Expect 25–40 % for B. This poll is less about the split than about planting the</a:t>
            </a:r>
          </a:p>
          <a:p>
            <a:r>
              <a:t>question, so do not fish for the answer.</a:t>
            </a:r>
          </a:p>
          <a:p/>
          <a:p>
            <a:r>
              <a:t>A is the commercial-secrecy instinct — worth thirty seconds of dismantling later:</a:t>
            </a:r>
          </a:p>
          <a:p>
            <a:r>
              <a:t>they publish noise density, which is far more competitively sensitive.</a:t>
            </a:r>
          </a:p>
          <a:p/>
          <a:p>
            <a:r>
              <a:t>C is the most useful wrong answer, because somebody will go looking during the</a:t>
            </a:r>
          </a:p>
          <a:p>
            <a:r>
              <a:t>break. If they find an app note, that is a gift — read its mounting-stress</a:t>
            </a:r>
          </a:p>
          <a:p>
            <a:r>
              <a:t>mitigation list aloud at minute seventy.</a:t>
            </a:r>
          </a:p>
          <a:p/>
          <a:p>
            <a:r>
              <a:t>D is misconception M1 in its purest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0:11–0:12. These are the real rows, from the real part in their kit. Say</a:t>
            </a:r>
          </a:p>
          <a:p>
            <a:r>
              <a:t>so — after two weeks of representative extracts, that matters.</a:t>
            </a:r>
          </a:p>
          <a:p/>
          <a:p>
            <a:r>
              <a:t>Read row 1 aloud with its condition, twice: "plus or minus ten milli-g typical,</a:t>
            </a:r>
          </a:p>
          <a:p>
            <a:r>
              <a:t>plus or minus sixty-five maximum, at twenty-five degrees, AFTER SOLDERING."</a:t>
            </a:r>
          </a:p>
          <a:p/>
          <a:p>
            <a:r>
              <a:t>Then the honesty point: "This is not a manufacturer hiding. This is a</a:t>
            </a:r>
          </a:p>
          <a:p>
            <a:r>
              <a:t>manufacturer telling you exactly where the boundary of their responsibility is,</a:t>
            </a:r>
          </a:p>
          <a:p>
            <a:r>
              <a:t>in five words, and almost nobody reads them."</a:t>
            </a:r>
          </a:p>
          <a:p/>
          <a:p>
            <a:r>
              <a:t>Hold the arithmetic. The next slide is the punch.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0:12–0:14. Do both divisions on the board, out loud. Ten over eight point</a:t>
            </a:r>
          </a:p>
          <a:p>
            <a:r>
              <a:t>seven three is one point one five. Sixty-five over eight point seven three is</a:t>
            </a:r>
          </a:p>
          <a:p>
            <a:r>
              <a:t>seven point four five.</a:t>
            </a:r>
          </a:p>
          <a:p/>
          <a:p>
            <a:r>
              <a:t>Then stop and let it sit: "The offset of the part in your kit is larger than the</a:t>
            </a:r>
          </a:p>
          <a:p>
            <a:r>
              <a:t>tilt you were asked to measure. Not comparable to it — larger."</a:t>
            </a:r>
          </a:p>
          <a:p/>
          <a:p>
            <a:r>
              <a:t>Take the obvious objection from the room, because someone will raise it: yes, you</a:t>
            </a:r>
          </a:p>
          <a:p>
            <a:r>
              <a:t>can calibrate an offset out. Say "hold that thought, it is the best question in</a:t>
            </a:r>
          </a:p>
          <a:p>
            <a:r>
              <a:t>the lecture, and it is slide thirty-four." Then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0:14. Section marker, fifteen seconds. Read the two lines and move.</a:t>
            </a:r>
          </a:p>
          <a:p/>
          <a:p>
            <a:r>
              <a:t>Say the promise out loud because it lowers the cognitive load of the whole chunk:</a:t>
            </a:r>
          </a:p>
          <a:p>
            <a:r>
              <a:t>"Five, not fifty. Five fits in your head, and five is genuinely all there is.</a:t>
            </a:r>
          </a:p>
          <a:p>
            <a:r>
              <a:t>Every sensor in the second half of this course is one of these five shapes with a</a:t>
            </a:r>
          </a:p>
          <a:p>
            <a:r>
              <a:t>different transduction bolted onto it."</a:t>
            </a:r>
          </a:p>
          <a:p/>
          <a:p>
            <a:r>
              <a:t>Do not list them twice. The next slide starts drawing.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0:14–0:16. Deliberately the SAME picture as Lecture 1. Say that: "I have</a:t>
            </a:r>
          </a:p>
          <a:p>
            <a:r>
              <a:t>not redrawn this. You have seen it. What has changed is what you can now ask</a:t>
            </a:r>
          </a:p>
          <a:p>
            <a:r>
              <a:t>about it."</a:t>
            </a:r>
          </a:p>
          <a:p/>
          <a:p>
            <a:r>
              <a:t>Point at the one-to-two micrometre gap and name the stake: "C is epsilon A over</a:t>
            </a:r>
          </a:p>
          <a:p>
            <a:r>
              <a:t>d. If assembly stress changes d by one per cent, the capacitance changes by one</a:t>
            </a:r>
          </a:p>
          <a:p>
            <a:r>
              <a:t>per cent, and that appears as an offset. That is the ten milli-g."</a:t>
            </a:r>
          </a:p>
          <a:p/>
          <a:p>
            <a:r>
              <a:t>That single sentence is the whole lecture in miniature. If you have to cut</a:t>
            </a:r>
          </a:p>
          <a:p>
            <a:r>
              <a:t>something later, do not cut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0:16–0:18. Three boxes, thirty seconds each, then the grey paragraph.</a:t>
            </a:r>
          </a:p>
          <a:p/>
          <a:p>
            <a:r>
              <a:t>The trap to name explicitly: students want sensitivity and bandwidth to be</a:t>
            </a:r>
          </a:p>
          <a:p>
            <a:r>
              <a:t>independent knobs. "They are the same two numbers. Make the mass bigger and you</a:t>
            </a:r>
          </a:p>
          <a:p>
            <a:r>
              <a:t>buy sensitivity and lose bandwidth. There is no setting for this — it was decided</a:t>
            </a:r>
          </a:p>
          <a:p>
            <a:r>
              <a:t>by a mask."</a:t>
            </a:r>
          </a:p>
          <a:p/>
          <a:p>
            <a:r>
              <a:t>That is the first place in the course where a specification is traceable to a</a:t>
            </a:r>
          </a:p>
          <a:p>
            <a:r>
              <a:t>manufacturing decision rather than a design choice, so say the word "mask" and</a:t>
            </a:r>
          </a:p>
          <a:p>
            <a:r>
              <a:t>let it land. It comes back at minute fifty-two.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0:18–0:20. Two cards, and one connection they will not make unaided.</a:t>
            </a:r>
          </a:p>
          <a:p/>
          <a:p>
            <a:r>
              <a:t>Say the connection: "A cantilever is a flexure with nothing on the end. You have</a:t>
            </a:r>
          </a:p>
          <a:p>
            <a:r>
              <a:t>not learned a second structure, you have learned the same one used differently."</a:t>
            </a:r>
          </a:p>
          <a:p>
            <a:r>
              <a:t>That halves the load of this chunk.</a:t>
            </a:r>
          </a:p>
          <a:p/>
          <a:p>
            <a:r>
              <a:t>The exponents are the teaching point on the beam: t cubed. Do the arithmetic</a:t>
            </a:r>
          </a:p>
          <a:p>
            <a:r>
              <a:t>aloud — five per cent thickness error, sixteen per cent stiffness error — and</a:t>
            </a:r>
          </a:p>
          <a:p>
            <a:r>
              <a:t>promise that deposition at minute fifty-two is where the five per cent comes from.</a:t>
            </a:r>
          </a:p>
          <a:p/>
          <a:p>
            <a:r>
              <a:t>Plant the diaphragm note deliberately. Poll 2 is four minutes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0:20–0:22. Spend your time on the comb, not the resonator.</a:t>
            </a:r>
          </a:p>
          <a:p/>
          <a:p>
            <a:r>
              <a:t>Say the gyroscope sentence slowly and once: drive comb sustains, sense comb</a:t>
            </a:r>
          </a:p>
          <a:p>
            <a:r>
              <a:t>reads Coriolis. Lecture 6 will thank you, and a student who holds this needs</a:t>
            </a:r>
          </a:p>
          <a:p>
            <a:r>
              <a:t>half as long in week six.</a:t>
            </a:r>
          </a:p>
          <a:p/>
          <a:p>
            <a:r>
              <a:t>On the resonator, one line only: "the output is a frequency, and frequency is the</a:t>
            </a:r>
          </a:p>
          <a:p>
            <a:r>
              <a:t>one quantity we can measure to nine digits with a cheap counter."</a:t>
            </a:r>
          </a:p>
          <a:p/>
          <a:p>
            <a:r>
              <a:t>The grey paragraph is the second plant for minute fifty-two — lithography sets d,</a:t>
            </a:r>
          </a:p>
          <a:p>
            <a:r>
              <a:t>d sets C, C sets the noise floor. You will ask for that chain back in the</a:t>
            </a:r>
          </a:p>
          <a:p>
            <a:r>
              <a:t>sequencing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0:22. DO NOT READ THIS SLIDE OUT. It is a reference page and it is in the</a:t>
            </a:r>
          </a:p>
          <a:p>
            <a:r>
              <a:t>handout — say both things so nobody transcribes it.</a:t>
            </a:r>
          </a:p>
          <a:p/>
          <a:p>
            <a:r>
              <a:t>Point at exactly one column: "Senses". "Read down that column and notice that</a:t>
            </a:r>
          </a:p>
          <a:p>
            <a:r>
              <a:t>four different measurands come out of five shapes. You are not learning devices.</a:t>
            </a:r>
          </a:p>
          <a:p>
            <a:r>
              <a:t>You are learning shapes, and then which measurand each shape is good for."</a:t>
            </a:r>
          </a:p>
          <a:p/>
          <a:p>
            <a:r>
              <a:t>Fifteen seconds, then the poll. If you are running late, this is the slide to</a:t>
            </a:r>
          </a:p>
          <a:p>
            <a:r>
              <a:t>put on screen while you set up Poll 2 rather than a slide to talk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0:22–0:24. Hands up simultaneously on a count. Expect A and B combined at</a:t>
            </a:r>
          </a:p>
          <a:p>
            <a:r>
              <a:t>30–45 % — those are the students who have not yet separated structure from device</a:t>
            </a:r>
          </a:p>
          <a:p>
            <a:r>
              <a:t>category, and they are who this chunk was for.</a:t>
            </a:r>
          </a:p>
          <a:p/>
          <a:p>
            <a:r>
              <a:t>Expect C at 30–40 % and D at 15–25 %.</a:t>
            </a:r>
          </a:p>
          <a:p/>
          <a:p>
            <a:r>
              <a:t>This item is deliberately a little unfair, and you are going to say so on the</a:t>
            </a:r>
          </a:p>
          <a:p>
            <a:r>
              <a:t>next slide, so do not pretend otherwise now. Take one spoken reason for A or B</a:t>
            </a:r>
          </a:p>
          <a:p>
            <a:r>
              <a:t>before you reveal — "what is a proof mass FOR?" — because that answer is the</a:t>
            </a:r>
          </a:p>
          <a:p>
            <a:r>
              <a:t>thirty seconds of the chunk that actually teaches.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0:24–0:26. Reveal, then be honest immediately — the honesty is the lesson.</a:t>
            </a:r>
          </a:p>
          <a:p/>
          <a:p>
            <a:r>
              <a:t>Say it in these words: "If you voted D, you were right about the physics and I</a:t>
            </a:r>
          </a:p>
          <a:p>
            <a:r>
              <a:t>asked a bad question. Both C and D are diaphragm devices. C is the intended</a:t>
            </a:r>
          </a:p>
          <a:p>
            <a:r>
              <a:t>answer only because a barometer is unambiguously one."</a:t>
            </a:r>
          </a:p>
          <a:p/>
          <a:p>
            <a:r>
              <a:t>Then to the A and B voters: "Tell me what a proof mass is for." Answer: inertia.</a:t>
            </a:r>
          </a:p>
          <a:p>
            <a:r>
              <a:t>It converts acceleration into force. A pressure sensor has nothing to accelerate.</a:t>
            </a:r>
          </a:p>
          <a:p/>
          <a:p>
            <a:r>
              <a:t>Modelling a flawed item honestly is worth more than a clean item. Do not skip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0:26–0:29. Walk down the Structure column only. Do not discuss devices —</a:t>
            </a:r>
          </a:p>
          <a:p>
            <a:r>
              <a:t>that is Module B's job and you will run out of clock.</a:t>
            </a:r>
          </a:p>
          <a:p/>
          <a:p>
            <a:r>
              <a:t>Stop on L7. "The magnetometer has no structure. Nothing moves. It is a solid-state</a:t>
            </a:r>
          </a:p>
          <a:p>
            <a:r>
              <a:t>effect in silicon, and it is in this course because it sits on the same die as</a:t>
            </a:r>
          </a:p>
          <a:p>
            <a:r>
              <a:t>the accelerometer in your kit." Being honest that the pattern has an exception</a:t>
            </a:r>
          </a:p>
          <a:p>
            <a:r>
              <a:t>makes the pattern credible.</a:t>
            </a:r>
          </a:p>
          <a:p/>
          <a:p>
            <a:r>
              <a:t>Then the payoff: "You now have a reading strategy for seven lectures. Ask what</a:t>
            </a:r>
          </a:p>
          <a:p>
            <a:r>
              <a:t>shape it is before you ask what it measures."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0:29–0:30. Read the black line once. Then the grey block once. Then stop</a:t>
            </a:r>
          </a:p>
          <a:p>
            <a:r>
              <a:t>talking for three seconds — this slide works on silence.</a:t>
            </a:r>
          </a:p>
          <a:p/>
          <a:p>
            <a:r>
              <a:t>Why it is here: the single largest delivery risk in the semester plan is that</a:t>
            </a:r>
          </a:p>
          <a:p>
            <a:r>
              <a:t>Lectures 5 to 11 are experienced as a list of unrelated devices. This slide, the</a:t>
            </a:r>
          </a:p>
          <a:p>
            <a:r>
              <a:t>close at minute seventy-six, and exit-ticket question 2 are the three places you</a:t>
            </a:r>
          </a:p>
          <a:p>
            <a:r>
              <a:t>push against that. Say the same sentence in all three.</a:t>
            </a:r>
          </a:p>
          <a:p/>
          <a:p>
            <a:r>
              <a:t>If the room looks relieved, you have landed it. Move on briskly.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0:30–0:32. DESIGNATED CUT. If you reached this slide later than minute</a:t>
            </a:r>
          </a:p>
          <a:p>
            <a:r>
              <a:t>thirty-one, put it on the screen, read the amber line, and go.</a:t>
            </a:r>
          </a:p>
          <a:p/>
          <a:p>
            <a:r>
              <a:t>If you have the time, the amber line is the idea: the same physics is a feature</a:t>
            </a:r>
          </a:p>
          <a:p>
            <a:r>
              <a:t>or a defect depending only on what you claimed to be selling. Ask the room which</a:t>
            </a:r>
          </a:p>
          <a:p>
            <a:r>
              <a:t>of the four is the error term in the other three. They will get it.</a:t>
            </a:r>
          </a:p>
          <a:p/>
          <a:p>
            <a:r>
              <a:t>This is also where a keen student asks about quartz crystals and temperature</a:t>
            </a:r>
          </a:p>
          <a:p>
            <a:r>
              <a:t>compensation. One sentence, then defer to Lecture 9. Do not follow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0:32. Section marker, fifteen seconds — but say the question, because it</a:t>
            </a:r>
          </a:p>
          <a:p>
            <a:r>
              <a:t>is the spine of the next twenty minutes.</a:t>
            </a:r>
          </a:p>
          <a:p/>
          <a:p>
            <a:r>
              <a:t>"Six principles. I could compare them on ten axes and you would remember none of</a:t>
            </a:r>
          </a:p>
          <a:p>
            <a:r>
              <a:t>it. So we are going to compare them on one axis that actually changes an</a:t>
            </a:r>
          </a:p>
          <a:p>
            <a:r>
              <a:t>engineering decision: static response. Can this thing measure a quantity that is</a:t>
            </a:r>
          </a:p>
          <a:p>
            <a:r>
              <a:t>sitting still?"</a:t>
            </a:r>
          </a:p>
          <a:p/>
          <a:p>
            <a:r>
              <a:t>Flag the difficulty honestly: "The hardest vote of the lecture is fourteen</a:t>
            </a:r>
          </a:p>
          <a:p>
            <a:r>
              <a:t>minutes away, and it lives on exactly this question."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0:32–0:36. Two cards, two minutes each, and one contrast.</a:t>
            </a:r>
          </a:p>
          <a:p/>
          <a:p>
            <a:r>
              <a:t>Capacitive: "It measures a distance. A distance still exists when nothing is</a:t>
            </a:r>
          </a:p>
          <a:p>
            <a:r>
              <a:t>happening, so the reading survives standing still. The price is that the signal</a:t>
            </a:r>
          </a:p>
          <a:p>
            <a:r>
              <a:t>is tiny and high-impedance, which is why the electronics have to be on the same</a:t>
            </a:r>
          </a:p>
          <a:p>
            <a:r>
              <a:t>die — you cannot run that signal down a track."</a:t>
            </a:r>
          </a:p>
          <a:p/>
          <a:p>
            <a:r>
              <a:t>Piezoresistive: "Millivolts, robust, easy. The price is on the last line: the</a:t>
            </a:r>
          </a:p>
          <a:p>
            <a:r>
              <a:t>bridge drifts with temperature, so every pressure sensor you meet has a</a:t>
            </a:r>
          </a:p>
          <a:p>
            <a:r>
              <a:t>compensation scheme. Lecture 8."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0:36–0:38. This slide exists to make Poll 3 answerable, so build the</a:t>
            </a:r>
          </a:p>
          <a:p>
            <a:r>
              <a:t>picture on the board as well as showing it.</a:t>
            </a:r>
          </a:p>
          <a:p/>
          <a:p>
            <a:r>
              <a:t>"Charge appears when the strain changes. Nothing generates charge to hold it</a:t>
            </a:r>
          </a:p>
          <a:p>
            <a:r>
              <a:t>there, and the amplifier's input impedance is finite, so the charge leaks. Time</a:t>
            </a:r>
          </a:p>
          <a:p>
            <a:r>
              <a:t>constant: seconds. The frame will be tilted for years."</a:t>
            </a:r>
          </a:p>
          <a:p/>
          <a:p>
            <a:r>
              <a:t>Then pre-empt distractor D out loud without giving the poll away: "Yes, a better</a:t>
            </a:r>
          </a:p>
          <a:p>
            <a:r>
              <a:t>amplifier lengthens the decay. Lengthens. Not removes."</a:t>
            </a:r>
          </a:p>
          <a:p/>
          <a:p>
            <a:r>
              <a:t>Do not say the words "it cannot measure tilt". Let them vote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0:38–0:40. DESIGNATED CUT if you are behind — collapse both cards to a</a:t>
            </a:r>
          </a:p>
          <a:p>
            <a:r>
              <a:t>named list and keep Poll 3.</a:t>
            </a:r>
          </a:p>
          <a:p/>
          <a:p>
            <a:r>
              <a:t>If you have the time, one sentence each is enough. Thermal: "self-heating means</a:t>
            </a:r>
          </a:p>
          <a:p>
            <a:r>
              <a:t>the sensor is part of the thing it measures. That is the warm-up line on every</a:t>
            </a:r>
          </a:p>
          <a:p>
            <a:r>
              <a:t>gas sensor datasheet." Electromagnetic: "big, easy signal — and it does not</a:t>
            </a:r>
          </a:p>
          <a:p>
            <a:r>
              <a:t>shrink, because the useful force needs turns and area, and both die when you</a:t>
            </a:r>
          </a:p>
          <a:p>
            <a:r>
              <a:t>scale down."</a:t>
            </a:r>
          </a:p>
          <a:p/>
          <a:p>
            <a:r>
              <a:t>The amber line is why these two are on one slide together: both fail in a way the</a:t>
            </a:r>
          </a:p>
          <a:p>
            <a:r>
              <a:t>other four do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0:40–0:42. DESIGNATED CUT alongside slide 23.</a:t>
            </a:r>
          </a:p>
          <a:p/>
          <a:p>
            <a:r>
              <a:t>One idea only: the window. "Every other principle would rather be sealed in the</a:t>
            </a:r>
          </a:p>
          <a:p>
            <a:r>
              <a:t>dark. This one needs a hole in the package, filled with something optically</a:t>
            </a:r>
          </a:p>
          <a:p>
            <a:r>
              <a:t>flat, that survives reflow and does not yellow. That is not a footnote — it is</a:t>
            </a:r>
          </a:p>
          <a:p>
            <a:r>
              <a:t>half the product."</a:t>
            </a:r>
          </a:p>
          <a:p/>
          <a:p>
            <a:r>
              <a:t>That also sets up Chunk 3 nicely: you are already talking about packaging as</a:t>
            </a:r>
          </a:p>
          <a:p>
            <a:r>
              <a:t>physics, four slides early.</a:t>
            </a:r>
          </a:p>
          <a:p/>
          <a:p>
            <a:r>
              <a:t>Then straight to Poll 3. Do not summarise the six. The table does that at</a:t>
            </a:r>
          </a:p>
          <a:p>
            <a:r>
              <a:t>minute forty-six.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0:42–0:44. THE HARDEST VOTE OF THE LECTURE. Target 15–30 % on the first</a:t>
            </a:r>
          </a:p>
          <a:p>
            <a:r>
              <a:t>vote, 55–70 % after pairs.</a:t>
            </a:r>
          </a:p>
          <a:p/>
          <a:p>
            <a:r>
              <a:t>Full peer instruction, and the prompt matters: assign the positions rather than</a:t>
            </a:r>
          </a:p>
          <a:p>
            <a:r>
              <a:t>letting them discuss freely — one argues 0.5°, one argues zero, then decide.</a:t>
            </a:r>
          </a:p>
          <a:p/>
          <a:p>
            <a:r>
              <a:t>Expect 40–55 % for A: an accelerometer is an accelerometer. C is misconception M3</a:t>
            </a:r>
          </a:p>
          <a:p>
            <a:r>
              <a:t>— self-generating read as strong. D is the student reaching for electronics, and</a:t>
            </a:r>
          </a:p>
          <a:p>
            <a:r>
              <a:t>it is productive.</a:t>
            </a:r>
          </a:p>
          <a:p/>
          <a:p>
            <a:r>
              <a:t>If the first vote clears 40 %, someone has met charge amplifiers. Find them and</a:t>
            </a:r>
          </a:p>
          <a:p>
            <a:r>
              <a:t>let them explain it; they will do it better than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0:44–0:46. Reveal, then say why this question is in the lecture.</a:t>
            </a:r>
          </a:p>
          <a:p/>
          <a:p>
            <a:r>
              <a:t>"This is the only place in Module A where the PRINCIPLE forbids the application.</a:t>
            </a:r>
          </a:p>
          <a:p>
            <a:r>
              <a:t>Every other trade-off you have met was quantitative — better, worse, by how much.</a:t>
            </a:r>
          </a:p>
          <a:p>
            <a:r>
              <a:t>This one is categorical. No specification, no amplifier and no budget fixes it."</a:t>
            </a:r>
          </a:p>
          <a:p/>
          <a:p>
            <a:r>
              <a:t>Then the follow-up that generalises it, and take the answer from the room: "which</a:t>
            </a:r>
          </a:p>
          <a:p>
            <a:r>
              <a:t>of the six principles COULD measure this tilt?" Answer: all of them except this</a:t>
            </a:r>
          </a:p>
          <a:p>
            <a:r>
              <a:t>one. Capacitive, piezoresistive, thermal, electromagnetic, optical.</a:t>
            </a:r>
          </a:p>
          <a:p/>
          <a:p>
            <a:r>
              <a:t>Same lesson as Lecture 2, promoted from a number to a principle. Say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0:46–0:49. Read down column two and nothing else. The rest of the table</a:t>
            </a:r>
          </a:p>
          <a:p>
            <a:r>
              <a:t>is a handout page and you should say so.</a:t>
            </a:r>
          </a:p>
          <a:p/>
          <a:p>
            <a:r>
              <a:t>"Five yeses and one no. If you remember one thing from this chunk, remember which</a:t>
            </a:r>
          </a:p>
          <a:p>
            <a:r>
              <a:t>row is red."</a:t>
            </a:r>
          </a:p>
          <a:p/>
          <a:p>
            <a:r>
              <a:t>Then the honest qualifier on the thermal row: "yes, slowly" is not a hedge — it</a:t>
            </a:r>
          </a:p>
          <a:p>
            <a:r>
              <a:t>means the principle has DC response but a settling time measured in seconds, and</a:t>
            </a:r>
          </a:p>
          <a:p>
            <a:r>
              <a:t>that is a real engineering constraint rather than a disqualification.</a:t>
            </a:r>
          </a:p>
          <a:p/>
          <a:p>
            <a:r>
              <a:t>Do not discuss signal levels. The next slide is the one that pays.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0:49–0:52. This is the slide that justifies Chunk 2 to a sceptical</a:t>
            </a:r>
          </a:p>
          <a:p>
            <a:r>
              <a:t>student, so say the justification.</a:t>
            </a:r>
          </a:p>
          <a:p/>
          <a:p>
            <a:r>
              <a:t>"You did not learn six principles because six principles are interesting. You</a:t>
            </a:r>
          </a:p>
          <a:p>
            <a:r>
              <a:t>learned them because the right-hand column is the kind of sentence you will need</a:t>
            </a:r>
          </a:p>
          <a:p>
            <a:r>
              <a:t>in a design review, and none of it is memorisation — each line follows from the</a:t>
            </a:r>
          </a:p>
          <a:p>
            <a:r>
              <a:t>physics on the left."</a:t>
            </a:r>
          </a:p>
          <a:p/>
          <a:p>
            <a:r>
              <a:t>Point at row 3 one last time and connect it to the vote they just lost: "the</a:t>
            </a:r>
          </a:p>
          <a:p>
            <a:r>
              <a:t>low-frequency limit on a vibration sensor is Poll 3, printed as a specification."</a:t>
            </a:r>
          </a:p>
          <a:p/>
          <a:p>
            <a:r>
              <a:t>Then the section marker. You are on time if this lands at fifty-two.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0:52. Section marker, and state the boundary out loud because students</a:t>
            </a:r>
          </a:p>
          <a:p>
            <a:r>
              <a:t>will otherwise expect a process tour.</a:t>
            </a:r>
          </a:p>
          <a:p/>
          <a:p>
            <a:r>
              <a:t>"Four steps. Not forty. I am not teaching you to fabricate anything, and the</a:t>
            </a:r>
          </a:p>
          <a:p>
            <a:r>
              <a:t>semester plan says so explicitly. Each step is here because it is the reason for</a:t>
            </a:r>
          </a:p>
          <a:p>
            <a:r>
              <a:t>a number you have already met."</a:t>
            </a:r>
          </a:p>
          <a:p/>
          <a:p>
            <a:r>
              <a:t>If somebody asks a real fabrication question in this chunk: answer it in ONE</a:t>
            </a:r>
          </a:p>
          <a:p>
            <a:r>
              <a:t>sentence, offer the ITMO 2020 text as further reading, and move on. Following</a:t>
            </a:r>
          </a:p>
          <a:p>
            <a:r>
              <a:t>that question is exactly the drift this lecture is designed to resist.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0:52–0:56. Hand out the shuffled cards BEFORE you show the steps —</a:t>
            </a:r>
          </a:p>
          <a:p>
            <a:r>
              <a:t>four steps and four consequences, twelve sets. Three minutes, pairs, collect</a:t>
            </a:r>
          </a:p>
          <a:p>
            <a:r>
              <a:t>nothing, walk the room.</a:t>
            </a:r>
          </a:p>
          <a:p/>
          <a:p>
            <a:r>
              <a:t>Then take the closing question from the room. Answer: LITHOGRAPHY. Minimum</a:t>
            </a:r>
          </a:p>
          <a:p>
            <a:r>
              <a:t>feature size sets how small the structure can be, size sets the mass, and by</a:t>
            </a:r>
          </a:p>
          <a:p>
            <a:r>
              <a:t>Lecture 1's m ∝ L³ less mass means a higher noise floor.</a:t>
            </a:r>
          </a:p>
          <a:p/>
          <a:p>
            <a:r>
              <a:t>A student who makes that connection unprompted has understood Module A — say so</a:t>
            </a:r>
          </a:p>
          <a:p>
            <a:r>
              <a:t>publicly when it happens. If nobody gets it, draw the chain on the board:</a:t>
            </a:r>
          </a:p>
          <a:p>
            <a:r>
              <a:t>feature → size → mass →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0:56–0:58. ONE comparison slide. Do not add a second.</a:t>
            </a:r>
          </a:p>
          <a:p/>
          <a:p>
            <a:r>
              <a:t>Ask before you show the bottom line: "Which of these two is quieter, and why?"</a:t>
            </a:r>
          </a:p>
          <a:p>
            <a:r>
              <a:t>They have m ∝ L³ from minute three. Bulk wins, because bulk can afford mass.</a:t>
            </a:r>
          </a:p>
          <a:p/>
          <a:p>
            <a:r>
              <a:t>Then the reframe in the grey line, which is the honest engineering point: their</a:t>
            </a:r>
          </a:p>
          <a:p>
            <a:r>
              <a:t>part was not chosen to be the best, it was chosen to be integrable and cheap. "A</a:t>
            </a:r>
          </a:p>
          <a:p>
            <a:r>
              <a:t>high-grade bulk-micromachined accelerometer costs a thousand times more and does</a:t>
            </a:r>
          </a:p>
          <a:p>
            <a:r>
              <a:t>not fit on your board."</a:t>
            </a:r>
          </a:p>
          <a:p/>
          <a:p>
            <a:r>
              <a:t>Amber marks the cost side of each column. Point that out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0:58–1:00. Three panels, left to right, thirty seconds each.</a:t>
            </a:r>
          </a:p>
          <a:p/>
          <a:p>
            <a:r>
              <a:t>Panel 3 is the point. "A restoring force that scales as L competes with a surface</a:t>
            </a:r>
          </a:p>
          <a:p>
            <a:r>
              <a:t>force that scales as area over volume. Shrink far enough and the surface wins, and</a:t>
            </a:r>
          </a:p>
          <a:p>
            <a:r>
              <a:t>the beam welds itself to the substrate. There is no electrical fix."</a:t>
            </a:r>
          </a:p>
          <a:p/>
          <a:p>
            <a:r>
              <a:t>Connect it to minute three explicitly — A/V ∝ 1/L was an abstraction then and is</a:t>
            </a:r>
          </a:p>
          <a:p>
            <a:r>
              <a:t>a scrapped wafer now.</a:t>
            </a:r>
          </a:p>
          <a:p/>
          <a:p>
            <a:r>
              <a:t>Then the grey line, because it is the part students never expect: stiction is a</a:t>
            </a:r>
          </a:p>
          <a:p>
            <a:r>
              <a:t>failure mode in the field, not only a yield problem in the fab. That is why it is</a:t>
            </a:r>
          </a:p>
          <a:p>
            <a:r>
              <a:t>in a course about drift and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1:00–1:02. Walk the cross-section left to right, then the list, then the</a:t>
            </a:r>
          </a:p>
          <a:p>
            <a:r>
              <a:t>amber line. Do not linger on the drawing.</a:t>
            </a:r>
          </a:p>
          <a:p/>
          <a:p>
            <a:r>
              <a:t>Kill misconception M5 explicitly: "Packaging is not a box you put the sensor in</a:t>
            </a:r>
          </a:p>
          <a:p>
            <a:r>
              <a:t>afterwards. The cavity pressure sets the damping, so it sets the bandwidth. The</a:t>
            </a:r>
          </a:p>
          <a:p>
            <a:r>
              <a:t>adhesive puts a preload on the die. The getter maintains the damping for ten</a:t>
            </a:r>
          </a:p>
          <a:p>
            <a:r>
              <a:t>years. These are specifications, not protection."</a:t>
            </a:r>
          </a:p>
          <a:p/>
          <a:p>
            <a:r>
              <a:t>The one number to say aloud: the gap is one to two micrometres, so a dust speck</a:t>
            </a:r>
          </a:p>
          <a:p>
            <a:r>
              <a:t>is not dirt, it is a mechanical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1:02–1:04. THE MOST IMPORTANT TABLE IN THE LECTURE. Do not rush it.</a:t>
            </a:r>
          </a:p>
          <a:p/>
          <a:p>
            <a:r>
              <a:t>Somebody objected at minute fourteen that you can calibrate an offset out. Name</a:t>
            </a:r>
          </a:p>
          <a:p>
            <a:r>
              <a:t>them — by the objection, not the person — and agree: "You were right. This is</a:t>
            </a:r>
          </a:p>
          <a:p>
            <a:r>
              <a:t>that answer."</a:t>
            </a:r>
          </a:p>
          <a:p/>
          <a:p>
            <a:r>
              <a:t>Say the collision explicitly: "Two weeks ago ten milli-g ended a design. Today</a:t>
            </a:r>
          </a:p>
          <a:p>
            <a:r>
              <a:t>ten milli-g is an inconvenience you fix with one measurement. Same magnitude,</a:t>
            </a:r>
          </a:p>
          <a:p>
            <a:r>
              <a:t>opposite verdict, because one of them holds still and the other does not."</a:t>
            </a:r>
          </a:p>
          <a:p/>
          <a:p>
            <a:r>
              <a:t>If you leave this unremarked, half the room will merge the two on the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1:04–1:06. Quick vote, sixty seconds, short discussion. Target 45–65 %</a:t>
            </a:r>
          </a:p>
          <a:p>
            <a:r>
              <a:t>for C — this is a confidence check on outcome L4.5, not a discriminator, so a</a:t>
            </a:r>
          </a:p>
          <a:p>
            <a:r>
              <a:t>high score is a good sign rather than a wasted vote.</a:t>
            </a:r>
          </a:p>
          <a:p/>
          <a:p>
            <a:r>
              <a:t>A is the student who has not noticed that noise density is published and the</a:t>
            </a:r>
          </a:p>
          <a:p>
            <a:r>
              <a:t>bandwidth is their own choice. One line: "you compute it, you do not measure it."</a:t>
            </a:r>
          </a:p>
          <a:p/>
          <a:p>
            <a:r>
              <a:t>D is the student over-generalising Lecture 2. Worth a sentence: preferring the</a:t>
            </a:r>
          </a:p>
          <a:p>
            <a:r>
              <a:t>total error band was right then, and it does not make it measurable-only now.</a:t>
            </a:r>
          </a:p>
          <a:p/>
          <a:p>
            <a:r>
              <a:t>B should be rejected by nearly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1:06–1:08. Reveal, then the bridge, and say it immediately because it is</a:t>
            </a:r>
          </a:p>
          <a:p>
            <a:r>
              <a:t>an assessment announcement.</a:t>
            </a:r>
          </a:p>
          <a:p/>
          <a:p>
            <a:r>
              <a:t>"This is project deliverable 2 and it is Laboratory 3. Your sensor-selection</a:t>
            </a:r>
          </a:p>
          <a:p>
            <a:r>
              <a:t>matrix has a required section headed 'specifications we must measure ourselves',</a:t>
            </a:r>
          </a:p>
          <a:p>
            <a:r>
              <a:t>and that list starts today. If it is empty, you have not read your datasheet's</a:t>
            </a:r>
          </a:p>
          <a:p>
            <a:r>
              <a:t>conditions column."</a:t>
            </a:r>
          </a:p>
          <a:p/>
          <a:p>
            <a:r>
              <a:t>Then the generalisation: the test for that list is not "is it important?" but "does</a:t>
            </a:r>
          </a:p>
          <a:p>
            <a:r>
              <a:t>it depend on something we build?" Screw torque, gasket, enclosure, board flex —</a:t>
            </a:r>
          </a:p>
          <a:p>
            <a:r>
              <a:t>all ours. Sensitivity at 25 °C — theirs.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1:08–1:10. NEVER CUT THIS SLIDE. It is what makes Laboratory 3 make sense.</a:t>
            </a:r>
          </a:p>
          <a:p/>
          <a:p>
            <a:r>
              <a:t>Build it downward, naming each link, and read the right-hand column aloud as you</a:t>
            </a:r>
          </a:p>
          <a:p>
            <a:r>
              <a:t>go: yes, partly, partly, no, no, no, no.</a:t>
            </a:r>
          </a:p>
          <a:p/>
          <a:p>
            <a:r>
              <a:t>Then stop on link seven and close the loop with week one: "In Lecture 1 a motor</a:t>
            </a:r>
          </a:p>
          <a:p>
            <a:r>
              <a:t>died because somebody measured its vibration through a five-millimetre rubber</a:t>
            </a:r>
          </a:p>
          <a:p>
            <a:r>
              <a:t>pad. That pad is the last link of this chain. The course's first story and its</a:t>
            </a:r>
          </a:p>
          <a:p>
            <a:r>
              <a:t>fourth lecture are the same diagram."</a:t>
            </a:r>
          </a:p>
          <a:p/>
          <a:p>
            <a:r>
              <a:t>The habit to install: the datasheet describes link one. You built links two to</a:t>
            </a:r>
          </a:p>
          <a:p>
            <a:r>
              <a:t>seven.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1:10–1:13. Show the minute-8 distribution beside this if you recorded it;</a:t>
            </a:r>
          </a:p>
          <a:p>
            <a:r>
              <a:t>the shift is the lecture's evidence that it worked.</a:t>
            </a:r>
          </a:p>
          <a:p/>
          <a:p>
            <a:r>
              <a:t>Dismantle A in one sentence: "they publish noise density, which is far more</a:t>
            </a:r>
          </a:p>
          <a:p>
            <a:r>
              <a:t>competitively sensitive than a mounting-stress figure."</a:t>
            </a:r>
          </a:p>
          <a:p/>
          <a:p>
            <a:r>
              <a:t>Dismantle C properly, because it is the useful one: application notes tell you</a:t>
            </a:r>
          </a:p>
          <a:p>
            <a:r>
              <a:t>how to MITIGATE mounting stress — symmetric pads, no vias under the part, keep it</a:t>
            </a:r>
          </a:p>
          <a:p>
            <a:r>
              <a:t>away from the board edge. They do not specify your assembly's number either. If</a:t>
            </a:r>
          </a:p>
          <a:p>
            <a:r>
              <a:t>somebody found an app note in the break, read its list aloud now.</a:t>
            </a:r>
          </a:p>
          <a:p/>
          <a:p>
            <a:r>
              <a:t>Close: the debt from Lecture 2 is paid — not with a number, with a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1:13–1:15. Build it with the class — ask for each row before revealing</a:t>
            </a:r>
          </a:p>
          <a:p>
            <a:r>
              <a:t>it. This deliberately mirrors Lecture 1's ledger slide, so say "you have seen</a:t>
            </a:r>
          </a:p>
          <a:p>
            <a:r>
              <a:t>this table's shape before" and let them recognise the form.</a:t>
            </a:r>
          </a:p>
          <a:p/>
          <a:p>
            <a:r>
              <a:t>Two rows to insist on. k ∝ L gains nothing and costs nothing, which surprises</a:t>
            </a:r>
          </a:p>
          <a:p>
            <a:r>
              <a:t>them and is worth ten seconds. And the bottom two rows are the new material:</a:t>
            </a:r>
          </a:p>
          <a:p>
            <a:r>
              <a:t>batch fabrication and packaging were not on Lecture 1's version, because in week</a:t>
            </a:r>
          </a:p>
          <a:p>
            <a:r>
              <a:t>one you had not met them.</a:t>
            </a:r>
          </a:p>
          <a:p/>
          <a:p>
            <a:r>
              <a:t>Then the amber line, which is the whole synthesis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1:15–1:16. Read it once. Then stop for three seconds. Do not elaborate.</a:t>
            </a:r>
          </a:p>
          <a:p/>
          <a:p>
            <a:r>
              <a:t>This is the answer to misconception M4 — smaller is better — and it is the</a:t>
            </a:r>
          </a:p>
          <a:p>
            <a:r>
              <a:t>sentence a student should be able to quote back in the capstone defence.</a:t>
            </a:r>
          </a:p>
          <a:p/>
          <a:p>
            <a:r>
              <a:t>If you want one optional line, use this one: "There is no version of this device</a:t>
            </a:r>
          </a:p>
          <a:p>
            <a:r>
              <a:t>that is small, quiet, cheap and unaffected by your board. If a datasheet appears</a:t>
            </a:r>
          </a:p>
          <a:p>
            <a:r>
              <a:t>to offer you all four, you have not read the conditions column."</a:t>
            </a:r>
          </a:p>
          <a:p/>
          <a:p>
            <a:r>
              <a:t>Then Module A closes. Change your posture; the next slide is a different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1:16–1:18. This is worth its ninety seconds — say the pattern out loud,</a:t>
            </a:r>
          </a:p>
          <a:p>
            <a:r>
              <a:t>pointing at each box.</a:t>
            </a:r>
          </a:p>
          <a:p/>
          <a:p>
            <a:r>
              <a:t>Why it matters: the single largest delivery risk in the semester plan is that</a:t>
            </a:r>
          </a:p>
          <a:p>
            <a:r>
              <a:t>Lectures 5 to 11 are experienced as a list of unrelated devices. Naming the</a:t>
            </a:r>
          </a:p>
          <a:p>
            <a:r>
              <a:t>pattern turns seven weeks into one method applied seven times.</a:t>
            </a:r>
          </a:p>
          <a:p/>
          <a:p>
            <a:r>
              <a:t>Then the project bridge in one sentence: deliverable 2's sensor-selection matrix</a:t>
            </a:r>
          </a:p>
          <a:p>
            <a:r>
              <a:t>uses exactly these eight headings, so today's "specifications we must measure</a:t>
            </a:r>
          </a:p>
          <a:p>
            <a:r>
              <a:t>ourselves" list is the last column of it.</a:t>
            </a:r>
          </a:p>
          <a:p/>
          <a:p>
            <a:r>
              <a:t>Do not add a summary slide. The exit ticket is the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1:18–1:20. End on time. Slips out before you start talking.</a:t>
            </a:r>
          </a:p>
          <a:p/>
          <a:p>
            <a:r>
              <a:t>Q1 tests outcome L4.5 individually — group work at minute 104 can hide a student</a:t>
            </a:r>
          </a:p>
          <a:p>
            <a:r>
              <a:t>who cannot do it. Accept any of: cross-axis after soldering, zero-g offset on</a:t>
            </a:r>
          </a:p>
          <a:p>
            <a:r>
              <a:t>their board, clamping offset, mounting repeatability.</a:t>
            </a:r>
          </a:p>
          <a:p/>
          <a:p>
            <a:r>
              <a:t>Q2 is the diagnostic: measurand → transduction → structure → output →</a:t>
            </a:r>
          </a:p>
          <a:p>
            <a:r>
              <a:t>specifications → interface → calibration → failure modes. If fewer than half get</a:t>
            </a:r>
          </a:p>
          <a:p>
            <a:r>
              <a:t>it, spend the first three minutes of Lecture 5 on it and do not feel behind.</a:t>
            </a:r>
          </a:p>
          <a:p/>
          <a:p>
            <a:r>
              <a:t>These slips are the input to Lecture 5's opening slide. Transcribe them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0" b="1" i="0">
                <a:solidFill>
                  <a:srgbClr val="0E7C86"/>
                </a:solidFill>
                <a:latin typeface="DejaVu Sans"/>
              </a:rPr>
              <a:t>ՄԻԿՐՈԷԼԵԿՏՐԱՄԵԽԱՆԻԿԱԿԱՆ ՀԱՄԱԿԱՐԳԵՐ ԵՎ ՏՎԻՉՆԵՐ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60" b="1" i="0">
                <a:solidFill>
                  <a:srgbClr val="F7F5F1"/>
                </a:solidFill>
                <a:latin typeface="DejaVu Sans"/>
              </a:rPr>
              <a:t>MEMS-ի կառուցվածքները, փոխակերպումը,</a:t>
            </a:r>
          </a:p>
          <a:p>
            <a:pPr algn="l">
              <a:lnSpc>
                <a:spcPct val="115000"/>
              </a:lnSpc>
            </a:pPr>
            <a:r>
              <a:rPr sz="3260" b="1" i="0">
                <a:solidFill>
                  <a:srgbClr val="F7F5F1"/>
                </a:solidFill>
                <a:latin typeface="DejaVu Sans"/>
              </a:rPr>
              <a:t>արտադրությունը և պատյանավորումը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315968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617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B8C0C6"/>
                </a:solidFill>
                <a:latin typeface="DejaVu Sans"/>
              </a:rPr>
              <a:t>Դասախոսություն 4 / 16   ·   80 րոպե   ·   Մոդուլ Ա․ Հիմունքներ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2578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DejaVu Sans"/>
              </a:rPr>
              <a:t>Երկու շաբաթ առաջ մեկ հարց մնաց անպատասխան։ Այսօր կիմանաք՝ ինչու, և ինչ անել դրա փոխարեն։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10" b="1" i="0">
                <a:solidFill>
                  <a:srgbClr val="1A1F24"/>
                </a:solidFill>
                <a:latin typeface="DejaVu Sans"/>
              </a:rPr>
              <a:t>Անցյալ շաբաթվա անհասկանալի կետերը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3-րդ դասախոսության ելքի տոմսերից՝ պատասխանված մինչ սկսելը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Courier New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7048" y="2057400"/>
            <a:ext cx="100584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17520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Courier New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7048" y="3017520"/>
            <a:ext cx="100584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977640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Courier New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7048" y="3977640"/>
            <a:ext cx="100584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2212848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E4E2DE"/>
                </a:solidFill>
                <a:latin typeface="DejaVu Sans"/>
              </a:rPr>
              <a:t>ԴԱՍԱԽՈՍԻՆ․ լրացրեք այս երեքը 3-րդ դասախոսության ելքի տոմսերից՝ մինչ դասը։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212080"/>
            <a:ext cx="10874959" cy="77724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1A1F24"/>
                </a:solidFill>
                <a:latin typeface="DejaVu Sans"/>
              </a:rPr>
              <a:t>Հղում արե՛ք հասկացություններին, երբեք՝ ուսանողներին։ Ընդամենը իննսուն վայրկյան, ապա առա՛ջ։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20" b="1" i="0">
                <a:solidFill>
                  <a:srgbClr val="1A1F24"/>
                </a:solidFill>
                <a:latin typeface="DejaVu Sans"/>
              </a:rPr>
              <a:t>Վերհիշում՝ առանց օգնության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7680"/>
                </a:solidFill>
                <a:latin typeface="DejaVu Sans"/>
              </a:rPr>
              <a:t>1-ին դասախոսության մասշտաբման օրենքները — ասեք դրանք, մինչ ցույց տամ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03120"/>
            <a:ext cx="25603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500" b="1">
                <a:solidFill>
                  <a:srgbClr val="0E7C86"/>
                </a:solidFill>
                <a:latin typeface="Courier New"/>
              </a:rPr>
              <a:t>k ∝ 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72384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80" b="0" i="0">
                <a:solidFill>
                  <a:srgbClr val="1A1F24"/>
                </a:solidFill>
                <a:latin typeface="DejaVu Sans"/>
              </a:rPr>
              <a:t>կոշտությունը նվազում է,</a:t>
            </a:r>
          </a:p>
          <a:p>
            <a:pPr algn="ctr">
              <a:lnSpc>
                <a:spcPct val="130000"/>
              </a:lnSpc>
            </a:pPr>
            <a:r>
              <a:rPr sz="1370" b="0" i="0">
                <a:solidFill>
                  <a:srgbClr val="1A1F24"/>
                </a:solidFill>
                <a:latin typeface="DejaVu Sans"/>
              </a:rPr>
              <a:t>բայց միայն գծայնորեն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103120"/>
            <a:ext cx="25603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500" b="1">
                <a:solidFill>
                  <a:srgbClr val="D98324"/>
                </a:solidFill>
                <a:latin typeface="Courier New"/>
              </a:rPr>
              <a:t>m ∝ L³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3864" y="3072384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80" b="0" i="0">
                <a:solidFill>
                  <a:srgbClr val="1A1F24"/>
                </a:solidFill>
                <a:latin typeface="DejaVu Sans"/>
              </a:rPr>
              <a:t>զանգվածը կտրուկ ընկնում է —</a:t>
            </a:r>
          </a:p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DejaVu Sans"/>
              </a:rPr>
              <a:t>խորանարդն է վճռորոշը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103120"/>
            <a:ext cx="25603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500" b="1">
                <a:solidFill>
                  <a:srgbClr val="0E7C86"/>
                </a:solidFill>
                <a:latin typeface="Courier New"/>
              </a:rPr>
              <a:t>f₀ ∝ 1/L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3072384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A1F24"/>
                </a:solidFill>
                <a:latin typeface="DejaVu Sans"/>
              </a:rPr>
              <a:t>ռեզոնանսը բարձրանում է․</a:t>
            </a:r>
          </a:p>
          <a:p>
            <a:pPr algn="ctr">
              <a:lnSpc>
                <a:spcPct val="130000"/>
              </a:lnSpc>
            </a:pPr>
            <a:r>
              <a:rPr sz="1390" b="0" i="0">
                <a:solidFill>
                  <a:srgbClr val="1A1F24"/>
                </a:solidFill>
                <a:latin typeface="DejaVu Sans"/>
              </a:rPr>
              <a:t>ահա թե ինչու են MEMS-երն արագ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4" y="2103120"/>
            <a:ext cx="25603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500" b="1">
                <a:solidFill>
                  <a:srgbClr val="D98324"/>
                </a:solidFill>
                <a:latin typeface="Courier New"/>
              </a:rPr>
              <a:t>A/V ∝ 1/L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3072384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DejaVu Sans"/>
              </a:rPr>
              <a:t>աշխարհը դառնում է</a:t>
            </a:r>
          </a:p>
          <a:p>
            <a:pPr algn="ctr">
              <a:lnSpc>
                <a:spcPct val="130000"/>
              </a:lnSpc>
            </a:pPr>
            <a:r>
              <a:rPr sz="1180" b="0" i="0">
                <a:solidFill>
                  <a:srgbClr val="1A1F24"/>
                </a:solidFill>
                <a:latin typeface="DejaVu Sans"/>
              </a:rPr>
              <a:t>ամբողջովին մակերևույթ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29768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30" b="1">
                <a:solidFill>
                  <a:srgbClr val="F7F5F1"/>
                </a:solidFill>
                <a:latin typeface="DejaVu Sans"/>
              </a:rPr>
              <a:t>Փոքրացրեք սարքը, և այն կդառնա ավելի արագ և ավելի էժան։ Այն կդառնա նաև ավելի թեթև, իսկ ավելի թեթևը նշանակում է ավելի աղմկոտ։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303520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20" b="0" i="0">
                <a:solidFill>
                  <a:srgbClr val="6B7680"/>
                </a:solidFill>
                <a:latin typeface="DejaVu Sans"/>
              </a:rPr>
              <a:t>Այսօր այս չորս հարաբերությունները դադարում են ֆիզիկա լինելուց և դառնում արտադրություն։ Դրանցից յուրաքանչյուրը սարքի պատրաստման եղանակի հետևանք է։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DejaVu Sans"/>
              </a:rPr>
              <a:t>ՊԱՐՏՔԸ 2-ՐԴ ԴԱՍԱԽՈՍՈՒԹՅՈՒՆԻՑ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7495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F7F5F1"/>
                </a:solidFill>
                <a:latin typeface="DejaVu Sans"/>
              </a:rPr>
              <a:t>«Ո՞րն է այս սարքի</a:t>
            </a:r>
          </a:p>
          <a:p>
            <a:pPr algn="l">
              <a:lnSpc>
                <a:spcPct val="118000"/>
              </a:lnSpc>
            </a:pPr>
            <a:r>
              <a:rPr sz="3020" b="1" i="0">
                <a:solidFill>
                  <a:srgbClr val="F7F5F1"/>
                </a:solidFill>
                <a:latin typeface="DejaVu Sans"/>
              </a:rPr>
              <a:t>խաչաձև առանցքային զգայունությունը</a:t>
            </a:r>
          </a:p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F7F5F1"/>
                </a:solidFill>
                <a:latin typeface="DejaVu Sans"/>
              </a:rPr>
              <a:t>իմ տախտակին զոդվելուց հետո»։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617720"/>
            <a:ext cx="137160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892040"/>
            <a:ext cx="99605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70" b="0" i="0">
                <a:solidFill>
                  <a:srgbClr val="B8C0C6"/>
                </a:solidFill>
                <a:latin typeface="DejaVu Sans"/>
              </a:rPr>
              <a:t>2-րդ դասախոսություն, սլայդ 22։ Պատասխանն էր․ այն տվյալների թերթիկում չկա և լինել չի կարող։ Այդ պարտքը միտումնավոր թողեցի չմուծված։ Այսօր այն մուծվում է։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20" b="1" i="0">
                <a:solidFill>
                  <a:srgbClr val="1A1F24"/>
                </a:solidFill>
                <a:latin typeface="DejaVu Sans"/>
              </a:rPr>
              <a:t>Ինչու՞ ոչ մի արտադրող չի կարող պատասխանել դրան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Որովհետև տեխնիկական բնութագիրը բաղադրիչ չի նկարագրում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116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F7F5F1"/>
                </a:solidFill>
                <a:latin typeface="Courier New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99616" y="2011680"/>
            <a:ext cx="10033711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680" b="0">
                <a:solidFill>
                  <a:srgbClr val="1A1F24"/>
                </a:solidFill>
                <a:latin typeface="DejaVu Sans"/>
              </a:rPr>
              <a:t>Մի քանի միկրոմետր հաստությամբ սիլիցիումային կառուցվածք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6148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F7F5F1"/>
                </a:solidFill>
                <a:latin typeface="Courier New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9616" y="2761488"/>
            <a:ext cx="10033711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789" b="0">
                <a:solidFill>
                  <a:srgbClr val="1A1F24"/>
                </a:solidFill>
                <a:latin typeface="DejaVu Sans"/>
              </a:rPr>
              <a:t>Կախված է հերմետիկ խոռոչի վրայով և ազատ շարժվում 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511296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Courier New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99616" y="3511296"/>
            <a:ext cx="10033711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900" b="0">
                <a:solidFill>
                  <a:srgbClr val="1A1F24"/>
                </a:solidFill>
                <a:latin typeface="DejaVu Sans"/>
              </a:rPr>
              <a:t>Սոսնձված է պլաստիկ պատյանում սոսինձով, որը կարծրանալիս կծկվում 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61104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F7F5F1"/>
                </a:solidFill>
                <a:latin typeface="Courier New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99616" y="4261104"/>
            <a:ext cx="10033711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900" b="0">
                <a:solidFill>
                  <a:srgbClr val="1A1F24"/>
                </a:solidFill>
                <a:latin typeface="DejaVu Sans"/>
              </a:rPr>
              <a:t>Զոդված է տպասալին, որը ծռվում է պտուտակը ձգելիս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12064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DejaVu Sans"/>
              </a:rPr>
              <a:t>Արտադրողին է պատկանում 1-ին տողը և 3-րդ տողի մի մասը։ 3-րդ և 4-րդ տողերը ձերն են, և հենց այնտեղ է մտնում սխալը։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0" b="1" i="0">
                <a:solidFill>
                  <a:srgbClr val="D98324"/>
                </a:solidFill>
                <a:latin typeface="DejaVu Sans"/>
              </a:rPr>
              <a:t>ՔՎԵԱՐԿՈՒԹՅՈՒՆ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DejaVu Sans"/>
              </a:rPr>
              <a:t>2-րդ դասախոսությունում ձեզ հարցվեց սարքի միջառանցքային զգայունությունը ձեր տպասալին զոդելուց հետո, և պատասխանն էր, որ այդ արժեքը տվյալների թերթիկում չկա։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DejaVu Sans"/>
              </a:rPr>
              <a:t>Ինչու՞ այն այնտեղ չկա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60" b="0" i="0">
                <a:solidFill>
                  <a:srgbClr val="1A1F24"/>
                </a:solidFill>
                <a:latin typeface="DejaVu Sans"/>
              </a:rPr>
              <a:t>Դա գաղտնի տեղեկություն է — մրցակիցները դրանից բան կսովորեին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70" b="0" i="0">
                <a:solidFill>
                  <a:srgbClr val="1A1F24"/>
                </a:solidFill>
                <a:latin typeface="DejaVu Sans"/>
              </a:rPr>
              <a:t>Այն կախված է ձեր տպասալից և ձեր հավաքումից, ուստի ոչ մի արտադրող չի կարող բնութագրել այն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89" b="0" i="0">
                <a:solidFill>
                  <a:srgbClr val="1A1F24"/>
                </a:solidFill>
                <a:latin typeface="DejaVu Sans"/>
              </a:rPr>
              <a:t>Այն կիրառական նշումներում է, ոչ թե տվյալների թերթիկում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Այն նույնն է, ինչ պատյանի մակարդակի արժեքը, ուստի երկու անգամ տպելն ավելորդ կլիներ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DejaVu Sans"/>
              </a:rPr>
              <a:t>Ընտրեք հիմա։ Պատասխանը չեմ ասելու մինչև դասախոսության վերջը, և այդ պահին դուք ինքներդ արդեն կգծեք պատճառը։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40" b="1" i="0">
                <a:solidFill>
                  <a:srgbClr val="1A1F24"/>
                </a:solidFill>
                <a:latin typeface="DejaVu Sans"/>
              </a:rPr>
              <a:t>Պատյանավորման հարկը՝ ձեզ արդեն պատկանող տվյալների թերթիկում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ISM330DHCX · DS13012 Rev 6 · նախ կարդացեք պայմանների սյունակը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2011680"/>
          <a:ext cx="10874955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8739"/>
                <a:gridCol w="1087495"/>
                <a:gridCol w="1087495"/>
                <a:gridCol w="1087495"/>
                <a:gridCol w="4893731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DejaVu Sans"/>
                        </a:rPr>
                        <a:t>Պարամետր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DejaVu Sans"/>
                        </a:rPr>
                        <a:t>Բն.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DejaVu Sans"/>
                        </a:rPr>
                        <a:t>Առավ.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10" b="1">
                          <a:solidFill>
                            <a:srgbClr val="F7F5F1"/>
                          </a:solidFill>
                          <a:latin typeface="DejaVu Sans"/>
                        </a:rPr>
                        <a:t>Միավոր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DejaVu Sans"/>
                        </a:rPr>
                        <a:t>Պայմաններ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80" b="1">
                          <a:solidFill>
                            <a:srgbClr val="1A1F24"/>
                          </a:solidFill>
                          <a:latin typeface="DejaVu Sans"/>
                        </a:rPr>
                        <a:t>Զրոյական-g մակարդակ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±10</a:t>
                      </a:r>
                    </a:p>
                  </a:txBody>
                  <a:tcPr marL="91440" marR="91440" marT="27432" marB="27432" anchor="ctr">
                    <a:solidFill>
                      <a:srgbClr val="FAEC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±65</a:t>
                      </a:r>
                    </a:p>
                  </a:txBody>
                  <a:tcPr marL="91440" marR="91440" marT="27432" marB="27432" anchor="ctr">
                    <a:solidFill>
                      <a:srgbClr val="FAEC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</a:rPr>
                        <a:t>25 °C, զոդելուց հետո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</a:rPr>
                        <a:t>Զրոյական-g ջերմ. գործակից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±0.1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±0.5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mg/°C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</a:rPr>
                        <a:t>−40-ից +85 °C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20" b="1">
                          <a:solidFill>
                            <a:srgbClr val="1A1F24"/>
                          </a:solidFill>
                          <a:latin typeface="DejaVu Sans"/>
                        </a:rPr>
                        <a:t>Միջառանցք. զգայունություն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±0.5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</a:rPr>
                        <a:t>25 °C, պատյանի մակարդակ, ոչ տպասալի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420624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F7F5F1"/>
                </a:solidFill>
                <a:latin typeface="DejaVu Sans"/>
              </a:rPr>
              <a:t>«զոդումից հետո»  —  արտադրողը հենց տեխնիկական բնութագրում ձեզ ասում է, որ ձեր հավաքումը սխալի մաս է կազմում։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230368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89" b="0" i="0">
                <a:solidFill>
                  <a:srgbClr val="1A1F24"/>
                </a:solidFill>
                <a:latin typeface="DejaVu Sans"/>
              </a:rPr>
              <a:t>▸  1-ին տողը ԶՐՈՅԱԿԱՆ ՇԵՂՈՒՄ է․ ելքը, երբ մուտքը զրո է։ 2-րդ տողը ԴՐԵՅՖ է․ թե ինչպես է շարժվում այդ շեղումը։</a:t>
            </a:r>
          </a:p>
          <a:p>
            <a:pPr algn="l">
              <a:lnSpc>
                <a:spcPct val="140000"/>
              </a:lnSpc>
            </a:pPr>
            <a:r>
              <a:rPr sz="1610" b="0" i="0">
                <a:solidFill>
                  <a:srgbClr val="1A1F24"/>
                </a:solidFill>
                <a:latin typeface="DejaVu Sans"/>
              </a:rPr>
              <a:t>▸  3-րդ տողն այն արժեքն է, որը պահանջեց 2-րդ դասախոսությունը, և դրա պայմանների տողն ընդունում է, որ այն ձերը չէ։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30" b="1" i="0">
                <a:solidFill>
                  <a:srgbClr val="1A1F24"/>
                </a:solidFill>
                <a:latin typeface="DejaVu Sans"/>
              </a:rPr>
              <a:t>2-րդ դասախոսության 8.73 mg-ի դիմաց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Թիվը, որը գրատախտակին է երկրորդ շաբաթից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385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090" b="1" i="0">
                <a:solidFill>
                  <a:srgbClr val="1A1F24"/>
                </a:solidFill>
                <a:latin typeface="DejaVu Sans Mono"/>
              </a:rPr>
              <a:t>0.5° թեքություն  =  sin(0.5°) × 1 g  =  8.73 mg</a:t>
            </a:r>
            <a:r>
              <a:rPr sz="2700" b="1" i="0">
                <a:solidFill>
                  <a:srgbClr val="0E7C86"/>
                </a:solidFill>
                <a:latin typeface="Courier New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8716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1">
                <a:solidFill>
                  <a:srgbClr val="6B7680"/>
                </a:solidFill>
                <a:latin typeface="DejaVu Sans"/>
              </a:rPr>
              <a:t>— ամբողջ ազդանշանը, որը փորձում ենք չափել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80360"/>
            <a:ext cx="5349240" cy="512064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80" b="1">
                <a:solidFill>
                  <a:srgbClr val="1A1F24"/>
                </a:solidFill>
                <a:latin typeface="DejaVu Sans"/>
              </a:rPr>
              <a:t>ԲՆՈՐՈՇ  ԶՐՈՅԱԿԱՆ g-Ի ՄԱԿ.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38144"/>
            <a:ext cx="5349240" cy="1097280"/>
          </a:xfrm>
          <a:prstGeom prst="rect">
            <a:avLst/>
          </a:prstGeom>
          <a:solidFill>
            <a:srgbClr val="FFFFFF"/>
          </a:solidFill>
          <a:ln w="317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1A1F24"/>
                </a:solidFill>
                <a:latin typeface="Courier New"/>
              </a:rPr>
              <a:t>±10 mg   ÷   8.73 mg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26864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D98324"/>
                </a:solidFill>
                <a:latin typeface="Courier New"/>
              </a:rPr>
              <a:t>1.15×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2880360"/>
            <a:ext cx="5349240" cy="512064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80" b="1">
                <a:solidFill>
                  <a:srgbClr val="F7F5F1"/>
                </a:solidFill>
                <a:latin typeface="DejaVu Sans"/>
              </a:rPr>
              <a:t>ԱՌԱՎ.  ԶՐՈՅԱԿԱՆ g-Ի ՄԱԿԱՐԴԱԿ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7648" y="3438144"/>
            <a:ext cx="5349240" cy="1097280"/>
          </a:xfrm>
          <a:prstGeom prst="rect">
            <a:avLst/>
          </a:prstGeom>
          <a:solidFill>
            <a:srgbClr val="FFFFFF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1A1F24"/>
                </a:solidFill>
                <a:latin typeface="Courier New"/>
              </a:rPr>
              <a:t>±65 mg   ÷   8.73 mg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4626864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C0392B"/>
                </a:solidFill>
                <a:latin typeface="Courier New"/>
              </a:rPr>
              <a:t>7.45×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44068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7DFD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DejaVu Sans"/>
              </a:rPr>
              <a:t>Անգամ ԲՆՈՐՈՇ շեղումը գերազանցում է այն ամբողջ մեծությունը, որը փորձում ենք չափել։ Առավելագույնը յոթ ու կես անգամ ավելին է։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DejaVu Sans"/>
              </a:rPr>
              <a:t>ԲԱԺԻՆ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DejaVu Sans"/>
              </a:rPr>
              <a:t>Հինգ կառուցվածք</a:t>
            </a:r>
          </a:p>
          <a:p>
            <a:pPr algn="l">
              <a:lnSpc>
                <a:spcPct val="115000"/>
              </a:lnSpc>
            </a:pPr>
            <a:r>
              <a:rPr sz="3260" b="1" i="0">
                <a:solidFill>
                  <a:srgbClr val="F7F5F1"/>
                </a:solidFill>
                <a:latin typeface="DejaVu Sans"/>
              </a:rPr>
              <a:t>կատարում է ամբողջ աշխատանքը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10" b="0" i="0">
                <a:solidFill>
                  <a:srgbClr val="B8C0C6"/>
                </a:solidFill>
                <a:latin typeface="DejaVu Sans"/>
              </a:rPr>
              <a:t>Իներտ զանգված ճկուն կախոցի վրա։ Կախովի հեծան։ Թաղանթ։ Ռեզոնատոր։ Սանրաձև կառուցվածք։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DejaVu Sans"/>
              </a:rPr>
              <a:t>Հինգ ձև ծածկում է 5-ից 11-րդ դասախոսությունների բոլոր սարքերը։ Սովորեք ձևերը, ոչ թե ցանկը։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Կառուցվածք 1, և դուք արդեն տեսել եք այն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Ունակային MEMS արագաչափ՝ լայնական հատույթում — 1-ին դասախոսության նկարը, անփոփոխ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2148840"/>
            <a:ext cx="5852160" cy="384048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A1F24"/>
                </a:solidFill>
                <a:latin typeface="DejaVu Sans"/>
              </a:rPr>
              <a:t>ԱՆՇԱՐԺ ԹԻԹԵՂ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4224528"/>
            <a:ext cx="5852160" cy="384048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A1F24"/>
                </a:solidFill>
                <a:latin typeface="DejaVu Sans"/>
              </a:rPr>
              <a:t>ԱՆՇԱՐԺ ԹԻԹԵՂ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999232"/>
            <a:ext cx="3657600" cy="786384"/>
          </a:xfrm>
          <a:prstGeom prst="rect">
            <a:avLst/>
          </a:prstGeom>
          <a:solidFill>
            <a:srgbClr val="DCEDE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30" b="1">
                <a:solidFill>
                  <a:srgbClr val="1A1F24"/>
                </a:solidFill>
                <a:latin typeface="DejaVu Sans"/>
              </a:rPr>
              <a:t>ԻՆԵՐՑԻՈՆ ԶԱՆԳՎԱԾ  m</a:t>
            </a:r>
          </a:p>
        </p:txBody>
      </p:sp>
      <p:sp>
        <p:nvSpPr>
          <p:cNvPr id="11" name="Freeform 10"/>
          <p:cNvSpPr/>
          <p:nvPr/>
        </p:nvSpPr>
        <p:spPr>
          <a:xfrm>
            <a:off x="3383280" y="3017520"/>
            <a:ext cx="640080" cy="768096"/>
          </a:xfrm>
          <a:custGeom>
            <a:avLst/>
            <a:gdLst/>
            <a:ahLst/>
            <a:cxnLst/>
            <a:rect l="l" t="t" r="r" b="b"/>
            <a:pathLst>
              <a:path w="640080" h="768096">
                <a:moveTo>
                  <a:pt x="0" y="0"/>
                </a:moveTo>
                <a:lnTo>
                  <a:pt x="640080" y="96012"/>
                </a:lnTo>
                <a:lnTo>
                  <a:pt x="0" y="192024"/>
                </a:lnTo>
                <a:lnTo>
                  <a:pt x="640080" y="288036"/>
                </a:lnTo>
                <a:lnTo>
                  <a:pt x="0" y="384048"/>
                </a:lnTo>
                <a:lnTo>
                  <a:pt x="640080" y="480060"/>
                </a:lnTo>
                <a:lnTo>
                  <a:pt x="0" y="576072"/>
                </a:lnTo>
                <a:lnTo>
                  <a:pt x="640080" y="672084"/>
                </a:lnTo>
                <a:lnTo>
                  <a:pt x="0" y="768096"/>
                </a:lnTo>
              </a:path>
            </a:pathLst>
          </a:custGeom>
          <a:noFill/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138160" y="3017520"/>
            <a:ext cx="640080" cy="768096"/>
          </a:xfrm>
          <a:custGeom>
            <a:avLst/>
            <a:gdLst/>
            <a:ahLst/>
            <a:cxnLst/>
            <a:rect l="l" t="t" r="r" b="b"/>
            <a:pathLst>
              <a:path w="640080" h="768096">
                <a:moveTo>
                  <a:pt x="0" y="0"/>
                </a:moveTo>
                <a:lnTo>
                  <a:pt x="640080" y="96012"/>
                </a:lnTo>
                <a:lnTo>
                  <a:pt x="0" y="192024"/>
                </a:lnTo>
                <a:lnTo>
                  <a:pt x="640080" y="288036"/>
                </a:lnTo>
                <a:lnTo>
                  <a:pt x="0" y="384048"/>
                </a:lnTo>
                <a:lnTo>
                  <a:pt x="640080" y="480060"/>
                </a:lnTo>
                <a:lnTo>
                  <a:pt x="0" y="576072"/>
                </a:lnTo>
                <a:lnTo>
                  <a:pt x="640080" y="672084"/>
                </a:lnTo>
                <a:lnTo>
                  <a:pt x="0" y="768096"/>
                </a:lnTo>
              </a:path>
            </a:pathLst>
          </a:custGeom>
          <a:noFill/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3246120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60" b="1" i="0">
                <a:solidFill>
                  <a:srgbClr val="0E7C86"/>
                </a:solidFill>
                <a:latin typeface="DejaVu Sans"/>
              </a:rPr>
              <a:t>ճկուն կախոցներ, 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32461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0E7C86"/>
                </a:solidFill>
                <a:latin typeface="DejaVu Sans"/>
              </a:rPr>
              <a:t>ճկուն կախոցներ, 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651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40" b="1" i="0">
                <a:solidFill>
                  <a:srgbClr val="D98324"/>
                </a:solidFill>
                <a:latin typeface="DejaVu Sans Mono"/>
              </a:rPr>
              <a:t>բացակ  d ≈ 1–2 µm</a:t>
            </a:r>
          </a:p>
        </p:txBody>
      </p:sp>
      <p:sp>
        <p:nvSpPr>
          <p:cNvPr id="16" name="Left Brace 15"/>
          <p:cNvSpPr/>
          <p:nvPr/>
        </p:nvSpPr>
        <p:spPr>
          <a:xfrm>
            <a:off x="8887968" y="2596896"/>
            <a:ext cx="164592" cy="329184"/>
          </a:xfrm>
          <a:prstGeom prst="leftBrace">
            <a:avLst/>
          </a:prstGeom>
          <a:noFill/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38587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1" i="0">
                <a:solidFill>
                  <a:srgbClr val="D98324"/>
                </a:solidFill>
                <a:latin typeface="DejaVu Sans Mono"/>
              </a:rPr>
              <a:t>բացակ  d</a:t>
            </a:r>
          </a:p>
        </p:txBody>
      </p:sp>
      <p:sp>
        <p:nvSpPr>
          <p:cNvPr id="18" name="Left Brace 17"/>
          <p:cNvSpPr/>
          <p:nvPr/>
        </p:nvSpPr>
        <p:spPr>
          <a:xfrm>
            <a:off x="8887968" y="3803904"/>
            <a:ext cx="164592" cy="329184"/>
          </a:xfrm>
          <a:prstGeom prst="leftBrace">
            <a:avLst/>
          </a:prstGeom>
          <a:noFill/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892040"/>
            <a:ext cx="1087495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 i="0">
                <a:solidFill>
                  <a:srgbClr val="1A1F24"/>
                </a:solidFill>
                <a:latin typeface="DejaVu Sans"/>
              </a:rPr>
              <a:t>Արագացումը շարժում է զանգվածը, մի բացակը մեծանում է, մյուսը՝ փոքրանում, և տարբերակային C = εA/d-ն ազդանշանն է։</a:t>
            </a:r>
            <a:r>
              <a:rPr sz="1800" b="1" i="0">
                <a:solidFill>
                  <a:srgbClr val="0E7C86"/>
                </a:solidFill>
                <a:latin typeface="Courier New"/>
              </a:rPr>
              <a:t/>
            </a:r>
            <a:r>
              <a:rPr sz="180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20" b="1" i="0">
                <a:solidFill>
                  <a:srgbClr val="6B7680"/>
                </a:solidFill>
                <a:latin typeface="DejaVu Sans"/>
              </a:rPr>
              <a:t>Առաջին շաբաթում սա գծապատկեր էր։ Այսօր դա առարկա է, որը ինչ-որ մեկը փորագրել է, ազատել, սոսնձել պատյանում և զոդել, և այդ գործողություններից յուրաքանչյուրը փոխում է d-ն։</a:t>
            </a:r>
            <a:r>
              <a:rPr sz="1800" b="1" i="0">
                <a:solidFill>
                  <a:srgbClr val="D98324"/>
                </a:solidFill>
                <a:latin typeface="Courier New"/>
              </a:rPr>
              <a:t/>
            </a:r>
            <a:r>
              <a:rPr sz="1800" b="0" i="0">
                <a:solidFill>
                  <a:srgbClr val="6B7680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1A1F24"/>
                </a:solidFill>
                <a:latin typeface="DejaVu Sans"/>
              </a:rPr>
              <a:t>Իներտ զանգված ճկուն կախոցի վրա․ երեք հարաբերությունը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Արագաչափի տվյալների թերթիկի ամեն ինչ m-ի, k-ի և d-ի հետևանք 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11680"/>
            <a:ext cx="3493008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300" b="1">
                <a:solidFill>
                  <a:srgbClr val="0E7C86"/>
                </a:solidFill>
                <a:latin typeface="Courier New"/>
              </a:rPr>
              <a:t>F = 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62656"/>
            <a:ext cx="33467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70" b="0" i="0">
                <a:solidFill>
                  <a:srgbClr val="1A1F24"/>
                </a:solidFill>
                <a:latin typeface="DejaVu Sans"/>
              </a:rPr>
              <a:t>չափվող մեծությունը դառնում է ուժ —</a:t>
            </a:r>
          </a:p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DejaVu Sans"/>
              </a:rPr>
              <a:t>սա միակ ֆիզիկան 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6259" y="2011680"/>
            <a:ext cx="3493008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300" b="1">
                <a:solidFill>
                  <a:srgbClr val="0E7C86"/>
                </a:solidFill>
                <a:latin typeface="Courier New"/>
              </a:rPr>
              <a:t>x = ma /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9411" y="2962656"/>
            <a:ext cx="33467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DejaVu Sans"/>
              </a:rPr>
              <a:t>ուժը դառնում է տեղաշարժ —</a:t>
            </a:r>
          </a:p>
          <a:p>
            <a:pPr algn="ctr">
              <a:lnSpc>
                <a:spcPct val="130000"/>
              </a:lnSpc>
            </a:pPr>
            <a:r>
              <a:rPr sz="1290" b="0" i="0">
                <a:solidFill>
                  <a:srgbClr val="1A1F24"/>
                </a:solidFill>
                <a:latin typeface="DejaVu Sans"/>
              </a:rPr>
              <a:t>ճկուն կախոցը սահմանում է զգայունությունը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0" y="2011680"/>
            <a:ext cx="3493008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300" b="1">
                <a:solidFill>
                  <a:srgbClr val="D98324"/>
                </a:solidFill>
                <a:latin typeface="Courier New"/>
              </a:rPr>
              <a:t>f₀ = (1/2π)√(k/m)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2" y="2962656"/>
            <a:ext cx="33467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90" b="0" i="0">
                <a:solidFill>
                  <a:srgbClr val="1A1F24"/>
                </a:solidFill>
                <a:latin typeface="DejaVu Sans"/>
              </a:rPr>
              <a:t>և նույն m-ը և k-ը սահմանում են</a:t>
            </a:r>
          </a:p>
          <a:p>
            <a:pPr algn="ctr">
              <a:lnSpc>
                <a:spcPct val="130000"/>
              </a:lnSpc>
            </a:pPr>
            <a:r>
              <a:rPr sz="1180" b="0" i="0">
                <a:solidFill>
                  <a:srgbClr val="1A1F24"/>
                </a:solidFill>
                <a:latin typeface="DejaVu Sans"/>
              </a:rPr>
              <a:t>օգտագործելի թողունակությունը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77639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70" b="1">
                <a:solidFill>
                  <a:srgbClr val="F7F5F1"/>
                </a:solidFill>
                <a:latin typeface="DejaVu Sans"/>
              </a:rPr>
              <a:t>Մեկ կառուցվածք, մեկ չափվող մեծություն և երկու բնութագիր, որոնք հնարավոր չէ ընտրել անկախ․ զգայունությունը և թողունակությունը կիսում են նույն m-ը և k-ը։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983480"/>
            <a:ext cx="1087495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39" b="0" i="0">
                <a:solidFill>
                  <a:srgbClr val="6B7680"/>
                </a:solidFill>
                <a:latin typeface="DejaVu Sans"/>
              </a:rPr>
              <a:t>Ահա թե ինչու տվյալների թերթիկն ունի ընտրելի չափման լրիվ տիրույթներ, բայց ոչ ընտրելի զգայունություն ֆիքսված տիրույթում․ զանգվածը և զսպանակները մեկ անգամ սահմանվել են դիմակների հավաքածուով՝ ողջ արտադրական խմբաքանակի համար։ Տիրույթը փոխարկվում է էլեկտրոնիկայում։ Մեխանիկան բանակցելի չէ։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Կառուցվածքներ 2 և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Կախովի հեծան · թաղանթ խոռոչի վրայով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534924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5349240" cy="493776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DejaVu Sans"/>
              </a:rPr>
              <a:t>ԿԱԽՈՎԻ ՀԵԾԱՆ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2578608"/>
            <a:ext cx="5056632" cy="475488"/>
          </a:xfrm>
          <a:prstGeom prst="rect">
            <a:avLst/>
          </a:prstGeom>
          <a:solidFill>
            <a:srgbClr val="F7F5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A1F24"/>
                </a:solidFill>
                <a:latin typeface="Courier New"/>
              </a:rPr>
              <a:t>k  ∝  E·w·t³ / L³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0040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6B7680"/>
                </a:solidFill>
                <a:latin typeface="DejaVu Sans"/>
              </a:rPr>
              <a:t>ԶԳՈՒՄ 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3163824"/>
            <a:ext cx="3502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DejaVu Sans"/>
              </a:rPr>
              <a:t>ուժ, և դա վերևի ճկուն կախոցն 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58444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1" i="0">
                <a:solidFill>
                  <a:srgbClr val="6B7680"/>
                </a:solidFill>
                <a:latin typeface="DejaVu Sans"/>
              </a:rPr>
              <a:t>ԱՅՍ ԴԱՍԸՆԹԱՑՈՒՄ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3547872"/>
            <a:ext cx="3502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DejaVu Sans"/>
              </a:rPr>
              <a:t>L8 — ուժի և հպման տվիչներ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3794760"/>
            <a:ext cx="5056632" cy="402336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10" b="1">
                <a:solidFill>
                  <a:srgbClr val="1A1F24"/>
                </a:solidFill>
                <a:latin typeface="DejaVu Sans"/>
              </a:rPr>
              <a:t>Ուշադրություն դարձրեք t-ի խորանարդին․ հաստությունը սահմանվում է ՆՍՏԵՑՄԱՄԲ, ուստի թաղանթի 5 % սխալը կոշտության 16 % սխալ է։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1920240"/>
            <a:ext cx="534924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1920240"/>
            <a:ext cx="5349240" cy="493776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DejaVu Sans"/>
              </a:rPr>
              <a:t>ԹԱՂԱՆԹ ԽՈՌՈՉԻ ՎՐԱՅՈՎ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2578608"/>
            <a:ext cx="5056632" cy="475488"/>
          </a:xfrm>
          <a:prstGeom prst="rect">
            <a:avLst/>
          </a:prstGeom>
          <a:solidFill>
            <a:srgbClr val="F7F5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A1F24"/>
                </a:solidFill>
                <a:latin typeface="DejaVu Sans Mono"/>
              </a:rPr>
              <a:t>ճկվածք  ∝  ΔP·a⁴ / (E·t³)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20040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6B7680"/>
                </a:solidFill>
                <a:latin typeface="DejaVu Sans"/>
              </a:rPr>
              <a:t>ԶԳՈՒՄ 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2" y="3163824"/>
            <a:ext cx="3502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DejaVu Sans"/>
              </a:rPr>
              <a:t>ճնշում, ձայն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58444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1" i="0">
                <a:solidFill>
                  <a:srgbClr val="6B7680"/>
                </a:solidFill>
                <a:latin typeface="DejaVu Sans"/>
              </a:rPr>
              <a:t>ԱՅՍ ԴԱՍԸՆԹԱՑՈՒՄ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2" y="3547872"/>
            <a:ext cx="3502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DejaVu Sans"/>
              </a:rPr>
              <a:t>L8 ճնշում · L11 խոսափող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3952" y="3794760"/>
            <a:ext cx="5056632" cy="402336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60" b="1">
                <a:solidFill>
                  <a:srgbClr val="1A1F24"/>
                </a:solidFill>
                <a:latin typeface="DejaVu Sans"/>
              </a:rPr>
              <a:t>Այս սարքում իներտ զանգված ընդհանրապես չկա։ Հիշեք դա հաջորդ քվեարկության ժամանակ։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61772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F7F5F1"/>
                </a:solidFill>
                <a:latin typeface="DejaVu Sans"/>
              </a:rPr>
              <a:t>Հեծանը և ճկուն կախոցը միևնույն առարկան են։ 2-րդ կառուցվածքը նոր գաղափար չէ․ դա 1-ին կառուցվածքն է՝ ծայրից հանված զանգվածով։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577840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6B7680"/>
                </a:solidFill>
                <a:latin typeface="DejaVu Sans"/>
              </a:rPr>
              <a:t>Թաղանթն առաջին կառուցվածքն է, որին անհրաժեշտ է ՀԵՐՄԵՏԻԿ ԽՈՌՈՉ իր տակ, և հենց դրա համար ճնշման տվիչները պատյանավորման խնդիրներ են՝ նախքան էլեկտրոնիկայի խնդիր դառնալը։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Կառուցվածքներ 4 և 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10" b="0" i="1">
                <a:solidFill>
                  <a:srgbClr val="6B7680"/>
                </a:solidFill>
                <a:latin typeface="DejaVu Sans"/>
              </a:rPr>
              <a:t>Ռեզոնատոր · սանրաձև կառուցվածք — և սանրաձևն է պատճառը, որ գիրոսկոպները գոյություն ունեն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534924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5349240" cy="493776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DejaVu Sans"/>
              </a:rPr>
              <a:t>ՌԵԶՈՆԱՏՈՐ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2578608"/>
            <a:ext cx="5056632" cy="475488"/>
          </a:xfrm>
          <a:prstGeom prst="rect">
            <a:avLst/>
          </a:prstGeom>
          <a:solidFill>
            <a:srgbClr val="F7F5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A1F24"/>
                </a:solidFill>
                <a:latin typeface="DejaVu Sans Mono"/>
              </a:rPr>
              <a:t>f₀-ը շեղվում է զանգվածով և T-ով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0040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6B7680"/>
                </a:solidFill>
                <a:latin typeface="DejaVu Sans"/>
              </a:rPr>
              <a:t>ԶԳՈՒՄ 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3163824"/>
            <a:ext cx="3502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A1F24"/>
                </a:solidFill>
                <a:latin typeface="DejaVu Sans"/>
              </a:rPr>
              <a:t>զանգված, գազ, ջերմաստիճան, ժամանակ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58444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1" i="0">
                <a:solidFill>
                  <a:srgbClr val="6B7680"/>
                </a:solidFill>
                <a:latin typeface="DejaVu Sans"/>
              </a:rPr>
              <a:t>ԱՅՍ ԴԱՍԸՆԹԱՑՈՒՄ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3547872"/>
            <a:ext cx="3502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0" b="0" i="0">
                <a:solidFill>
                  <a:srgbClr val="1A1F24"/>
                </a:solidFill>
                <a:latin typeface="DejaVu Sans"/>
              </a:rPr>
              <a:t>L9 գազի զգացում · ժամանակային հենակետեր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3794760"/>
            <a:ext cx="5056632" cy="402336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A1F24"/>
                </a:solidFill>
                <a:latin typeface="DejaVu Sans"/>
              </a:rPr>
              <a:t>Այստեղ ամպլիտուդ չեք չափում։ Չափում եք ՀԱՃԱԽԱԿԱՆՈՒԹՅՈՒՆ, ինչը լավ չափելու ամենաէժան մեծությունն է։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1920240"/>
            <a:ext cx="534924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1920240"/>
            <a:ext cx="5349240" cy="493776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70" b="1">
                <a:solidFill>
                  <a:srgbClr val="F7F5F1"/>
                </a:solidFill>
                <a:latin typeface="DejaVu Sans"/>
              </a:rPr>
              <a:t>ՍԱՆՐԱՁԵՎ ԿԱՌՈՒՑՎԱԾՔ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2578608"/>
            <a:ext cx="5056632" cy="475488"/>
          </a:xfrm>
          <a:prstGeom prst="rect">
            <a:avLst/>
          </a:prstGeom>
          <a:solidFill>
            <a:srgbClr val="F7F5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A1F24"/>
                </a:solidFill>
                <a:latin typeface="Courier New"/>
              </a:rPr>
              <a:t>C = n·ε·A/d      F ∝ n·V²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20040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6B7680"/>
                </a:solidFill>
                <a:latin typeface="DejaVu Sans"/>
              </a:rPr>
              <a:t>ԶԳՈՒՄ 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2" y="3163824"/>
            <a:ext cx="3502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DejaVu Sans"/>
              </a:rPr>
              <a:t>տեղաշարժ — և կիրառում է նաև ուժ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58444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1" i="0">
                <a:solidFill>
                  <a:srgbClr val="6B7680"/>
                </a:solidFill>
                <a:latin typeface="DejaVu Sans"/>
              </a:rPr>
              <a:t>ԱՅՍ ԴԱՍԸՆԹԱՑՈՒՄ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2" y="3547872"/>
            <a:ext cx="3502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DejaVu Sans"/>
              </a:rPr>
              <a:t>L5 · L6 · L10 MEMS հայելի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3952" y="3794760"/>
            <a:ext cx="5056632" cy="402336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60" b="1">
                <a:solidFill>
                  <a:srgbClr val="1A1F24"/>
                </a:solidFill>
                <a:latin typeface="DejaVu Sans"/>
              </a:rPr>
              <a:t>Միակ կառուցվածքը, որը միաժամանակ ԶԳՈՒՄ Է և ԳՈՐԾԱՐԿՈՒՄ։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61772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DejaVu Sans"/>
              </a:rPr>
              <a:t>Գործարկող սանրը պահպանում է տատանումը։ Զգացող սանրը ընթերցում է այդ տատանման Կորիոլիսյան շեղումը։ Դա գիրոսկոպ է, և հենց դա է դրա գոյության պատճառը։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577840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6B7680"/>
                </a:solidFill>
                <a:latin typeface="DejaVu Sans"/>
              </a:rPr>
              <a:t>n-ը մատների զույգերի թիվն է։ d բացակը սահմանվում է վիմագրությամբ, ուստի արտադրամասի տպագրելի ամենափոքր տարրը սահմանում է ունակությունը, իսկ դա՝ աղմուկային հատակը։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Հինգ կառուցվածքը՝ մեկ աղյուսակում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Սա ամբողջ 1-ին բաժինն է — առկա է բաշխվող նյութում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7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490"/>
                <a:gridCol w="3044988"/>
                <a:gridCol w="2609990"/>
                <a:gridCol w="2827489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10" b="1">
                          <a:solidFill>
                            <a:srgbClr val="F7F5F1"/>
                          </a:solidFill>
                          <a:latin typeface="DejaVu Sans"/>
                        </a:rPr>
                        <a:t>Կառուցվածք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7F5F1"/>
                          </a:solidFill>
                          <a:latin typeface="DejaVu Sans"/>
                        </a:rPr>
                        <a:t>Հիմնական հարաբերություն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7F5F1"/>
                          </a:solidFill>
                          <a:latin typeface="DejaVu Sans"/>
                        </a:rPr>
                        <a:t>Զգում է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60" b="1">
                          <a:solidFill>
                            <a:srgbClr val="F7F5F1"/>
                          </a:solidFill>
                          <a:latin typeface="DejaVu Sans"/>
                        </a:rPr>
                        <a:t>Այս դասընթացում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90" b="1">
                          <a:solidFill>
                            <a:srgbClr val="1A1F24"/>
                          </a:solidFill>
                          <a:latin typeface="DejaVu Sans"/>
                        </a:rPr>
                        <a:t>Իներտ զանգված ճկուն կախոցի վրա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Courier New"/>
                        </a:rPr>
                        <a:t>x = ma/k,  f₀ = (1/2π)√(k/m)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90" b="0">
                          <a:solidFill>
                            <a:srgbClr val="1A1F24"/>
                          </a:solidFill>
                          <a:latin typeface="DejaVu Sans"/>
                        </a:rPr>
                        <a:t>արագացում, անկյունային արագություն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DejaVu Sans"/>
                        </a:rPr>
                        <a:t>L5 արագաչափ, L6 գիրոսկոպ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DejaVu Sans"/>
                        </a:rPr>
                        <a:t>Կախովի հեծան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Courier New"/>
                        </a:rPr>
                        <a:t>k ∝ E·w·t³/L³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DejaVu Sans"/>
                        </a:rPr>
                        <a:t>ուժ (դա վերևի ճկուն կախոցն է)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DejaVu Sans"/>
                        </a:rPr>
                        <a:t>L8 ուժ / հպում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DejaVu Sans"/>
                        </a:rPr>
                        <a:t>Թաղանթ խոռոչի վրայով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DejaVu Sans Mono"/>
                        </a:rPr>
                        <a:t>ճկվածք ∝ ΔP·a⁴/(E·t³)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DejaVu Sans"/>
                        </a:rPr>
                        <a:t>ճնշում, ձայն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DejaVu Sans"/>
                        </a:rPr>
                        <a:t>L8 ճնշում, L11 խոսափող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DejaVu Sans"/>
                        </a:rPr>
                        <a:t>Ռեզոնատոր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DejaVu Sans Mono"/>
                        </a:rPr>
                        <a:t>f₀-ը շեղվում է զանգվածով և T-ով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60" b="0">
                          <a:solidFill>
                            <a:srgbClr val="1A1F24"/>
                          </a:solidFill>
                          <a:latin typeface="DejaVu Sans"/>
                        </a:rPr>
                        <a:t>զանգված, գազ, ջերմաստիճան, ժամանակ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A1F24"/>
                          </a:solidFill>
                          <a:latin typeface="DejaVu Sans"/>
                        </a:rPr>
                        <a:t>L9 գազի միկրոջեռուցիչ, ժամանակաչափում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F24"/>
                          </a:solidFill>
                          <a:latin typeface="DejaVu Sans"/>
                        </a:rPr>
                        <a:t>Սանրաձև կառուցվածք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Courier New"/>
                        </a:rPr>
                        <a:t>C = nεA/d,  F ∝ n·V²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DejaVu Sans"/>
                        </a:rPr>
                        <a:t>տեղաշարժ — զգում ԵՎ գործարկում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DejaVu Sans"/>
                        </a:rPr>
                        <a:t>L5, L6, L10 MEMS հայելի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44068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70" b="1">
                <a:solidFill>
                  <a:srgbClr val="1A1F24"/>
                </a:solidFill>
                <a:latin typeface="DejaVu Sans"/>
              </a:rPr>
              <a:t>Հինգ, ոչ թե դասակարգում։ Հինգն այն է, ինչ տեղավորվում է աշխատանքային հիշողությունում, և հինգն իրապես բավական է յոթ դասախոսության համար։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0" b="1" i="0">
                <a:solidFill>
                  <a:srgbClr val="D98324"/>
                </a:solidFill>
                <a:latin typeface="DejaVu Sans"/>
              </a:rPr>
              <a:t>ՔՎԵԱՐԿՈՒԹՅՈՒՆ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F24"/>
                </a:solidFill>
                <a:latin typeface="DejaVu Sans"/>
              </a:rPr>
              <a:t>Չորս MEMS սարք։ Դրանցից ո՞րը ՉԻ պարունակում իներտ զանգված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762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854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եռառանցք արագաչափ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620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9809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900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տատանվող կառուցվածքով գիրոսկոպ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667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7856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947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բարոմետրիկ ճնշման տվիչ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714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59028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99432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MEMS խոսափող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DejaVu Sans"/>
              </a:rPr>
              <a:t>Քվեարկեք ինքնուրույն, ձեռքերը վեր՝ իմ հաշվով։ Ապա ձեզ ազնիվ բան կասեմ այս հարցի մասին։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0" b="1" i="0">
                <a:solidFill>
                  <a:srgbClr val="0E7C86"/>
                </a:solidFill>
                <a:latin typeface="DejaVu Sans"/>
              </a:rPr>
              <a:t>ՔՎԵԱՐԿՈՒԹՅՈՒՆ 2   ·   ՊԱՏԱՍԽԱՆ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F24"/>
                </a:solidFill>
                <a:latin typeface="DejaVu Sans"/>
              </a:rPr>
              <a:t>Չորս MEMS սարք։ Դրանցից ո՞րը ՉԻ պարունակում իներտ զանգված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762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854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եռառանցք արագաչափ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620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9809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900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տատանվող կառուցվածքով գիրոսկոպ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667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7856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947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DejaVu Sans"/>
              </a:rPr>
              <a:t>բարոմետրիկ ճնշման տվիչ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714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59028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99432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MEMS խոսափող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DejaVu Sans"/>
              </a:rPr>
              <a:t>Եթե քվեարկել եք D, ֆիզիկայի առումով ճիշտ էիք, իսկ ես վատ հարց էի տվել․ խոսափողը նույնպես թաղանթ ունի։ Ե՛վ C-ն, և՛ D-ն արձագանքում են թաղանթի վրայի ճնշմանը, ոչ թե կախված զանգվածի իներցիային։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40" b="1" i="0">
                <a:solidFill>
                  <a:srgbClr val="1A1F24"/>
                </a:solidFill>
                <a:latin typeface="DejaVu Sans"/>
              </a:rPr>
              <a:t>Ինչու՞ հինգ ձևը ծածկում է յոթ դասախոսություն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Մոդուլ Բ-ի բոլոր սարքերը և դրանց հիմքում ընկած կառուցվածքը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7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495"/>
                <a:gridCol w="2827489"/>
                <a:gridCol w="3914985"/>
                <a:gridCol w="3044988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70" b="1">
                          <a:solidFill>
                            <a:srgbClr val="F7F5F1"/>
                          </a:solidFill>
                          <a:latin typeface="DejaVu Sans"/>
                        </a:rPr>
                        <a:t>Դասախոսություն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7F5F1"/>
                          </a:solidFill>
                          <a:latin typeface="DejaVu Sans"/>
                        </a:rPr>
                        <a:t>Սարք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10" b="1">
                          <a:solidFill>
                            <a:srgbClr val="F7F5F1"/>
                          </a:solidFill>
                          <a:latin typeface="DejaVu Sans"/>
                        </a:rPr>
                        <a:t>Կառուցվածք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7F5F1"/>
                          </a:solidFill>
                          <a:latin typeface="DejaVu Sans"/>
                        </a:rPr>
                        <a:t>Փոխակերպում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1A1F24"/>
                          </a:solidFill>
                          <a:latin typeface="Courier New"/>
                        </a:rPr>
                        <a:t>L5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DejaVu Sans"/>
                        </a:rPr>
                        <a:t>արագաչափ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30" b="0">
                          <a:solidFill>
                            <a:srgbClr val="1A1F24"/>
                          </a:solidFill>
                          <a:latin typeface="DejaVu Sans"/>
                        </a:rPr>
                        <a:t>իներտ զանգված ճկուն կախոցի վրա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DejaVu Sans"/>
                        </a:rPr>
                        <a:t>ունակային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1A1F24"/>
                          </a:solidFill>
                          <a:latin typeface="Courier New"/>
                        </a:rPr>
                        <a:t>L6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DejaVu Sans"/>
                        </a:rPr>
                        <a:t>գիրոսկոպ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0" b="0">
                          <a:solidFill>
                            <a:srgbClr val="1A1F24"/>
                          </a:solidFill>
                          <a:latin typeface="DejaVu Sans"/>
                        </a:rPr>
                        <a:t>սանրաձև գործարկիչ + իներտ զանգված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DejaVu Sans"/>
                        </a:rPr>
                        <a:t>ունակային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1A1F24"/>
                          </a:solidFill>
                          <a:latin typeface="Courier New"/>
                        </a:rPr>
                        <a:t>L7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DejaVu Sans"/>
                        </a:rPr>
                        <a:t>մագնիսաչափ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70" b="0">
                          <a:solidFill>
                            <a:srgbClr val="1A1F24"/>
                          </a:solidFill>
                          <a:latin typeface="DejaVu Sans"/>
                        </a:rPr>
                        <a:t>չկա — ոչինչ չի շարժվում</a:t>
                      </a:r>
                    </a:p>
                  </a:txBody>
                  <a:tcPr marL="91440" marR="91440" marT="27432" marB="27432" anchor="ctr">
                    <a:solidFill>
                      <a:srgbClr val="E4E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90" b="0">
                          <a:solidFill>
                            <a:srgbClr val="1A1F24"/>
                          </a:solidFill>
                          <a:latin typeface="DejaVu Sans"/>
                        </a:rPr>
                        <a:t>էլեկտրամագնիսական</a:t>
                      </a:r>
                    </a:p>
                  </a:txBody>
                  <a:tcPr marL="91440" marR="91440" marT="27432" marB="27432" anchor="ctr">
                    <a:solidFill>
                      <a:srgbClr val="E4E2D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1A1F24"/>
                          </a:solidFill>
                          <a:latin typeface="Courier New"/>
                        </a:rPr>
                        <a:t>L8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DejaVu Sans"/>
                        </a:rPr>
                        <a:t>ճնշման տվիչ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DejaVu Sans"/>
                        </a:rPr>
                        <a:t>թաղանթ խոռոչի վրայով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60" b="0">
                          <a:solidFill>
                            <a:srgbClr val="1A1F24"/>
                          </a:solidFill>
                          <a:latin typeface="DejaVu Sans"/>
                        </a:rPr>
                        <a:t>պիեզոդիմադրական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1A1F24"/>
                          </a:solidFill>
                          <a:latin typeface="Courier New"/>
                        </a:rPr>
                        <a:t>L8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DejaVu Sans"/>
                        </a:rPr>
                        <a:t>ուժ / հպում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DejaVu Sans"/>
                        </a:rPr>
                        <a:t>կախովի հեծան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60" b="0">
                          <a:solidFill>
                            <a:srgbClr val="1A1F24"/>
                          </a:solidFill>
                          <a:latin typeface="DejaVu Sans"/>
                        </a:rPr>
                        <a:t>պիեզոդիմադրական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1A1F24"/>
                          </a:solidFill>
                          <a:latin typeface="Courier New"/>
                        </a:rPr>
                        <a:t>L9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DejaVu Sans"/>
                        </a:rPr>
                        <a:t>գազի տվիչ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40" b="0">
                          <a:solidFill>
                            <a:srgbClr val="1A1F24"/>
                          </a:solidFill>
                          <a:latin typeface="DejaVu Sans"/>
                        </a:rPr>
                        <a:t>ռեզոնատոր / միկրոջեռուցիչ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80" b="0">
                          <a:solidFill>
                            <a:srgbClr val="1A1F24"/>
                          </a:solidFill>
                          <a:latin typeface="DejaVu Sans"/>
                        </a:rPr>
                        <a:t>ջերմային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1A1F24"/>
                          </a:solidFill>
                          <a:latin typeface="Courier New"/>
                        </a:rPr>
                        <a:t>L10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DejaVu Sans"/>
                        </a:rPr>
                        <a:t>MEMS հայելի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0" b="0">
                          <a:solidFill>
                            <a:srgbClr val="1A1F24"/>
                          </a:solidFill>
                          <a:latin typeface="DejaVu Sans"/>
                        </a:rPr>
                        <a:t>սանրաձև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60" b="0">
                          <a:solidFill>
                            <a:srgbClr val="1A1F24"/>
                          </a:solidFill>
                          <a:latin typeface="DejaVu Sans"/>
                        </a:rPr>
                        <a:t>էլեկտրաստատիկ գործարկում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1A1F24"/>
                          </a:solidFill>
                          <a:latin typeface="Courier New"/>
                        </a:rPr>
                        <a:t>L11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DejaVu Sans"/>
                        </a:rPr>
                        <a:t>խոսափող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DejaVu Sans"/>
                        </a:rPr>
                        <a:t>թաղանթ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DejaVu Sans"/>
                        </a:rPr>
                        <a:t>ունակային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577840"/>
            <a:ext cx="10874959" cy="713232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DejaVu Sans"/>
              </a:rPr>
              <a:t>Ութ սարք։ Հինգ ձև։ Դրանցից մեկին ընդհանրապես շարժվող կառուցվածք պետք չէ, և իմանալը, թե որին, արժե այնքան, որքան մնացածն իմանալը։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DejaVu Sans"/>
              </a:rPr>
              <a:t>1-ԻՆ ԲԱԺՆԻ ԻՄԱՍՏԸ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7495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 i="0">
                <a:solidFill>
                  <a:srgbClr val="F7F5F1"/>
                </a:solidFill>
                <a:latin typeface="DejaVu Sans"/>
              </a:rPr>
              <a:t>Դուք չեք սովորելու</a:t>
            </a:r>
          </a:p>
          <a:p>
            <a:pPr algn="l">
              <a:lnSpc>
                <a:spcPct val="118000"/>
              </a:lnSpc>
            </a:pPr>
            <a:r>
              <a:rPr sz="3800" b="1" i="0">
                <a:solidFill>
                  <a:srgbClr val="F7F5F1"/>
                </a:solidFill>
                <a:latin typeface="DejaVu Sans"/>
              </a:rPr>
              <a:t>տասնմեկ սարք։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61772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892040"/>
            <a:ext cx="99605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8C0C6"/>
                </a:solidFill>
                <a:latin typeface="DejaVu Sans"/>
              </a:rPr>
              <a:t>Դուք սովորելու եք հինգ կառուցվածք և վեց փոխակերպման սկզբունք, ապա կհետևեք, թե ինչպես են դրանք յոթ անգամ վերահամակցվում։ Մոդուլ Բ-ն ցանկ չէ։ Դա մեկ մեթոդ է՝ կիրառված։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Մեկ կառուցվածք, չորս տարբեր տվիչ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Ռեզոնատորը՝ ցույց տալու համար, որ ձևն է վերաօգտագործելի մասը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03120"/>
            <a:ext cx="2560320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80" b="1">
                <a:solidFill>
                  <a:srgbClr val="F7F5F1"/>
                </a:solidFill>
                <a:latin typeface="DejaVu Sans"/>
              </a:rPr>
              <a:t>ԶԱՆԳՎԱԾ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43200"/>
            <a:ext cx="25603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70" b="0">
                <a:solidFill>
                  <a:srgbClr val="1A1F24"/>
                </a:solidFill>
                <a:latin typeface="DejaVu Sans"/>
              </a:rPr>
              <a:t>մոլեկուլը նստում է դրա վրա;</a:t>
            </a:r>
          </a:p>
          <a:p>
            <a:pPr algn="ctr"/>
            <a:r>
              <a:rPr sz="1180" b="0">
                <a:solidFill>
                  <a:srgbClr val="1A1F24"/>
                </a:solidFill>
                <a:latin typeface="DejaVu Sans"/>
              </a:rPr>
              <a:t>f₀-ն նվազում 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103120"/>
            <a:ext cx="2560320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7F5F1"/>
                </a:solidFill>
                <a:latin typeface="DejaVu Sans"/>
              </a:rPr>
              <a:t>ԳԱԶ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743200"/>
            <a:ext cx="25603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0">
                <a:solidFill>
                  <a:srgbClr val="1A1F24"/>
                </a:solidFill>
                <a:latin typeface="DejaVu Sans"/>
              </a:rPr>
              <a:t>ծածկույթը կլանում է նյութը;</a:t>
            </a:r>
          </a:p>
          <a:p>
            <a:pPr algn="ctr"/>
            <a:r>
              <a:rPr sz="1430" b="0">
                <a:solidFill>
                  <a:srgbClr val="1A1F24"/>
                </a:solidFill>
                <a:latin typeface="DejaVu Sans"/>
              </a:rPr>
              <a:t>զանգվածը փոխվում 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103120"/>
            <a:ext cx="2560320" cy="56692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1A1F24"/>
                </a:solidFill>
                <a:latin typeface="DejaVu Sans"/>
              </a:rPr>
              <a:t>ՋԵՐՄԱՍՏԻՃԱՆ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2743200"/>
            <a:ext cx="25603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0">
                <a:solidFill>
                  <a:srgbClr val="1A1F24"/>
                </a:solidFill>
                <a:latin typeface="DejaVu Sans"/>
              </a:rPr>
              <a:t>Յունգի մոդուլը փոխվում է;</a:t>
            </a:r>
          </a:p>
          <a:p>
            <a:pPr algn="ctr"/>
            <a:r>
              <a:rPr sz="1180" b="0">
                <a:solidFill>
                  <a:srgbClr val="1A1F24"/>
                </a:solidFill>
                <a:latin typeface="DejaVu Sans"/>
              </a:rPr>
              <a:t>f₀-ն հետևում է դրան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4" y="2103120"/>
            <a:ext cx="2560320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80" b="1">
                <a:solidFill>
                  <a:srgbClr val="F7F5F1"/>
                </a:solidFill>
                <a:latin typeface="DejaVu Sans"/>
              </a:rPr>
              <a:t>ԺԱՄԱՆԱԿ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0264" y="2743200"/>
            <a:ext cx="25603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10" b="0">
                <a:solidFill>
                  <a:srgbClr val="1A1F24"/>
                </a:solidFill>
                <a:latin typeface="DejaVu Sans"/>
              </a:rPr>
              <a:t>ոչինչ չի փոխվում;</a:t>
            </a:r>
          </a:p>
          <a:p>
            <a:pPr algn="ctr"/>
            <a:r>
              <a:rPr sz="1600" b="0">
                <a:solidFill>
                  <a:srgbClr val="1A1F24"/>
                </a:solidFill>
                <a:latin typeface="DejaVu Sans"/>
              </a:rPr>
              <a:t>f₀-ն ԻՆՔՆ Է ելքը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20624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1A1F24"/>
                </a:solidFill>
                <a:latin typeface="DejaVu Sans"/>
              </a:rPr>
              <a:t>Նույն հեծանը։ Նույն հավասարումը։ Չորս արտադրանք, և դրանցից մեկը մյուս երեքի համար խանգարում է։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212080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6B7680"/>
                </a:solidFill>
                <a:latin typeface="DejaVu Sans"/>
              </a:rPr>
              <a:t>Ջերմաստիճանը շեղում է f₀-ը՝ անկախ ձեր ցանկությունից․ գազի տվիչում դա փոխհատուցման ենթակա սխալի բաղադրիչ է, իսկ ջերմաչափում՝ ամբողջ արտադրանքը։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DejaVu Sans"/>
              </a:rPr>
              <a:t>ԲԱԺԻՆ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DejaVu Sans"/>
              </a:rPr>
              <a:t>Վեց սկզբունք,</a:t>
            </a:r>
          </a:p>
          <a:p>
            <a:pPr algn="l">
              <a:lnSpc>
                <a:spcPct val="115000"/>
              </a:lnSpc>
            </a:pPr>
            <a:r>
              <a:rPr sz="3760" b="1" i="0">
                <a:solidFill>
                  <a:srgbClr val="F7F5F1"/>
                </a:solidFill>
                <a:latin typeface="DejaVu Sans"/>
              </a:rPr>
              <a:t>մեկ հարց, որը դասակարգում է դրանք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20" b="0" i="0">
                <a:solidFill>
                  <a:srgbClr val="B8C0C6"/>
                </a:solidFill>
                <a:latin typeface="DejaVu Sans"/>
              </a:rPr>
              <a:t>Ունակային · պիեզոդիմադրական · պիեզոէլեկտրական · ջերմային · էլեկտրամագնիսական · օպտիկական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DejaVu Sans"/>
              </a:rPr>
              <a:t>Հարցը․ կարո՞ղ է այն չափել այն, ինչ չի շարժվում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60" b="1" i="0">
                <a:solidFill>
                  <a:srgbClr val="1A1F24"/>
                </a:solidFill>
                <a:latin typeface="DejaVu Sans"/>
              </a:rPr>
              <a:t>Երկուսը, որոնք տանում են Մոդուլ Բ-ն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90" b="0" i="1">
                <a:solidFill>
                  <a:srgbClr val="6B7680"/>
                </a:solidFill>
                <a:latin typeface="DejaVu Sans"/>
              </a:rPr>
              <a:t>Երկուսն էլ ստատիկ հարցին պատասխանում են այո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53492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5349240" cy="512064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7F5F1"/>
                </a:solidFill>
                <a:latin typeface="DejaVu Sans"/>
              </a:rPr>
              <a:t>ՈՒՆԱԿԱՅԻՆ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596896"/>
            <a:ext cx="5056632" cy="43891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7F5F1"/>
                </a:solidFill>
                <a:latin typeface="DejaVu Sans"/>
              </a:rPr>
              <a:t>ՍՏԱՏԻԿ (DC) ԱՐՁԱԳԱՆՔ․   ԱՅՈ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00400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680"/>
                </a:solidFill>
                <a:latin typeface="DejaVu Sans"/>
              </a:rPr>
              <a:t>ԱԶԴԱՆՇԱՆ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19856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 i="0">
                <a:solidFill>
                  <a:srgbClr val="1A1F24"/>
                </a:solidFill>
                <a:latin typeface="DejaVu Sans"/>
              </a:rPr>
              <a:t>փոքր, բարձր դիմադրությամբ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803904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>
                <a:solidFill>
                  <a:srgbClr val="6B7680"/>
                </a:solidFill>
                <a:latin typeface="DejaVu Sans"/>
              </a:rPr>
              <a:t>ՀԻՄՆԱԿԱՆ ԹՈՒՅԼ ԿՈՂՄԸ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023360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40" b="0" i="0">
                <a:solidFill>
                  <a:srgbClr val="1A1F24"/>
                </a:solidFill>
                <a:latin typeface="DejaVu Sans"/>
              </a:rPr>
              <a:t>պահանջում է էլեկտրոնիկա նույն բյուրեղում; ամենուր՝ մակաբույծ ունակություն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40740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6B7680"/>
                </a:solidFill>
                <a:latin typeface="DejaVu Sans"/>
              </a:rPr>
              <a:t>ԲԱՑԱՏՐՈՒՄ Է ՏՎՅԱԼՆԵՐԻ ԹԵՐԹԻԿԻ ՏՈՂԸ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626864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40" b="0" i="0">
                <a:solidFill>
                  <a:srgbClr val="1A1F24"/>
                </a:solidFill>
                <a:latin typeface="DejaVu Sans"/>
              </a:rPr>
              <a:t>ինչու՞ ISM330DHCX-ն ընդհանրապես կարող է չափել թեքություն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1920240"/>
            <a:ext cx="53492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1920240"/>
            <a:ext cx="5349240" cy="512064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89" b="1">
                <a:solidFill>
                  <a:srgbClr val="F7F5F1"/>
                </a:solidFill>
                <a:latin typeface="DejaVu Sans"/>
              </a:rPr>
              <a:t>ՊԻԵԶՈԴԻՄԱԴՐԱԿԱՆ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3952" y="2596896"/>
            <a:ext cx="5056632" cy="43891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7F5F1"/>
                </a:solidFill>
                <a:latin typeface="DejaVu Sans"/>
              </a:rPr>
              <a:t>ՍՏԱՏԻԿ (DC) ԱՐՁԱԳԱՆՔ․   ԱՅՈ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200400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680"/>
                </a:solidFill>
                <a:latin typeface="DejaVu Sans"/>
              </a:rPr>
              <a:t>ԱԶԴԱՆՇԱՆ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419856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DejaVu Sans"/>
              </a:rPr>
              <a:t>միլիվոլտեր կամրջակից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803904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>
                <a:solidFill>
                  <a:srgbClr val="6B7680"/>
                </a:solidFill>
                <a:latin typeface="DejaVu Sans"/>
              </a:rPr>
              <a:t>ՀԻՄՆԱԿԱՆ ԹՈՒՅԼ ԿՈՂՄԸ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023360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DejaVu Sans"/>
              </a:rPr>
              <a:t>ուժեղ ջերմաստիճանային գործակից — կամրջակը դրեյֆ ունի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40740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6B7680"/>
                </a:solidFill>
                <a:latin typeface="DejaVu Sans"/>
              </a:rPr>
              <a:t>ԲԱՑԱՏՐՈՒՄ Է ՏՎՅԱԼՆԵՐԻ ԹԵՐԹԻԿԻ ՏՈՂԸ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626864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70" b="0" i="0">
                <a:solidFill>
                  <a:srgbClr val="1A1F24"/>
                </a:solidFill>
                <a:latin typeface="DejaVu Sans"/>
              </a:rPr>
              <a:t>ինչու՞ ճնշման տվիչներին անհրաժեշտ է ջերմաստիճանային փոխհատուցում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25780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30" b="1">
                <a:solidFill>
                  <a:srgbClr val="F7F5F1"/>
                </a:solidFill>
                <a:latin typeface="DejaVu Sans"/>
              </a:rPr>
              <a:t>Ունակայինը չափում է ԲԱՑԱԿ։ Պիեզոդիմադրականը չափում է ԴԵՖՈՐՄԱՑԻԱ։ Երկուսն էլ պահում են իրենց ցուցմունքը, երբ աշխարհը դադարում է շարժվել, և դա ինքնըստինքյան տրված չէ։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40" b="1" i="0">
                <a:solidFill>
                  <a:srgbClr val="1A1F24"/>
                </a:solidFill>
                <a:latin typeface="DejaVu Sans"/>
              </a:rPr>
              <a:t>Այն մեկը, որը պատասխանում է ոչ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Պիեզոէլեկտրական — ինքնագեներացնող և կույր ամեն անշարժի նկատմամբ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53492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5349240" cy="512064"/>
          </a:xfrm>
          <a:prstGeom prst="rect">
            <a:avLst/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70" b="1">
                <a:solidFill>
                  <a:srgbClr val="F7F5F1"/>
                </a:solidFill>
                <a:latin typeface="DejaVu Sans"/>
              </a:rPr>
              <a:t>ՊԻԵԶՈԷԼԵԿՏՐԱԿԱՆ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596896"/>
            <a:ext cx="5056632" cy="438912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7F5F1"/>
                </a:solidFill>
                <a:latin typeface="DejaVu Sans"/>
              </a:rPr>
              <a:t>ՍՏԱՏԻԿ (DC) ԱՐՁԱԳԱՆՔ․   ՈՉ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00400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680"/>
                </a:solidFill>
                <a:latin typeface="DejaVu Sans"/>
              </a:rPr>
              <a:t>ԱԶԴԱՆՇԱՆ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19856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DejaVu Sans"/>
              </a:rPr>
              <a:t>լիցք, ինքնագեներացնող — սնում պետք չէ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803904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>
                <a:solidFill>
                  <a:srgbClr val="6B7680"/>
                </a:solidFill>
                <a:latin typeface="DejaVu Sans"/>
              </a:rPr>
              <a:t>ՀԻՄՆԱԿԱՆ ԹՈՒՅԼ ԿՈՂՄԸ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023360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70" b="0" i="0">
                <a:solidFill>
                  <a:srgbClr val="1A1F24"/>
                </a:solidFill>
                <a:latin typeface="DejaVu Sans"/>
              </a:rPr>
              <a:t>ընդհանրապես DC արձագանք չկա; լիցքը հոսում է դուրս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40740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6B7680"/>
                </a:solidFill>
                <a:latin typeface="DejaVu Sans"/>
              </a:rPr>
              <a:t>ԲԱՑԱՏՐՈՒՄ Է ՏՎՅԱԼՆԵՐԻ ԹԵՐԹԻԿԻ ՏՈՂԸ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626864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90" b="0" i="0">
                <a:solidFill>
                  <a:srgbClr val="1A1F24"/>
                </a:solidFill>
                <a:latin typeface="DejaVu Sans"/>
              </a:rPr>
              <a:t>ինչու՞ վիբրացիայի տվիչները նշում են ՑԱԾՐ հաճախականային սահման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11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1" i="0">
                <a:solidFill>
                  <a:srgbClr val="0E7C86"/>
                </a:solidFill>
                <a:latin typeface="DejaVu Sans"/>
              </a:rPr>
              <a:t>ԹԵՔՈՒԹՅՈՒՆ  (մուտքը) — բարձրացված 0.5°-ի և պահված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273552"/>
            <a:ext cx="4754880" cy="12700"/>
          </a:xfrm>
          <a:prstGeom prst="rect">
            <a:avLst/>
          </a:prstGeom>
          <a:solidFill>
            <a:srgbClr val="E4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6492240" y="2560320"/>
            <a:ext cx="4754880" cy="713232"/>
          </a:xfrm>
          <a:custGeom>
            <a:avLst/>
            <a:gdLst/>
            <a:ahLst/>
            <a:cxnLst/>
            <a:rect l="l" t="t" r="r" b="b"/>
            <a:pathLst>
              <a:path w="4754880" h="713232">
                <a:moveTo>
                  <a:pt x="0" y="713232"/>
                </a:moveTo>
                <a:lnTo>
                  <a:pt x="914400" y="713232"/>
                </a:lnTo>
                <a:lnTo>
                  <a:pt x="914400" y="0"/>
                </a:lnTo>
                <a:lnTo>
                  <a:pt x="4754880" y="0"/>
                </a:lnTo>
              </a:path>
            </a:pathLst>
          </a:custGeom>
          <a:noFill/>
          <a:ln w="285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651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DejaVu Sans Mono"/>
              </a:rPr>
              <a:t>պահվում է տարիներ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DejaVu Sans"/>
              </a:rPr>
              <a:t>ՊԻԵԶՈԷԼԵԿՏՐԱԿԱՆ ԵԼՔ — մարում է ուժեղարարի τ-ով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956048"/>
            <a:ext cx="4754880" cy="12700"/>
          </a:xfrm>
          <a:prstGeom prst="rect">
            <a:avLst/>
          </a:prstGeom>
          <a:solidFill>
            <a:srgbClr val="E4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6492240" y="4242816"/>
            <a:ext cx="4754880" cy="713232"/>
          </a:xfrm>
          <a:custGeom>
            <a:avLst/>
            <a:gdLst/>
            <a:ahLst/>
            <a:cxnLst/>
            <a:rect l="l" t="t" r="r" b="b"/>
            <a:pathLst>
              <a:path w="4754880" h="713232">
                <a:moveTo>
                  <a:pt x="0" y="713232"/>
                </a:moveTo>
                <a:lnTo>
                  <a:pt x="914400" y="713232"/>
                </a:lnTo>
                <a:lnTo>
                  <a:pt x="914400" y="0"/>
                </a:lnTo>
                <a:lnTo>
                  <a:pt x="914400" y="0"/>
                </a:lnTo>
                <a:lnTo>
                  <a:pt x="978408" y="39292"/>
                </a:lnTo>
                <a:lnTo>
                  <a:pt x="1042416" y="76420"/>
                </a:lnTo>
                <a:lnTo>
                  <a:pt x="1106424" y="111503"/>
                </a:lnTo>
                <a:lnTo>
                  <a:pt x="1170432" y="144653"/>
                </a:lnTo>
                <a:lnTo>
                  <a:pt x="1234440" y="175976"/>
                </a:lnTo>
                <a:lnTo>
                  <a:pt x="1298448" y="205574"/>
                </a:lnTo>
                <a:lnTo>
                  <a:pt x="1362456" y="233541"/>
                </a:lnTo>
                <a:lnTo>
                  <a:pt x="1426464" y="259968"/>
                </a:lnTo>
                <a:lnTo>
                  <a:pt x="1490472" y="284939"/>
                </a:lnTo>
                <a:lnTo>
                  <a:pt x="1554480" y="308534"/>
                </a:lnTo>
                <a:lnTo>
                  <a:pt x="1618488" y="330829"/>
                </a:lnTo>
                <a:lnTo>
                  <a:pt x="1682496" y="351896"/>
                </a:lnTo>
                <a:lnTo>
                  <a:pt x="1746504" y="371802"/>
                </a:lnTo>
                <a:lnTo>
                  <a:pt x="1810512" y="390612"/>
                </a:lnTo>
                <a:lnTo>
                  <a:pt x="1874520" y="408385"/>
                </a:lnTo>
                <a:lnTo>
                  <a:pt x="1938528" y="425180"/>
                </a:lnTo>
                <a:lnTo>
                  <a:pt x="2002536" y="441049"/>
                </a:lnTo>
                <a:lnTo>
                  <a:pt x="2066544" y="456044"/>
                </a:lnTo>
                <a:lnTo>
                  <a:pt x="2130552" y="470212"/>
                </a:lnTo>
                <a:lnTo>
                  <a:pt x="2194560" y="483601"/>
                </a:lnTo>
                <a:lnTo>
                  <a:pt x="2258568" y="496251"/>
                </a:lnTo>
                <a:lnTo>
                  <a:pt x="2322576" y="508205"/>
                </a:lnTo>
                <a:lnTo>
                  <a:pt x="2386584" y="519500"/>
                </a:lnTo>
                <a:lnTo>
                  <a:pt x="2450592" y="530173"/>
                </a:lnTo>
                <a:lnTo>
                  <a:pt x="2514600" y="540258"/>
                </a:lnTo>
                <a:lnTo>
                  <a:pt x="2578608" y="549787"/>
                </a:lnTo>
                <a:lnTo>
                  <a:pt x="2642616" y="558791"/>
                </a:lnTo>
                <a:lnTo>
                  <a:pt x="2706624" y="567300"/>
                </a:lnTo>
                <a:lnTo>
                  <a:pt x="2770632" y="575339"/>
                </a:lnTo>
                <a:lnTo>
                  <a:pt x="2834640" y="582936"/>
                </a:lnTo>
                <a:lnTo>
                  <a:pt x="2898648" y="590114"/>
                </a:lnTo>
                <a:lnTo>
                  <a:pt x="2962656" y="596897"/>
                </a:lnTo>
                <a:lnTo>
                  <a:pt x="3026664" y="603306"/>
                </a:lnTo>
                <a:lnTo>
                  <a:pt x="3090672" y="609362"/>
                </a:lnTo>
                <a:lnTo>
                  <a:pt x="3154680" y="615084"/>
                </a:lnTo>
                <a:lnTo>
                  <a:pt x="3218688" y="620491"/>
                </a:lnTo>
                <a:lnTo>
                  <a:pt x="3282696" y="625600"/>
                </a:lnTo>
                <a:lnTo>
                  <a:pt x="3346704" y="630428"/>
                </a:lnTo>
                <a:lnTo>
                  <a:pt x="3410712" y="634989"/>
                </a:lnTo>
                <a:lnTo>
                  <a:pt x="3474720" y="639300"/>
                </a:lnTo>
                <a:lnTo>
                  <a:pt x="3538728" y="643373"/>
                </a:lnTo>
                <a:lnTo>
                  <a:pt x="3602736" y="647221"/>
                </a:lnTo>
                <a:lnTo>
                  <a:pt x="3666744" y="650858"/>
                </a:lnTo>
                <a:lnTo>
                  <a:pt x="3730752" y="654294"/>
                </a:lnTo>
                <a:lnTo>
                  <a:pt x="3794760" y="657541"/>
                </a:lnTo>
                <a:lnTo>
                  <a:pt x="3858768" y="660609"/>
                </a:lnTo>
                <a:lnTo>
                  <a:pt x="3922776" y="663508"/>
                </a:lnTo>
                <a:lnTo>
                  <a:pt x="3986784" y="666248"/>
                </a:lnTo>
                <a:lnTo>
                  <a:pt x="4050792" y="668836"/>
                </a:lnTo>
                <a:lnTo>
                  <a:pt x="4114800" y="671282"/>
                </a:lnTo>
                <a:lnTo>
                  <a:pt x="4178808" y="673593"/>
                </a:lnTo>
                <a:lnTo>
                  <a:pt x="4242816" y="675777"/>
                </a:lnTo>
                <a:lnTo>
                  <a:pt x="4306824" y="677840"/>
                </a:lnTo>
                <a:lnTo>
                  <a:pt x="4370832" y="679790"/>
                </a:lnTo>
                <a:lnTo>
                  <a:pt x="4434840" y="681632"/>
                </a:lnTo>
                <a:lnTo>
                  <a:pt x="4498848" y="683373"/>
                </a:lnTo>
                <a:lnTo>
                  <a:pt x="4562856" y="685018"/>
                </a:lnTo>
                <a:lnTo>
                  <a:pt x="4626864" y="686572"/>
                </a:lnTo>
                <a:lnTo>
                  <a:pt x="4690872" y="688041"/>
                </a:lnTo>
                <a:lnTo>
                  <a:pt x="4754880" y="689429"/>
                </a:lnTo>
              </a:path>
            </a:pathLst>
          </a:custGeom>
          <a:noFill/>
          <a:ln w="285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20" y="45902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ourier New"/>
              </a:rPr>
              <a:t>→ 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25780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F7DFD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1A1F24"/>
                </a:solidFill>
                <a:latin typeface="DejaVu Sans"/>
              </a:rPr>
              <a:t>Պիեզոէլեկտրական տարրն արձագանքում է դեֆորմացիայի ՓՈՓՈԽՈՒԹՅԱՆԸ։ Պահեք այն անշարժ, և ելքը կդառնա զրո՝ ոչ թե վատ, այլ ճիշտ զրո։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Ջերմային և էլեկտրամագնիսական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10" b="0" i="1">
                <a:solidFill>
                  <a:srgbClr val="6B7680"/>
                </a:solidFill>
                <a:latin typeface="DejaVu Sans"/>
              </a:rPr>
              <a:t>Ազնվորեն համառոտ — երկուսին էլ կհանդիպեք Մոդուլ Բ-ում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53492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5349240" cy="512064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90" b="1">
                <a:solidFill>
                  <a:srgbClr val="F7F5F1"/>
                </a:solidFill>
                <a:latin typeface="DejaVu Sans"/>
              </a:rPr>
              <a:t>ՋԵՐՄԱՅԻՆ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596896"/>
            <a:ext cx="5056632" cy="438912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DejaVu Sans"/>
              </a:rPr>
              <a:t>ՍՏԱՏԻԿ (DC) ԱՐՁԱԳԱՆՔ․   ԱՅՈ, ԴԱՆԴԱՂ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00400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680"/>
                </a:solidFill>
                <a:latin typeface="DejaVu Sans"/>
              </a:rPr>
              <a:t>ԱԶԴԱՆՇԱՆ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19856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10" b="0" i="0">
                <a:solidFill>
                  <a:srgbClr val="1A1F24"/>
                </a:solidFill>
                <a:latin typeface="DejaVu Sans"/>
              </a:rPr>
              <a:t>միկրովոլտեր կամ դիմադրության փոփոխություն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803904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>
                <a:solidFill>
                  <a:srgbClr val="6B7680"/>
                </a:solidFill>
                <a:latin typeface="DejaVu Sans"/>
              </a:rPr>
              <a:t>ՀԻՄՆԱԿԱՆ ԹՈՒՅԼ ԿՈՂՄԸ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023360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4"/>
                </a:solidFill>
                <a:latin typeface="DejaVu Sans"/>
              </a:rPr>
              <a:t>դանդաղ; և ինքն իրեն տաքացնում է, ուստի չափում է իր իսկ հզորությունը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40740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6B7680"/>
                </a:solidFill>
                <a:latin typeface="DejaVu Sans"/>
              </a:rPr>
              <a:t>ԲԱՑԱՏՐՈՒՄ Է ՏՎՅԱԼՆԵՐԻ ԹԵՐԹԻԿԻ ՏՈՂԸ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626864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DejaVu Sans"/>
              </a:rPr>
              <a:t>գազի տվիչի տաքացման ժամանակը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1920240"/>
            <a:ext cx="53492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1920240"/>
            <a:ext cx="5349240" cy="512064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7F5F1"/>
                </a:solidFill>
                <a:latin typeface="DejaVu Sans"/>
              </a:rPr>
              <a:t>ԷԼԵԿՏՐԱՄԱԳՆԻՍԱԿԱՆ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3952" y="2596896"/>
            <a:ext cx="5056632" cy="43891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7F5F1"/>
                </a:solidFill>
                <a:latin typeface="DejaVu Sans"/>
              </a:rPr>
              <a:t>ՍՏԱՏԻԿ (DC) ԱՐՁԱԳԱՆՔ․   ԱՅՈ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200400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680"/>
                </a:solidFill>
                <a:latin typeface="DejaVu Sans"/>
              </a:rPr>
              <a:t>ԱԶԴԱՆՇԱՆ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419856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70" b="0" i="0">
                <a:solidFill>
                  <a:srgbClr val="1A1F24"/>
                </a:solidFill>
                <a:latin typeface="DejaVu Sans"/>
              </a:rPr>
              <a:t>մեծ, ցածր դիմադրությամբ — հարմար ազդանշանը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803904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>
                <a:solidFill>
                  <a:srgbClr val="6B7680"/>
                </a:solidFill>
                <a:latin typeface="DejaVu Sans"/>
              </a:rPr>
              <a:t>ՀԻՄՆԱԿԱՆ ԹՈՒՅԼ ԿՈՂՄԸ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023360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DejaVu Sans"/>
              </a:rPr>
              <a:t>դժվար է փոքրացնել, և արձագանքում է շրջակա ամեն մագնիսի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40740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6B7680"/>
                </a:solidFill>
                <a:latin typeface="DejaVu Sans"/>
              </a:rPr>
              <a:t>ԲԱՑԱՏՐՈՒՄ Է ՏՎՅԱԼՆԵՐԻ ԹԵՐԹԻԿԻ ՏՈՂԸ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626864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40" b="0" i="0">
                <a:solidFill>
                  <a:srgbClr val="1A1F24"/>
                </a:solidFill>
                <a:latin typeface="DejaVu Sans"/>
              </a:rPr>
              <a:t>կոշտ և փափուկ երկաթի բաղադրիչները 7-րդ դասախոսությունում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25780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39" b="1">
                <a:solidFill>
                  <a:srgbClr val="1A1F24"/>
                </a:solidFill>
                <a:latin typeface="DejaVu Sans"/>
              </a:rPr>
              <a:t>Ջերմայինը միակ սկզբունքն է, որի աշխատանքն ինքը խանգարում է չափվող մեծությանը։ Էլեկտրամագնիսականը միակն է, որը պայքարում է մասշտաբման օրենքների դեմ՝ դրանք օգտագործելու փոխարեն։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80" b="1" i="0">
                <a:solidFill>
                  <a:srgbClr val="1A1F24"/>
                </a:solidFill>
                <a:latin typeface="DejaVu Sans"/>
              </a:rPr>
              <a:t>Օպտիկական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Վերջին սկզբունքը, և ամենաշատ պատյան պահանջողը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53492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5349240" cy="512064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20" b="1">
                <a:solidFill>
                  <a:srgbClr val="F7F5F1"/>
                </a:solidFill>
                <a:latin typeface="DejaVu Sans"/>
              </a:rPr>
              <a:t>ՕՊՏԻԿԱԿԱՆ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596896"/>
            <a:ext cx="5056632" cy="43891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7F5F1"/>
                </a:solidFill>
                <a:latin typeface="DejaVu Sans"/>
              </a:rPr>
              <a:t>ՍՏԱՏԻԿ (DC) ԱՐՁԱԳԱՆՔ․   ԱՅՈ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00400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680"/>
                </a:solidFill>
                <a:latin typeface="DejaVu Sans"/>
              </a:rPr>
              <a:t>ԱԶԴԱՆՇԱՆ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19856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4"/>
                </a:solidFill>
                <a:latin typeface="DejaVu Sans"/>
              </a:rPr>
              <a:t>կարող է շատ մեծ լինել — երբեմն ուժեղարար ընդհանրապես պետք չէ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803904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>
                <a:solidFill>
                  <a:srgbClr val="6B7680"/>
                </a:solidFill>
                <a:latin typeface="DejaVu Sans"/>
              </a:rPr>
              <a:t>ՀԻՄՆԱԿԱՆ ԹՈՒՅԼ ԿՈՂՄԸ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023360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10" b="0" i="0">
                <a:solidFill>
                  <a:srgbClr val="1A1F24"/>
                </a:solidFill>
                <a:latin typeface="DejaVu Sans"/>
              </a:rPr>
              <a:t>անհրաժեշտ է պատուհան, իսկ պատուհանը տեսնում է շրջակա լույսը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40740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6B7680"/>
                </a:solidFill>
                <a:latin typeface="DejaVu Sans"/>
              </a:rPr>
              <a:t>ԲԱՑԱՏՐՈՒՄ Է ՏՎՅԱԼՆԵՐԻ ԹԵՐԹԻԿԻ ՏՈՂԸ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626864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20" b="0" i="0">
                <a:solidFill>
                  <a:srgbClr val="1A1F24"/>
                </a:solidFill>
                <a:latin typeface="DejaVu Sans"/>
              </a:rPr>
              <a:t>ծածկող պատուհանի նախագծումը 10-րդ դասախոսությունում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96596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6B7680"/>
                </a:solidFill>
                <a:latin typeface="DejaVu Sans"/>
              </a:rPr>
              <a:t>ԵՐԵՔ ՀԱՄԱՌՈՏՆԵՐԸ ՎԵՐԱԴԱՌՆՈՒՄ ԵՆ ԱՅՍՏԵՂ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2377440"/>
            <a:ext cx="74980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Courier New"/>
              </a:rPr>
              <a:t>L7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95728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0" b="1" i="0">
                <a:solidFill>
                  <a:srgbClr val="0E7C86"/>
                </a:solidFill>
                <a:latin typeface="DejaVu Sans"/>
              </a:rPr>
              <a:t>էլեկտրամագնիսական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65176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7680"/>
                </a:solidFill>
                <a:latin typeface="DejaVu Sans"/>
              </a:rPr>
              <a:t>մագնիսաչափեր, և ինչու՞ դրանք պետք է չափաբերվեն տեղում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3127248"/>
            <a:ext cx="74980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Courier New"/>
              </a:rPr>
              <a:t>L9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145536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10" b="1" i="0">
                <a:solidFill>
                  <a:srgbClr val="0E7C86"/>
                </a:solidFill>
                <a:latin typeface="DejaVu Sans"/>
              </a:rPr>
              <a:t>ջերմային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40156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90" b="0" i="0">
                <a:solidFill>
                  <a:srgbClr val="6B7680"/>
                </a:solidFill>
                <a:latin typeface="DejaVu Sans"/>
              </a:rPr>
              <a:t>գազի զգացում, ինքնատաքացում և տաքացման ժամանակ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3877056"/>
            <a:ext cx="74980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Courier New"/>
              </a:rPr>
              <a:t>L10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895344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1" i="0">
                <a:solidFill>
                  <a:srgbClr val="0E7C86"/>
                </a:solidFill>
                <a:latin typeface="DejaVu Sans"/>
              </a:rPr>
              <a:t>օպտիկական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151376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80" b="0" i="0">
                <a:solidFill>
                  <a:srgbClr val="6B7680"/>
                </a:solidFill>
                <a:latin typeface="DejaVu Sans"/>
              </a:rPr>
              <a:t>MEMS հայելիներ, և պատուհանը, որը պետք է նախագծեք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4663440"/>
            <a:ext cx="5349240" cy="38404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DejaVu Sans"/>
              </a:rPr>
              <a:t>Երեք սկզբունք, յուրաքանչյուրին՝ մեկ սլայդ։ Դա համաչափ է։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25780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DejaVu Sans"/>
              </a:rPr>
              <a:t>Օպտիկականը միակ սկզբունքն է, որտեղ ՊԱՏՅԱՆԸ փոխակերպման մաս է կազմում․ չկա պատուհան, չկա չափում։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0" b="1" i="0">
                <a:solidFill>
                  <a:srgbClr val="D98324"/>
                </a:solidFill>
                <a:latin typeface="DejaVu Sans"/>
              </a:rPr>
              <a:t>ՔՎԵԱՐԿՈՒԹՅՈՒՆ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39" b="1" i="0">
                <a:solidFill>
                  <a:srgbClr val="1A1F24"/>
                </a:solidFill>
                <a:latin typeface="DejaVu Sans"/>
              </a:rPr>
              <a:t>Պիեզոէլեկտրական արագաչափը՝ արդյունաբերական վիբրացիոն տիպի բնորոշ ներկայացուցիչ, ամրացված է 2-րդ դասախոսության արևին հետևող շրջանակին՝ դրա թեքությունը չափելու համար։ Շրջանակը թեքվում է 0.5°-ի և պահվում այդ դիրքում։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DejaVu Sans"/>
              </a:rPr>
              <a:t>Երեսուն վայրկյան անց հաղորդվող թեքությունը՝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0.5°, ճիշտ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0°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39" b="0" i="0">
                <a:solidFill>
                  <a:srgbClr val="1A1F24"/>
                </a:solidFill>
                <a:latin typeface="DejaVu Sans"/>
              </a:rPr>
              <a:t>0.5°, բայց շատ աղմկոտ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1A1F24"/>
                </a:solidFill>
                <a:latin typeface="DejaVu Sans"/>
              </a:rPr>
              <a:t>կախված է ուժեղարարի ուժեղացման գործակցից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DejaVu Sans"/>
              </a:rPr>
              <a:t>Քվեարկեք։ Ապա զույգերով․ մեկդ պնդում է, որ ցույց է տալիս 0.5°, մյուսը՝ որ զրո, ապա որոշեք։ Երկու րոպե։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0" b="1" i="0">
                <a:solidFill>
                  <a:srgbClr val="0E7C86"/>
                </a:solidFill>
                <a:latin typeface="DejaVu Sans"/>
              </a:rPr>
              <a:t>ՔՎԵԱՐԿՈՒԹՅՈՒՆ 3   ·   ՊԱՏԱՍԽԱՆ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39" b="1" i="0">
                <a:solidFill>
                  <a:srgbClr val="1A1F24"/>
                </a:solidFill>
                <a:latin typeface="DejaVu Sans"/>
              </a:rPr>
              <a:t>Պիեզոէլեկտրական արագաչափը՝ արդյունաբերական վիբրացիոն տիպի բնորոշ ներկայացուցիչ, ամրացված է 2-րդ դասախոսության արևին հետևող շրջանակին՝ դրա թեքությունը չափելու համար։ Շրջանակը թեքվում է 0.5°-ի և պահվում այդ դիրքում։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DejaVu Sans"/>
              </a:rPr>
              <a:t>Երեսուն վայրկյան անց հաղորդվող թեքությունը՝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0.5°, ճիշտ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0°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39" b="0" i="0">
                <a:solidFill>
                  <a:srgbClr val="1A1F24"/>
                </a:solidFill>
                <a:latin typeface="DejaVu Sans"/>
              </a:rPr>
              <a:t>0.5°, բայց շատ աղմկոտ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1A1F24"/>
                </a:solidFill>
                <a:latin typeface="DejaVu Sans"/>
              </a:rPr>
              <a:t>կախված է ուժեղարարի ուժեղացման գործակցից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10" b="0" i="1">
                <a:solidFill>
                  <a:srgbClr val="0E7C86"/>
                </a:solidFill>
                <a:latin typeface="DejaVu Sans"/>
              </a:rPr>
              <a:t>Զրո։ Լիցքը հայտնվում է, երբ դեֆորմացիան ՓՈՓՈԽՎՈՒՄ Է; անշարժ պահելիս այն մի քանի վայրկյանում հոսում է դուրս ուժեղարարի մուտքային դիմադրության միջով։ Պիեզոէլեկտրական արագաչափը DC արձագանք չունի։ Այն չի կարող չափել թեքություն՝ ոչ թե վատ, այլ ընդհանրապես։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Վեց սկզբունք՝ դասակարգված մեկ հարցով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Կարո՞ղ է այն չափել այն, ինչ անշարժ 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7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242"/>
                <a:gridCol w="1631243"/>
                <a:gridCol w="3044988"/>
                <a:gridCol w="4132484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DejaVu Sans"/>
                        </a:rPr>
                        <a:t>Սկզբունք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DejaVu Sans"/>
                        </a:rPr>
                        <a:t>Ստատիկ (DC)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40" b="1">
                          <a:solidFill>
                            <a:srgbClr val="F7F5F1"/>
                          </a:solidFill>
                          <a:latin typeface="DejaVu Sans"/>
                        </a:rPr>
                        <a:t>Ազդանշան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10" b="1">
                          <a:solidFill>
                            <a:srgbClr val="F7F5F1"/>
                          </a:solidFill>
                          <a:latin typeface="DejaVu Sans"/>
                        </a:rPr>
                        <a:t>Հիմնական թույլ կողմը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DejaVu Sans"/>
                        </a:rPr>
                        <a:t>Ունակային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E7C86"/>
                          </a:solidFill>
                          <a:latin typeface="DejaVu Sans"/>
                        </a:rPr>
                        <a:t>այո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70" b="0">
                          <a:solidFill>
                            <a:srgbClr val="1A1F24"/>
                          </a:solidFill>
                          <a:latin typeface="DejaVu Sans"/>
                        </a:rPr>
                        <a:t>փոքր, բարձր դիմադրությամբ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F24"/>
                          </a:solidFill>
                          <a:latin typeface="DejaVu Sans"/>
                        </a:rPr>
                        <a:t>էլեկտրոնիկան՝ նույն բյուրեղում; մակաբույծ 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DejaVu Sans"/>
                        </a:rPr>
                        <a:t>Պիեզոդիմադրական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E7C86"/>
                          </a:solidFill>
                          <a:latin typeface="DejaVu Sans"/>
                        </a:rPr>
                        <a:t>այո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DejaVu Sans"/>
                        </a:rPr>
                        <a:t>mV կամրջակից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DejaVu Sans"/>
                        </a:rPr>
                        <a:t>ուժեղ ջերմաստիճանային գործակից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10" b="1">
                          <a:solidFill>
                            <a:srgbClr val="1A1F24"/>
                          </a:solidFill>
                          <a:latin typeface="DejaVu Sans"/>
                        </a:rPr>
                        <a:t>Պիեզոէլեկտրական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DejaVu Sans"/>
                        </a:rPr>
                        <a:t>ոչ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DejaVu Sans"/>
                        </a:rPr>
                        <a:t>լիցք, ինքնագեներացնող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10" b="0">
                          <a:solidFill>
                            <a:srgbClr val="1A1F24"/>
                          </a:solidFill>
                          <a:latin typeface="DejaVu Sans"/>
                        </a:rPr>
                        <a:t>DC արձագանք չկա; լիցքը հոսում է դուրս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20" b="1">
                          <a:solidFill>
                            <a:srgbClr val="1A1F24"/>
                          </a:solidFill>
                          <a:latin typeface="DejaVu Sans"/>
                        </a:rPr>
                        <a:t>Ջերմային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E7C86"/>
                          </a:solidFill>
                          <a:latin typeface="DejaVu Sans"/>
                        </a:rPr>
                        <a:t>այո, դանդաղ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10" b="0">
                          <a:solidFill>
                            <a:srgbClr val="1A1F24"/>
                          </a:solidFill>
                          <a:latin typeface="DejaVu Sans"/>
                        </a:rPr>
                        <a:t>µV կամ դիմադրություն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F24"/>
                          </a:solidFill>
                          <a:latin typeface="DejaVu Sans"/>
                        </a:rPr>
                        <a:t>դանդաղ; ինքնատաքացում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DejaVu Sans"/>
                        </a:rPr>
                        <a:t>Էլեկտրամագն.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E7C86"/>
                          </a:solidFill>
                          <a:latin typeface="DejaVu Sans"/>
                        </a:rPr>
                        <a:t>այո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10" b="0">
                          <a:solidFill>
                            <a:srgbClr val="1A1F24"/>
                          </a:solidFill>
                          <a:latin typeface="DejaVu Sans"/>
                        </a:rPr>
                        <a:t>մեծ, ցածր դիմադրությամբ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DejaVu Sans"/>
                        </a:rPr>
                        <a:t>դժվար փոքրացվող; մագնիսականորեն խոցելի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80" b="1">
                          <a:solidFill>
                            <a:srgbClr val="1A1F24"/>
                          </a:solidFill>
                          <a:latin typeface="DejaVu Sans"/>
                        </a:rPr>
                        <a:t>Օպտիկական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E7C86"/>
                          </a:solidFill>
                          <a:latin typeface="DejaVu Sans"/>
                        </a:rPr>
                        <a:t>այո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30" b="0">
                          <a:solidFill>
                            <a:srgbClr val="1A1F24"/>
                          </a:solidFill>
                          <a:latin typeface="DejaVu Sans"/>
                        </a:rPr>
                        <a:t>կարող է շատ մեծ լինել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90" b="0">
                          <a:solidFill>
                            <a:srgbClr val="1A1F24"/>
                          </a:solidFill>
                          <a:latin typeface="DejaVu Sans"/>
                        </a:rPr>
                        <a:t>անհրաժեշտ է պատուհան; շրջակա լույս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39496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F7DFD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DejaVu Sans"/>
              </a:rPr>
              <a:t>Ամբողջ սյունակում մեկ «ոչ», և այն պատկանում է այն սկզբունքին, որն առաջին էջում ամենատպավորիչ տեսք ունի։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Ի՞նչ է բացատրում յուրաքանչյուրը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90" b="0" i="1">
                <a:solidFill>
                  <a:srgbClr val="6B7680"/>
                </a:solidFill>
                <a:latin typeface="DejaVu Sans"/>
              </a:rPr>
              <a:t>Այս բաժնի գոյության պատճառը․ յուրաքանչյուր սկզբունք տեխնիկական բնութագրի պատճառ 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8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3741"/>
                <a:gridCol w="1739993"/>
                <a:gridCol w="6851224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DejaVu Sans"/>
                        </a:rPr>
                        <a:t>Սկզբունք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DejaVu Sans"/>
                        </a:rPr>
                        <a:t>Ստատիկ (DC)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70" b="1">
                          <a:solidFill>
                            <a:srgbClr val="F7F5F1"/>
                          </a:solidFill>
                          <a:latin typeface="DejaVu Sans"/>
                        </a:rPr>
                        <a:t>Տվյալների թերթիկի տողը, որը բացատրում է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DejaVu Sans"/>
                        </a:rPr>
                        <a:t>Ունակային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0E7C86"/>
                          </a:solidFill>
                          <a:latin typeface="DejaVu Sans"/>
                        </a:rPr>
                        <a:t>այո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F24"/>
                          </a:solidFill>
                          <a:latin typeface="DejaVu Sans"/>
                        </a:rPr>
                        <a:t>ինչու՞ ISM330DHCX-ն ընդհանրապես կարող է չափել թեքություն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DejaVu Sans"/>
                        </a:rPr>
                        <a:t>Պիեզոդիմադրական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0E7C86"/>
                          </a:solidFill>
                          <a:latin typeface="DejaVu Sans"/>
                        </a:rPr>
                        <a:t>այո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F24"/>
                          </a:solidFill>
                          <a:latin typeface="DejaVu Sans"/>
                        </a:rPr>
                        <a:t>ինչու՞ ճնշման տվիչներին անհրաժեշտ է ջերմաստիճանային փոխհատուցում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A1F24"/>
                          </a:solidFill>
                          <a:latin typeface="DejaVu Sans"/>
                        </a:rPr>
                        <a:t>Պիեզոէլեկտրական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C0392B"/>
                          </a:solidFill>
                          <a:latin typeface="DejaVu Sans"/>
                        </a:rPr>
                        <a:t>ոչ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70" b="0">
                          <a:solidFill>
                            <a:srgbClr val="1A1F24"/>
                          </a:solidFill>
                          <a:latin typeface="DejaVu Sans"/>
                        </a:rPr>
                        <a:t>ինչու՞ վիբրացիայի տվիչները նշում են ցածր հաճախականային սահման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70" b="1">
                          <a:solidFill>
                            <a:srgbClr val="1A1F24"/>
                          </a:solidFill>
                          <a:latin typeface="DejaVu Sans"/>
                        </a:rPr>
                        <a:t>Ջերմային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0E7C86"/>
                          </a:solidFill>
                          <a:latin typeface="DejaVu Sans"/>
                        </a:rPr>
                        <a:t>այո, դանդաղ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DejaVu Sans"/>
                        </a:rPr>
                        <a:t>գազի տվիչի տաքացման ժամանակը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DejaVu Sans"/>
                        </a:rPr>
                        <a:t>Էլեկտրամագն.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0E7C86"/>
                          </a:solidFill>
                          <a:latin typeface="DejaVu Sans"/>
                        </a:rPr>
                        <a:t>այո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F24"/>
                          </a:solidFill>
                          <a:latin typeface="DejaVu Sans"/>
                        </a:rPr>
                        <a:t>կոշտ և փափուկ երկաթի բաղադրիչները 7-րդ դասախոսությունում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20" b="1">
                          <a:solidFill>
                            <a:srgbClr val="1A1F24"/>
                          </a:solidFill>
                          <a:latin typeface="DejaVu Sans"/>
                        </a:rPr>
                        <a:t>Օպտիկական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0E7C86"/>
                          </a:solidFill>
                          <a:latin typeface="DejaVu Sans"/>
                        </a:rPr>
                        <a:t>այո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F24"/>
                          </a:solidFill>
                          <a:latin typeface="DejaVu Sans"/>
                        </a:rPr>
                        <a:t>ծածկող պատուհանի նախագծումը 10-րդ դասախոսությունում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39496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10" b="1">
                <a:solidFill>
                  <a:srgbClr val="F7F5F1"/>
                </a:solidFill>
                <a:latin typeface="DejaVu Sans"/>
              </a:rPr>
              <a:t>Տեխնիկական բնութագիրը երբեք կամայական չէ։ Յուրաքանչյուր տողի հետևում կանգնած է կառուցվածք, սկզբունք կամ գործընթացի քայլ։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DejaVu Sans"/>
              </a:rPr>
              <a:t>ԲԱԺԻՆ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60" b="1" i="0">
                <a:solidFill>
                  <a:srgbClr val="F7F5F1"/>
                </a:solidFill>
                <a:latin typeface="DejaVu Sans"/>
              </a:rPr>
              <a:t>Ինչպես է այն պատրաստվում,</a:t>
            </a:r>
          </a:p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DejaVu Sans"/>
              </a:rPr>
              <a:t>և ինչ արժե դա ձեզ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B8C0C6"/>
                </a:solidFill>
                <a:latin typeface="DejaVu Sans"/>
              </a:rPr>
              <a:t>Չորս գործընթացային քայլ։ Յուրաքանչյուրին՝ մեկ հետևանք։ Ահա ամբողջ շարադրանքը։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DejaVu Sans"/>
              </a:rPr>
              <a:t>Սա արտադրության դասընթաց չէ — արտադրությունն այստեղ է, քանի որ բացատրում է տվյալների թերթիկը։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20" b="1" i="0">
                <a:solidFill>
                  <a:srgbClr val="1A1F24"/>
                </a:solidFill>
                <a:latin typeface="DejaVu Sans"/>
              </a:rPr>
              <a:t>Չորս քայլ՝ ըստ հերթականության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Յուրաքանչյուրին՝ մեկ հետևանք, և ահա ամբողջ շարադրանքը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2395728" cy="64008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50" b="1">
                <a:solidFill>
                  <a:srgbClr val="F7F5F1"/>
                </a:solidFill>
                <a:latin typeface="DejaVu Sans"/>
              </a:rPr>
              <a:t>ՎԻՄԱԳՐՈՒԹՅՈՒՆ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432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DejaVu Sans"/>
              </a:rPr>
              <a:t>նվազագույն տարրի չափը</a:t>
            </a:r>
          </a:p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DejaVu Sans"/>
              </a:rPr>
              <a:t>→ սանրի d բացակը</a:t>
            </a:r>
          </a:p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DejaVu Sans"/>
              </a:rPr>
              <a:t>→ ունակությունը</a:t>
            </a:r>
          </a:p>
          <a:p>
            <a:pPr algn="ctr">
              <a:lnSpc>
                <a:spcPct val="135000"/>
              </a:lnSpc>
            </a:pPr>
            <a:r>
              <a:rPr sz="1350" b="0" i="0">
                <a:solidFill>
                  <a:srgbClr val="1A1F24"/>
                </a:solidFill>
                <a:latin typeface="DejaVu Sans"/>
              </a:rPr>
              <a:t>→ աղմուկային հատակը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08960" y="2185416"/>
            <a:ext cx="320040" cy="201168"/>
          </a:xfrm>
          <a:prstGeom prst="rightArrow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965960"/>
            <a:ext cx="2395728" cy="640080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DejaVu Sans"/>
              </a:rPr>
              <a:t>ՆՍՏԵՑՈՒՄ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27432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i="0">
                <a:solidFill>
                  <a:srgbClr val="1A1F24"/>
                </a:solidFill>
                <a:latin typeface="DejaVu Sans"/>
              </a:rPr>
              <a:t>թաղանթի հաստությունը և</a:t>
            </a:r>
          </a:p>
          <a:p>
            <a:pPr algn="ctr">
              <a:lnSpc>
                <a:spcPct val="135000"/>
              </a:lnSpc>
            </a:pPr>
            <a:r>
              <a:rPr sz="1110" b="0" i="0">
                <a:solidFill>
                  <a:srgbClr val="1A1F24"/>
                </a:solidFill>
                <a:latin typeface="DejaVu Sans"/>
              </a:rPr>
              <a:t>ՄՆԱՑՈՐԴԱՅԻՆ ԼԱՐՎԱԾՈՒԹՅՈՒՆԸ —</a:t>
            </a:r>
          </a:p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DejaVu Sans"/>
              </a:rPr>
              <a:t>կառուցվածքը ծռված է</a:t>
            </a:r>
          </a:p>
          <a:p>
            <a:pPr algn="ctr">
              <a:lnSpc>
                <a:spcPct val="135000"/>
              </a:lnSpc>
            </a:pPr>
            <a:r>
              <a:rPr sz="1170" b="0" i="0">
                <a:solidFill>
                  <a:srgbClr val="1A1F24"/>
                </a:solidFill>
                <a:latin typeface="DejaVu Sans"/>
              </a:rPr>
              <a:t>դեռ օգտագործելուց առաջ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79592" y="2185416"/>
            <a:ext cx="320040" cy="201168"/>
          </a:xfrm>
          <a:prstGeom prst="rightArrow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9632" y="1965960"/>
            <a:ext cx="2395728" cy="64008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40" b="1">
                <a:solidFill>
                  <a:srgbClr val="F7F5F1"/>
                </a:solidFill>
                <a:latin typeface="DejaVu Sans"/>
              </a:rPr>
              <a:t>ՓՈՐԱԳՐՈՒՄ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7432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DejaVu Sans"/>
              </a:rPr>
              <a:t>իզոտրոպ, թե՞ անիզոտրոպ</a:t>
            </a:r>
          </a:p>
          <a:p>
            <a:pPr algn="ctr">
              <a:lnSpc>
                <a:spcPct val="135000"/>
              </a:lnSpc>
            </a:pPr>
            <a:r>
              <a:rPr sz="1210" b="0" i="0">
                <a:solidFill>
                  <a:srgbClr val="1A1F24"/>
                </a:solidFill>
                <a:latin typeface="DejaVu Sans"/>
              </a:rPr>
              <a:t>որոշում է, թե որ ձևերն են</a:t>
            </a:r>
          </a:p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DejaVu Sans"/>
              </a:rPr>
              <a:t>ընդհանրապես հնարավոր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50224" y="2185416"/>
            <a:ext cx="320040" cy="201168"/>
          </a:xfrm>
          <a:prstGeom prst="rightArrow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70264" y="1965960"/>
            <a:ext cx="2395728" cy="640080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DejaVu Sans"/>
              </a:rPr>
              <a:t>ԱԶԱՏՈՒՄ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27432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DejaVu Sans"/>
              </a:rPr>
              <a:t>զոհաբերվող շերտը հեռանում է,</a:t>
            </a:r>
          </a:p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DejaVu Sans"/>
              </a:rPr>
              <a:t>կառուցվածքն ազատ է —</a:t>
            </a:r>
          </a:p>
          <a:p>
            <a:pPr algn="ctr">
              <a:lnSpc>
                <a:spcPct val="135000"/>
              </a:lnSpc>
            </a:pPr>
            <a:r>
              <a:rPr sz="1310" b="0" i="0">
                <a:solidFill>
                  <a:srgbClr val="1A1F24"/>
                </a:solidFill>
                <a:latin typeface="DejaVu Sans"/>
              </a:rPr>
              <a:t>և կարող է ԿՊՉԵԼ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97680"/>
            <a:ext cx="10874959" cy="73152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DejaVu Sans"/>
              </a:rPr>
              <a:t>ԶՈՒՅԳԵՐՈՎ · 3 ՐՈՊԵ · քարտերը ձեր սեղանին․ դասավորեք չորս քայլերը հերթականությամբ, ապա յուրաքանչյուրին համապատասխանեցրեք իր հետևանքը։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175504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F7F5F1"/>
                </a:solidFill>
                <a:latin typeface="DejaVu Sans"/>
              </a:rPr>
              <a:t>Ապա մեկ հարց․ չորսից ո՞րն է պատճառը, որ MEMS արագաչափն ավելի աղմկոտ է, քան լաբորատոր չափիչ սարքը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20" b="1" i="0">
                <a:solidFill>
                  <a:srgbClr val="1A1F24"/>
                </a:solidFill>
                <a:latin typeface="DejaVu Sans"/>
              </a:rPr>
              <a:t>Ծավալային, թե՞ մակերևութային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Նույն ձևը կառուցելու երկու եղանակ, և փոխզիջումը զանգվածն 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70" b="1">
                <a:solidFill>
                  <a:srgbClr val="F7F5F1"/>
                </a:solidFill>
                <a:latin typeface="DejaVu Sans"/>
              </a:rPr>
              <a:t>ԾԱՎԱԼԱՅԻՆ ՄԻԿՐՈՄՇԱԿՈՒՄ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920240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80" b="1">
                <a:solidFill>
                  <a:srgbClr val="F7F5F1"/>
                </a:solidFill>
                <a:latin typeface="DejaVu Sans"/>
              </a:rPr>
              <a:t>ՄԱԿԵՐԵՎՈՒԹԱՅԻՆ ՄԻԿՐՈՄՇԱԿՈՒՄ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70048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7C86"/>
                </a:solidFill>
                <a:latin typeface="DejaVu Sans"/>
              </a:rPr>
              <a:t>▸  փորագրում է թիթեղի ՄԵՋ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670048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1" i="0">
                <a:solidFill>
                  <a:srgbClr val="0E7C86"/>
                </a:solidFill>
                <a:latin typeface="DejaVu Sans"/>
              </a:rPr>
              <a:t>▸  կառուցում է ՎԵՐԵՎ՝ բարակ թաղանթներից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145536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10" b="1" i="0">
                <a:solidFill>
                  <a:srgbClr val="0E7C86"/>
                </a:solidFill>
                <a:latin typeface="DejaVu Sans"/>
              </a:rPr>
              <a:t>▸  հաստ կառուցվածքներ, մեծ իներտ զանգվածներ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3145536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80" b="1" i="0">
                <a:solidFill>
                  <a:srgbClr val="D98324"/>
                </a:solidFill>
                <a:latin typeface="DejaVu Sans"/>
              </a:rPr>
              <a:t>▸  միկրոմետրերի հաստություն, փոքր զանգվածներ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90" b="1" i="0">
                <a:solidFill>
                  <a:srgbClr val="0E7C86"/>
                </a:solidFill>
                <a:latin typeface="DejaVu Sans"/>
              </a:rPr>
              <a:t>▸  ցածր աղմուկային հատակ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3621024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1" i="0">
                <a:solidFill>
                  <a:srgbClr val="D98324"/>
                </a:solidFill>
                <a:latin typeface="DejaVu Sans"/>
              </a:rPr>
              <a:t>▸  ավելի բարձր աղմուկային հատակ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096512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98324"/>
                </a:solidFill>
                <a:latin typeface="DejaVu Sans"/>
              </a:rPr>
              <a:t>▸  մեծ բյուրեղ, թանկ, դժվար ինտեգրելի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4096512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7C86"/>
                </a:solidFill>
                <a:latin typeface="DejaVu Sans"/>
              </a:rPr>
              <a:t>▸  էժան, փոքր, էլեկտրոնիկայի հետ նույն բյուրեղում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572000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90" b="0" i="0">
                <a:solidFill>
                  <a:srgbClr val="6B7680"/>
                </a:solidFill>
                <a:latin typeface="DejaVu Sans"/>
              </a:rPr>
              <a:t>▸  ճնշման տվիչներ, բարձրակարգ իներցիոն սարքեր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572000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70" b="0" i="0">
                <a:solidFill>
                  <a:srgbClr val="6B7680"/>
                </a:solidFill>
                <a:latin typeface="DejaVu Sans"/>
              </a:rPr>
              <a:t>▸  զանգվածային IMU-ներ — ձեր հավաքածուի սարքը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138928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30" b="1">
                <a:solidFill>
                  <a:srgbClr val="1A1F24"/>
                </a:solidFill>
                <a:latin typeface="DejaVu Sans"/>
              </a:rPr>
              <a:t>Փոխզիջումը ԶԱՆԳՎԱԾՆ է, և 1-ին դասախոսության m ∝ L³-ով դուք արդեն կարող էիք կանխատեսել, թե որն է ավելի քիչ աղմկոտ։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925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0" i="0">
                <a:solidFill>
                  <a:srgbClr val="6B7680"/>
                </a:solidFill>
                <a:latin typeface="DejaVu Sans"/>
              </a:rPr>
              <a:t>Ձեր հավաքածուի սարքը կառուցելի ամենաքիչ աղմկոտ արագաչափը չէ, այլ միայն ամենաքիչ աղմկոտն այնպիսիններից, որոնք տեղավորվում են իրենց սեփական ԱԹԿ-ի կողքին։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Ազատում․ քայլը, որը դարձնում է այն մեքենա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Զոհաբերվող շերտը, և ինչ է լինում, երբ հեծանն իջնում է դրա փոխարեն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40" b="1">
                <a:solidFill>
                  <a:srgbClr val="F7F5F1"/>
                </a:solidFill>
                <a:latin typeface="DejaVu Sans"/>
              </a:rPr>
              <a:t>1 · ՆՍՏԵՑՎԱԾ ՎԻՃԱԿՈՒՄ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3310128"/>
            <a:ext cx="3200400" cy="457200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6B7680"/>
                </a:solidFill>
                <a:latin typeface="DejaVu Sans"/>
              </a:rPr>
              <a:t>ՀԵՆՔ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2990088"/>
            <a:ext cx="3200400" cy="320040"/>
          </a:xfrm>
          <a:prstGeom prst="rect">
            <a:avLst/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1A1F24"/>
                </a:solidFill>
                <a:latin typeface="DejaVu Sans"/>
              </a:rPr>
              <a:t>ԶՈՀԱԲԵՐՎՈՂ ՇԵՐՏ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2788920"/>
            <a:ext cx="3200400" cy="201168"/>
          </a:xfrm>
          <a:prstGeom prst="rect">
            <a:avLst/>
          </a:prstGeom>
          <a:solidFill>
            <a:srgbClr val="DCEDE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91363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60" b="0" i="0">
                <a:solidFill>
                  <a:srgbClr val="1A1F24"/>
                </a:solidFill>
                <a:latin typeface="DejaVu Sans"/>
              </a:rPr>
              <a:t>կառուցվածքային թաղանթը դրված է</a:t>
            </a:r>
          </a:p>
          <a:p>
            <a:pPr algn="ctr">
              <a:lnSpc>
                <a:spcPct val="130000"/>
              </a:lnSpc>
            </a:pPr>
            <a:r>
              <a:rPr sz="1360" b="0" i="0">
                <a:solidFill>
                  <a:srgbClr val="1A1F24"/>
                </a:solidFill>
                <a:latin typeface="DejaVu Sans"/>
              </a:rPr>
              <a:t>զոհաբերվող շերտի վրա — դեռ ոչինչ չի շարժվում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92024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7F5F1"/>
                </a:solidFill>
                <a:latin typeface="DejaVu Sans"/>
              </a:rPr>
              <a:t>2 · ԱԶԱՏՎԱԾ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98848" y="3310128"/>
            <a:ext cx="3200400" cy="457200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6B7680"/>
                </a:solidFill>
                <a:latin typeface="DejaVu Sans"/>
              </a:rPr>
              <a:t>ՀԵՆՔ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2788920"/>
            <a:ext cx="3200400" cy="201168"/>
          </a:xfrm>
          <a:prstGeom prst="rect">
            <a:avLst/>
          </a:prstGeom>
          <a:solidFill>
            <a:srgbClr val="DCEDE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301752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9" b="1" i="0">
                <a:solidFill>
                  <a:srgbClr val="0E7C86"/>
                </a:solidFill>
                <a:latin typeface="DejaVu Sans"/>
              </a:rPr>
              <a:t>ազատ շարժվում 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91363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1A1F24"/>
                </a:solidFill>
                <a:latin typeface="DejaVu Sans"/>
              </a:rPr>
              <a:t>զոհաբերվող շերտը փորագրվում և հեռացվում է։</a:t>
            </a:r>
          </a:p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1A1F24"/>
                </a:solidFill>
                <a:latin typeface="DejaVu Sans"/>
              </a:rPr>
              <a:t>Հեծանն ազատ է։ Ահա մեքենան։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92024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7F5F1"/>
                </a:solidFill>
                <a:latin typeface="DejaVu Sans"/>
              </a:rPr>
              <a:t>3 · ԿՊՉԱԾ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93024" y="3310128"/>
            <a:ext cx="3200400" cy="457200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6B7680"/>
                </a:solidFill>
                <a:latin typeface="DejaVu Sans"/>
              </a:rPr>
              <a:t>ՀԵՆՔ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4" y="3108960"/>
            <a:ext cx="3200400" cy="201168"/>
          </a:xfrm>
          <a:prstGeom prst="rect">
            <a:avLst/>
          </a:prstGeom>
          <a:solidFill>
            <a:srgbClr val="F7DFD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285292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i="0">
                <a:solidFill>
                  <a:srgbClr val="C0392B"/>
                </a:solidFill>
                <a:latin typeface="DejaVu Sans"/>
              </a:rPr>
              <a:t>հերմետիկ կպած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391363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40" b="0" i="0">
                <a:solidFill>
                  <a:srgbClr val="1A1F24"/>
                </a:solidFill>
                <a:latin typeface="DejaVu Sans"/>
              </a:rPr>
              <a:t>մակերևութային ուժերն այն ներքև են քաշում և</a:t>
            </a:r>
          </a:p>
          <a:p>
            <a:pPr algn="ctr">
              <a:lnSpc>
                <a:spcPct val="130000"/>
              </a:lnSpc>
            </a:pPr>
            <a:r>
              <a:rPr sz="1340" b="0" i="0">
                <a:solidFill>
                  <a:srgbClr val="1A1F24"/>
                </a:solidFill>
                <a:latin typeface="DejaVu Sans"/>
              </a:rPr>
              <a:t>մնում է ներքև։ Սարքն անգործունակ է։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07492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70" b="1">
                <a:solidFill>
                  <a:srgbClr val="1A1F24"/>
                </a:solidFill>
                <a:latin typeface="DejaVu Sans"/>
              </a:rPr>
              <a:t>Ստիկցիան 1-ին դասախոսության A/V ∝ 1/L-ն է, որը հայտնվում է որպես ելքային բերքի խնդիր․ այս մասշտաբում մակերևութային ուժերը գերազանցում են զսպանակի վերականգնող ուժը։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96188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60" b="0" i="0">
                <a:solidFill>
                  <a:srgbClr val="6B7680"/>
                </a:solidFill>
                <a:latin typeface="DejaVu Sans"/>
              </a:rPr>
              <a:t>Ստիկցիան նաև շահագործման ընթացքի ձախողում է․ խտացումը, հարվածը կամ էլեկտրաստատիկան կարող են հեծանն իջեցնել ավելի ուշ։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Պատյանը պաշտպանություն չէ։ Դա ֆիզիկա է։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680"/>
                </a:solidFill>
                <a:latin typeface="DejaVu Sans"/>
              </a:rPr>
              <a:t>Խոռոչ · բյուրեղի ամրացում · լարային միացում · խափանում · գազակլանիչ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5486400" cy="237744"/>
          </a:xfrm>
          <a:prstGeom prst="rect">
            <a:avLst/>
          </a:prstGeom>
          <a:solidFill>
            <a:srgbClr val="6B7680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10" b="1">
                <a:solidFill>
                  <a:srgbClr val="F7F5F1"/>
                </a:solidFill>
                <a:latin typeface="DejaVu Sans"/>
              </a:rPr>
              <a:t>ԿԱՓԱՐԻՉ  ·  ՀԵՐՄԵՏԻԿ ԽԱՓԱՆՈՒՄ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40864"/>
            <a:ext cx="5486400" cy="2103120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606040"/>
            <a:ext cx="484632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6B76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697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680"/>
                </a:solidFill>
                <a:latin typeface="DejaVu Sans"/>
              </a:rPr>
              <a:t>ԽՈՌՈՉ — հերմետիկ, հաճախ իջեցված ճնշմամբ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3154680"/>
            <a:ext cx="2011680" cy="475488"/>
          </a:xfrm>
          <a:prstGeom prst="rect">
            <a:avLst/>
          </a:prstGeom>
          <a:solidFill>
            <a:srgbClr val="DCEDE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40" b="1">
                <a:solidFill>
                  <a:srgbClr val="1A1F24"/>
                </a:solidFill>
                <a:latin typeface="DejaVu Sans"/>
              </a:rPr>
              <a:t>MEMS ԲՅՈՒՐԵՂ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630168"/>
            <a:ext cx="2011680" cy="201168"/>
          </a:xfrm>
          <a:prstGeom prst="rect">
            <a:avLst/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80" b="1">
                <a:solidFill>
                  <a:srgbClr val="1A1F24"/>
                </a:solidFill>
                <a:latin typeface="DejaVu Sans"/>
              </a:rPr>
              <a:t>ԲՅՈՒՐԵՂԻ ԱՄՐԱՑՈՒՄ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584448"/>
            <a:ext cx="868680" cy="256032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80" b="1">
                <a:solidFill>
                  <a:srgbClr val="1A1F24"/>
                </a:solidFill>
                <a:latin typeface="DejaVu Sans"/>
              </a:rPr>
              <a:t>ԳԱԶԱԿԼԱՆԻՉ</a:t>
            </a:r>
          </a:p>
        </p:txBody>
      </p:sp>
      <p:sp>
        <p:nvSpPr>
          <p:cNvPr id="15" name="Freeform 14"/>
          <p:cNvSpPr/>
          <p:nvPr/>
        </p:nvSpPr>
        <p:spPr>
          <a:xfrm>
            <a:off x="1737360" y="2788920"/>
            <a:ext cx="1051560" cy="365760"/>
          </a:xfrm>
          <a:custGeom>
            <a:avLst/>
            <a:gdLst/>
            <a:ahLst/>
            <a:cxnLst/>
            <a:rect l="l" t="t" r="r" b="b"/>
            <a:pathLst>
              <a:path w="1051560" h="365760">
                <a:moveTo>
                  <a:pt x="1051560" y="365760"/>
                </a:moveTo>
                <a:lnTo>
                  <a:pt x="525780" y="0"/>
                </a:lnTo>
                <a:lnTo>
                  <a:pt x="0" y="338328"/>
                </a:lnTo>
              </a:path>
            </a:pathLst>
          </a:custGeom>
          <a:noFill/>
          <a:ln w="19050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709160" y="2788920"/>
            <a:ext cx="1051560" cy="365760"/>
          </a:xfrm>
          <a:custGeom>
            <a:avLst/>
            <a:gdLst/>
            <a:ahLst/>
            <a:cxnLst/>
            <a:rect l="l" t="t" r="r" b="b"/>
            <a:pathLst>
              <a:path w="1051560" h="365760">
                <a:moveTo>
                  <a:pt x="0" y="365760"/>
                </a:moveTo>
                <a:lnTo>
                  <a:pt x="525780" y="0"/>
                </a:lnTo>
                <a:lnTo>
                  <a:pt x="1051560" y="338328"/>
                </a:lnTo>
              </a:path>
            </a:pathLst>
          </a:custGeom>
          <a:noFill/>
          <a:ln w="19050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4871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0" b="1" i="0">
                <a:solidFill>
                  <a:srgbClr val="6B7680"/>
                </a:solidFill>
                <a:latin typeface="DejaVu Sans"/>
              </a:rPr>
              <a:t>լարային միացումներ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4443984"/>
            <a:ext cx="777240" cy="164592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4443984"/>
            <a:ext cx="777240" cy="164592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4443984"/>
            <a:ext cx="777240" cy="164592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608576"/>
            <a:ext cx="5486400" cy="274320"/>
          </a:xfrm>
          <a:prstGeom prst="rect">
            <a:avLst/>
          </a:prstGeom>
          <a:solidFill>
            <a:srgbClr val="F7DFD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69" b="1">
                <a:solidFill>
                  <a:srgbClr val="1A1F24"/>
                </a:solidFill>
                <a:latin typeface="DejaVu Sans"/>
              </a:rPr>
              <a:t>ՏՊԱՍԱԼ — ՁԵՐ ՏՊԱՍԱԼԸ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0116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0" b="1" i="0">
                <a:solidFill>
                  <a:srgbClr val="6B7680"/>
                </a:solidFill>
                <a:latin typeface="DejaVu Sans"/>
              </a:rPr>
              <a:t>ԻՆՉԻ ՀԱՄԱՐ Է ԻՐԱԿԱՆՈՒՄ ՅՈՒՐԱՔԱՆՉՅՈՒՐ ՄԱՍԸ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2304288"/>
            <a:ext cx="1481328" cy="47548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F7F5F1"/>
                </a:solidFill>
                <a:latin typeface="DejaVu Sans"/>
              </a:rPr>
              <a:t>ԽՈՌՈՉ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295144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4"/>
                </a:solidFill>
                <a:latin typeface="DejaVu Sans"/>
              </a:rPr>
              <a:t>դատարկություն վերահսկվող ճնշմամբ,</a:t>
            </a:r>
          </a:p>
          <a:p>
            <a:pPr algn="l">
              <a:lnSpc>
                <a:spcPct val="120000"/>
              </a:lnSpc>
            </a:pPr>
            <a:r>
              <a:rPr sz="1190" b="0" i="0">
                <a:solidFill>
                  <a:srgbClr val="1A1F24"/>
                </a:solidFill>
                <a:latin typeface="DejaVu Sans"/>
              </a:rPr>
              <a:t>և այդ ճնշումը սահմանում է դեմպֆերումը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2862072"/>
            <a:ext cx="1481328" cy="47548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19" b="1">
                <a:solidFill>
                  <a:srgbClr val="1A1F24"/>
                </a:solidFill>
                <a:latin typeface="DejaVu Sans"/>
              </a:rPr>
              <a:t>ԲՅՈՒՐԵՂԻ ԱՄՐԱՑՈՒՄ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2852928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80" b="0" i="0">
                <a:solidFill>
                  <a:srgbClr val="1A1F24"/>
                </a:solidFill>
                <a:latin typeface="DejaVu Sans"/>
              </a:rPr>
              <a:t>սոսինձ, որը կարծրանում է, կծկվում</a:t>
            </a:r>
          </a:p>
          <a:p>
            <a:pPr algn="l">
              <a:lnSpc>
                <a:spcPct val="120000"/>
              </a:lnSpc>
            </a:pPr>
            <a:r>
              <a:rPr sz="1140" b="0" i="0">
                <a:solidFill>
                  <a:srgbClr val="1A1F24"/>
                </a:solidFill>
                <a:latin typeface="DejaVu Sans"/>
              </a:rPr>
              <a:t>և առաջին օրվանից լարում է բյուրեղը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3419856"/>
            <a:ext cx="1481328" cy="47548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19" b="1">
                <a:solidFill>
                  <a:srgbClr val="1A1F24"/>
                </a:solidFill>
                <a:latin typeface="DejaVu Sans"/>
              </a:rPr>
              <a:t>ԼԱՐԱՅԻՆ ՄԻԱՑՈՒՄ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410712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4"/>
                </a:solidFill>
                <a:latin typeface="DejaVu Sans"/>
              </a:rPr>
              <a:t>մեխանիկական կապ շարժվող</a:t>
            </a:r>
          </a:p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1A1F24"/>
                </a:solidFill>
                <a:latin typeface="DejaVu Sans"/>
              </a:rPr>
              <a:t>առարկայի հետ․ զսպանակ և լարվածություն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3977640"/>
            <a:ext cx="1481328" cy="47548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19" b="1">
                <a:solidFill>
                  <a:srgbClr val="F7F5F1"/>
                </a:solidFill>
                <a:latin typeface="DejaVu Sans"/>
              </a:rPr>
              <a:t>ԽԱՓԱՆՈՒՄ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3968496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1A1F24"/>
                </a:solidFill>
                <a:latin typeface="DejaVu Sans"/>
              </a:rPr>
              <a:t>փոշին հեռու է պահում 1–2 մկմ բացակից,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F24"/>
                </a:solidFill>
                <a:latin typeface="DejaVu Sans"/>
              </a:rPr>
              <a:t>որտեղ մեկ մասնիկը ճակատագրական 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4535424"/>
            <a:ext cx="1481328" cy="47548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19" b="1">
                <a:solidFill>
                  <a:srgbClr val="F7F5F1"/>
                </a:solidFill>
                <a:latin typeface="DejaVu Sans"/>
              </a:rPr>
              <a:t>ԳԱԶԱԿԼԱՆԻՉ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4526280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80" b="0" i="0">
                <a:solidFill>
                  <a:srgbClr val="1A1F24"/>
                </a:solidFill>
                <a:latin typeface="DejaVu Sans"/>
              </a:rPr>
              <a:t>կլանում է ներս թափանցող գազը, ուստի</a:t>
            </a:r>
          </a:p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1A1F24"/>
                </a:solidFill>
                <a:latin typeface="DejaVu Sans"/>
              </a:rPr>
              <a:t>դեմպֆերումը մնում է նախագծայինը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12064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1A1F24"/>
                </a:solidFill>
                <a:latin typeface="DejaVu Sans"/>
              </a:rPr>
              <a:t>Հինգից երկուսը բյուրեղը լարման տակ են դնում դեռ սնումը միացնելուց առաջ։ Հենց այդ լարվածությունն է պայմանների սյունակի «զոդումից հետո»-ն։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98932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6B7680"/>
                </a:solidFill>
                <a:latin typeface="DejaVu Sans"/>
              </a:rPr>
              <a:t>Այս սլայդում ոչինչ ըստ ցանկության չէ, և ոչինչ բնութագրված չէ ձեր տպասալի համար։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Երկու տասնյակ միլի-g, և դրանք նույն տասը չեն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Անվանեք այս զուգադիպությունը բարձրաձայն — այլապես այն երաշխավորված քննական շփոթ 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9990"/>
                <a:gridCol w="4132484"/>
                <a:gridCol w="4132484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10" b="1">
                          <a:solidFill>
                            <a:srgbClr val="F7F5F1"/>
                          </a:solidFill>
                          <a:latin typeface="DejaVu Sans"/>
                        </a:rPr>
                        <a:t>2-րդ դասախոսության 10 mg-ը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10" b="1">
                          <a:solidFill>
                            <a:srgbClr val="F7F5F1"/>
                          </a:solidFill>
                          <a:latin typeface="DejaVu Sans"/>
                        </a:rPr>
                        <a:t>4-րդ դասախոսության 10 mg-ը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DejaVu Sans"/>
                        </a:rPr>
                        <a:t>Ի՞նչ է դա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10" b="0">
                          <a:solidFill>
                            <a:srgbClr val="1A1F24"/>
                          </a:solidFill>
                          <a:latin typeface="DejaVu Sans"/>
                        </a:rPr>
                        <a:t>զրոյական շեղման ԴՐԵՅՖ ջերմաստիճանով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80" b="0">
                          <a:solidFill>
                            <a:srgbClr val="1A1F24"/>
                          </a:solidFill>
                          <a:latin typeface="DejaVu Sans"/>
                        </a:rPr>
                        <a:t>զրոյական g-ի ՇԵՂՈՒՄ զոդումից հետո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DejaVu Sans"/>
                        </a:rPr>
                        <a:t>Որտեղի՞ց է գալիս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DejaVu Sans"/>
                        </a:rPr>
                        <a:t>կառուցվածքի ջերմաստիճանային գործակիցը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30" b="0">
                          <a:solidFill>
                            <a:srgbClr val="1A1F24"/>
                          </a:solidFill>
                          <a:latin typeface="DejaVu Sans"/>
                        </a:rPr>
                        <a:t>բյուրեղի ամրացման, պատյանի և զոդման լարվածությունը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DejaVu Sans"/>
                        </a:rPr>
                        <a:t>Հաշվարկը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±0.5 mg/°C × 20 °C = 10 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30" b="0">
                          <a:solidFill>
                            <a:srgbClr val="1A1F24"/>
                          </a:solidFill>
                          <a:latin typeface="Arial"/>
                        </a:rPr>
                        <a:t>±10 mg typ., ±65 mg max.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DejaVu Sans"/>
                        </a:rPr>
                        <a:t>8.73 mg ազդանշանի դիմաց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1.15×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30" b="0">
                          <a:solidFill>
                            <a:srgbClr val="1A1F24"/>
                          </a:solidFill>
                          <a:latin typeface="Arial"/>
                        </a:rPr>
                        <a:t>1.15× typ.,  7.45× max.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60" b="1">
                          <a:solidFill>
                            <a:srgbClr val="1A1F24"/>
                          </a:solidFill>
                          <a:latin typeface="DejaVu Sans"/>
                        </a:rPr>
                        <a:t>Կարո՞ղ եք ուղղել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C0392B"/>
                          </a:solidFill>
                          <a:latin typeface="DejaVu Sans"/>
                        </a:rPr>
                        <a:t>ՈՉ — շարժվում է չափաբերումից հետո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0E7C86"/>
                          </a:solidFill>
                          <a:latin typeface="DejaVu Sans"/>
                        </a:rPr>
                        <a:t>ԱՅՈ — մեկ կետով չափաբերում ձեր տպասալի վրա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DejaVu Sans"/>
                        </a:rPr>
                        <a:t>Ուղղման արժեքը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0" b="0">
                          <a:solidFill>
                            <a:srgbClr val="1A1F24"/>
                          </a:solidFill>
                          <a:latin typeface="DejaVu Sans"/>
                        </a:rPr>
                        <a:t>մեկ չափում, մեկ անգամ, յուրաքանչյուր սարքի համար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175504"/>
            <a:ext cx="10874959" cy="69494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DejaVu Sans"/>
              </a:rPr>
              <a:t>Արտադրությունը և պատյանավորումը ձեզ տալիս են ՄԵԾ, բայց ՈՒՂՂԵԼԻ սխալ։ Ջերմաստիճանային գործակիցը տալիս է ՓՈՔՐ ԹՎԱՑՅԱԼ, բայց ԱՆՈՒՂՂԵԼԻ սխալ։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9436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20" b="0" i="0">
                <a:solidFill>
                  <a:srgbClr val="6B7680"/>
                </a:solidFill>
                <a:latin typeface="DejaVu Sans"/>
              </a:rPr>
              <a:t>Այն, որ երկուսն էլ ընկնում են տասի վրա, զուգադիպություն է։ Դրանց միջև ՏԱՐԲԵՐՈՒԹՅՈՒՆՆ է Մոդուլ Ա-ի հիմնական դրույթը։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0" b="1" i="0">
                <a:solidFill>
                  <a:srgbClr val="D98324"/>
                </a:solidFill>
                <a:latin typeface="DejaVu Sans"/>
              </a:rPr>
              <a:t>ՔՎԵԱՐԿՈՒԹՅՈՒՆ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DejaVu Sans"/>
              </a:rPr>
              <a:t>Ամփոփիչ նախագծի համար ընտրում եք ճնշման տվիչ։ Կարևոր են չորս թիվ։ Դրանցից ո՞րը պետք է չափեք ձեր սեփական հավաքման վրա, քանի որ ոչ մի տվյալների թերթիկ չի կարող տալ այն ձեզ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90" b="0" i="0">
                <a:solidFill>
                  <a:srgbClr val="1A1F24"/>
                </a:solidFill>
                <a:latin typeface="DejaVu Sans"/>
              </a:rPr>
              <a:t>աղմուկի սպեկտրային խտությունը ձեր ընտրած թողունակությունում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զգայունությունը 25 °C-ում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0" b="0" i="0">
                <a:solidFill>
                  <a:srgbClr val="1A1F24"/>
                </a:solidFill>
                <a:latin typeface="DejaVu Sans"/>
              </a:rPr>
              <a:t>զրոյական շեղման փոփոխությունը, որն առաջացնում է տվիչը սեղմող ձեր պատյանը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30" b="0" i="0">
                <a:solidFill>
                  <a:srgbClr val="1A1F24"/>
                </a:solidFill>
                <a:latin typeface="DejaVu Sans"/>
              </a:rPr>
              <a:t>սխալի ընդհանուր գոտին աշխատանքային ջերմաստիճանային տիրույթում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DejaVu Sans"/>
              </a:rPr>
              <a:t>Փոխանցման հարց։ Այլ չափվող մեծություն, նույն տարբերակումը, որը կառուցում էիք վերջին երկու բաժնում։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0" b="1" i="0">
                <a:solidFill>
                  <a:srgbClr val="0E7C86"/>
                </a:solidFill>
                <a:latin typeface="DejaVu Sans"/>
              </a:rPr>
              <a:t>ՔՎԵԱՐԿՈՒԹՅՈՒՆ 4   ·   ՊԱՏԱՍԽԱՆ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DejaVu Sans"/>
              </a:rPr>
              <a:t>Ամփոփիչ նախագծի համար ընտրում եք ճնշման տվիչ։ Կարևոր են չորս թիվ։ Դրանցից ո՞րը պետք է չափեք ձեր սեփական հավաքման վրա, քանի որ ոչ մի տվյալների թերթիկ չի կարող տալ այն ձեզ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90" b="0" i="0">
                <a:solidFill>
                  <a:srgbClr val="1A1F24"/>
                </a:solidFill>
                <a:latin typeface="DejaVu Sans"/>
              </a:rPr>
              <a:t>աղմուկի սպեկտրային խտությունը ձեր ընտրած թողունակությունում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զգայունությունը 25 °C-ում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0" b="1" i="0">
                <a:solidFill>
                  <a:srgbClr val="1A1F24"/>
                </a:solidFill>
                <a:latin typeface="DejaVu Sans"/>
              </a:rPr>
              <a:t>զրոյական շեղման փոփոխությունը, որն առաջացնում է տվիչը սեղմող ձեր պատյանը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30" b="0" i="0">
                <a:solidFill>
                  <a:srgbClr val="1A1F24"/>
                </a:solidFill>
                <a:latin typeface="DejaVu Sans"/>
              </a:rPr>
              <a:t>սխալի ընդհանուր գոտին աշխատանքային ջերմաստիճանային տիրույթում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90" b="0" i="1">
                <a:solidFill>
                  <a:srgbClr val="0E7C86"/>
                </a:solidFill>
                <a:latin typeface="DejaVu Sans"/>
              </a:rPr>
              <a:t>A-ն, B-ն և D-ն բոլորն էլ առկա են տվյալների թերթիկում, իսկ D-ն հենց այն ցուցանիշն է, որին նախապատվություն տալ սովորեցրեց 2-րդ դասախոսությունը։ C-ն կախված է ձեր պատյանից, պտուտակի ձգման մոմենտից և միջադիրից, և գոյություն ունի միայն ձեր սեփական լաբորատոր սեղանին։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40" b="1" i="0">
                <a:solidFill>
                  <a:srgbClr val="1A1F24"/>
                </a:solidFill>
                <a:latin typeface="DejaVu Sans"/>
              </a:rPr>
              <a:t>Լարվածության շղթան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Յոթ օղակ, և միայն առաջինն է որևէ մեկի կողմից բնութագրված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37360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DejaVu Sans"/>
              </a:rPr>
              <a:t>ՇՂԹԱՆ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1737360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DejaVu Sans"/>
              </a:rPr>
              <a:t>ԻՆՉ Է ՆԵՐՄՈՒԾՈՒՄ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7797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DejaVu Sans"/>
              </a:rPr>
              <a:t>ԲՆՈՒԹԱԳՐՎԱ՞Ծ 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938528"/>
            <a:ext cx="38404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A1F24"/>
                </a:solidFill>
                <a:latin typeface="DejaVu Sans"/>
              </a:rPr>
              <a:t>ԲՅՈՒՐԵՂ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029968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A1F24"/>
                </a:solidFill>
                <a:latin typeface="DejaVu Sans"/>
              </a:rPr>
              <a:t>փոխակերպումն ինքը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50808" y="1938528"/>
            <a:ext cx="2779776" cy="43891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80" b="1">
                <a:solidFill>
                  <a:srgbClr val="F7F5F1"/>
                </a:solidFill>
                <a:latin typeface="DejaVu Sans"/>
              </a:rPr>
              <a:t>այո — տվյալների թերթիկը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487168" y="2386584"/>
            <a:ext cx="182880" cy="109728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500884"/>
            <a:ext cx="38404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A1F24"/>
                </a:solidFill>
                <a:latin typeface="DejaVu Sans"/>
              </a:rPr>
              <a:t>ԲՅՈՒՐԵՂԻ ԱՄՐԱՑՄԱՆ ՍՈՍԻՆՁ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592324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 i="0">
                <a:solidFill>
                  <a:srgbClr val="1A1F24"/>
                </a:solidFill>
                <a:latin typeface="DejaVu Sans"/>
              </a:rPr>
              <a:t>զրոյական շեղման փոփոխություն, հիստերեզիս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50808" y="2500884"/>
            <a:ext cx="2779776" cy="438912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մասամբ — «զոդումից հետո»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487168" y="2948940"/>
            <a:ext cx="182880" cy="109728"/>
          </a:xfrm>
          <a:prstGeom prst="downArrow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063240"/>
            <a:ext cx="38404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A1F24"/>
                </a:solidFill>
                <a:latin typeface="DejaVu Sans"/>
              </a:rPr>
              <a:t>ՊԱՏՅԱՆԻ ԻՐԱՆ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315468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A1F24"/>
                </a:solidFill>
                <a:latin typeface="DejaVu Sans"/>
              </a:rPr>
              <a:t>ջերմաստիճանային գործակիցը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50808" y="3063240"/>
            <a:ext cx="2779776" cy="438912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մասամբ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2487168" y="3511296"/>
            <a:ext cx="182880" cy="109728"/>
          </a:xfrm>
          <a:prstGeom prst="downArrow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625596"/>
            <a:ext cx="38404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A1F24"/>
                </a:solidFill>
                <a:latin typeface="DejaVu Sans"/>
              </a:rPr>
              <a:t>ԶՈԴԱԿՆԵՐ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3717036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F24"/>
                </a:solidFill>
                <a:latin typeface="DejaVu Sans"/>
              </a:rPr>
              <a:t>անհամաչափ լարվածություն → միջառանցքային սխալ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50808" y="3625596"/>
            <a:ext cx="2779776" cy="438912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7F5F1"/>
                </a:solidFill>
                <a:latin typeface="DejaVu Sans"/>
              </a:rPr>
              <a:t>ՈՉ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2487168" y="4073652"/>
            <a:ext cx="182880" cy="109728"/>
          </a:xfrm>
          <a:prstGeom prst="down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187952"/>
            <a:ext cx="38404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10" b="1">
                <a:solidFill>
                  <a:srgbClr val="1A1F24"/>
                </a:solidFill>
                <a:latin typeface="DejaVu Sans"/>
              </a:rPr>
              <a:t>ՏՊԱՍԱԼԻ ԾՌՈՒՄ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4279392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 i="0">
                <a:solidFill>
                  <a:srgbClr val="1A1F24"/>
                </a:solidFill>
                <a:latin typeface="DejaVu Sans"/>
              </a:rPr>
              <a:t>զրոյական շեղում և միջառանցքային սխալ՝ բեռից կախված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50808" y="4187952"/>
            <a:ext cx="2779776" cy="438912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7F5F1"/>
                </a:solidFill>
                <a:latin typeface="DejaVu Sans"/>
              </a:rPr>
              <a:t>ՈՉ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2487168" y="4636008"/>
            <a:ext cx="182880" cy="109728"/>
          </a:xfrm>
          <a:prstGeom prst="down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750308"/>
            <a:ext cx="38404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20" b="1">
                <a:solidFill>
                  <a:srgbClr val="1A1F24"/>
                </a:solidFill>
                <a:latin typeface="DejaVu Sans"/>
              </a:rPr>
              <a:t>ԱՄՐԱՑՄԱՆ ՊՏՈՒՏԱԿ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4841748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A1F24"/>
                </a:solidFill>
                <a:latin typeface="DejaVu Sans"/>
              </a:rPr>
              <a:t>զրոյական շեղում, որը փոխվում է կրկին ձգելիս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50808" y="4750308"/>
            <a:ext cx="2779776" cy="438912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7F5F1"/>
                </a:solidFill>
                <a:latin typeface="DejaVu Sans"/>
              </a:rPr>
              <a:t>ՈՉ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2487168" y="5198364"/>
            <a:ext cx="182880" cy="109728"/>
          </a:xfrm>
          <a:prstGeom prst="down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312664"/>
            <a:ext cx="38404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A1F24"/>
                </a:solidFill>
                <a:latin typeface="DejaVu Sans"/>
              </a:rPr>
              <a:t>5 մմ ՌԵՏԻՆԵ ՄԻՋԱԴԻՐ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5404104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40" b="0" i="0">
                <a:solidFill>
                  <a:srgbClr val="1A1F24"/>
                </a:solidFill>
                <a:latin typeface="DejaVu Sans"/>
              </a:rPr>
              <a:t>1-ին դասախոսության պատմությունը՝ մեկ դետալում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50808" y="5312664"/>
            <a:ext cx="2779776" cy="438912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7F5F1"/>
                </a:solidFill>
                <a:latin typeface="DejaVu Sans"/>
              </a:rPr>
              <a:t>ՈՉ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870448"/>
            <a:ext cx="10874959" cy="41148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80" b="1">
                <a:solidFill>
                  <a:srgbClr val="F7F5F1"/>
                </a:solidFill>
                <a:latin typeface="DejaVu Sans"/>
              </a:rPr>
              <a:t>1-ին դասախոսության պատմությունն ավարտվեց յոթերորդ օղակի վրա։ 4-րդ դասախոսությունն ավարտվում է նույն պատկերով։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0" b="1" i="0">
                <a:solidFill>
                  <a:srgbClr val="0E7C86"/>
                </a:solidFill>
                <a:latin typeface="DejaVu Sans"/>
              </a:rPr>
              <a:t>ՔՎԵԱՐԿՈՒԹՅՈՒՆ 1   ·   ՊԱՏԱՍԽԱՆ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DejaVu Sans"/>
              </a:rPr>
              <a:t>2-րդ դասախոսությունում ձեզ հարցվեց սարքի միջառանցքային զգայունությունը ձեր տպասալին զոդելուց հետո, և պատասխանն էր, որ այդ արժեքը տվյալների թերթիկում չկա։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DejaVu Sans"/>
              </a:rPr>
              <a:t>Ինչու՞ այն այնտեղ չկա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60" b="0" i="0">
                <a:solidFill>
                  <a:srgbClr val="1A1F24"/>
                </a:solidFill>
                <a:latin typeface="DejaVu Sans"/>
              </a:rPr>
              <a:t>Դա գաղտնի տեղեկություն է — մրցակիցները դրանից բան կսովորեին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70" b="1" i="0">
                <a:solidFill>
                  <a:srgbClr val="1A1F24"/>
                </a:solidFill>
                <a:latin typeface="DejaVu Sans"/>
              </a:rPr>
              <a:t>Այն կախված է ձեր տպասալից և ձեր հավաքումից, ուստի ոչ մի արտադրող չի կարող բնութագրել այն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89" b="0" i="0">
                <a:solidFill>
                  <a:srgbClr val="1A1F24"/>
                </a:solidFill>
                <a:latin typeface="DejaVu Sans"/>
              </a:rPr>
              <a:t>Այն կիրառական նշումներում է, ոչ թե տվյալների թերթիկում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Այն նույնն է, ինչ պատյանի մակարդակի արժեքը, ուստի երկու անգամ տպելն ավելորդ կլիներ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40" b="0" i="1">
                <a:solidFill>
                  <a:srgbClr val="0E7C86"/>
                </a:solidFill>
                <a:latin typeface="DejaVu Sans"/>
              </a:rPr>
              <a:t>Ոչ գաղտնիություն, ոչ էլ կիրառական նշումներ։ Ձեր հենց նոր գծած շղթան ունի յոթ օղակ, և արտադրողին է պատկանում դրանցից մեկը։ Այդ արժեքը գոյություն ունենալ չի կարող, բայց ՄԵԹՈԴԸ՝ այո․ չափեք այն ձեր սեփական հավաքման վրա։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Փոքրացման ազնիվ հաշվեկշիռը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40" b="0" i="1">
                <a:solidFill>
                  <a:srgbClr val="6B7680"/>
                </a:solidFill>
                <a:latin typeface="DejaVu Sans"/>
              </a:rPr>
              <a:t>Կառուցվում է ձեզ հետ — յուրաքանչյուր տողը հարցնում եմ, մինչ ցույց տալը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8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9990"/>
                <a:gridCol w="3697486"/>
                <a:gridCol w="4567482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DejaVu Sans"/>
                        </a:rPr>
                        <a:t>Սարքի փոքրացումը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DejaVu Sans"/>
                        </a:rPr>
                        <a:t>տալիս է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60" b="1">
                          <a:solidFill>
                            <a:srgbClr val="F7F5F1"/>
                          </a:solidFill>
                          <a:latin typeface="DejaVu Sans"/>
                        </a:rPr>
                        <a:t>արժենում է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Courier New"/>
                        </a:rPr>
                        <a:t>m ∝ L³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C0392B"/>
                          </a:solidFill>
                          <a:latin typeface="DejaVu Sans"/>
                        </a:rPr>
                        <a:t>ավելի քիչ զանգված → ավելի բարձր աղմուկային հատակ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Courier New"/>
                        </a:rPr>
                        <a:t>k ∝ L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Courier New"/>
                        </a:rPr>
                        <a:t>f₀ ∝ 1/L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E7C86"/>
                          </a:solidFill>
                          <a:latin typeface="DejaVu Sans"/>
                        </a:rPr>
                        <a:t>ավելի բարձր թողունակություն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DejaVu Sans"/>
                        </a:rPr>
                        <a:t>ռեզոնանսը մտնում է ձեր ազդանշանի շերտ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10" b="1">
                          <a:solidFill>
                            <a:srgbClr val="1A1F24"/>
                          </a:solidFill>
                          <a:latin typeface="DejaVu Sans Mono"/>
                        </a:rPr>
                        <a:t>մակերես / ծավալ ∝ 1/L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DejaVu Sans"/>
                        </a:rPr>
                        <a:t>արագ ջերմային արձագանք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C0392B"/>
                          </a:solidFill>
                          <a:latin typeface="DejaVu Sans"/>
                        </a:rPr>
                        <a:t>մակերևութային ուժերը գերակշռում են → ստիկցիա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F24"/>
                          </a:solidFill>
                          <a:latin typeface="DejaVu Sans Mono"/>
                        </a:rPr>
                        <a:t>խմբաքանակային արտադրություն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90" b="1">
                          <a:solidFill>
                            <a:srgbClr val="0E7C86"/>
                          </a:solidFill>
                          <a:latin typeface="DejaVu Sans"/>
                        </a:rPr>
                        <a:t>միավորի արժեք, ինտեգրում էլեկտրոնիկայի հետ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70" b="0">
                          <a:solidFill>
                            <a:srgbClr val="1A1F24"/>
                          </a:solidFill>
                          <a:latin typeface="DejaVu Sans"/>
                        </a:rPr>
                        <a:t>թույլտվություններ, որոնք չեք վերահսկում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F24"/>
                          </a:solidFill>
                          <a:latin typeface="DejaVu Sans Mono"/>
                        </a:rPr>
                        <a:t>պատյանավորում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F24"/>
                          </a:solidFill>
                          <a:latin typeface="DejaVu Sans"/>
                        </a:rPr>
                        <a:t>պաշտպանություն, գործածություն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C0392B"/>
                          </a:solidFill>
                          <a:latin typeface="DejaVu Sans"/>
                        </a:rPr>
                        <a:t>լարվածություն, որը չեք կարող բնութագրել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39496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1A1F24"/>
                </a:solidFill>
                <a:latin typeface="DejaVu Sans"/>
              </a:rPr>
              <a:t>Տվյալների թերթիկը քանակապես բնութագրում է միջին սյունակը։ Աջ սյունակի վերջին երկու տողերը ձերն են՝ չափելու։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0" b="1" i="0">
                <a:solidFill>
                  <a:srgbClr val="D98324"/>
                </a:solidFill>
                <a:latin typeface="DejaVu Sans"/>
              </a:rPr>
              <a:t>ԻՆՉԻ ՀԱՄԱՐ Է ԳՈՅՈՒԹՅՈՒՆ ՈՒՆԻ ԱՅՍ ԴԱՍԱԽՈՍՈՒԹՅՈՒՆԸ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7495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560" b="1" i="0">
                <a:solidFill>
                  <a:srgbClr val="F7F5F1"/>
                </a:solidFill>
                <a:latin typeface="DejaVu Sans"/>
              </a:rPr>
              <a:t>Միկրոմասշտաբը փոխզիջում է,</a:t>
            </a:r>
          </a:p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F7F5F1"/>
                </a:solidFill>
                <a:latin typeface="DejaVu Sans"/>
              </a:rPr>
              <a:t>ոչ թե բարելավում։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617720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892040"/>
            <a:ext cx="99605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80" b="0" i="0">
                <a:solidFill>
                  <a:srgbClr val="B8C0C6"/>
                </a:solidFill>
                <a:latin typeface="DejaVu Sans"/>
              </a:rPr>
              <a:t>Այն ամենը, ինչ ձեռք բերեցիք, ձեռք բերեցիք որևէ բան զիջելով։ Տվյալների թերթիկը քանակապես բնութագրում է ձեռքբերումները, իսկ այդ հաշվեկշռի վերջին երկու տողերը ձերն են՝ չափելու ձեր սեփական տպասալի վրա, ձեր սեփական պտուտակահանով։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20" b="1" i="0">
                <a:solidFill>
                  <a:srgbClr val="1A1F24"/>
                </a:solidFill>
                <a:latin typeface="DejaVu Sans"/>
              </a:rPr>
              <a:t>Մոդուլ Ա-ն ավարտվում է այստեղ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90" b="0" i="1">
                <a:solidFill>
                  <a:srgbClr val="6B7680"/>
                </a:solidFill>
                <a:latin typeface="DejaVu Sans"/>
              </a:rPr>
              <a:t>Չորս դասախոսություն։ Մեկ մեթոդ։ Այժմ հետևեք, թե ինչպես է այն կիրառվում յոթ անգամ։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38528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A1F24"/>
                </a:solidFill>
                <a:latin typeface="DejaVu Sans"/>
              </a:rPr>
              <a:t>Այժմ կարող եք գծել շղթան, պահանջը վերածել տեխնիկական բնութագրի, տվյալների թերթիկը կարդալ պահանջի դիմաց և բացատրել, թե ինչու է սարքն այլ կերպ իրեն պահում ձեր սեփական տպասալի վրա։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3464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D98324"/>
                </a:solidFill>
                <a:latin typeface="DejaVu Sans"/>
              </a:rPr>
              <a:t>5–11 ԴԱՍԱԽՈՍՈՒԹՅՈՒՆՆԵՐԸ ՄԵԿ ՕՐԻՆԱՉԱՓՈՒԹՅԱՆ ՅՈԹ ԴՐՍԵՎՈՐՈՒՄ ԵՆ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182112"/>
            <a:ext cx="2432304" cy="56692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40" b="1">
                <a:solidFill>
                  <a:srgbClr val="1A1F24"/>
                </a:solidFill>
                <a:latin typeface="DejaVu Sans"/>
              </a:rPr>
              <a:t>ՉԱՓՎՈՂ ՄԵԾՈՒԹՅՈՒՆ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954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45536" y="3364992"/>
            <a:ext cx="27432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3182112"/>
            <a:ext cx="2432304" cy="56692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DejaVu Sans"/>
              </a:rPr>
              <a:t>ՓՈԽԱԿԵՐՊՈՒՄ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20954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1888" y="3364992"/>
            <a:ext cx="27432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91072" y="3182112"/>
            <a:ext cx="2432304" cy="56692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70" b="1">
                <a:solidFill>
                  <a:srgbClr val="1A1F24"/>
                </a:solidFill>
                <a:latin typeface="DejaVu Sans"/>
              </a:rPr>
              <a:t>ԿԱՌՈՒՑՎԱԾՔ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20954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3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78240" y="3364992"/>
            <a:ext cx="27432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07424" y="3182112"/>
            <a:ext cx="2432304" cy="56692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DejaVu Sans"/>
              </a:rPr>
              <a:t>ԵԼՔ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320954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078224"/>
            <a:ext cx="2432304" cy="56692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40" b="1">
                <a:solidFill>
                  <a:srgbClr val="1A1F24"/>
                </a:solidFill>
                <a:latin typeface="DejaVu Sans"/>
              </a:rPr>
              <a:t>ՏԵԽՆԻԿԱԿԱՆ ԲՆՈՒԹԱԳՐԵՐ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056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5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145536" y="4261104"/>
            <a:ext cx="27432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74720" y="4078224"/>
            <a:ext cx="2432304" cy="56692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DejaVu Sans"/>
              </a:rPr>
              <a:t>ԻՆՏԵՐՖԵՅՍ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1056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6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61888" y="4261104"/>
            <a:ext cx="27432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91072" y="4078224"/>
            <a:ext cx="2432304" cy="56692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DejaVu Sans"/>
              </a:rPr>
              <a:t>ՉԱՓԱԲԵՐՈՒՄ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41056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7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778240" y="4261104"/>
            <a:ext cx="27432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07424" y="4078224"/>
            <a:ext cx="2432304" cy="56692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40" b="1">
                <a:solidFill>
                  <a:srgbClr val="1A1F24"/>
                </a:solidFill>
                <a:latin typeface="DejaVu Sans"/>
              </a:rPr>
              <a:t>ՁԱԽՈՂՄԱՆ ԵՂԱՆԱԿՆԵՐ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41056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8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10268712" y="3785615"/>
            <a:ext cx="182880" cy="237744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" y="5074920"/>
            <a:ext cx="10874959" cy="73152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F7F5F1"/>
                </a:solidFill>
                <a:latin typeface="DejaVu Sans"/>
              </a:rPr>
              <a:t>Յոթ սարք, մեկ մեթոդ։ Եթե կարողանում եք ձևակերպել այդ օրինաչափությունը, հաջորդ յոթ շաբաթը մեկ գաղափարի յոթ կիրառում է, ոչ թե անգիր անելու ցանկ։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10" b="1" i="0">
                <a:solidFill>
                  <a:srgbClr val="0E7C86"/>
                </a:solidFill>
                <a:latin typeface="DejaVu Sans"/>
              </a:rPr>
              <a:t>ՀԱՋՈՐԴԸ․  Դասախոսություն 5 — արագաչափն ամբողջությամբ․ 1-ին կառուցվածքը և 1-ին սկզբունքը՝ մինչև ռեգիստրի արժեք։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Ելքի տոմս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Երկու հարց · իննսուն վայրկյան · հանձնվում է դռան մոտ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5349240" cy="62179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DejaVu Sans"/>
              </a:rPr>
              <a:t>1  ·  ՁԵՐ ՆԱԽԱԳԻԾԸ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834640"/>
            <a:ext cx="50749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DejaVu Sans"/>
              </a:rPr>
              <a:t>Նշեք ձեր ամփոփիչ նախագծի տվիչի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DejaVu Sans"/>
              </a:rPr>
              <a:t>մեկ տեխնիկական բնութագիր,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DejaVu Sans"/>
              </a:rPr>
              <a:t>որը ստիպված կլինեք չափել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DejaVu Sans"/>
              </a:rPr>
              <a:t>ինքներդ, և ասեք, թե լարվածության</a:t>
            </a:r>
          </a:p>
          <a:p>
            <a:pPr algn="l">
              <a:lnSpc>
                <a:spcPct val="145000"/>
              </a:lnSpc>
            </a:pPr>
            <a:r>
              <a:rPr sz="1410" b="0" i="0">
                <a:solidFill>
                  <a:srgbClr val="1A1F24"/>
                </a:solidFill>
                <a:latin typeface="DejaVu Sans"/>
              </a:rPr>
              <a:t>որ ուղին է դա անհրաժեշտ դարձնում։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1965960"/>
            <a:ext cx="5349240" cy="621792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30" b="1">
                <a:solidFill>
                  <a:srgbClr val="1A1F24"/>
                </a:solidFill>
                <a:latin typeface="DejaVu Sans"/>
              </a:rPr>
              <a:t>2  ·  ՕՐԻՆԱՉԱՓՈՒԹՅՈՒՆԸ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834640"/>
            <a:ext cx="50749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90" b="0" i="0">
                <a:solidFill>
                  <a:srgbClr val="1A1F24"/>
                </a:solidFill>
                <a:latin typeface="DejaVu Sans"/>
              </a:rPr>
              <a:t>Մոդուլ Ա-ն ավարտված է։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780" b="0" i="0">
                <a:solidFill>
                  <a:srgbClr val="1A1F24"/>
                </a:solidFill>
                <a:latin typeface="DejaVu Sans"/>
              </a:rPr>
              <a:t>Մեկ նախադասությամբ․ ո՞րն է այն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DejaVu Sans"/>
              </a:rPr>
              <a:t>օրինաչափությունը, որը 5–11</a:t>
            </a:r>
          </a:p>
          <a:p>
            <a:pPr algn="l">
              <a:lnSpc>
                <a:spcPct val="145000"/>
              </a:lnSpc>
            </a:pPr>
            <a:r>
              <a:rPr sz="1410" b="0" i="0">
                <a:solidFill>
                  <a:srgbClr val="1A1F24"/>
                </a:solidFill>
                <a:latin typeface="DejaVu Sans"/>
              </a:rPr>
              <a:t>դասախոսությունները կկրկնեն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212080"/>
            <a:ext cx="10874959" cy="77724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60" b="1">
                <a:solidFill>
                  <a:srgbClr val="1A1F24"/>
                </a:solidFill>
                <a:latin typeface="DejaVu Sans"/>
              </a:rPr>
              <a:t>2-րդ հարցի համար ես ինքս ինձ եմ գնահատում։ Եթե ձեզանից կիսից պակասը կարողանա ձևակերպել օրինաչափությունը, 5-րդ դասախոսությունը կսկսվի դրանից, և ես հետ չեմ մնացել։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05332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0" b="0" i="1">
                <a:solidFill>
                  <a:srgbClr val="6B7680"/>
                </a:solidFill>
                <a:latin typeface="DejaVu Sans"/>
              </a:rPr>
              <a:t>Ընթերցանություն․ ուսումնական ձեռնարկի 4-րդ գլուխ — կառուցվածքներ և արտադրություն։ Դրա ձախողման բաժինն ամրացման պտուտակի պատմությունն է։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