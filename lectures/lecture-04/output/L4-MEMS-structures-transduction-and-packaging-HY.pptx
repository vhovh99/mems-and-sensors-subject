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2c27ab316244ad7" /><Relationship Type="http://schemas.openxmlformats.org/officeDocument/2006/relationships/extended-properties" Target="/docProps/app.xml" Id="Rbf6f9e8a378b4991" /><Relationship Type="http://schemas.openxmlformats.org/officeDocument/2006/relationships/officeDocument" Target="/ppt/presentation.xml" Id="Rf6e998e512574aa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15e1a744c204726"/>
  </p:sldMasterIdLst>
  <p:notesMasterIdLst>
    <p:notesMasterId xmlns:r="http://schemas.openxmlformats.org/officeDocument/2006/relationships" r:id="R114e46795b5f475f"/>
  </p:notesMasterIdLst>
  <p:sldIdLst>
    <p:sldId xmlns:r="http://schemas.openxmlformats.org/officeDocument/2006/relationships" id="256" r:id="Rfe613a3ec0ab4736"/>
    <p:sldId xmlns:r="http://schemas.openxmlformats.org/officeDocument/2006/relationships" id="257" r:id="Rfeccbdd1ecfb4402"/>
    <p:sldId xmlns:r="http://schemas.openxmlformats.org/officeDocument/2006/relationships" id="258" r:id="Rfc6fd2baa5074917"/>
    <p:sldId xmlns:r="http://schemas.openxmlformats.org/officeDocument/2006/relationships" id="259" r:id="Rb44d69f12b5e404d"/>
    <p:sldId xmlns:r="http://schemas.openxmlformats.org/officeDocument/2006/relationships" id="260" r:id="R7c0c0f2fe62c4e51"/>
    <p:sldId xmlns:r="http://schemas.openxmlformats.org/officeDocument/2006/relationships" id="261" r:id="R74ef26d4a1aa478e"/>
    <p:sldId xmlns:r="http://schemas.openxmlformats.org/officeDocument/2006/relationships" id="262" r:id="R1ee00f0048404c31"/>
    <p:sldId xmlns:r="http://schemas.openxmlformats.org/officeDocument/2006/relationships" id="263" r:id="Rad4af55cc4044f56"/>
    <p:sldId xmlns:r="http://schemas.openxmlformats.org/officeDocument/2006/relationships" id="264" r:id="Rd52885a0b33b4521"/>
    <p:sldId xmlns:r="http://schemas.openxmlformats.org/officeDocument/2006/relationships" id="265" r:id="R45a08d70adfc4380"/>
    <p:sldId xmlns:r="http://schemas.openxmlformats.org/officeDocument/2006/relationships" id="266" r:id="R9195db75d8c24162"/>
    <p:sldId xmlns:r="http://schemas.openxmlformats.org/officeDocument/2006/relationships" id="267" r:id="Rce64a4b61f584a5f"/>
    <p:sldId xmlns:r="http://schemas.openxmlformats.org/officeDocument/2006/relationships" id="268" r:id="Ra2e184b6242f49ca"/>
    <p:sldId xmlns:r="http://schemas.openxmlformats.org/officeDocument/2006/relationships" id="269" r:id="R6b5bfd649bb942bb"/>
    <p:sldId xmlns:r="http://schemas.openxmlformats.org/officeDocument/2006/relationships" id="270" r:id="R1a483265d3484555"/>
    <p:sldId xmlns:r="http://schemas.openxmlformats.org/officeDocument/2006/relationships" id="271" r:id="R41d9840948484bdc"/>
    <p:sldId xmlns:r="http://schemas.openxmlformats.org/officeDocument/2006/relationships" id="272" r:id="R4c696e7e87434125"/>
    <p:sldId xmlns:r="http://schemas.openxmlformats.org/officeDocument/2006/relationships" id="273" r:id="Rcb2b8167614c495f"/>
    <p:sldId xmlns:r="http://schemas.openxmlformats.org/officeDocument/2006/relationships" id="274" r:id="R93082e6e92064c67"/>
    <p:sldId xmlns:r="http://schemas.openxmlformats.org/officeDocument/2006/relationships" id="275" r:id="R55df670bb5544616"/>
    <p:sldId xmlns:r="http://schemas.openxmlformats.org/officeDocument/2006/relationships" id="276" r:id="Rae44c1075c0c4272"/>
    <p:sldId xmlns:r="http://schemas.openxmlformats.org/officeDocument/2006/relationships" id="277" r:id="R4b05291261e04340"/>
    <p:sldId xmlns:r="http://schemas.openxmlformats.org/officeDocument/2006/relationships" id="278" r:id="R43e66a3044ba41eb"/>
    <p:sldId xmlns:r="http://schemas.openxmlformats.org/officeDocument/2006/relationships" id="279" r:id="R9446faaf0f2b42d2"/>
    <p:sldId xmlns:r="http://schemas.openxmlformats.org/officeDocument/2006/relationships" id="280" r:id="R0635f1ff66ca4ba4"/>
    <p:sldId xmlns:r="http://schemas.openxmlformats.org/officeDocument/2006/relationships" id="281" r:id="Rc18755fa0d5a4d0a"/>
    <p:sldId xmlns:r="http://schemas.openxmlformats.org/officeDocument/2006/relationships" id="282" r:id="R464e746f88b24524"/>
    <p:sldId xmlns:r="http://schemas.openxmlformats.org/officeDocument/2006/relationships" id="283" r:id="Rec327e71ea3a440a"/>
    <p:sldId xmlns:r="http://schemas.openxmlformats.org/officeDocument/2006/relationships" id="284" r:id="R698731c9a8e74a91"/>
    <p:sldId xmlns:r="http://schemas.openxmlformats.org/officeDocument/2006/relationships" id="285" r:id="Rf911135810884bbf"/>
    <p:sldId xmlns:r="http://schemas.openxmlformats.org/officeDocument/2006/relationships" id="286" r:id="Rac21f921aed44028"/>
    <p:sldId xmlns:r="http://schemas.openxmlformats.org/officeDocument/2006/relationships" id="287" r:id="R16cb2ce9cc4d4a90"/>
    <p:sldId xmlns:r="http://schemas.openxmlformats.org/officeDocument/2006/relationships" id="288" r:id="R23a4f82493e241bc"/>
    <p:sldId xmlns:r="http://schemas.openxmlformats.org/officeDocument/2006/relationships" id="289" r:id="R9ba9a55459ab48a9"/>
    <p:sldId xmlns:r="http://schemas.openxmlformats.org/officeDocument/2006/relationships" id="290" r:id="Rf164f133b1bd428b"/>
    <p:sldId xmlns:r="http://schemas.openxmlformats.org/officeDocument/2006/relationships" id="291" r:id="R3e54e5a254c34822"/>
    <p:sldId xmlns:r="http://schemas.openxmlformats.org/officeDocument/2006/relationships" id="292" r:id="R8bfe6fd529a142d8"/>
    <p:sldId xmlns:r="http://schemas.openxmlformats.org/officeDocument/2006/relationships" id="293" r:id="R34e3b034a2124e70"/>
    <p:sldId xmlns:r="http://schemas.openxmlformats.org/officeDocument/2006/relationships" id="294" r:id="R504e8656f4ac4b37"/>
    <p:sldId xmlns:r="http://schemas.openxmlformats.org/officeDocument/2006/relationships" id="295" r:id="R6d45789ff6dc4db5"/>
    <p:sldId xmlns:r="http://schemas.openxmlformats.org/officeDocument/2006/relationships" id="296" r:id="Rd2bb30b175794cd2"/>
    <p:sldId xmlns:r="http://schemas.openxmlformats.org/officeDocument/2006/relationships" id="297" r:id="R5a478dc3d0004b60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2fab063e80448b0" /><Relationship Type="http://schemas.openxmlformats.org/officeDocument/2006/relationships/slideMaster" Target="/ppt/slideMasters/slideMaster1.xml" Id="Rc15e1a744c204726" /><Relationship Type="http://schemas.openxmlformats.org/officeDocument/2006/relationships/notesMaster" Target="/ppt/notesMasters/notesMaster1.xml" Id="R114e46795b5f475f" /><Relationship Type="http://schemas.openxmlformats.org/officeDocument/2006/relationships/presProps" Target="/ppt/presProps.xml" Id="Re6c9ddf15c5f4b52" /><Relationship Type="http://schemas.openxmlformats.org/officeDocument/2006/relationships/viewProps" Target="/ppt/viewProps.xml" Id="R43ef681e04e344d0" /><Relationship Type="http://schemas.openxmlformats.org/officeDocument/2006/relationships/tableStyles" Target="/ppt/tableStyles.xml" Id="R99d1e519be5b4a3d" /><Relationship Type="http://schemas.openxmlformats.org/officeDocument/2006/relationships/slide" Target="/ppt/slides/slide1.xml" Id="Rfe613a3ec0ab4736" /><Relationship Type="http://schemas.openxmlformats.org/officeDocument/2006/relationships/slide" Target="/ppt/slides/slide2.xml" Id="Rfeccbdd1ecfb4402" /><Relationship Type="http://schemas.openxmlformats.org/officeDocument/2006/relationships/slide" Target="/ppt/slides/slide3.xml" Id="Rfc6fd2baa5074917" /><Relationship Type="http://schemas.openxmlformats.org/officeDocument/2006/relationships/slide" Target="/ppt/slides/slide4.xml" Id="Rb44d69f12b5e404d" /><Relationship Type="http://schemas.openxmlformats.org/officeDocument/2006/relationships/slide" Target="/ppt/slides/slide5.xml" Id="R7c0c0f2fe62c4e51" /><Relationship Type="http://schemas.openxmlformats.org/officeDocument/2006/relationships/slide" Target="/ppt/slides/slide6.xml" Id="R74ef26d4a1aa478e" /><Relationship Type="http://schemas.openxmlformats.org/officeDocument/2006/relationships/slide" Target="/ppt/slides/slide7.xml" Id="R1ee00f0048404c31" /><Relationship Type="http://schemas.openxmlformats.org/officeDocument/2006/relationships/slide" Target="/ppt/slides/slide8.xml" Id="Rad4af55cc4044f56" /><Relationship Type="http://schemas.openxmlformats.org/officeDocument/2006/relationships/slide" Target="/ppt/slides/slide9.xml" Id="Rd52885a0b33b4521" /><Relationship Type="http://schemas.openxmlformats.org/officeDocument/2006/relationships/slide" Target="/ppt/slides/slide10.xml" Id="R45a08d70adfc4380" /><Relationship Type="http://schemas.openxmlformats.org/officeDocument/2006/relationships/slide" Target="/ppt/slides/slide11.xml" Id="R9195db75d8c24162" /><Relationship Type="http://schemas.openxmlformats.org/officeDocument/2006/relationships/slide" Target="/ppt/slides/slide12.xml" Id="Rce64a4b61f584a5f" /><Relationship Type="http://schemas.openxmlformats.org/officeDocument/2006/relationships/slide" Target="/ppt/slides/slide13.xml" Id="Ra2e184b6242f49ca" /><Relationship Type="http://schemas.openxmlformats.org/officeDocument/2006/relationships/slide" Target="/ppt/slides/slide14.xml" Id="R6b5bfd649bb942bb" /><Relationship Type="http://schemas.openxmlformats.org/officeDocument/2006/relationships/slide" Target="/ppt/slides/slide15.xml" Id="R1a483265d3484555" /><Relationship Type="http://schemas.openxmlformats.org/officeDocument/2006/relationships/slide" Target="/ppt/slides/slide16.xml" Id="R41d9840948484bdc" /><Relationship Type="http://schemas.openxmlformats.org/officeDocument/2006/relationships/slide" Target="/ppt/slides/slide17.xml" Id="R4c696e7e87434125" /><Relationship Type="http://schemas.openxmlformats.org/officeDocument/2006/relationships/slide" Target="/ppt/slides/slide18.xml" Id="Rcb2b8167614c495f" /><Relationship Type="http://schemas.openxmlformats.org/officeDocument/2006/relationships/slide" Target="/ppt/slides/slide19.xml" Id="R93082e6e92064c67" /><Relationship Type="http://schemas.openxmlformats.org/officeDocument/2006/relationships/slide" Target="/ppt/slides/slide20.xml" Id="R55df670bb5544616" /><Relationship Type="http://schemas.openxmlformats.org/officeDocument/2006/relationships/slide" Target="/ppt/slides/slide21.xml" Id="Rae44c1075c0c4272" /><Relationship Type="http://schemas.openxmlformats.org/officeDocument/2006/relationships/slide" Target="/ppt/slides/slide22.xml" Id="R4b05291261e04340" /><Relationship Type="http://schemas.openxmlformats.org/officeDocument/2006/relationships/slide" Target="/ppt/slides/slide23.xml" Id="R43e66a3044ba41eb" /><Relationship Type="http://schemas.openxmlformats.org/officeDocument/2006/relationships/slide" Target="/ppt/slides/slide24.xml" Id="R9446faaf0f2b42d2" /><Relationship Type="http://schemas.openxmlformats.org/officeDocument/2006/relationships/slide" Target="/ppt/slides/slide25.xml" Id="R0635f1ff66ca4ba4" /><Relationship Type="http://schemas.openxmlformats.org/officeDocument/2006/relationships/slide" Target="/ppt/slides/slide26.xml" Id="Rc18755fa0d5a4d0a" /><Relationship Type="http://schemas.openxmlformats.org/officeDocument/2006/relationships/slide" Target="/ppt/slides/slide27.xml" Id="R464e746f88b24524" /><Relationship Type="http://schemas.openxmlformats.org/officeDocument/2006/relationships/slide" Target="/ppt/slides/slide28.xml" Id="Rec327e71ea3a440a" /><Relationship Type="http://schemas.openxmlformats.org/officeDocument/2006/relationships/slide" Target="/ppt/slides/slide29.xml" Id="R698731c9a8e74a91" /><Relationship Type="http://schemas.openxmlformats.org/officeDocument/2006/relationships/slide" Target="/ppt/slides/slide30.xml" Id="Rf911135810884bbf" /><Relationship Type="http://schemas.openxmlformats.org/officeDocument/2006/relationships/slide" Target="/ppt/slides/slide31.xml" Id="Rac21f921aed44028" /><Relationship Type="http://schemas.openxmlformats.org/officeDocument/2006/relationships/slide" Target="/ppt/slides/slide32.xml" Id="R16cb2ce9cc4d4a90" /><Relationship Type="http://schemas.openxmlformats.org/officeDocument/2006/relationships/slide" Target="/ppt/slides/slide33.xml" Id="R23a4f82493e241bc" /><Relationship Type="http://schemas.openxmlformats.org/officeDocument/2006/relationships/slide" Target="/ppt/slides/slide34.xml" Id="R9ba9a55459ab48a9" /><Relationship Type="http://schemas.openxmlformats.org/officeDocument/2006/relationships/slide" Target="/ppt/slides/slide35.xml" Id="Rf164f133b1bd428b" /><Relationship Type="http://schemas.openxmlformats.org/officeDocument/2006/relationships/slide" Target="/ppt/slides/slide36.xml" Id="R3e54e5a254c34822" /><Relationship Type="http://schemas.openxmlformats.org/officeDocument/2006/relationships/slide" Target="/ppt/slides/slide37.xml" Id="R8bfe6fd529a142d8" /><Relationship Type="http://schemas.openxmlformats.org/officeDocument/2006/relationships/slide" Target="/ppt/slides/slide38.xml" Id="R34e3b034a2124e70" /><Relationship Type="http://schemas.openxmlformats.org/officeDocument/2006/relationships/slide" Target="/ppt/slides/slide39.xml" Id="R504e8656f4ac4b37" /><Relationship Type="http://schemas.openxmlformats.org/officeDocument/2006/relationships/slide" Target="/ppt/slides/slide40.xml" Id="R6d45789ff6dc4db5" /><Relationship Type="http://schemas.openxmlformats.org/officeDocument/2006/relationships/slide" Target="/ppt/slides/slide41.xml" Id="Rd2bb30b175794cd2" /><Relationship Type="http://schemas.openxmlformats.org/officeDocument/2006/relationships/slide" Target="/ppt/slides/slide42.xml" Id="R5a478dc3d0004b6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be8fe090c2341f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7e379d58384433e" /><Relationship Type="http://schemas.openxmlformats.org/officeDocument/2006/relationships/notesMaster" Target="/ppt/notesMasters/notesMaster1.xml" Id="R205481013f32419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d373a845944a33" /><Relationship Type="http://schemas.openxmlformats.org/officeDocument/2006/relationships/notesMaster" Target="/ppt/notesMasters/notesMaster1.xml" Id="R546639fe3a6c46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a90cf169f324d0d" /><Relationship Type="http://schemas.openxmlformats.org/officeDocument/2006/relationships/notesMaster" Target="/ppt/notesMasters/notesMaster1.xml" Id="Rcfa6ed17540b4b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f9b8ee25fa4ed1" /><Relationship Type="http://schemas.openxmlformats.org/officeDocument/2006/relationships/notesMaster" Target="/ppt/notesMasters/notesMaster1.xml" Id="R1490ebc202c4462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4e23b4040994d12" /><Relationship Type="http://schemas.openxmlformats.org/officeDocument/2006/relationships/notesMaster" Target="/ppt/notesMasters/notesMaster1.xml" Id="Rd683c458fa5f4a7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653bfb709b44ce0" /><Relationship Type="http://schemas.openxmlformats.org/officeDocument/2006/relationships/notesMaster" Target="/ppt/notesMasters/notesMaster1.xml" Id="Red58353cbead455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051f49afd204e6c" /><Relationship Type="http://schemas.openxmlformats.org/officeDocument/2006/relationships/notesMaster" Target="/ppt/notesMasters/notesMaster1.xml" Id="Rcdbb5585cf964df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960bd702d464759" /><Relationship Type="http://schemas.openxmlformats.org/officeDocument/2006/relationships/notesMaster" Target="/ppt/notesMasters/notesMaster1.xml" Id="Rf054db636bf4451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2d3855fc6564706" /><Relationship Type="http://schemas.openxmlformats.org/officeDocument/2006/relationships/notesMaster" Target="/ppt/notesMasters/notesMaster1.xml" Id="Rcb48ef99b3df44e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ee1ca4d15a3409a" /><Relationship Type="http://schemas.openxmlformats.org/officeDocument/2006/relationships/notesMaster" Target="/ppt/notesMasters/notesMaster1.xml" Id="R0a7b3c9ea918458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a1f24881cd74fa2" /><Relationship Type="http://schemas.openxmlformats.org/officeDocument/2006/relationships/notesMaster" Target="/ppt/notesMasters/notesMaster1.xml" Id="R8d63c10fd6df4cc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bf1838b1d1747d9" /><Relationship Type="http://schemas.openxmlformats.org/officeDocument/2006/relationships/notesMaster" Target="/ppt/notesMasters/notesMaster1.xml" Id="R71542290dbd34a9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4893e0e50034b1c" /><Relationship Type="http://schemas.openxmlformats.org/officeDocument/2006/relationships/notesMaster" Target="/ppt/notesMasters/notesMaster1.xml" Id="Rbe764013e53f424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a051f01d51343a7" /><Relationship Type="http://schemas.openxmlformats.org/officeDocument/2006/relationships/notesMaster" Target="/ppt/notesMasters/notesMaster1.xml" Id="R84b534e3d9474a9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027cc8e29774a7a" /><Relationship Type="http://schemas.openxmlformats.org/officeDocument/2006/relationships/notesMaster" Target="/ppt/notesMasters/notesMaster1.xml" Id="Rf236e8409648455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8f466ec27fa4441" /><Relationship Type="http://schemas.openxmlformats.org/officeDocument/2006/relationships/notesMaster" Target="/ppt/notesMasters/notesMaster1.xml" Id="R30f21f76f56d424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b6e188c063e4341" /><Relationship Type="http://schemas.openxmlformats.org/officeDocument/2006/relationships/notesMaster" Target="/ppt/notesMasters/notesMaster1.xml" Id="R35245adc9e744ac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f6387cc309b4cc1" /><Relationship Type="http://schemas.openxmlformats.org/officeDocument/2006/relationships/notesMaster" Target="/ppt/notesMasters/notesMaster1.xml" Id="Re3846cff88d446c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9012f5e3d3e4ea3" /><Relationship Type="http://schemas.openxmlformats.org/officeDocument/2006/relationships/notesMaster" Target="/ppt/notesMasters/notesMaster1.xml" Id="Rb97875c0a8b4486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36fcd0b36aa44ef" /><Relationship Type="http://schemas.openxmlformats.org/officeDocument/2006/relationships/notesMaster" Target="/ppt/notesMasters/notesMaster1.xml" Id="Rc65853d0136848d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18d9383ce614ff4" /><Relationship Type="http://schemas.openxmlformats.org/officeDocument/2006/relationships/notesMaster" Target="/ppt/notesMasters/notesMaster1.xml" Id="Rfe9b575d3a96423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015800014794127" /><Relationship Type="http://schemas.openxmlformats.org/officeDocument/2006/relationships/notesMaster" Target="/ppt/notesMasters/notesMaster1.xml" Id="R94475df5d50e4ac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80bd73aa3444bf4" /><Relationship Type="http://schemas.openxmlformats.org/officeDocument/2006/relationships/notesMaster" Target="/ppt/notesMasters/notesMaster1.xml" Id="R7c9c1ce965a043f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18a60b7fb854ece" /><Relationship Type="http://schemas.openxmlformats.org/officeDocument/2006/relationships/notesMaster" Target="/ppt/notesMasters/notesMaster1.xml" Id="Rfe3f7c8634a24b2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0b51957060e4ba5" /><Relationship Type="http://schemas.openxmlformats.org/officeDocument/2006/relationships/notesMaster" Target="/ppt/notesMasters/notesMaster1.xml" Id="R5d58dc46c7da498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ffdc38d20fa4ccd" /><Relationship Type="http://schemas.openxmlformats.org/officeDocument/2006/relationships/notesMaster" Target="/ppt/notesMasters/notesMaster1.xml" Id="R8da4916a5e12463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ffe4cc29c8641b6" /><Relationship Type="http://schemas.openxmlformats.org/officeDocument/2006/relationships/notesMaster" Target="/ppt/notesMasters/notesMaster1.xml" Id="Rd22bba824a264ad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c86e8f556504815" /><Relationship Type="http://schemas.openxmlformats.org/officeDocument/2006/relationships/notesMaster" Target="/ppt/notesMasters/notesMaster1.xml" Id="R058a63ff27284ef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ef6803142b14ac1" /><Relationship Type="http://schemas.openxmlformats.org/officeDocument/2006/relationships/notesMaster" Target="/ppt/notesMasters/notesMaster1.xml" Id="R75ef5a3a1f5947c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3f841e8dc114480" /><Relationship Type="http://schemas.openxmlformats.org/officeDocument/2006/relationships/notesMaster" Target="/ppt/notesMasters/notesMaster1.xml" Id="Rc1f7cad12ad64df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3579b1e67384cb8" /><Relationship Type="http://schemas.openxmlformats.org/officeDocument/2006/relationships/notesMaster" Target="/ppt/notesMasters/notesMaster1.xml" Id="R95f5e773564b415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ad9f61bf622d4b41" /><Relationship Type="http://schemas.openxmlformats.org/officeDocument/2006/relationships/notesMaster" Target="/ppt/notesMasters/notesMaster1.xml" Id="Raf10d114024a4419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3c1b2836bf714ced" /><Relationship Type="http://schemas.openxmlformats.org/officeDocument/2006/relationships/notesMaster" Target="/ppt/notesMasters/notesMaster1.xml" Id="R36c206c8b4064c29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58c5d07e398b41c3" /><Relationship Type="http://schemas.openxmlformats.org/officeDocument/2006/relationships/notesMaster" Target="/ppt/notesMasters/notesMaster1.xml" Id="R02369b62137045d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2f895f648bd645be" /><Relationship Type="http://schemas.openxmlformats.org/officeDocument/2006/relationships/notesMaster" Target="/ppt/notesMasters/notesMaster1.xml" Id="R32200a437dca4929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483323535ef9415e" /><Relationship Type="http://schemas.openxmlformats.org/officeDocument/2006/relationships/notesMaster" Target="/ppt/notesMasters/notesMaster1.xml" Id="R4ebe8042b7424a6e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372329804f644565" /><Relationship Type="http://schemas.openxmlformats.org/officeDocument/2006/relationships/notesMaster" Target="/ppt/notesMasters/notesMaster1.xml" Id="R71803f79738b406c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3d3e2f1b19b146c3" /><Relationship Type="http://schemas.openxmlformats.org/officeDocument/2006/relationships/notesMaster" Target="/ppt/notesMasters/notesMaster1.xml" Id="Refc51343aded4959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3160b6759fae4186" /><Relationship Type="http://schemas.openxmlformats.org/officeDocument/2006/relationships/notesMaster" Target="/ppt/notesMasters/notesMaster1.xml" Id="Ra90149d7b8a049f8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c082fa2aa47a4eb6" /><Relationship Type="http://schemas.openxmlformats.org/officeDocument/2006/relationships/notesMaster" Target="/ppt/notesMasters/notesMaster1.xml" Id="R7b505e2d750c421e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15823de904b542b9" /><Relationship Type="http://schemas.openxmlformats.org/officeDocument/2006/relationships/notesMaster" Target="/ppt/notesMasters/notesMaster1.xml" Id="R8a702674b3d147d3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1a688cbf6a274b33" /><Relationship Type="http://schemas.openxmlformats.org/officeDocument/2006/relationships/notesMaster" Target="/ppt/notesMasters/notesMaster1.xml" Id="R668a044addd2432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0:00. BEFORE THE BELL: have the L3 exit tickets in front of you, the</a:t>
            </a:r>
          </a:p>
          <a:p xmlns:a="http://schemas.openxmlformats.org/drawingml/2006/main">
            <a:r>
              <a:t>ISM330DHCX datasheet open at the zero-g level rows with the page number written</a:t>
            </a:r>
          </a:p>
          <a:p xmlns:a="http://schemas.openxmlformats.org/drawingml/2006/main">
            <a:r>
              <a:t>on your hand, and the twelve sets of sequencing cards counted out.</a:t>
            </a:r>
          </a:p>
          <a:p xmlns:a="http://schemas.openxmlformats.org/drawingml/2006/main"/>
          <a:p xmlns:a="http://schemas.openxmlformats.org/drawingml/2006/main">
            <a:r>
              <a:t>Write 8.73 mg on the physical board before anyone arrives and do not erase it.</a:t>
            </a:r>
          </a:p>
          <a:p xmlns:a="http://schemas.openxmlformats.org/drawingml/2006/main">
            <a:r>
              <a:t>You will point at it six times today.</a:t>
            </a:r>
          </a:p>
          <a:p xmlns:a="http://schemas.openxmlformats.org/drawingml/2006/main"/>
          <a:p xmlns:a="http://schemas.openxmlformats.org/drawingml/2006/main">
            <a:r>
              <a:t>Say the hook line out loud rather than reading it: "Lecture 2 ended with a</a:t>
            </a:r>
          </a:p>
          <a:p xmlns:a="http://schemas.openxmlformats.org/drawingml/2006/main">
            <a:r>
              <a:t>question I could not answer. That was deliberate. Today we open the box."</a:t>
            </a:r>
          </a:p>
          <a:p xmlns:a="http://schemas.openxmlformats.org/drawingml/2006/main"/>
          <a:p xmlns:a="http://schemas.openxmlformats.org/drawingml/2006/main">
            <a:r>
              <a:t>Then go straight to the muddiest points. Do not preamble.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0:00–0:02. TEMPLATE SLIDE — you must fill it in before class.</a:t>
            </a:r>
          </a:p>
          <a:p xmlns:a="http://schemas.openxmlformats.org/drawingml/2006/main"/>
          <a:p xmlns:a="http://schemas.openxmlformats.org/drawingml/2006/main">
            <a:r>
              <a:t>Transcribe the three most frequent muddiest points from Lecture 3 and answer each</a:t>
            </a:r>
          </a:p>
          <a:p xmlns:a="http://schemas.openxmlformats.org/drawingml/2006/main">
            <a:r>
              <a:t>in about twenty-five seconds. Name the concept, never the student.</a:t>
            </a:r>
          </a:p>
          <a:p xmlns:a="http://schemas.openxmlformats.org/drawingml/2006/main"/>
          <a:p xmlns:a="http://schemas.openxmlformats.org/drawingml/2006/main">
            <a:r>
              <a:t>If aliasing or anti-alias filtering is still unresolved for a large part of the</a:t>
            </a:r>
          </a:p>
          <a:p xmlns:a="http://schemas.openxmlformats.org/drawingml/2006/main">
            <a:r>
              <a:t>room, say one sentence and promise Laboratory 2 — do not re-teach it here, you</a:t>
            </a:r>
          </a:p>
          <a:p xmlns:a="http://schemas.openxmlformats.org/drawingml/2006/main">
            <a:r>
              <a:t>have no slack today.</a:t>
            </a:r>
          </a:p>
          <a:p xmlns:a="http://schemas.openxmlformats.org/drawingml/2006/main"/>
          <a:p xmlns:a="http://schemas.openxmlformats.org/drawingml/2006/main">
            <a:r>
              <a:t>If the tickets were useless, delete this slide rather than improvising. A hollow</a:t>
            </a:r>
          </a:p>
          <a:p xmlns:a="http://schemas.openxmlformats.org/drawingml/2006/main">
            <a:r>
              <a:t>ritual is worse than none, and today's opening needs its two minutes back.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0:02–0:05. RETRIEVAL PRACTICE, not review. Ask before you show.</a:t>
            </a:r>
          </a:p>
          <a:p xmlns:a="http://schemas.openxmlformats.org/drawingml/2006/main"/>
          <a:p xmlns:a="http://schemas.openxmlformats.org/drawingml/2006/main">
            <a:r>
              <a:t>"Notes down. Four relations from Lecture 1 — mass, stiffness, resonance, surface</a:t>
            </a:r>
          </a:p>
          <a:p xmlns:a="http://schemas.openxmlformats.org/drawingml/2006/main">
            <a:r>
              <a:t>to volume. Somebody give me one." Take four students, one relation each, and let</a:t>
            </a:r>
          </a:p>
          <a:p xmlns:a="http://schemas.openxmlformats.org/drawingml/2006/main">
            <a:r>
              <a:t>the room correct them. It costs ninety seconds and beats re-explaining.</a:t>
            </a:r>
          </a:p>
          <a:p xmlns:a="http://schemas.openxmlformats.org/drawingml/2006/main"/>
          <a:p xmlns:a="http://schemas.openxmlformats.org/drawingml/2006/main">
            <a:r>
              <a:t>If they cannot produce m ∝ L³, write it up and leave it up — the honest ledger at</a:t>
            </a:r>
          </a:p>
          <a:p xmlns:a="http://schemas.openxmlformats.org/drawingml/2006/main">
            <a:r>
              <a:t>minute 73 collapses without it.</a:t>
            </a:r>
          </a:p>
          <a:p xmlns:a="http://schemas.openxmlformats.org/drawingml/2006/main"/>
          <a:p xmlns:a="http://schemas.openxmlformats.org/drawingml/2006/main">
            <a:r>
              <a:t>Then the bridge: "You have used these to predict behaviour. Today they turn into</a:t>
            </a:r>
          </a:p>
          <a:p xmlns:a="http://schemas.openxmlformats.org/drawingml/2006/main">
            <a:r>
              <a:t>process steps and a stress path."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0:05–0:07. Put it up in silence and let them recognise it. Somebody will.</a:t>
            </a:r>
          </a:p>
          <a:p xmlns:a="http://schemas.openxmlformats.org/drawingml/2006/main"/>
          <a:p xmlns:a="http://schemas.openxmlformats.org/drawingml/2006/main">
            <a:r>
              <a:t>Then say plainly: "Two weeks ago I told you a number could not exist and moved</a:t>
            </a:r>
          </a:p>
          <a:p xmlns:a="http://schemas.openxmlformats.org/drawingml/2006/main">
            <a:r>
              <a:t>on. That was a debt. A course that leaves debts like that unpaid teaches students</a:t>
            </a:r>
          </a:p>
          <a:p xmlns:a="http://schemas.openxmlformats.org/drawingml/2006/main">
            <a:r>
              <a:t>that engineering has magic in it."</a:t>
            </a:r>
          </a:p>
          <a:p xmlns:a="http://schemas.openxmlformats.org/drawingml/2006/main"/>
          <a:p xmlns:a="http://schemas.openxmlformats.org/drawingml/2006/main">
            <a:r>
              <a:t>Ask for the reason, take two answers, accept none of them yet: "Hold those. In</a:t>
            </a:r>
          </a:p>
          <a:p xmlns:a="http://schemas.openxmlformats.org/drawingml/2006/main">
            <a:r>
              <a:t>three minutes you will vote on it, and I will not tell you the answer until</a:t>
            </a:r>
          </a:p>
          <a:p xmlns:a="http://schemas.openxmlformats.org/drawingml/2006/main">
            <a:r>
              <a:t>minute seventy, by which point you will not need me to."</a:t>
            </a:r>
          </a:p>
          <a:p xmlns:a="http://schemas.openxmlformats.org/drawingml/2006/main"/>
          <a:p xmlns:a="http://schemas.openxmlformats.org/drawingml/2006/main">
            <a:r>
              <a:t>Do not explain. The poll is coming.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0:07–0:08. Sixty seconds, four lines, read them and stop.</a:t>
            </a:r>
          </a:p>
          <a:p xmlns:a="http://schemas.openxmlformats.org/drawingml/2006/main"/>
          <a:p xmlns:a="http://schemas.openxmlformats.org/drawingml/2006/main">
            <a:r>
              <a:t>Point at line 4 and make it physical: "You will tighten that screw yourself, in</a:t>
            </a:r>
          </a:p>
          <a:p xmlns:a="http://schemas.openxmlformats.org/drawingml/2006/main">
            <a:r>
              <a:t>the capstone, with a screwdriver, by feel. That torque is now part of your</a:t>
            </a:r>
          </a:p>
          <a:p xmlns:a="http://schemas.openxmlformats.org/drawingml/2006/main">
            <a:r>
              <a:t>instrument."</a:t>
            </a:r>
          </a:p>
          <a:p xmlns:a="http://schemas.openxmlformats.org/drawingml/2006/main"/>
          <a:p xmlns:a="http://schemas.openxmlformats.org/drawingml/2006/main">
            <a:r>
              <a:t>The sentence to land, in the first person because that is how habits install:</a:t>
            </a:r>
          </a:p>
          <a:p xmlns:a="http://schemas.openxmlformats.org/drawingml/2006/main">
            <a:r>
              <a:t>"The datasheet describes a die. I bought an assembly, and I built the rest of it."</a:t>
            </a:r>
          </a:p>
          <a:p xmlns:a="http://schemas.openxmlformats.org/drawingml/2006/main"/>
          <a:p xmlns:a="http://schemas.openxmlformats.org/drawingml/2006/main">
            <a:r>
              <a:t>Do not go further. This slide only has to make the poll feel answerable rather</a:t>
            </a:r>
          </a:p>
          <a:p xmlns:a="http://schemas.openxmlformats.org/drawingml/2006/main">
            <a:r>
              <a:t>than mystical. Go straight to the vote.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0:08–0:11. Baseline. DO NOT REVEAL. Record the distribution; you re-show</a:t>
            </a:r>
          </a:p>
          <a:p xmlns:a="http://schemas.openxmlformats.org/drawingml/2006/main">
            <a:r>
              <a:t>this slide at minute seventy.</a:t>
            </a:r>
          </a:p>
          <a:p xmlns:a="http://schemas.openxmlformats.org/drawingml/2006/main"/>
          <a:p xmlns:a="http://schemas.openxmlformats.org/drawingml/2006/main">
            <a:r>
              <a:t>Expect 25–40 % for B. This poll is less about the split than about planting the</a:t>
            </a:r>
          </a:p>
          <a:p xmlns:a="http://schemas.openxmlformats.org/drawingml/2006/main">
            <a:r>
              <a:t>question, so do not fish for the answer.</a:t>
            </a:r>
          </a:p>
          <a:p xmlns:a="http://schemas.openxmlformats.org/drawingml/2006/main"/>
          <a:p xmlns:a="http://schemas.openxmlformats.org/drawingml/2006/main">
            <a:r>
              <a:t>A is the commercial-secrecy instinct — worth thirty seconds of dismantling later:</a:t>
            </a:r>
          </a:p>
          <a:p xmlns:a="http://schemas.openxmlformats.org/drawingml/2006/main">
            <a:r>
              <a:t>they publish noise density, which is far more competitively sensitive.</a:t>
            </a:r>
          </a:p>
          <a:p xmlns:a="http://schemas.openxmlformats.org/drawingml/2006/main"/>
          <a:p xmlns:a="http://schemas.openxmlformats.org/drawingml/2006/main">
            <a:r>
              <a:t>C is the most useful wrong answer, because somebody will go looking during the</a:t>
            </a:r>
          </a:p>
          <a:p xmlns:a="http://schemas.openxmlformats.org/drawingml/2006/main">
            <a:r>
              <a:t>break. If they find an app note, that is a gift — read its mounting-stress</a:t>
            </a:r>
          </a:p>
          <a:p xmlns:a="http://schemas.openxmlformats.org/drawingml/2006/main">
            <a:r>
              <a:t>mitigation list aloud at minute seventy.</a:t>
            </a:r>
          </a:p>
          <a:p xmlns:a="http://schemas.openxmlformats.org/drawingml/2006/main"/>
          <a:p xmlns:a="http://schemas.openxmlformats.org/drawingml/2006/main">
            <a:r>
              <a:t>D is misconception M1 in its purest form.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0:11–0:12. These are the real rows, from the real part in their kit. Say</a:t>
            </a:r>
          </a:p>
          <a:p xmlns:a="http://schemas.openxmlformats.org/drawingml/2006/main">
            <a:r>
              <a:t>so — after two weeks of representative extracts, that matters.</a:t>
            </a:r>
          </a:p>
          <a:p xmlns:a="http://schemas.openxmlformats.org/drawingml/2006/main"/>
          <a:p xmlns:a="http://schemas.openxmlformats.org/drawingml/2006/main">
            <a:r>
              <a:t>Read row 1 aloud with its condition, twice: "plus or minus ten milli-g typical,</a:t>
            </a:r>
          </a:p>
          <a:p xmlns:a="http://schemas.openxmlformats.org/drawingml/2006/main">
            <a:r>
              <a:t>plus or minus sixty-five maximum, at twenty-five degrees, AFTER SOLDERING."</a:t>
            </a:r>
          </a:p>
          <a:p xmlns:a="http://schemas.openxmlformats.org/drawingml/2006/main"/>
          <a:p xmlns:a="http://schemas.openxmlformats.org/drawingml/2006/main">
            <a:r>
              <a:t>Then the honesty point: "This is not a manufacturer hiding. This is a</a:t>
            </a:r>
          </a:p>
          <a:p xmlns:a="http://schemas.openxmlformats.org/drawingml/2006/main">
            <a:r>
              <a:t>manufacturer telling you exactly where the boundary of their responsibility is,</a:t>
            </a:r>
          </a:p>
          <a:p xmlns:a="http://schemas.openxmlformats.org/drawingml/2006/main">
            <a:r>
              <a:t>in five words, and almost nobody reads them."</a:t>
            </a:r>
          </a:p>
          <a:p xmlns:a="http://schemas.openxmlformats.org/drawingml/2006/main"/>
          <a:p xmlns:a="http://schemas.openxmlformats.org/drawingml/2006/main">
            <a:r>
              <a:t>Hold the arithmetic. The next slide is the punch.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0:12–0:14. Do both divisions on the board, out loud. Ten over eight point</a:t>
            </a:r>
          </a:p>
          <a:p xmlns:a="http://schemas.openxmlformats.org/drawingml/2006/main">
            <a:r>
              <a:t>seven three is one point one five. Sixty-five over eight point seven three is</a:t>
            </a:r>
          </a:p>
          <a:p xmlns:a="http://schemas.openxmlformats.org/drawingml/2006/main">
            <a:r>
              <a:t>seven point four five.</a:t>
            </a:r>
          </a:p>
          <a:p xmlns:a="http://schemas.openxmlformats.org/drawingml/2006/main"/>
          <a:p xmlns:a="http://schemas.openxmlformats.org/drawingml/2006/main">
            <a:r>
              <a:t>Then stop and let it sit: "The offset of the part in your kit is larger than the</a:t>
            </a:r>
          </a:p>
          <a:p xmlns:a="http://schemas.openxmlformats.org/drawingml/2006/main">
            <a:r>
              <a:t>tilt you were asked to measure. Not comparable to it — larger."</a:t>
            </a:r>
          </a:p>
          <a:p xmlns:a="http://schemas.openxmlformats.org/drawingml/2006/main"/>
          <a:p xmlns:a="http://schemas.openxmlformats.org/drawingml/2006/main">
            <a:r>
              <a:t>Take the obvious objection from the room, because someone will raise it: yes, you</a:t>
            </a:r>
          </a:p>
          <a:p xmlns:a="http://schemas.openxmlformats.org/drawingml/2006/main">
            <a:r>
              <a:t>can calibrate an offset out. Say "hold that thought, it is the best question in</a:t>
            </a:r>
          </a:p>
          <a:p xmlns:a="http://schemas.openxmlformats.org/drawingml/2006/main">
            <a:r>
              <a:t>the lecture, and it is slide thirty-four." Then move.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0:14. Section marker, fifteen seconds. Read the two lines and move.</a:t>
            </a:r>
          </a:p>
          <a:p xmlns:a="http://schemas.openxmlformats.org/drawingml/2006/main"/>
          <a:p xmlns:a="http://schemas.openxmlformats.org/drawingml/2006/main">
            <a:r>
              <a:t>Say the promise out loud because it lowers the cognitive load of the whole chunk:</a:t>
            </a:r>
          </a:p>
          <a:p xmlns:a="http://schemas.openxmlformats.org/drawingml/2006/main">
            <a:r>
              <a:t>"Five, not fifty. Five fits in your head, and five is genuinely all there is.</a:t>
            </a:r>
          </a:p>
          <a:p xmlns:a="http://schemas.openxmlformats.org/drawingml/2006/main">
            <a:r>
              <a:t>Every sensor in the second half of this course is one of these five shapes with a</a:t>
            </a:r>
          </a:p>
          <a:p xmlns:a="http://schemas.openxmlformats.org/drawingml/2006/main">
            <a:r>
              <a:t>different transduction bolted onto it."</a:t>
            </a:r>
          </a:p>
          <a:p xmlns:a="http://schemas.openxmlformats.org/drawingml/2006/main"/>
          <a:p xmlns:a="http://schemas.openxmlformats.org/drawingml/2006/main">
            <a:r>
              <a:t>Do not list them twice. The next slide starts drawing.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0:14–0:16. Deliberately the SAME picture as Lecture 1. Say that: "I have</a:t>
            </a:r>
          </a:p>
          <a:p xmlns:a="http://schemas.openxmlformats.org/drawingml/2006/main">
            <a:r>
              <a:t>not redrawn this. You have seen it. What has changed is what you can now ask</a:t>
            </a:r>
          </a:p>
          <a:p xmlns:a="http://schemas.openxmlformats.org/drawingml/2006/main">
            <a:r>
              <a:t>about it."</a:t>
            </a:r>
          </a:p>
          <a:p xmlns:a="http://schemas.openxmlformats.org/drawingml/2006/main"/>
          <a:p xmlns:a="http://schemas.openxmlformats.org/drawingml/2006/main">
            <a:r>
              <a:t>Point at the one-to-two micrometre gap and name the stake: "C is epsilon A over</a:t>
            </a:r>
          </a:p>
          <a:p xmlns:a="http://schemas.openxmlformats.org/drawingml/2006/main">
            <a:r>
              <a:t>d. If assembly stress changes d by one per cent, the capacitance changes by one</a:t>
            </a:r>
          </a:p>
          <a:p xmlns:a="http://schemas.openxmlformats.org/drawingml/2006/main">
            <a:r>
              <a:t>per cent, and that appears as an offset. That is the ten milli-g."</a:t>
            </a:r>
          </a:p>
          <a:p xmlns:a="http://schemas.openxmlformats.org/drawingml/2006/main"/>
          <a:p xmlns:a="http://schemas.openxmlformats.org/drawingml/2006/main">
            <a:r>
              <a:t>That single sentence is the whole lecture in miniature. If you have to cut</a:t>
            </a:r>
          </a:p>
          <a:p xmlns:a="http://schemas.openxmlformats.org/drawingml/2006/main">
            <a:r>
              <a:t>something later, do not cut this.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0:16–0:18. Three boxes, thirty seconds each, then the grey paragraph.</a:t>
            </a:r>
          </a:p>
          <a:p xmlns:a="http://schemas.openxmlformats.org/drawingml/2006/main"/>
          <a:p xmlns:a="http://schemas.openxmlformats.org/drawingml/2006/main">
            <a:r>
              <a:t>The trap to name explicitly: students want sensitivity and bandwidth to be</a:t>
            </a:r>
          </a:p>
          <a:p xmlns:a="http://schemas.openxmlformats.org/drawingml/2006/main">
            <a:r>
              <a:t>independent knobs. "They are the same two numbers. Make the mass bigger and you</a:t>
            </a:r>
          </a:p>
          <a:p xmlns:a="http://schemas.openxmlformats.org/drawingml/2006/main">
            <a:r>
              <a:t>buy sensitivity and lose bandwidth. There is no setting for this — it was decided</a:t>
            </a:r>
          </a:p>
          <a:p xmlns:a="http://schemas.openxmlformats.org/drawingml/2006/main">
            <a:r>
              <a:t>by a mask."</a:t>
            </a:r>
          </a:p>
          <a:p xmlns:a="http://schemas.openxmlformats.org/drawingml/2006/main"/>
          <a:p xmlns:a="http://schemas.openxmlformats.org/drawingml/2006/main">
            <a:r>
              <a:t>That is the first place in the course where a specification is traceable to a</a:t>
            </a:r>
          </a:p>
          <a:p xmlns:a="http://schemas.openxmlformats.org/drawingml/2006/main">
            <a:r>
              <a:t>manufacturing decision rather than a design choice, so say the word "mask" and</a:t>
            </a:r>
          </a:p>
          <a:p xmlns:a="http://schemas.openxmlformats.org/drawingml/2006/main">
            <a:r>
              <a:t>let it land. It comes back at minute fifty-two.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0:18–0:20. Two cards, and one connection they will not make unaided.</a:t>
            </a:r>
          </a:p>
          <a:p xmlns:a="http://schemas.openxmlformats.org/drawingml/2006/main"/>
          <a:p xmlns:a="http://schemas.openxmlformats.org/drawingml/2006/main">
            <a:r>
              <a:t>Say the connection: "A cantilever is a flexure with nothing on the end. You have</a:t>
            </a:r>
          </a:p>
          <a:p xmlns:a="http://schemas.openxmlformats.org/drawingml/2006/main">
            <a:r>
              <a:t>not learned a second structure, you have learned the same one used differently."</a:t>
            </a:r>
          </a:p>
          <a:p xmlns:a="http://schemas.openxmlformats.org/drawingml/2006/main">
            <a:r>
              <a:t>That halves the load of this chunk.</a:t>
            </a:r>
          </a:p>
          <a:p xmlns:a="http://schemas.openxmlformats.org/drawingml/2006/main"/>
          <a:p xmlns:a="http://schemas.openxmlformats.org/drawingml/2006/main">
            <a:r>
              <a:t>The exponents are the teaching point on the beam: t cubed. Do the arithmetic</a:t>
            </a:r>
          </a:p>
          <a:p xmlns:a="http://schemas.openxmlformats.org/drawingml/2006/main">
            <a:r>
              <a:t>aloud — five per cent thickness error, sixteen per cent stiffness error — and</a:t>
            </a:r>
          </a:p>
          <a:p xmlns:a="http://schemas.openxmlformats.org/drawingml/2006/main">
            <a:r>
              <a:t>promise that deposition at minute fifty-two is where the five per cent comes from.</a:t>
            </a:r>
          </a:p>
          <a:p xmlns:a="http://schemas.openxmlformats.org/drawingml/2006/main"/>
          <a:p xmlns:a="http://schemas.openxmlformats.org/drawingml/2006/main">
            <a:r>
              <a:t>Plant the diaphragm note deliberately. Poll 2 is four minutes away.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0:20–0:22. Spend your time on the comb, not the resonator.</a:t>
            </a:r>
          </a:p>
          <a:p xmlns:a="http://schemas.openxmlformats.org/drawingml/2006/main"/>
          <a:p xmlns:a="http://schemas.openxmlformats.org/drawingml/2006/main">
            <a:r>
              <a:t>Say the gyroscope sentence slowly and once: drive comb sustains, sense comb</a:t>
            </a:r>
          </a:p>
          <a:p xmlns:a="http://schemas.openxmlformats.org/drawingml/2006/main">
            <a:r>
              <a:t>reads Coriolis. Lecture 6 will thank you, and a student who holds this needs</a:t>
            </a:r>
          </a:p>
          <a:p xmlns:a="http://schemas.openxmlformats.org/drawingml/2006/main">
            <a:r>
              <a:t>half as long in week six.</a:t>
            </a:r>
          </a:p>
          <a:p xmlns:a="http://schemas.openxmlformats.org/drawingml/2006/main"/>
          <a:p xmlns:a="http://schemas.openxmlformats.org/drawingml/2006/main">
            <a:r>
              <a:t>On the resonator, one line only: "the output is a frequency, and frequency is the</a:t>
            </a:r>
          </a:p>
          <a:p xmlns:a="http://schemas.openxmlformats.org/drawingml/2006/main">
            <a:r>
              <a:t>one quantity we can measure to nine digits with a cheap counter."</a:t>
            </a:r>
          </a:p>
          <a:p xmlns:a="http://schemas.openxmlformats.org/drawingml/2006/main"/>
          <a:p xmlns:a="http://schemas.openxmlformats.org/drawingml/2006/main">
            <a:r>
              <a:t>The grey paragraph is the second plant for minute fifty-two — lithography sets d,</a:t>
            </a:r>
          </a:p>
          <a:p xmlns:a="http://schemas.openxmlformats.org/drawingml/2006/main">
            <a:r>
              <a:t>d sets C, C sets the noise floor. You will ask for that chain back in the</a:t>
            </a:r>
          </a:p>
          <a:p xmlns:a="http://schemas.openxmlformats.org/drawingml/2006/main">
            <a:r>
              <a:t>sequencing activity.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0:22. DO NOT READ THIS SLIDE OUT. It is a reference page and it is in the</a:t>
            </a:r>
          </a:p>
          <a:p xmlns:a="http://schemas.openxmlformats.org/drawingml/2006/main">
            <a:r>
              <a:t>handout — say both things so nobody transcribes it.</a:t>
            </a:r>
          </a:p>
          <a:p xmlns:a="http://schemas.openxmlformats.org/drawingml/2006/main"/>
          <a:p xmlns:a="http://schemas.openxmlformats.org/drawingml/2006/main">
            <a:r>
              <a:t>Point at exactly one column: "Senses". "Read down that column and notice that</a:t>
            </a:r>
          </a:p>
          <a:p xmlns:a="http://schemas.openxmlformats.org/drawingml/2006/main">
            <a:r>
              <a:t>four different measurands come out of five shapes. You are not learning devices.</a:t>
            </a:r>
          </a:p>
          <a:p xmlns:a="http://schemas.openxmlformats.org/drawingml/2006/main">
            <a:r>
              <a:t>You are learning shapes, and then which measurand each shape is good for."</a:t>
            </a:r>
          </a:p>
          <a:p xmlns:a="http://schemas.openxmlformats.org/drawingml/2006/main"/>
          <a:p xmlns:a="http://schemas.openxmlformats.org/drawingml/2006/main">
            <a:r>
              <a:t>Fifteen seconds, then the poll. If you are running late, this is the slide to</a:t>
            </a:r>
          </a:p>
          <a:p xmlns:a="http://schemas.openxmlformats.org/drawingml/2006/main">
            <a:r>
              <a:t>put on screen while you set up Poll 2 rather than a slide to talk about.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0:22–0:24. Hands up simultaneously on a count. Expect A and B combined at</a:t>
            </a:r>
          </a:p>
          <a:p xmlns:a="http://schemas.openxmlformats.org/drawingml/2006/main">
            <a:r>
              <a:t>30–45 % — those are the students who have not yet separated structure from device</a:t>
            </a:r>
          </a:p>
          <a:p xmlns:a="http://schemas.openxmlformats.org/drawingml/2006/main">
            <a:r>
              <a:t>category, and they are who this chunk was for.</a:t>
            </a:r>
          </a:p>
          <a:p xmlns:a="http://schemas.openxmlformats.org/drawingml/2006/main"/>
          <a:p xmlns:a="http://schemas.openxmlformats.org/drawingml/2006/main">
            <a:r>
              <a:t>Expect C at 30–40 % and D at 15–25 %.</a:t>
            </a:r>
          </a:p>
          <a:p xmlns:a="http://schemas.openxmlformats.org/drawingml/2006/main"/>
          <a:p xmlns:a="http://schemas.openxmlformats.org/drawingml/2006/main">
            <a:r>
              <a:t>This item is deliberately a little unfair, and you are going to say so on the</a:t>
            </a:r>
          </a:p>
          <a:p xmlns:a="http://schemas.openxmlformats.org/drawingml/2006/main">
            <a:r>
              <a:t>next slide, so do not pretend otherwise now. Take one spoken reason for A or B</a:t>
            </a:r>
          </a:p>
          <a:p xmlns:a="http://schemas.openxmlformats.org/drawingml/2006/main">
            <a:r>
              <a:t>before you reveal — "what is a proof mass FOR?" — because that answer is the</a:t>
            </a:r>
          </a:p>
          <a:p xmlns:a="http://schemas.openxmlformats.org/drawingml/2006/main">
            <a:r>
              <a:t>thirty seconds of the chunk that actually teaches.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0:24–0:26. Reveal, then be honest immediately — the honesty is the lesson.</a:t>
            </a:r>
          </a:p>
          <a:p xmlns:a="http://schemas.openxmlformats.org/drawingml/2006/main"/>
          <a:p xmlns:a="http://schemas.openxmlformats.org/drawingml/2006/main">
            <a:r>
              <a:t>Say it in these words: "If you voted D, you were right about the physics and I</a:t>
            </a:r>
          </a:p>
          <a:p xmlns:a="http://schemas.openxmlformats.org/drawingml/2006/main">
            <a:r>
              <a:t>asked a bad question. Both C and D are diaphragm devices. C is the intended</a:t>
            </a:r>
          </a:p>
          <a:p xmlns:a="http://schemas.openxmlformats.org/drawingml/2006/main">
            <a:r>
              <a:t>answer only because a barometer is unambiguously one."</a:t>
            </a:r>
          </a:p>
          <a:p xmlns:a="http://schemas.openxmlformats.org/drawingml/2006/main"/>
          <a:p xmlns:a="http://schemas.openxmlformats.org/drawingml/2006/main">
            <a:r>
              <a:t>Then to the A and B voters: "Tell me what a proof mass is for." Answer: inertia.</a:t>
            </a:r>
          </a:p>
          <a:p xmlns:a="http://schemas.openxmlformats.org/drawingml/2006/main">
            <a:r>
              <a:t>It converts acceleration into force. A pressure sensor has nothing to accelerate.</a:t>
            </a:r>
          </a:p>
          <a:p xmlns:a="http://schemas.openxmlformats.org/drawingml/2006/main"/>
          <a:p xmlns:a="http://schemas.openxmlformats.org/drawingml/2006/main">
            <a:r>
              <a:t>Modelling a flawed item honestly is worth more than a clean item. Do not skip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0:26–0:29. Walk down the Structure column only. Do not discuss devices —</a:t>
            </a:r>
          </a:p>
          <a:p xmlns:a="http://schemas.openxmlformats.org/drawingml/2006/main">
            <a:r>
              <a:t>that is Module B's job and you will run out of clock.</a:t>
            </a:r>
          </a:p>
          <a:p xmlns:a="http://schemas.openxmlformats.org/drawingml/2006/main"/>
          <a:p xmlns:a="http://schemas.openxmlformats.org/drawingml/2006/main">
            <a:r>
              <a:t>Stop on L7. "The magnetometer has no structure. Nothing moves. It is a solid-state</a:t>
            </a:r>
          </a:p>
          <a:p xmlns:a="http://schemas.openxmlformats.org/drawingml/2006/main">
            <a:r>
              <a:t>effect in silicon, and it is in this course because it sits on the same die as</a:t>
            </a:r>
          </a:p>
          <a:p xmlns:a="http://schemas.openxmlformats.org/drawingml/2006/main">
            <a:r>
              <a:t>the accelerometer in your kit." Being honest that the pattern has an exception</a:t>
            </a:r>
          </a:p>
          <a:p xmlns:a="http://schemas.openxmlformats.org/drawingml/2006/main">
            <a:r>
              <a:t>makes the pattern credible.</a:t>
            </a:r>
          </a:p>
          <a:p xmlns:a="http://schemas.openxmlformats.org/drawingml/2006/main"/>
          <a:p xmlns:a="http://schemas.openxmlformats.org/drawingml/2006/main">
            <a:r>
              <a:t>Then the payoff: "You now have a reading strategy for seven lectures. Ask what</a:t>
            </a:r>
          </a:p>
          <a:p xmlns:a="http://schemas.openxmlformats.org/drawingml/2006/main">
            <a:r>
              <a:t>shape it is before you ask what it measures."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0:29–0:30. Read the black line once. Then the grey block once. Then stop</a:t>
            </a:r>
          </a:p>
          <a:p xmlns:a="http://schemas.openxmlformats.org/drawingml/2006/main">
            <a:r>
              <a:t>talking for three seconds — this slide works on silence.</a:t>
            </a:r>
          </a:p>
          <a:p xmlns:a="http://schemas.openxmlformats.org/drawingml/2006/main"/>
          <a:p xmlns:a="http://schemas.openxmlformats.org/drawingml/2006/main">
            <a:r>
              <a:t>Why it is here: the single largest delivery risk in the semester plan is that</a:t>
            </a:r>
          </a:p>
          <a:p xmlns:a="http://schemas.openxmlformats.org/drawingml/2006/main">
            <a:r>
              <a:t>Lectures 5 to 11 are experienced as a list of unrelated devices. This slide, the</a:t>
            </a:r>
          </a:p>
          <a:p xmlns:a="http://schemas.openxmlformats.org/drawingml/2006/main">
            <a:r>
              <a:t>close at minute seventy-six, and exit-ticket question 2 are the three places you</a:t>
            </a:r>
          </a:p>
          <a:p xmlns:a="http://schemas.openxmlformats.org/drawingml/2006/main">
            <a:r>
              <a:t>push against that. Say the same sentence in all three.</a:t>
            </a:r>
          </a:p>
          <a:p xmlns:a="http://schemas.openxmlformats.org/drawingml/2006/main"/>
          <a:p xmlns:a="http://schemas.openxmlformats.org/drawingml/2006/main">
            <a:r>
              <a:t>If the room looks relieved, you have landed it. Move on briskly.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0:30–0:32. DESIGNATED CUT. If you reached this slide later than minute</a:t>
            </a:r>
          </a:p>
          <a:p xmlns:a="http://schemas.openxmlformats.org/drawingml/2006/main">
            <a:r>
              <a:t>thirty-one, put it on the screen, read the amber line, and go.</a:t>
            </a:r>
          </a:p>
          <a:p xmlns:a="http://schemas.openxmlformats.org/drawingml/2006/main"/>
          <a:p xmlns:a="http://schemas.openxmlformats.org/drawingml/2006/main">
            <a:r>
              <a:t>If you have the time, the amber line is the idea: the same physics is a feature</a:t>
            </a:r>
          </a:p>
          <a:p xmlns:a="http://schemas.openxmlformats.org/drawingml/2006/main">
            <a:r>
              <a:t>or a defect depending only on what you claimed to be selling. Ask the room which</a:t>
            </a:r>
          </a:p>
          <a:p xmlns:a="http://schemas.openxmlformats.org/drawingml/2006/main">
            <a:r>
              <a:t>of the four is the error term in the other three. They will get it.</a:t>
            </a:r>
          </a:p>
          <a:p xmlns:a="http://schemas.openxmlformats.org/drawingml/2006/main"/>
          <a:p xmlns:a="http://schemas.openxmlformats.org/drawingml/2006/main">
            <a:r>
              <a:t>This is also where a keen student asks about quartz crystals and temperature</a:t>
            </a:r>
          </a:p>
          <a:p xmlns:a="http://schemas.openxmlformats.org/drawingml/2006/main">
            <a:r>
              <a:t>compensation. One sentence, then defer to Lecture 9. Do not follow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0:32. Section marker, fifteen seconds — but say the question, because it</a:t>
            </a:r>
          </a:p>
          <a:p xmlns:a="http://schemas.openxmlformats.org/drawingml/2006/main">
            <a:r>
              <a:t>is the spine of the next twenty minutes.</a:t>
            </a:r>
          </a:p>
          <a:p xmlns:a="http://schemas.openxmlformats.org/drawingml/2006/main"/>
          <a:p xmlns:a="http://schemas.openxmlformats.org/drawingml/2006/main">
            <a:r>
              <a:t>"Six principles. I could compare them on ten axes and you would remember none of</a:t>
            </a:r>
          </a:p>
          <a:p xmlns:a="http://schemas.openxmlformats.org/drawingml/2006/main">
            <a:r>
              <a:t>it. So we are going to compare them on one axis that actually changes an</a:t>
            </a:r>
          </a:p>
          <a:p xmlns:a="http://schemas.openxmlformats.org/drawingml/2006/main">
            <a:r>
              <a:t>engineering decision: static response. Can this thing measure a quantity that is</a:t>
            </a:r>
          </a:p>
          <a:p xmlns:a="http://schemas.openxmlformats.org/drawingml/2006/main">
            <a:r>
              <a:t>sitting still?"</a:t>
            </a:r>
          </a:p>
          <a:p xmlns:a="http://schemas.openxmlformats.org/drawingml/2006/main"/>
          <a:p xmlns:a="http://schemas.openxmlformats.org/drawingml/2006/main">
            <a:r>
              <a:t>Flag the difficulty honestly: "The hardest vote of the lecture is fourteen</a:t>
            </a:r>
          </a:p>
          <a:p xmlns:a="http://schemas.openxmlformats.org/drawingml/2006/main">
            <a:r>
              <a:t>minutes away, and it lives on exactly this question."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0:32–0:36. Two cards, two minutes each, and one contrast.</a:t>
            </a:r>
          </a:p>
          <a:p xmlns:a="http://schemas.openxmlformats.org/drawingml/2006/main"/>
          <a:p xmlns:a="http://schemas.openxmlformats.org/drawingml/2006/main">
            <a:r>
              <a:t>Capacitive: "It measures a distance. A distance still exists when nothing is</a:t>
            </a:r>
          </a:p>
          <a:p xmlns:a="http://schemas.openxmlformats.org/drawingml/2006/main">
            <a:r>
              <a:t>happening, so the reading survives standing still. The price is that the signal</a:t>
            </a:r>
          </a:p>
          <a:p xmlns:a="http://schemas.openxmlformats.org/drawingml/2006/main">
            <a:r>
              <a:t>is tiny and high-impedance, which is why the electronics have to be on the same</a:t>
            </a:r>
          </a:p>
          <a:p xmlns:a="http://schemas.openxmlformats.org/drawingml/2006/main">
            <a:r>
              <a:t>die — you cannot run that signal down a track."</a:t>
            </a:r>
          </a:p>
          <a:p xmlns:a="http://schemas.openxmlformats.org/drawingml/2006/main"/>
          <a:p xmlns:a="http://schemas.openxmlformats.org/drawingml/2006/main">
            <a:r>
              <a:t>Piezoresistive: "Millivolts, robust, easy. The price is on the last line: the</a:t>
            </a:r>
          </a:p>
          <a:p xmlns:a="http://schemas.openxmlformats.org/drawingml/2006/main">
            <a:r>
              <a:t>bridge drifts with temperature, so every pressure sensor you meet has a</a:t>
            </a:r>
          </a:p>
          <a:p xmlns:a="http://schemas.openxmlformats.org/drawingml/2006/main">
            <a:r>
              <a:t>compensation scheme. Lecture 8."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0:36–0:38. This slide exists to make Poll 3 answerable, so build the</a:t>
            </a:r>
          </a:p>
          <a:p xmlns:a="http://schemas.openxmlformats.org/drawingml/2006/main">
            <a:r>
              <a:t>picture on the board as well as showing it.</a:t>
            </a:r>
          </a:p>
          <a:p xmlns:a="http://schemas.openxmlformats.org/drawingml/2006/main"/>
          <a:p xmlns:a="http://schemas.openxmlformats.org/drawingml/2006/main">
            <a:r>
              <a:t>"Charge appears when the strain changes. Nothing generates charge to hold it</a:t>
            </a:r>
          </a:p>
          <a:p xmlns:a="http://schemas.openxmlformats.org/drawingml/2006/main">
            <a:r>
              <a:t>there, and the amplifier's input impedance is finite, so the charge leaks. Time</a:t>
            </a:r>
          </a:p>
          <a:p xmlns:a="http://schemas.openxmlformats.org/drawingml/2006/main">
            <a:r>
              <a:t>constant: seconds. The frame will be tilted for years."</a:t>
            </a:r>
          </a:p>
          <a:p xmlns:a="http://schemas.openxmlformats.org/drawingml/2006/main"/>
          <a:p xmlns:a="http://schemas.openxmlformats.org/drawingml/2006/main">
            <a:r>
              <a:t>Then pre-empt distractor D out loud without giving the poll away: "Yes, a better</a:t>
            </a:r>
          </a:p>
          <a:p xmlns:a="http://schemas.openxmlformats.org/drawingml/2006/main">
            <a:r>
              <a:t>amplifier lengthens the decay. Lengthens. Not removes."</a:t>
            </a:r>
          </a:p>
          <a:p xmlns:a="http://schemas.openxmlformats.org/drawingml/2006/main"/>
          <a:p xmlns:a="http://schemas.openxmlformats.org/drawingml/2006/main">
            <a:r>
              <a:t>Do not say the words "it cannot measure tilt". Let them vote first.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0:38–0:40. DESIGNATED CUT if you are behind — collapse both cards to a</a:t>
            </a:r>
          </a:p>
          <a:p xmlns:a="http://schemas.openxmlformats.org/drawingml/2006/main">
            <a:r>
              <a:t>named list and keep Poll 3.</a:t>
            </a:r>
          </a:p>
          <a:p xmlns:a="http://schemas.openxmlformats.org/drawingml/2006/main"/>
          <a:p xmlns:a="http://schemas.openxmlformats.org/drawingml/2006/main">
            <a:r>
              <a:t>If you have the time, one sentence each is enough. Thermal: "self-heating means</a:t>
            </a:r>
          </a:p>
          <a:p xmlns:a="http://schemas.openxmlformats.org/drawingml/2006/main">
            <a:r>
              <a:t>the sensor is part of the thing it measures. That is the warm-up line on every</a:t>
            </a:r>
          </a:p>
          <a:p xmlns:a="http://schemas.openxmlformats.org/drawingml/2006/main">
            <a:r>
              <a:t>gas sensor datasheet." Electromagnetic: "big, easy signal — and it does not</a:t>
            </a:r>
          </a:p>
          <a:p xmlns:a="http://schemas.openxmlformats.org/drawingml/2006/main">
            <a:r>
              <a:t>shrink, because the useful force needs turns and area, and both die when you</a:t>
            </a:r>
          </a:p>
          <a:p xmlns:a="http://schemas.openxmlformats.org/drawingml/2006/main">
            <a:r>
              <a:t>scale down."</a:t>
            </a:r>
          </a:p>
          <a:p xmlns:a="http://schemas.openxmlformats.org/drawingml/2006/main"/>
          <a:p xmlns:a="http://schemas.openxmlformats.org/drawingml/2006/main">
            <a:r>
              <a:t>The amber line is why these two are on one slide together: both fail in a way the</a:t>
            </a:r>
          </a:p>
          <a:p xmlns:a="http://schemas.openxmlformats.org/drawingml/2006/main">
            <a:r>
              <a:t>other four do not.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0:40–0:42. DESIGNATED CUT alongside slide 23.</a:t>
            </a:r>
          </a:p>
          <a:p xmlns:a="http://schemas.openxmlformats.org/drawingml/2006/main"/>
          <a:p xmlns:a="http://schemas.openxmlformats.org/drawingml/2006/main">
            <a:r>
              <a:t>One idea only: the window. "Every other principle would rather be sealed in the</a:t>
            </a:r>
          </a:p>
          <a:p xmlns:a="http://schemas.openxmlformats.org/drawingml/2006/main">
            <a:r>
              <a:t>dark. This one needs a hole in the package, filled with something optically</a:t>
            </a:r>
          </a:p>
          <a:p xmlns:a="http://schemas.openxmlformats.org/drawingml/2006/main">
            <a:r>
              <a:t>flat, that survives reflow and does not yellow. That is not a footnote — it is</a:t>
            </a:r>
          </a:p>
          <a:p xmlns:a="http://schemas.openxmlformats.org/drawingml/2006/main">
            <a:r>
              <a:t>half the product."</a:t>
            </a:r>
          </a:p>
          <a:p xmlns:a="http://schemas.openxmlformats.org/drawingml/2006/main"/>
          <a:p xmlns:a="http://schemas.openxmlformats.org/drawingml/2006/main">
            <a:r>
              <a:t>That also sets up Chunk 3 nicely: you are already talking about packaging as</a:t>
            </a:r>
          </a:p>
          <a:p xmlns:a="http://schemas.openxmlformats.org/drawingml/2006/main">
            <a:r>
              <a:t>physics, four slides early.</a:t>
            </a:r>
          </a:p>
          <a:p xmlns:a="http://schemas.openxmlformats.org/drawingml/2006/main"/>
          <a:p xmlns:a="http://schemas.openxmlformats.org/drawingml/2006/main">
            <a:r>
              <a:t>Then straight to Poll 3. Do not summarise the six. The table does that at</a:t>
            </a:r>
          </a:p>
          <a:p xmlns:a="http://schemas.openxmlformats.org/drawingml/2006/main">
            <a:r>
              <a:t>minute forty-six.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0:42–0:44. THE HARDEST VOTE OF THE LECTURE. Target 15–30 % on the first</a:t>
            </a:r>
          </a:p>
          <a:p xmlns:a="http://schemas.openxmlformats.org/drawingml/2006/main">
            <a:r>
              <a:t>vote, 55–70 % after pairs.</a:t>
            </a:r>
          </a:p>
          <a:p xmlns:a="http://schemas.openxmlformats.org/drawingml/2006/main"/>
          <a:p xmlns:a="http://schemas.openxmlformats.org/drawingml/2006/main">
            <a:r>
              <a:t>Full peer instruction, and the prompt matters: assign the positions rather than</a:t>
            </a:r>
          </a:p>
          <a:p xmlns:a="http://schemas.openxmlformats.org/drawingml/2006/main">
            <a:r>
              <a:t>letting them discuss freely — one argues 0.5°, one argues zero, then decide.</a:t>
            </a:r>
          </a:p>
          <a:p xmlns:a="http://schemas.openxmlformats.org/drawingml/2006/main"/>
          <a:p xmlns:a="http://schemas.openxmlformats.org/drawingml/2006/main">
            <a:r>
              <a:t>Expect 40–55 % for A: an accelerometer is an accelerometer. C is misconception M3</a:t>
            </a:r>
          </a:p>
          <a:p xmlns:a="http://schemas.openxmlformats.org/drawingml/2006/main">
            <a:r>
              <a:t>— self-generating read as strong. D is the student reaching for electronics, and</a:t>
            </a:r>
          </a:p>
          <a:p xmlns:a="http://schemas.openxmlformats.org/drawingml/2006/main">
            <a:r>
              <a:t>it is productive.</a:t>
            </a:r>
          </a:p>
          <a:p xmlns:a="http://schemas.openxmlformats.org/drawingml/2006/main"/>
          <a:p xmlns:a="http://schemas.openxmlformats.org/drawingml/2006/main">
            <a:r>
              <a:t>If the first vote clears 40 %, someone has met charge amplifiers. Find them and</a:t>
            </a:r>
          </a:p>
          <a:p xmlns:a="http://schemas.openxmlformats.org/drawingml/2006/main">
            <a:r>
              <a:t>let them explain it; they will do it better than the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0:44–0:46. Reveal, then say why this question is in the lecture.</a:t>
            </a:r>
          </a:p>
          <a:p xmlns:a="http://schemas.openxmlformats.org/drawingml/2006/main"/>
          <a:p xmlns:a="http://schemas.openxmlformats.org/drawingml/2006/main">
            <a:r>
              <a:t>"This is the only place in Module A where the PRINCIPLE forbids the application.</a:t>
            </a:r>
          </a:p>
          <a:p xmlns:a="http://schemas.openxmlformats.org/drawingml/2006/main">
            <a:r>
              <a:t>Every other trade-off you have met was quantitative — better, worse, by how much.</a:t>
            </a:r>
          </a:p>
          <a:p xmlns:a="http://schemas.openxmlformats.org/drawingml/2006/main">
            <a:r>
              <a:t>This one is categorical. No specification, no amplifier and no budget fixes it."</a:t>
            </a:r>
          </a:p>
          <a:p xmlns:a="http://schemas.openxmlformats.org/drawingml/2006/main"/>
          <a:p xmlns:a="http://schemas.openxmlformats.org/drawingml/2006/main">
            <a:r>
              <a:t>Then the follow-up that generalises it, and take the answer from the room: "which</a:t>
            </a:r>
          </a:p>
          <a:p xmlns:a="http://schemas.openxmlformats.org/drawingml/2006/main">
            <a:r>
              <a:t>of the six principles COULD measure this tilt?" Answer: all of them except this</a:t>
            </a:r>
          </a:p>
          <a:p xmlns:a="http://schemas.openxmlformats.org/drawingml/2006/main">
            <a:r>
              <a:t>one. Capacitive, piezoresistive, thermal, electromagnetic, optical.</a:t>
            </a:r>
          </a:p>
          <a:p xmlns:a="http://schemas.openxmlformats.org/drawingml/2006/main"/>
          <a:p xmlns:a="http://schemas.openxmlformats.org/drawingml/2006/main">
            <a:r>
              <a:t>Same lesson as Lecture 2, promoted from a number to a principle. Say that.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0:46–0:49. Read down column two and nothing else. The rest of the table</a:t>
            </a:r>
          </a:p>
          <a:p xmlns:a="http://schemas.openxmlformats.org/drawingml/2006/main">
            <a:r>
              <a:t>is a handout page and you should say so.</a:t>
            </a:r>
          </a:p>
          <a:p xmlns:a="http://schemas.openxmlformats.org/drawingml/2006/main"/>
          <a:p xmlns:a="http://schemas.openxmlformats.org/drawingml/2006/main">
            <a:r>
              <a:t>"Five yeses and one no. If you remember one thing from this chunk, remember which</a:t>
            </a:r>
          </a:p>
          <a:p xmlns:a="http://schemas.openxmlformats.org/drawingml/2006/main">
            <a:r>
              <a:t>row is red."</a:t>
            </a:r>
          </a:p>
          <a:p xmlns:a="http://schemas.openxmlformats.org/drawingml/2006/main"/>
          <a:p xmlns:a="http://schemas.openxmlformats.org/drawingml/2006/main">
            <a:r>
              <a:t>Then the honest qualifier on the thermal row: "yes, slowly" is not a hedge — it</a:t>
            </a:r>
          </a:p>
          <a:p xmlns:a="http://schemas.openxmlformats.org/drawingml/2006/main">
            <a:r>
              <a:t>means the principle has DC response but a settling time measured in seconds, and</a:t>
            </a:r>
          </a:p>
          <a:p xmlns:a="http://schemas.openxmlformats.org/drawingml/2006/main">
            <a:r>
              <a:t>that is a real engineering constraint rather than a disqualification.</a:t>
            </a:r>
          </a:p>
          <a:p xmlns:a="http://schemas.openxmlformats.org/drawingml/2006/main"/>
          <a:p xmlns:a="http://schemas.openxmlformats.org/drawingml/2006/main">
            <a:r>
              <a:t>Do not discuss signal levels. The next slide is the one that pays.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0:49–0:52. This is the slide that justifies Chunk 2 to a sceptical</a:t>
            </a:r>
          </a:p>
          <a:p xmlns:a="http://schemas.openxmlformats.org/drawingml/2006/main">
            <a:r>
              <a:t>student, so say the justification.</a:t>
            </a:r>
          </a:p>
          <a:p xmlns:a="http://schemas.openxmlformats.org/drawingml/2006/main"/>
          <a:p xmlns:a="http://schemas.openxmlformats.org/drawingml/2006/main">
            <a:r>
              <a:t>"You did not learn six principles because six principles are interesting. You</a:t>
            </a:r>
          </a:p>
          <a:p xmlns:a="http://schemas.openxmlformats.org/drawingml/2006/main">
            <a:r>
              <a:t>learned them because the right-hand column is the kind of sentence you will need</a:t>
            </a:r>
          </a:p>
          <a:p xmlns:a="http://schemas.openxmlformats.org/drawingml/2006/main">
            <a:r>
              <a:t>in a design review, and none of it is memorisation — each line follows from the</a:t>
            </a:r>
          </a:p>
          <a:p xmlns:a="http://schemas.openxmlformats.org/drawingml/2006/main">
            <a:r>
              <a:t>physics on the left."</a:t>
            </a:r>
          </a:p>
          <a:p xmlns:a="http://schemas.openxmlformats.org/drawingml/2006/main"/>
          <a:p xmlns:a="http://schemas.openxmlformats.org/drawingml/2006/main">
            <a:r>
              <a:t>Point at row 3 one last time and connect it to the vote they just lost: "the</a:t>
            </a:r>
          </a:p>
          <a:p xmlns:a="http://schemas.openxmlformats.org/drawingml/2006/main">
            <a:r>
              <a:t>low-frequency limit on a vibration sensor is Poll 3, printed as a specification."</a:t>
            </a:r>
          </a:p>
          <a:p xmlns:a="http://schemas.openxmlformats.org/drawingml/2006/main"/>
          <a:p xmlns:a="http://schemas.openxmlformats.org/drawingml/2006/main">
            <a:r>
              <a:t>Then the section marker. You are on time if this lands at fifty-two.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0:52. Section marker, and state the boundary out loud because students</a:t>
            </a:r>
          </a:p>
          <a:p xmlns:a="http://schemas.openxmlformats.org/drawingml/2006/main">
            <a:r>
              <a:t>will otherwise expect a process tour.</a:t>
            </a:r>
          </a:p>
          <a:p xmlns:a="http://schemas.openxmlformats.org/drawingml/2006/main"/>
          <a:p xmlns:a="http://schemas.openxmlformats.org/drawingml/2006/main">
            <a:r>
              <a:t>"Four steps. Not forty. I am not teaching you to fabricate anything, and the</a:t>
            </a:r>
          </a:p>
          <a:p xmlns:a="http://schemas.openxmlformats.org/drawingml/2006/main">
            <a:r>
              <a:t>semester plan says so explicitly. Each step is here because it is the reason for</a:t>
            </a:r>
          </a:p>
          <a:p xmlns:a="http://schemas.openxmlformats.org/drawingml/2006/main">
            <a:r>
              <a:t>a number you have already met."</a:t>
            </a:r>
          </a:p>
          <a:p xmlns:a="http://schemas.openxmlformats.org/drawingml/2006/main"/>
          <a:p xmlns:a="http://schemas.openxmlformats.org/drawingml/2006/main">
            <a:r>
              <a:t>If somebody asks a real fabrication question in this chunk: answer it in ONE</a:t>
            </a:r>
          </a:p>
          <a:p xmlns:a="http://schemas.openxmlformats.org/drawingml/2006/main">
            <a:r>
              <a:t>sentence, offer the ITMO 2020 text as further reading, and move on. Following</a:t>
            </a:r>
          </a:p>
          <a:p xmlns:a="http://schemas.openxmlformats.org/drawingml/2006/main">
            <a:r>
              <a:t>that question is exactly the drift this lecture is designed to resist.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0:52–0:56. Hand out the shuffled cards BEFORE you show the steps —</a:t>
            </a:r>
          </a:p>
          <a:p xmlns:a="http://schemas.openxmlformats.org/drawingml/2006/main">
            <a:r>
              <a:t>four steps and four consequences, twelve sets. Three minutes, pairs, collect</a:t>
            </a:r>
          </a:p>
          <a:p xmlns:a="http://schemas.openxmlformats.org/drawingml/2006/main">
            <a:r>
              <a:t>nothing, walk the room.</a:t>
            </a:r>
          </a:p>
          <a:p xmlns:a="http://schemas.openxmlformats.org/drawingml/2006/main"/>
          <a:p xmlns:a="http://schemas.openxmlformats.org/drawingml/2006/main">
            <a:r>
              <a:t>Then take the closing question from the room. Answer: LITHOGRAPHY. Minimum</a:t>
            </a:r>
          </a:p>
          <a:p xmlns:a="http://schemas.openxmlformats.org/drawingml/2006/main">
            <a:r>
              <a:t>feature size sets how small the structure can be, size sets the mass, and by</a:t>
            </a:r>
          </a:p>
          <a:p xmlns:a="http://schemas.openxmlformats.org/drawingml/2006/main">
            <a:r>
              <a:t>Lecture 1's m ∝ L³ less mass means a higher noise floor.</a:t>
            </a:r>
          </a:p>
          <a:p xmlns:a="http://schemas.openxmlformats.org/drawingml/2006/main"/>
          <a:p xmlns:a="http://schemas.openxmlformats.org/drawingml/2006/main">
            <a:r>
              <a:t>A student who makes that connection unprompted has understood Module A — say so</a:t>
            </a:r>
          </a:p>
          <a:p xmlns:a="http://schemas.openxmlformats.org/drawingml/2006/main">
            <a:r>
              <a:t>publicly when it happens. If nobody gets it, draw the chain on the board:</a:t>
            </a:r>
          </a:p>
          <a:p xmlns:a="http://schemas.openxmlformats.org/drawingml/2006/main">
            <a:r>
              <a:t>feature → size → mass → noise.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0:56–0:58. ONE comparison slide. Do not add a second.</a:t>
            </a:r>
          </a:p>
          <a:p xmlns:a="http://schemas.openxmlformats.org/drawingml/2006/main"/>
          <a:p xmlns:a="http://schemas.openxmlformats.org/drawingml/2006/main">
            <a:r>
              <a:t>Ask before you show the bottom line: "Which of these two is quieter, and why?"</a:t>
            </a:r>
          </a:p>
          <a:p xmlns:a="http://schemas.openxmlformats.org/drawingml/2006/main">
            <a:r>
              <a:t>They have m ∝ L³ from minute three. Bulk wins, because bulk can afford mass.</a:t>
            </a:r>
          </a:p>
          <a:p xmlns:a="http://schemas.openxmlformats.org/drawingml/2006/main"/>
          <a:p xmlns:a="http://schemas.openxmlformats.org/drawingml/2006/main">
            <a:r>
              <a:t>Then the reframe in the grey line, which is the honest engineering point: their</a:t>
            </a:r>
          </a:p>
          <a:p xmlns:a="http://schemas.openxmlformats.org/drawingml/2006/main">
            <a:r>
              <a:t>part was not chosen to be the best, it was chosen to be integrable and cheap. "A</a:t>
            </a:r>
          </a:p>
          <a:p xmlns:a="http://schemas.openxmlformats.org/drawingml/2006/main">
            <a:r>
              <a:t>high-grade bulk-micromachined accelerometer costs a thousand times more and does</a:t>
            </a:r>
          </a:p>
          <a:p xmlns:a="http://schemas.openxmlformats.org/drawingml/2006/main">
            <a:r>
              <a:t>not fit on your board."</a:t>
            </a:r>
          </a:p>
          <a:p xmlns:a="http://schemas.openxmlformats.org/drawingml/2006/main"/>
          <a:p xmlns:a="http://schemas.openxmlformats.org/drawingml/2006/main">
            <a:r>
              <a:t>Amber marks the cost side of each column. Point that out once.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0:58–1:00. Three panels, left to right, thirty seconds each.</a:t>
            </a:r>
          </a:p>
          <a:p xmlns:a="http://schemas.openxmlformats.org/drawingml/2006/main"/>
          <a:p xmlns:a="http://schemas.openxmlformats.org/drawingml/2006/main">
            <a:r>
              <a:t>Panel 3 is the point. "A restoring force that scales as L competes with a surface</a:t>
            </a:r>
          </a:p>
          <a:p xmlns:a="http://schemas.openxmlformats.org/drawingml/2006/main">
            <a:r>
              <a:t>force that scales as area over volume. Shrink far enough and the surface wins, and</a:t>
            </a:r>
          </a:p>
          <a:p xmlns:a="http://schemas.openxmlformats.org/drawingml/2006/main">
            <a:r>
              <a:t>the beam welds itself to the substrate. There is no electrical fix."</a:t>
            </a:r>
          </a:p>
          <a:p xmlns:a="http://schemas.openxmlformats.org/drawingml/2006/main"/>
          <a:p xmlns:a="http://schemas.openxmlformats.org/drawingml/2006/main">
            <a:r>
              <a:t>Connect it to minute three explicitly — A/V ∝ 1/L was an abstraction then and is</a:t>
            </a:r>
          </a:p>
          <a:p xmlns:a="http://schemas.openxmlformats.org/drawingml/2006/main">
            <a:r>
              <a:t>a scrapped wafer now.</a:t>
            </a:r>
          </a:p>
          <a:p xmlns:a="http://schemas.openxmlformats.org/drawingml/2006/main"/>
          <a:p xmlns:a="http://schemas.openxmlformats.org/drawingml/2006/main">
            <a:r>
              <a:t>Then the grey line, because it is the part students never expect: stiction is a</a:t>
            </a:r>
          </a:p>
          <a:p xmlns:a="http://schemas.openxmlformats.org/drawingml/2006/main">
            <a:r>
              <a:t>failure mode in the field, not only a yield problem in the fab. That is why it is</a:t>
            </a:r>
          </a:p>
          <a:p xmlns:a="http://schemas.openxmlformats.org/drawingml/2006/main">
            <a:r>
              <a:t>in a course about drift and failure.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1:00–1:02. Walk the cross-section left to right, then the list, then the</a:t>
            </a:r>
          </a:p>
          <a:p xmlns:a="http://schemas.openxmlformats.org/drawingml/2006/main">
            <a:r>
              <a:t>amber line. Do not linger on the drawing.</a:t>
            </a:r>
          </a:p>
          <a:p xmlns:a="http://schemas.openxmlformats.org/drawingml/2006/main"/>
          <a:p xmlns:a="http://schemas.openxmlformats.org/drawingml/2006/main">
            <a:r>
              <a:t>Kill misconception M5 explicitly: "Packaging is not a box you put the sensor in</a:t>
            </a:r>
          </a:p>
          <a:p xmlns:a="http://schemas.openxmlformats.org/drawingml/2006/main">
            <a:r>
              <a:t>afterwards. The cavity pressure sets the damping, so it sets the bandwidth. The</a:t>
            </a:r>
          </a:p>
          <a:p xmlns:a="http://schemas.openxmlformats.org/drawingml/2006/main">
            <a:r>
              <a:t>adhesive puts a preload on the die. The getter maintains the damping for ten</a:t>
            </a:r>
          </a:p>
          <a:p xmlns:a="http://schemas.openxmlformats.org/drawingml/2006/main">
            <a:r>
              <a:t>years. These are specifications, not protection."</a:t>
            </a:r>
          </a:p>
          <a:p xmlns:a="http://schemas.openxmlformats.org/drawingml/2006/main"/>
          <a:p xmlns:a="http://schemas.openxmlformats.org/drawingml/2006/main">
            <a:r>
              <a:t>The one number to say aloud: the gap is one to two micrometres, so a dust speck</a:t>
            </a:r>
          </a:p>
          <a:p xmlns:a="http://schemas.openxmlformats.org/drawingml/2006/main">
            <a:r>
              <a:t>is not dirt, it is a mechanical stop.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1:02–1:04. THE MOST IMPORTANT TABLE IN THE LECTURE. Do not rush it.</a:t>
            </a:r>
          </a:p>
          <a:p xmlns:a="http://schemas.openxmlformats.org/drawingml/2006/main"/>
          <a:p xmlns:a="http://schemas.openxmlformats.org/drawingml/2006/main">
            <a:r>
              <a:t>Somebody objected at minute fourteen that you can calibrate an offset out. Name</a:t>
            </a:r>
          </a:p>
          <a:p xmlns:a="http://schemas.openxmlformats.org/drawingml/2006/main">
            <a:r>
              <a:t>them — by the objection, not the person — and agree: "You were right. This is</a:t>
            </a:r>
          </a:p>
          <a:p xmlns:a="http://schemas.openxmlformats.org/drawingml/2006/main">
            <a:r>
              <a:t>that answer."</a:t>
            </a:r>
          </a:p>
          <a:p xmlns:a="http://schemas.openxmlformats.org/drawingml/2006/main"/>
          <a:p xmlns:a="http://schemas.openxmlformats.org/drawingml/2006/main">
            <a:r>
              <a:t>Say the collision explicitly: "Two weeks ago ten milli-g ended a design. Today</a:t>
            </a:r>
          </a:p>
          <a:p xmlns:a="http://schemas.openxmlformats.org/drawingml/2006/main">
            <a:r>
              <a:t>ten milli-g is an inconvenience you fix with one measurement. Same magnitude,</a:t>
            </a:r>
          </a:p>
          <a:p xmlns:a="http://schemas.openxmlformats.org/drawingml/2006/main">
            <a:r>
              <a:t>opposite verdict, because one of them holds still and the other does not."</a:t>
            </a:r>
          </a:p>
          <a:p xmlns:a="http://schemas.openxmlformats.org/drawingml/2006/main"/>
          <a:p xmlns:a="http://schemas.openxmlformats.org/drawingml/2006/main">
            <a:r>
              <a:t>If you leave this unremarked, half the room will merge the two on the exam.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1:04–1:06. Quick vote, sixty seconds, short discussion. Target 45–65 %</a:t>
            </a:r>
          </a:p>
          <a:p xmlns:a="http://schemas.openxmlformats.org/drawingml/2006/main">
            <a:r>
              <a:t>for C — this is a confidence check on outcome L4.5, not a discriminator, so a</a:t>
            </a:r>
          </a:p>
          <a:p xmlns:a="http://schemas.openxmlformats.org/drawingml/2006/main">
            <a:r>
              <a:t>high score is a good sign rather than a wasted vote.</a:t>
            </a:r>
          </a:p>
          <a:p xmlns:a="http://schemas.openxmlformats.org/drawingml/2006/main"/>
          <a:p xmlns:a="http://schemas.openxmlformats.org/drawingml/2006/main">
            <a:r>
              <a:t>A is the student who has not noticed that noise density is published and the</a:t>
            </a:r>
          </a:p>
          <a:p xmlns:a="http://schemas.openxmlformats.org/drawingml/2006/main">
            <a:r>
              <a:t>bandwidth is their own choice. One line: "you compute it, you do not measure it."</a:t>
            </a:r>
          </a:p>
          <a:p xmlns:a="http://schemas.openxmlformats.org/drawingml/2006/main"/>
          <a:p xmlns:a="http://schemas.openxmlformats.org/drawingml/2006/main">
            <a:r>
              <a:t>D is the student over-generalising Lecture 2. Worth a sentence: preferring the</a:t>
            </a:r>
          </a:p>
          <a:p xmlns:a="http://schemas.openxmlformats.org/drawingml/2006/main">
            <a:r>
              <a:t>total error band was right then, and it does not make it measurable-only now.</a:t>
            </a:r>
          </a:p>
          <a:p xmlns:a="http://schemas.openxmlformats.org/drawingml/2006/main"/>
          <a:p xmlns:a="http://schemas.openxmlformats.org/drawingml/2006/main">
            <a:r>
              <a:t>B should be rejected by nearly everyone.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1:06–1:08. Reveal, then the bridge, and say it immediately because it is</a:t>
            </a:r>
          </a:p>
          <a:p xmlns:a="http://schemas.openxmlformats.org/drawingml/2006/main">
            <a:r>
              <a:t>an assessment announcement.</a:t>
            </a:r>
          </a:p>
          <a:p xmlns:a="http://schemas.openxmlformats.org/drawingml/2006/main"/>
          <a:p xmlns:a="http://schemas.openxmlformats.org/drawingml/2006/main">
            <a:r>
              <a:t>"This is project deliverable 2 and it is Laboratory 3. Your sensor-selection</a:t>
            </a:r>
          </a:p>
          <a:p xmlns:a="http://schemas.openxmlformats.org/drawingml/2006/main">
            <a:r>
              <a:t>matrix has a required section headed 'specifications we must measure ourselves',</a:t>
            </a:r>
          </a:p>
          <a:p xmlns:a="http://schemas.openxmlformats.org/drawingml/2006/main">
            <a:r>
              <a:t>and that list starts today. If it is empty, you have not read your datasheet's</a:t>
            </a:r>
          </a:p>
          <a:p xmlns:a="http://schemas.openxmlformats.org/drawingml/2006/main">
            <a:r>
              <a:t>conditions column."</a:t>
            </a:r>
          </a:p>
          <a:p xmlns:a="http://schemas.openxmlformats.org/drawingml/2006/main"/>
          <a:p xmlns:a="http://schemas.openxmlformats.org/drawingml/2006/main">
            <a:r>
              <a:t>Then the generalisation: the test for that list is not "is it important?" but "does</a:t>
            </a:r>
          </a:p>
          <a:p xmlns:a="http://schemas.openxmlformats.org/drawingml/2006/main">
            <a:r>
              <a:t>it depend on something we build?" Screw torque, gasket, enclosure, board flex —</a:t>
            </a:r>
          </a:p>
          <a:p xmlns:a="http://schemas.openxmlformats.org/drawingml/2006/main">
            <a:r>
              <a:t>all ours. Sensitivity at 25 °C — theirs.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1:08–1:10. NEVER CUT THIS SLIDE. It is what makes Laboratory 3 make sense.</a:t>
            </a:r>
          </a:p>
          <a:p xmlns:a="http://schemas.openxmlformats.org/drawingml/2006/main"/>
          <a:p xmlns:a="http://schemas.openxmlformats.org/drawingml/2006/main">
            <a:r>
              <a:t>Build it downward, naming each link, and read the right-hand column aloud as you</a:t>
            </a:r>
          </a:p>
          <a:p xmlns:a="http://schemas.openxmlformats.org/drawingml/2006/main">
            <a:r>
              <a:t>go: yes, partly, partly, no, no, no, no.</a:t>
            </a:r>
          </a:p>
          <a:p xmlns:a="http://schemas.openxmlformats.org/drawingml/2006/main"/>
          <a:p xmlns:a="http://schemas.openxmlformats.org/drawingml/2006/main">
            <a:r>
              <a:t>Then stop on link seven and close the loop with week one: "In Lecture 1 a motor</a:t>
            </a:r>
          </a:p>
          <a:p xmlns:a="http://schemas.openxmlformats.org/drawingml/2006/main">
            <a:r>
              <a:t>died because somebody measured its vibration through a five-millimetre rubber</a:t>
            </a:r>
          </a:p>
          <a:p xmlns:a="http://schemas.openxmlformats.org/drawingml/2006/main">
            <a:r>
              <a:t>pad. That pad is the last link of this chain. The course's first story and its</a:t>
            </a:r>
          </a:p>
          <a:p xmlns:a="http://schemas.openxmlformats.org/drawingml/2006/main">
            <a:r>
              <a:t>fourth lecture are the same diagram."</a:t>
            </a:r>
          </a:p>
          <a:p xmlns:a="http://schemas.openxmlformats.org/drawingml/2006/main"/>
          <a:p xmlns:a="http://schemas.openxmlformats.org/drawingml/2006/main">
            <a:r>
              <a:t>The habit to install: the datasheet describes link one. You built links two to</a:t>
            </a:r>
          </a:p>
          <a:p xmlns:a="http://schemas.openxmlformats.org/drawingml/2006/main">
            <a:r>
              <a:t>seven.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1:10–1:13. Show the minute-8 distribution beside this if you recorded it;</a:t>
            </a:r>
          </a:p>
          <a:p xmlns:a="http://schemas.openxmlformats.org/drawingml/2006/main">
            <a:r>
              <a:t>the shift is the lecture's evidence that it worked.</a:t>
            </a:r>
          </a:p>
          <a:p xmlns:a="http://schemas.openxmlformats.org/drawingml/2006/main"/>
          <a:p xmlns:a="http://schemas.openxmlformats.org/drawingml/2006/main">
            <a:r>
              <a:t>Dismantle A in one sentence: "they publish noise density, which is far more</a:t>
            </a:r>
          </a:p>
          <a:p xmlns:a="http://schemas.openxmlformats.org/drawingml/2006/main">
            <a:r>
              <a:t>competitively sensitive than a mounting-stress figure."</a:t>
            </a:r>
          </a:p>
          <a:p xmlns:a="http://schemas.openxmlformats.org/drawingml/2006/main"/>
          <a:p xmlns:a="http://schemas.openxmlformats.org/drawingml/2006/main">
            <a:r>
              <a:t>Dismantle C properly, because it is the useful one: application notes tell you</a:t>
            </a:r>
          </a:p>
          <a:p xmlns:a="http://schemas.openxmlformats.org/drawingml/2006/main">
            <a:r>
              <a:t>how to MITIGATE mounting stress — symmetric pads, no vias under the part, keep it</a:t>
            </a:r>
          </a:p>
          <a:p xmlns:a="http://schemas.openxmlformats.org/drawingml/2006/main">
            <a:r>
              <a:t>away from the board edge. They do not specify your assembly's number either. If</a:t>
            </a:r>
          </a:p>
          <a:p xmlns:a="http://schemas.openxmlformats.org/drawingml/2006/main">
            <a:r>
              <a:t>somebody found an app note in the break, read its list aloud now.</a:t>
            </a:r>
          </a:p>
          <a:p xmlns:a="http://schemas.openxmlformats.org/drawingml/2006/main"/>
          <a:p xmlns:a="http://schemas.openxmlformats.org/drawingml/2006/main">
            <a:r>
              <a:t>Close: the debt from Lecture 2 is paid — not with a number, with a method.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1:13–1:15. Build it with the class — ask for each row before revealing</a:t>
            </a:r>
          </a:p>
          <a:p xmlns:a="http://schemas.openxmlformats.org/drawingml/2006/main">
            <a:r>
              <a:t>it. This deliberately mirrors Lecture 1's ledger slide, so say "you have seen</a:t>
            </a:r>
          </a:p>
          <a:p xmlns:a="http://schemas.openxmlformats.org/drawingml/2006/main">
            <a:r>
              <a:t>this table's shape before" and let them recognise the form.</a:t>
            </a:r>
          </a:p>
          <a:p xmlns:a="http://schemas.openxmlformats.org/drawingml/2006/main"/>
          <a:p xmlns:a="http://schemas.openxmlformats.org/drawingml/2006/main">
            <a:r>
              <a:t>Two rows to insist on. k ∝ L gains nothing and costs nothing, which surprises</a:t>
            </a:r>
          </a:p>
          <a:p xmlns:a="http://schemas.openxmlformats.org/drawingml/2006/main">
            <a:r>
              <a:t>them and is worth ten seconds. And the bottom two rows are the new material:</a:t>
            </a:r>
          </a:p>
          <a:p xmlns:a="http://schemas.openxmlformats.org/drawingml/2006/main">
            <a:r>
              <a:t>batch fabrication and packaging were not on Lecture 1's version, because in week</a:t>
            </a:r>
          </a:p>
          <a:p xmlns:a="http://schemas.openxmlformats.org/drawingml/2006/main">
            <a:r>
              <a:t>one you had not met them.</a:t>
            </a:r>
          </a:p>
          <a:p xmlns:a="http://schemas.openxmlformats.org/drawingml/2006/main"/>
          <a:p xmlns:a="http://schemas.openxmlformats.org/drawingml/2006/main">
            <a:r>
              <a:t>Then the amber line, which is the whole synthesis in one sentence.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1:15–1:16. Read it once. Then stop for three seconds. Do not elaborate.</a:t>
            </a:r>
          </a:p>
          <a:p xmlns:a="http://schemas.openxmlformats.org/drawingml/2006/main"/>
          <a:p xmlns:a="http://schemas.openxmlformats.org/drawingml/2006/main">
            <a:r>
              <a:t>This is the answer to misconception M4 — smaller is better — and it is the</a:t>
            </a:r>
          </a:p>
          <a:p xmlns:a="http://schemas.openxmlformats.org/drawingml/2006/main">
            <a:r>
              <a:t>sentence a student should be able to quote back in the capstone defence.</a:t>
            </a:r>
          </a:p>
          <a:p xmlns:a="http://schemas.openxmlformats.org/drawingml/2006/main"/>
          <a:p xmlns:a="http://schemas.openxmlformats.org/drawingml/2006/main">
            <a:r>
              <a:t>If you want one optional line, use this one: "There is no version of this device</a:t>
            </a:r>
          </a:p>
          <a:p xmlns:a="http://schemas.openxmlformats.org/drawingml/2006/main">
            <a:r>
              <a:t>that is small, quiet, cheap and unaffected by your board. If a datasheet appears</a:t>
            </a:r>
          </a:p>
          <a:p xmlns:a="http://schemas.openxmlformats.org/drawingml/2006/main">
            <a:r>
              <a:t>to offer you all four, you have not read the conditions column."</a:t>
            </a:r>
          </a:p>
          <a:p xmlns:a="http://schemas.openxmlformats.org/drawingml/2006/main"/>
          <a:p xmlns:a="http://schemas.openxmlformats.org/drawingml/2006/main">
            <a:r>
              <a:t>Then Module A closes. Change your posture; the next slide is a different register.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1:16–1:18. This is worth its ninety seconds — say the pattern out loud,</a:t>
            </a:r>
          </a:p>
          <a:p xmlns:a="http://schemas.openxmlformats.org/drawingml/2006/main">
            <a:r>
              <a:t>pointing at each box.</a:t>
            </a:r>
          </a:p>
          <a:p xmlns:a="http://schemas.openxmlformats.org/drawingml/2006/main"/>
          <a:p xmlns:a="http://schemas.openxmlformats.org/drawingml/2006/main">
            <a:r>
              <a:t>Why it matters: the single largest delivery risk in the semester plan is that</a:t>
            </a:r>
          </a:p>
          <a:p xmlns:a="http://schemas.openxmlformats.org/drawingml/2006/main">
            <a:r>
              <a:t>Lectures 5 to 11 are experienced as a list of unrelated devices. Naming the</a:t>
            </a:r>
          </a:p>
          <a:p xmlns:a="http://schemas.openxmlformats.org/drawingml/2006/main">
            <a:r>
              <a:t>pattern turns seven weeks into one method applied seven times.</a:t>
            </a:r>
          </a:p>
          <a:p xmlns:a="http://schemas.openxmlformats.org/drawingml/2006/main"/>
          <a:p xmlns:a="http://schemas.openxmlformats.org/drawingml/2006/main">
            <a:r>
              <a:t>Then the project bridge in one sentence: deliverable 2's sensor-selection matrix</a:t>
            </a:r>
          </a:p>
          <a:p xmlns:a="http://schemas.openxmlformats.org/drawingml/2006/main">
            <a:r>
              <a:t>uses exactly these eight headings, so today's "specifications we must measure</a:t>
            </a:r>
          </a:p>
          <a:p xmlns:a="http://schemas.openxmlformats.org/drawingml/2006/main">
            <a:r>
              <a:t>ourselves" list is the last column of it.</a:t>
            </a:r>
          </a:p>
          <a:p xmlns:a="http://schemas.openxmlformats.org/drawingml/2006/main"/>
          <a:p xmlns:a="http://schemas.openxmlformats.org/drawingml/2006/main">
            <a:r>
              <a:t>Do not add a summary slide. The exit ticket is the summary.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1:18–1:20. End on time. Slips out before you start talking.</a:t>
            </a:r>
          </a:p>
          <a:p xmlns:a="http://schemas.openxmlformats.org/drawingml/2006/main"/>
          <a:p xmlns:a="http://schemas.openxmlformats.org/drawingml/2006/main">
            <a:r>
              <a:t>Q1 tests outcome L4.5 individually — group work at minute 104 can hide a student</a:t>
            </a:r>
          </a:p>
          <a:p xmlns:a="http://schemas.openxmlformats.org/drawingml/2006/main">
            <a:r>
              <a:t>who cannot do it. Accept any of: cross-axis after soldering, zero-g offset on</a:t>
            </a:r>
          </a:p>
          <a:p xmlns:a="http://schemas.openxmlformats.org/drawingml/2006/main">
            <a:r>
              <a:t>their board, clamping offset, mounting repeatability.</a:t>
            </a:r>
          </a:p>
          <a:p xmlns:a="http://schemas.openxmlformats.org/drawingml/2006/main"/>
          <a:p xmlns:a="http://schemas.openxmlformats.org/drawingml/2006/main">
            <a:r>
              <a:t>Q2 is the diagnostic: measurand → transduction → structure → output →</a:t>
            </a:r>
          </a:p>
          <a:p xmlns:a="http://schemas.openxmlformats.org/drawingml/2006/main">
            <a:r>
              <a:t>specifications → interface → calibration → failure modes. If fewer than half get</a:t>
            </a:r>
          </a:p>
          <a:p xmlns:a="http://schemas.openxmlformats.org/drawingml/2006/main">
            <a:r>
              <a:t>it, spend the first three minutes of Lecture 5 on it and do not feel behind.</a:t>
            </a:r>
          </a:p>
          <a:p xmlns:a="http://schemas.openxmlformats.org/drawingml/2006/main"/>
          <a:p xmlns:a="http://schemas.openxmlformats.org/drawingml/2006/main">
            <a:r>
              <a:t>These slips are the input to Lecture 5's opening slide. Transcribe them tonight.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f31898b86c49d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f978d9722147c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96eefe3ef04fe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83e635716a4b5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903197841c4e6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5996d317d7468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347c65804842b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7934830a5c443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15431e297a45e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cf031c2a7a4d5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461e01ab9f4a4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C9B6179-099F-437F-B470-F28E651FDBD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E60708F-D213-41B6-9C5C-C9D9613B02A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CDF19C6-B1DB-44D2-A02E-C6EC3D22F2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0BBF469-16DA-4870-8DDB-BCF1A066C6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CCB725-E5FA-48A6-95D2-E082B1E547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531470A-BA43-41B7-99B5-618D9B5EC7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C81EA7B-57C2-436C-8F10-A22A57527A7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D3358BE-757D-4F4A-8FCA-2A8EA2119B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09C5D5F-50AB-4CFA-A107-AD87D257A92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D5234A6-6A2B-4E9B-999A-CA155179E16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4A87EF-CD3A-4FD2-BF05-38C020094F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1B253AA-6EFA-4E6C-B508-C57CCFD695A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5F0218F-FD72-4600-8260-4B9FAEAC56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A7EF229-4A1F-4A2F-9DF9-1D8894959DD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C78E313-5570-41BC-B21F-8C10DFE0348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B7F374C-B94A-4FD8-862C-7956CAC617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05C3E98-A998-4146-BC14-9886F01C248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2221739-E6D1-4F82-A814-C3FFB07A9D1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AD54163-DE09-4A0B-8837-F559DF8175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80AE687-2BCC-4167-ACFF-CC68FAB5DD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CEE8595-6635-4216-AA73-913CA66FE9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6A260B-6660-4DAD-BB64-B20D22CE8C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18EAB04-7397-4965-AC0E-196FF5FA1A6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3368AAA-6BB4-42CA-A7DD-F62DDB328F4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6D397E4-A090-4CBC-98AF-E8773A290E2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46F139C-FFB4-48D6-B09D-76156EB8313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FB533FB4-5D7C-45AC-8ABC-98FAD96E0C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6154EC62-FFB7-4EBD-AE45-DAABE68FA9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C8CA4CB-6D75-4E4F-9C74-DFEC636280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9E79957-F746-425A-BA08-4BF254E030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A70C015-F3E5-4FA3-8F6D-52B8DF13356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AFC2BC3F-3DAC-480E-8FE1-01B307C15F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F568544-B6F9-4B47-9AE5-BD23579B9E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5B45265-718E-47A6-B462-AC9546A69F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63B38E70-95CB-42FA-A9DE-36D6F76B0B1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2837306-2F61-4E2F-B382-3E68832222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1ECEF0C-E755-4CBF-AF42-F9788515DA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F996277-4426-4133-A94B-4A053529C87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59BD551-815F-4BB4-B65C-C1644873F6E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E722B78-F4AE-4EF0-8CA7-4FB537AEBF4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2ADD8F1-01CE-49E6-AE51-3711682FAF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9377DF5-D3F5-4F2B-9A92-E0277B4DBE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55D9627-5CD1-4E9D-84B9-6D7E9FDE29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6584CBD-9904-4B19-8A97-17F26781B1F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7C09101-1ABB-4353-843D-7A3C95467B2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46A35B0-E4C7-4BF2-8300-068FCABF823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4479C15-5CE3-45D7-BD14-9710B453D0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7DAECFC-C618-49BB-B583-5934FABEB5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563C34D-4532-4820-A828-49378DFA26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D5C3781-A499-471D-A111-3642F14F5ED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DCFC1AB-858E-48DB-84B6-61BFBA8779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BEEF9A0-14AD-4A60-A949-05218BB2B4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E89EBDD-7836-45EF-BDFE-65C8059967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70545AD-12EC-4D31-A0EE-4C9F7BCB0E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4E8DCA4-42AE-4B1D-BBE9-EBD29C23BC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26B918C-F9FB-4C5B-8292-C00B103424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A11422E-57F3-493C-8FD4-E98287B13E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B8D1BB1-7405-41B5-B9BD-736B57DB1E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1c4fdbca7494404" /><Relationship Type="http://schemas.openxmlformats.org/officeDocument/2006/relationships/slideLayout" Target="/ppt/slideLayouts/slideLayout1.xml" Id="Re924d9bd79ea44c2" /><Relationship Type="http://schemas.openxmlformats.org/officeDocument/2006/relationships/slideLayout" Target="/ppt/slideLayouts/slideLayout2.xml" Id="Ra2615860fbd94998" /><Relationship Type="http://schemas.openxmlformats.org/officeDocument/2006/relationships/slideLayout" Target="/ppt/slideLayouts/slideLayout3.xml" Id="R6b7179e484d0496d" /><Relationship Type="http://schemas.openxmlformats.org/officeDocument/2006/relationships/slideLayout" Target="/ppt/slideLayouts/slideLayout4.xml" Id="R3dbf02d0f6344d9d" /><Relationship Type="http://schemas.openxmlformats.org/officeDocument/2006/relationships/slideLayout" Target="/ppt/slideLayouts/slideLayout5.xml" Id="R96aee1d88bbc4e94" /><Relationship Type="http://schemas.openxmlformats.org/officeDocument/2006/relationships/slideLayout" Target="/ppt/slideLayouts/slideLayout6.xml" Id="Ree1f5012dcc04fc1" /><Relationship Type="http://schemas.openxmlformats.org/officeDocument/2006/relationships/slideLayout" Target="/ppt/slideLayouts/slideLayout7.xml" Id="R70e56c3e9f6448b1" /><Relationship Type="http://schemas.openxmlformats.org/officeDocument/2006/relationships/slideLayout" Target="/ppt/slideLayouts/slideLayout8.xml" Id="R74d033cf82b34ee4" /><Relationship Type="http://schemas.openxmlformats.org/officeDocument/2006/relationships/slideLayout" Target="/ppt/slideLayouts/slideLayout9.xml" Id="R70f3cd2dccab43d6" /><Relationship Type="http://schemas.openxmlformats.org/officeDocument/2006/relationships/slideLayout" Target="/ppt/slideLayouts/slideLayout10.xml" Id="R93a3431def144ffa" /><Relationship Type="http://schemas.openxmlformats.org/officeDocument/2006/relationships/slideLayout" Target="/ppt/slideLayouts/slideLayout11.xml" Id="Rf27021aa0f05457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6EB908BA-86DD-434E-AF9F-E35F3D05C8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F4CD6F7-6EE2-44C9-A2D0-09229FC23E9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D64F3F5-D2DD-489B-B1A4-1A72C7428865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EEE7D12-0946-4748-8764-73C4B142CB0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D1F47E-8365-4E6C-A754-A0A0B99FE50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24d9bd79ea44c2"/>
    <p:sldLayoutId xmlns:r="http://schemas.openxmlformats.org/officeDocument/2006/relationships" id="2147483650" r:id="Ra2615860fbd94998"/>
    <p:sldLayoutId xmlns:r="http://schemas.openxmlformats.org/officeDocument/2006/relationships" id="2147483651" r:id="R6b7179e484d0496d"/>
    <p:sldLayoutId xmlns:r="http://schemas.openxmlformats.org/officeDocument/2006/relationships" id="2147483652" r:id="R3dbf02d0f6344d9d"/>
    <p:sldLayoutId xmlns:r="http://schemas.openxmlformats.org/officeDocument/2006/relationships" id="2147483653" r:id="R96aee1d88bbc4e94"/>
    <p:sldLayoutId xmlns:r="http://schemas.openxmlformats.org/officeDocument/2006/relationships" id="2147483654" r:id="Ree1f5012dcc04fc1"/>
    <p:sldLayoutId xmlns:r="http://schemas.openxmlformats.org/officeDocument/2006/relationships" id="2147483655" r:id="R70e56c3e9f6448b1"/>
    <p:sldLayoutId xmlns:r="http://schemas.openxmlformats.org/officeDocument/2006/relationships" id="2147483656" r:id="R74d033cf82b34ee4"/>
    <p:sldLayoutId xmlns:r="http://schemas.openxmlformats.org/officeDocument/2006/relationships" id="2147483657" r:id="R70f3cd2dccab43d6"/>
    <p:sldLayoutId xmlns:r="http://schemas.openxmlformats.org/officeDocument/2006/relationships" id="2147483658" r:id="R93a3431def144ffa"/>
    <p:sldLayoutId xmlns:r="http://schemas.openxmlformats.org/officeDocument/2006/relationships" id="2147483659" r:id="Rf27021aa0f054578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4948bec4fff438c" /><Relationship Type="http://schemas.openxmlformats.org/officeDocument/2006/relationships/notesSlide" Target="/ppt/notesSlides/notesSlide1.xml" Id="R83c7872a71e64d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1df5c167317486c" /><Relationship Type="http://schemas.openxmlformats.org/officeDocument/2006/relationships/notesSlide" Target="/ppt/notesSlides/notesSlide2.xml" Id="R1309bbf3a24348e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d150ae1f6a34657" /><Relationship Type="http://schemas.openxmlformats.org/officeDocument/2006/relationships/notesSlide" Target="/ppt/notesSlides/notesSlide3.xml" Id="Rf425f7c3c0de4cc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82df1328ddb46cc" /><Relationship Type="http://schemas.openxmlformats.org/officeDocument/2006/relationships/notesSlide" Target="/ppt/notesSlides/notesSlide4.xml" Id="R8ae6afbd22c44b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3305c7d9f134387" /><Relationship Type="http://schemas.openxmlformats.org/officeDocument/2006/relationships/notesSlide" Target="/ppt/notesSlides/notesSlide5.xml" Id="Rf35b586f64ed45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7dc2933cde948fe" /><Relationship Type="http://schemas.openxmlformats.org/officeDocument/2006/relationships/notesSlide" Target="/ppt/notesSlides/notesSlide6.xml" Id="R94c4c2356df8485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93eb7a2a02b4f7a" /><Relationship Type="http://schemas.openxmlformats.org/officeDocument/2006/relationships/notesSlide" Target="/ppt/notesSlides/notesSlide7.xml" Id="R9b8e6d5a9acd4dd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b31709ba8e74bd9" /><Relationship Type="http://schemas.openxmlformats.org/officeDocument/2006/relationships/notesSlide" Target="/ppt/notesSlides/notesSlide8.xml" Id="Rfdd6db222eba406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901c4303d464ba9" /><Relationship Type="http://schemas.openxmlformats.org/officeDocument/2006/relationships/notesSlide" Target="/ppt/notesSlides/notesSlide9.xml" Id="Re3e96c581800423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0275bce10624293" /><Relationship Type="http://schemas.openxmlformats.org/officeDocument/2006/relationships/notesSlide" Target="/ppt/notesSlides/notesSlide10.xml" Id="R086d7de97dcb428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c45f4a603fb4f63" /><Relationship Type="http://schemas.openxmlformats.org/officeDocument/2006/relationships/notesSlide" Target="/ppt/notesSlides/notesSlide11.xml" Id="R3802298f6fde486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0ac03654c19416c" /><Relationship Type="http://schemas.openxmlformats.org/officeDocument/2006/relationships/notesSlide" Target="/ppt/notesSlides/notesSlide12.xml" Id="Rdd0a597d320543a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8e8e27da4d84a92" /><Relationship Type="http://schemas.openxmlformats.org/officeDocument/2006/relationships/notesSlide" Target="/ppt/notesSlides/notesSlide13.xml" Id="Racda5640494d4cd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ebb835bf5914118" /><Relationship Type="http://schemas.openxmlformats.org/officeDocument/2006/relationships/notesSlide" Target="/ppt/notesSlides/notesSlide14.xml" Id="R4174c5ac26bc462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2be341e58c94720" /><Relationship Type="http://schemas.openxmlformats.org/officeDocument/2006/relationships/notesSlide" Target="/ppt/notesSlides/notesSlide15.xml" Id="R6032f622d12d496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6b4cadb10ee48ff" /><Relationship Type="http://schemas.openxmlformats.org/officeDocument/2006/relationships/notesSlide" Target="/ppt/notesSlides/notesSlide16.xml" Id="R1cfdbf52d21c472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10b2bd202574fdc" /><Relationship Type="http://schemas.openxmlformats.org/officeDocument/2006/relationships/notesSlide" Target="/ppt/notesSlides/notesSlide17.xml" Id="Rf135892e8252474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49f6958f37f459c" /><Relationship Type="http://schemas.openxmlformats.org/officeDocument/2006/relationships/notesSlide" Target="/ppt/notesSlides/notesSlide18.xml" Id="Rcf226c3cb7d540d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a2107e8c92f4a25" /><Relationship Type="http://schemas.openxmlformats.org/officeDocument/2006/relationships/notesSlide" Target="/ppt/notesSlides/notesSlide19.xml" Id="R64e7b74b13dc4bd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29ce9ef6a574501" /><Relationship Type="http://schemas.openxmlformats.org/officeDocument/2006/relationships/notesSlide" Target="/ppt/notesSlides/notesSlide20.xml" Id="R85fab9775ea842e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783ed173b694387" /><Relationship Type="http://schemas.openxmlformats.org/officeDocument/2006/relationships/notesSlide" Target="/ppt/notesSlides/notesSlide21.xml" Id="R2f0a0598e6104a1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cd77e88002e47fb" /><Relationship Type="http://schemas.openxmlformats.org/officeDocument/2006/relationships/notesSlide" Target="/ppt/notesSlides/notesSlide22.xml" Id="R93b4fe51075b4b5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cab2b3dc7e4479b" /><Relationship Type="http://schemas.openxmlformats.org/officeDocument/2006/relationships/notesSlide" Target="/ppt/notesSlides/notesSlide23.xml" Id="R5303680e86c84c8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48953e41ed34f60" /><Relationship Type="http://schemas.openxmlformats.org/officeDocument/2006/relationships/notesSlide" Target="/ppt/notesSlides/notesSlide24.xml" Id="R43c327e429ca4db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b0dce43c8c54b84" /><Relationship Type="http://schemas.openxmlformats.org/officeDocument/2006/relationships/notesSlide" Target="/ppt/notesSlides/notesSlide25.xml" Id="R5ebb0175edc14c8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9dbb65ae6be40f3" /><Relationship Type="http://schemas.openxmlformats.org/officeDocument/2006/relationships/notesSlide" Target="/ppt/notesSlides/notesSlide26.xml" Id="Rd75fe49784bc463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d4c26e04bcf4b6d" /><Relationship Type="http://schemas.openxmlformats.org/officeDocument/2006/relationships/notesSlide" Target="/ppt/notesSlides/notesSlide27.xml" Id="R0477d46c00a84e4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fa1c9048e64457" /><Relationship Type="http://schemas.openxmlformats.org/officeDocument/2006/relationships/notesSlide" Target="/ppt/notesSlides/notesSlide28.xml" Id="Ra677ece0b1764f6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5cb87a1e7004026" /><Relationship Type="http://schemas.openxmlformats.org/officeDocument/2006/relationships/notesSlide" Target="/ppt/notesSlides/notesSlide29.xml" Id="R2ed5a4aff1004e5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f15971189984675" /><Relationship Type="http://schemas.openxmlformats.org/officeDocument/2006/relationships/notesSlide" Target="/ppt/notesSlides/notesSlide30.xml" Id="Re9200d7de3314c50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08c1f50c4b94b02" /><Relationship Type="http://schemas.openxmlformats.org/officeDocument/2006/relationships/notesSlide" Target="/ppt/notesSlides/notesSlide31.xml" Id="Rc9ff50f409c748ec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e0a6ea6624c4682" /><Relationship Type="http://schemas.openxmlformats.org/officeDocument/2006/relationships/notesSlide" Target="/ppt/notesSlides/notesSlide32.xml" Id="Rc28ffd33904b4b44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59b40e01e204c67" /><Relationship Type="http://schemas.openxmlformats.org/officeDocument/2006/relationships/notesSlide" Target="/ppt/notesSlides/notesSlide33.xml" Id="R9f152b22f6de45f7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3c5d66db6b44339" /><Relationship Type="http://schemas.openxmlformats.org/officeDocument/2006/relationships/notesSlide" Target="/ppt/notesSlides/notesSlide34.xml" Id="R0cac095b62924cb3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a44fbecb52d49da" /><Relationship Type="http://schemas.openxmlformats.org/officeDocument/2006/relationships/notesSlide" Target="/ppt/notesSlides/notesSlide35.xml" Id="R86feb561fefc4df2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1e312a6227a425c" /><Relationship Type="http://schemas.openxmlformats.org/officeDocument/2006/relationships/notesSlide" Target="/ppt/notesSlides/notesSlide36.xml" Id="R6c37e64c172d4c75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b37b11a3bab49d8" /><Relationship Type="http://schemas.openxmlformats.org/officeDocument/2006/relationships/notesSlide" Target="/ppt/notesSlides/notesSlide37.xml" Id="R71408181813e4dbc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0772ee8f533466a" /><Relationship Type="http://schemas.openxmlformats.org/officeDocument/2006/relationships/notesSlide" Target="/ppt/notesSlides/notesSlide38.xml" Id="Re71b618600c5450a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93d8d4d043c4e0e" /><Relationship Type="http://schemas.openxmlformats.org/officeDocument/2006/relationships/notesSlide" Target="/ppt/notesSlides/notesSlide39.xml" Id="Rea4f1e445d0f4e45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04d04dda58a420c" /><Relationship Type="http://schemas.openxmlformats.org/officeDocument/2006/relationships/notesSlide" Target="/ppt/notesSlides/notesSlide40.xml" Id="R247273d0af2e4579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0aec0f023de4930" /><Relationship Type="http://schemas.openxmlformats.org/officeDocument/2006/relationships/notesSlide" Target="/ppt/notesSlides/notesSlide41.xml" Id="Rddfdc924a12046b0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2555acc7f8a4777" /><Relationship Type="http://schemas.openxmlformats.org/officeDocument/2006/relationships/notesSlide" Target="/ppt/notesSlides/notesSlide42.xml" Id="R3c50cc1abca6415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A9A93B3-1B8B-4C7D-BF7C-B58F764FE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F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8F5FB24-C055-4517-B862-546057B7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10896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296F465-9E87-48AC-836C-4C713321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37160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40" b="1" i="0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ՄԻԿՐՈԷԼԵԿՏՐԱՄԵԽԱՆԻԿԱԿԱՆ ՀԱՄԱԿԱՐԳԵՐ ԵՎ ՏՎԻՉՆԵՐ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9B0413E-666C-401A-8542-4DF73CD7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057400"/>
            <a:ext cx="1033272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360" b="1" i="0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MEMS կառուցվածքներ, փոխակերպման սկզբունքներ և պատյանավորման ազդեցությունը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EF2901C-D6CF-49E5-8582-FB5FD580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315968"/>
            <a:ext cx="1371600" cy="5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3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CF4E2E4-76E6-45FB-A438-23AE0D9EB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6177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 i="0">
                <a:solidFill>
                  <a:srgbClr val="B8C0C6"/>
                </a:solidFill>
                <a:latin typeface="DejaVu Sans"/>
                <a:ea typeface="DejaVu Sans"/>
                <a:cs typeface="DejaVu Sans"/>
              </a:rPr>
              <a:t>Դասախոսություն 4 / 16   ·   80 րոպե   ·   Մոդուլ Ա․ Հիմունքներ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FE38F0F-C447-4F4A-8FFE-EBB6270D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257800"/>
            <a:ext cx="10332720" cy="518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2-րդ դասախոսությունից մնացած հարցը այսօր ստանում է իր ֆիզիկական և չափագիտական հիմնավորումը։</a:t>
            </a:r>
          </a:p>
        </p:txBody>
      </p:sp>
    </p:spTree>
    <p:extLst>
      <p:ext uri="{BB962C8B-B14F-4D97-AF65-F5344CB8AC3E}">
        <p14:creationId xmlns:p14="http://schemas.microsoft.com/office/powerpoint/2010/main" val="103078281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762EB36-2F43-425E-AE1F-352A7199B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560EDAA-A0CD-4145-8D45-C4546590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78BBBBB-9510-4315-B939-524E4CC27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63867A6-1B44-451E-9B3C-9D347E356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1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Նախորդ դասախոսության բաց հարցերը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0D4831D-BAE5-4B59-91BE-6A7B251E7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C2F7030-D534-489F-B0AB-8552757C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3-րդ դասախոսության եզրափակիչ առաջադրանքներից ընտրված երեք հարց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C0242B6-5637-4552-AC37-B64ABCDEC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57400"/>
            <a:ext cx="566928" cy="566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200" b="1">
                <a:solidFill>
                  <a:srgbClr val="F7F5F1"/>
                </a:solidFill>
                <a:latin typeface="Courier New"/>
                <a:ea typeface="Courier New"/>
                <a:cs typeface="Courier New"/>
              </a:rPr>
              <a:t>1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8BE9BDB-3404-480C-BDDA-7C6C72E24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7048" y="2057400"/>
            <a:ext cx="1005840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45CDD9D-936E-4A27-AD60-E86561F46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17520"/>
            <a:ext cx="566928" cy="566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200" b="1">
                <a:solidFill>
                  <a:srgbClr val="F7F5F1"/>
                </a:solidFill>
                <a:latin typeface="Courier New"/>
                <a:ea typeface="Courier New"/>
                <a:cs typeface="Courier New"/>
              </a:rPr>
              <a:t>2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E5FB412-1A1B-4482-9E27-F3D07959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7048" y="3017520"/>
            <a:ext cx="1005840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5874CC59-9AF5-4427-A0FF-E620CBCD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977640"/>
            <a:ext cx="566928" cy="566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200" b="1">
                <a:solidFill>
                  <a:srgbClr val="F7F5F1"/>
                </a:solidFill>
                <a:latin typeface="Courier New"/>
                <a:ea typeface="Courier New"/>
                <a:cs typeface="Courier New"/>
              </a:rPr>
              <a:t>3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896E70B-341B-48D8-998E-249646096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7048" y="3977640"/>
            <a:ext cx="1005840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31E9A66-A72A-4B0F-A499-35B85650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9928" y="2212848"/>
            <a:ext cx="9692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 i="1">
                <a:solidFill>
                  <a:srgbClr val="E4E2DE"/>
                </a:solidFill>
                <a:latin typeface="DejaVu Sans"/>
                <a:ea typeface="DejaVu Sans"/>
                <a:cs typeface="DejaVu Sans"/>
              </a:rPr>
              <a:t>ԴԱՍԱԽՈՍԻՆ․ լրացնել երեք հարցերը մինչև դասի սկիզբը։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77604A07-A07D-43FE-9CFA-5C71E7A6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212080"/>
            <a:ext cx="10874959" cy="77724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AECD8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Քննարկել հասկացությունները, ոչ թե անհատական պատասխանները։ Տևողությունը՝ 90 վայրկյան։</a:t>
            </a:r>
          </a:p>
        </p:txBody>
      </p:sp>
    </p:spTree>
    <p:extLst>
      <p:ext uri="{BB962C8B-B14F-4D97-AF65-F5344CB8AC3E}">
        <p14:creationId xmlns:p14="http://schemas.microsoft.com/office/powerpoint/2010/main" val="211647526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C961558-4E8A-4D6B-9D32-8D338613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BE26B14-CB41-46EE-AB85-C70F6119D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83C3DBA-A560-41AD-AE06-3638F52D1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4ACB7A3-518C-4C12-A7B0-00820FD8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2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Մասշտաբման օրենքների վերհիշում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6669CA6-9BB6-4660-8257-16FA6B55D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A000600-F7AC-4F8C-A824-8326989F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1-ին դասախոսության չորս հարաբերությունները և դրանց ֆիզիկական իմաստը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D48316D-8177-4EB7-BBB9-AC1975762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103120"/>
            <a:ext cx="2560320" cy="82296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3175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0E7C86"/>
                </a:solidFill>
                <a:latin typeface="Courier New"/>
                <a:ea typeface="Courier New"/>
                <a:cs typeface="Courier New"/>
              </a:rPr>
              <a:t>k ∝ L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55B944F-9CEB-4F50-AE16-64BD39C53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72384"/>
            <a:ext cx="2450592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118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կոշտությունը փոքրանում է գծային օրենքով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9E9520E-860C-45F3-9A97-998C16F0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03120"/>
            <a:ext cx="2560320" cy="82296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31750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D98324"/>
                </a:solidFill>
                <a:latin typeface="Courier New"/>
                <a:ea typeface="Courier New"/>
                <a:cs typeface="Courier New"/>
              </a:rPr>
              <a:t>m ∝ L³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EF3EA32-8E1D-40A6-8630-B058A333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864" y="3072384"/>
            <a:ext cx="2450592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118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զանգվածը փոքրանում է չափի խորանարդին համեմատ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8A13F6F5-3AC0-4300-9238-9EF90377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2103120"/>
            <a:ext cx="2560320" cy="82296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3175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0E7C86"/>
                </a:solidFill>
                <a:latin typeface="Courier New"/>
                <a:ea typeface="Courier New"/>
                <a:cs typeface="Courier New"/>
              </a:rPr>
              <a:t>f₀ ∝ 1/L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5DCCE43-608B-4797-ACA7-E12356BBE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3072384"/>
            <a:ext cx="2450592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12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ռեզոնանսային հաճախականությունը մեծանում է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2A1595C-E0E1-481A-8971-176B17195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264" y="2103120"/>
            <a:ext cx="2560320" cy="82296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31750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D98324"/>
                </a:solidFill>
                <a:latin typeface="Courier New"/>
                <a:ea typeface="Courier New"/>
                <a:cs typeface="Courier New"/>
              </a:rPr>
              <a:t>A/V ∝ 1/L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3B5626A-01B7-4FC8-8CF7-99B170E3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3072384"/>
            <a:ext cx="2450592" cy="9509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16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մակերես/ծավալ հարաբերությունը մեծանում է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5D027B69-190B-4433-AC93-40E32678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297680"/>
            <a:ext cx="10874959" cy="786384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A1F24"/>
          </a:solidFill>
          <a:ln xmlns:a="http://schemas.openxmlformats.org/drawingml/2006/main" w="15875">
            <a:solidFill>
              <a:srgbClr val="1A1F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3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Փոքր սարքը սովորաբար ավելի արագ, ավելի թեթև և էժան է, սակայն փոքր զանգվածը բարձրացնում է աղմուկի ստորին սահմանը։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A6170AA-E322-48BD-AF56-E1DF41501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303520"/>
            <a:ext cx="10874959" cy="74889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82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Այս հարաբերությունները որոշում են ոչ միայն սարքի ֆիզիկան, այլև դրա արտադրության եղանակը և տեխնիկական բնութագրերը։</a:t>
            </a:r>
          </a:p>
        </p:txBody>
      </p:sp>
    </p:spTree>
    <p:extLst>
      <p:ext uri="{BB962C8B-B14F-4D97-AF65-F5344CB8AC3E}">
        <p14:creationId xmlns:p14="http://schemas.microsoft.com/office/powerpoint/2010/main" val="72516321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AC5F645-0B30-4EC0-A888-A1DDE99B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F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A75F1F3-05B7-4485-B80E-DB17D069E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7A848C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F735367-C8A3-45CD-AC8B-F0E9DBC3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7A848C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A8EF66F-861F-4947-BAAA-79F62481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4320"/>
            <a:ext cx="1087495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 i="0">
                <a:solidFill>
                  <a:srgbClr val="C0392B"/>
                </a:solidFill>
                <a:latin typeface="DejaVu Sans"/>
                <a:ea typeface="DejaVu Sans"/>
                <a:cs typeface="DejaVu Sans"/>
              </a:rPr>
              <a:t>2-րդ դասախոսությունից մնացած հարցը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B5356A3-3BAE-4194-9DC1-3C9E6799F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65960"/>
            <a:ext cx="10874959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200" b="1" i="0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«Որքա՞ն է այս սարքի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20" b="1" i="0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միջառանցքային զգայունությունը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200" b="1" i="0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տպասալին զոդելուց հետո»։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BFBFB7E-94F6-48EC-941A-A98CF95C9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617720"/>
            <a:ext cx="1371600" cy="5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392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1216018-ACA1-43CD-AAA3-12C706BF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92040"/>
            <a:ext cx="9960559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770" b="0" i="0">
                <a:solidFill>
                  <a:srgbClr val="B8C0C6"/>
                </a:solidFill>
                <a:latin typeface="DejaVu Sans"/>
                <a:ea typeface="DejaVu Sans"/>
                <a:cs typeface="DejaVu Sans"/>
              </a:rPr>
              <a:t>2-րդ դասախոսության պատասխանը հետևյալն էր․ այդ արժեքը տվյալների թերթիկում չկա և սկզբունքորեն չի կարող լինել։ Այժմ կբացատրենք պատճառը։</a:t>
            </a:r>
          </a:p>
        </p:txBody>
      </p:sp>
    </p:spTree>
    <p:extLst>
      <p:ext uri="{BB962C8B-B14F-4D97-AF65-F5344CB8AC3E}">
        <p14:creationId xmlns:p14="http://schemas.microsoft.com/office/powerpoint/2010/main" val="27614554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B03EF3A-1E78-4FC7-8399-789DA9A8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31F68D5-9C89-4F5B-BB85-37FB7FD18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C48F84B-62C0-48EF-9887-A181A2532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2886D42-A9B1-4CF9-8D9E-675894F04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2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Ինչու արտադրողը չի կարող տալ այդ արժեքը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8EF2E03-A545-491D-988E-7EDF0319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6A04014-5F1B-4D1A-8ECD-66FAFFFA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Տվիչի վերջնական վարքը որոշում է ոչ միայն բյուրեղը, այլև ամբողջ հավաքվածքը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6AD66BE-7EEF-41F7-854D-BD00B0E39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11680"/>
            <a:ext cx="548640" cy="54864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F7F5F1"/>
                </a:solidFill>
                <a:latin typeface="Courier New"/>
                <a:ea typeface="Courier New"/>
                <a:cs typeface="Courier New"/>
              </a:rPr>
              <a:t>1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2C980AE-E706-4F6B-B476-9E3A3E0B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2011680"/>
            <a:ext cx="10033711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80" b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Մի քանի միկրոմետր հաստությամբ սիլիցիումային մեխանիկական կառուցվածք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93494AC-57B7-4C45-A993-5F519A812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61488"/>
            <a:ext cx="548640" cy="54864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F7F5F1"/>
                </a:solidFill>
                <a:latin typeface="Courier New"/>
                <a:ea typeface="Courier New"/>
                <a:cs typeface="Courier New"/>
              </a:rPr>
              <a:t>2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611B518-313C-415F-8421-8062C1480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2761488"/>
            <a:ext cx="10033711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89" b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Կախված է հերմետիկ խոռոչի վրա և կարող է ազատ տեղաշարժվել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6AD374D1-1158-40C8-9DC8-0A1CC5FA9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11296"/>
            <a:ext cx="548640" cy="54864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98324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1A1F24"/>
                </a:solidFill>
                <a:latin typeface="Courier New"/>
                <a:ea typeface="Courier New"/>
                <a:cs typeface="Courier New"/>
              </a:rPr>
              <a:t>3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FC8130B-5C46-484F-A87E-AED147F1A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3511296"/>
            <a:ext cx="10033711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Պատյանին ամրացված է կարծրացման ընթացքում կծկվող սոսնձով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151E249-D375-432C-8ACE-CEF85B0E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261104"/>
            <a:ext cx="548640" cy="54864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C0392B"/>
          </a:solidFill>
          <a:ln xmlns:a="http://schemas.openxmlformats.org/drawingml/2006/main" w="15875">
            <a:solidFill>
              <a:srgbClr val="C0392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F7F5F1"/>
                </a:solidFill>
                <a:latin typeface="Courier New"/>
                <a:ea typeface="Courier New"/>
                <a:cs typeface="Courier New"/>
              </a:rPr>
              <a:t>4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98C7C1A-8AA9-4854-B30D-2BDF3544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4261104"/>
            <a:ext cx="10033711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C0392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Զոդված է տպասալին, որը կարող է ծռվել ամրացման պտուտակը ձգելիս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D29F4F9A-89B3-4CEB-BBE2-9C100EF26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120640"/>
            <a:ext cx="10874959" cy="82296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AECD8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Արտադրողը բնութագրում է բյուրեղն ու պատյանը։ Տպասալի, զոդման և մեխանիկական ամրացման ազդեցությունը հատուկ է ձեր հավաքվածքին։</a:t>
            </a:r>
          </a:p>
        </p:txBody>
      </p:sp>
    </p:spTree>
    <p:extLst>
      <p:ext uri="{BB962C8B-B14F-4D97-AF65-F5344CB8AC3E}">
        <p14:creationId xmlns:p14="http://schemas.microsoft.com/office/powerpoint/2010/main" val="170304300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BC14520-6E8C-4E2D-B74D-9765E73F0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E1053D1-8B69-473B-9214-7748EC29F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60C36B5-E60B-4DEE-BD3B-A752A2725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4500E99-44D3-44D7-8910-10B7AEF4A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4320"/>
            <a:ext cx="1087495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90" b="1" i="0">
                <a:solidFill>
                  <a:srgbClr val="D98324"/>
                </a:solidFill>
                <a:latin typeface="DejaVu Sans"/>
                <a:ea typeface="DejaVu Sans"/>
                <a:cs typeface="DejaVu Sans"/>
              </a:rPr>
              <a:t>ՔՎԵԱՐԿՈՒԹՅՈՒՆ 1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04479A-6B0B-4947-9B5C-71D1A0CB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58368"/>
            <a:ext cx="10874959" cy="17556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205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2-րդ դասախոսությունում հարցվեց սարքի միջառանցքային զգայունությունը տպասալին զոդելուց հետո։ Ինչո՞ւ այդ արժեքը չկա տվյալների թերթիկում։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7FA77A05-9D19-477A-82C0-08EDD8D86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87168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C6FD435-5198-4581-BD7F-876074CC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606040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F75BCCD-980D-4961-8234-916B8ED0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615184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6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Դա արտադրողի առևտրային գաղտնիքն է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5564B51-8C47-4D66-B613-B04B98AA5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291840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FDED9E7-4BBA-4F8E-B0AA-AB4CA1498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410712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9B7CCBD-B381-4CC1-AB72-E0EC9344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19856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7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Այն կախված է տպասալից և վերջնական հավաքումից, որոնք արտադրողը չի վերահսկում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16788168-B401-4436-8E06-9F4D3258C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96512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89D433A-7B0A-4B96-91BC-AD0DD1DCB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215384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D8D5F81-CB28-4B09-B8FE-0AF9A5D98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224528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89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Այն տրվում է միայն կիրառական ուղեցույցում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00F064D-15F4-4E4D-8199-4103ECE04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01184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C3EB7B3-1D92-4D14-9019-1E4E3A2C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20056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DC836DC-BFB2-4428-892F-12C2E3FB3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Այն միշտ հավասար է պատյանի մակարդակում չափված արժեքին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5357E2C-98DA-4860-9D17-92850E077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541264"/>
            <a:ext cx="10874959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</a:pPr>
            <a:r>
              <a:rPr sz="15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Ընտրեք պատասխանը։ Դասախոսության վերջում հարցին կվերադառնանք՝ արդեն կառուցված ֆիզիկական հիմնավորմամբ։</a:t>
            </a:r>
          </a:p>
        </p:txBody>
      </p:sp>
    </p:spTree>
    <p:extLst>
      <p:ext uri="{BB962C8B-B14F-4D97-AF65-F5344CB8AC3E}">
        <p14:creationId xmlns:p14="http://schemas.microsoft.com/office/powerpoint/2010/main" val="140589857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FE034D6-F4CD-483C-B486-6C411903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769F7DE-93E7-4B8C-97F9-D9BAA20DB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EEC0667-C5D1-49B0-BCFA-A8CEAAD50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F8E8109-99BE-4612-AC39-D29F29C3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957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Պատյանավորման ազդեցությունը տվյալների թերթիկում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83EDBA0-BF6B-44C8-9A15-27386F7BB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00B8E9D-3FA8-4B2E-B0EA-9443F868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ISM330DHCX · DS13012 Rev 6 · որոշիչ տեղեկությունը «Պայմաններ» սյունակում է</a:t>
            </a:r>
          </a:p>
        </p:txBody>
      </p:sp>
      <p:graphicFrame>
        <p:nvGraphicFramePr>
          <p:cNvPr id="18" name="Table 7"/>
          <p:cNvGraphicFramePr/>
          <p:nvPr/>
        </p:nvGraphicFramePr>
        <p:xfrm>
          <a:off xmlns:a="http://schemas.openxmlformats.org/drawingml/2006/main" x="658368" y="2011680"/>
          <a:ext xmlns:a="http://schemas.openxmlformats.org/drawingml/2006/main" cx="10874955" cy="2121408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18739"/>
                <a:gridCol w="1087495"/>
                <a:gridCol w="1087495"/>
                <a:gridCol w="1087495"/>
                <a:gridCol w="4893731"/>
              </a:tblGrid>
              <a:tr h="53035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Պարամետր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Բնորոշ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Առավ.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11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Միավոր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Պայմաններ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8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Զրոյական արագացման մակարդակ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600" b="1">
                          <a:solidFill>
                            <a:srgbClr val="1A1F24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±10</a:t>
                      </a:r>
                    </a:p>
                  </a:txBody>
                  <a:tcPr marL="91440" marR="91440" marT="27432" marB="27432" anchor="ctr">
                    <a:solidFill>
                      <a:srgbClr val="FAEC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600" b="1">
                          <a:solidFill>
                            <a:srgbClr val="1A1F24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±65</a:t>
                      </a:r>
                    </a:p>
                  </a:txBody>
                  <a:tcPr marL="91440" marR="91440" marT="27432" marB="27432" anchor="ctr">
                    <a:solidFill>
                      <a:srgbClr val="FAEC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600" b="0">
                          <a:solidFill>
                            <a:srgbClr val="1A1F24"/>
                          </a:solidFill>
                          <a:latin typeface="Arial"/>
                          <a:ea typeface="Arial"/>
                          <a:cs typeface="Arial"/>
                        </a:rPr>
                        <a:t>mg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60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25 °C, զոդումից հետո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60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Զրոյական շեղման ջերմ. գործակից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600" b="0">
                          <a:solidFill>
                            <a:srgbClr val="1A1F24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±0.1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600" b="0">
                          <a:solidFill>
                            <a:srgbClr val="1A1F24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±0.5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600" b="0">
                          <a:solidFill>
                            <a:srgbClr val="1A1F24"/>
                          </a:solidFill>
                          <a:latin typeface="Arial"/>
                          <a:ea typeface="Arial"/>
                          <a:cs typeface="Arial"/>
                        </a:rPr>
                        <a:t>mg/°C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60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−40…+85 °C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2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Միջառանցքային զգայունություն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600" b="0">
                          <a:solidFill>
                            <a:srgbClr val="1A1F24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±0.5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600" b="0">
                          <a:solidFill>
                            <a:srgbClr val="1A1F24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600" b="0">
                          <a:solidFill>
                            <a:srgbClr val="1A1F24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60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25 °C, պատյանի մակարդակում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840F7F7A-0514-4C42-A23D-E7E9DFEB8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206240"/>
            <a:ext cx="10874959" cy="82296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A1F24"/>
          </a:solidFill>
          <a:ln xmlns:a="http://schemas.openxmlformats.org/drawingml/2006/main" w="15875">
            <a:solidFill>
              <a:srgbClr val="1A1F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«Զոդումից հետո» պայմանը ցույց է տալիս, որ հավաքման գործընթացն արդեն ներառված է զրոյական շեղման բնութագրում։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87781A7-8787-436B-913D-A133345E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230368"/>
            <a:ext cx="10874959" cy="1047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</a:pPr>
            <a:r>
              <a:rPr sz="1689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▸  Առաջին տողը նկարագրում է ելքը զրոյական արագացման դեպքում։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</a:pPr>
            <a:r>
              <a:rPr sz="161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▸  Երկրորդ տողը ցույց է տալիս այդ շեղման ջերմաստիճանային փոփոխությունը։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</a:pPr>
            <a:r>
              <a:rPr sz="161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▸  Երրորդ տողը վերաբերում է միայն պատյանի, ոչ թե վերջնական տպասալի մակարդակին։</a:t>
            </a:r>
          </a:p>
        </p:txBody>
      </p:sp>
    </p:spTree>
    <p:extLst>
      <p:ext uri="{BB962C8B-B14F-4D97-AF65-F5344CB8AC3E}">
        <p14:creationId xmlns:p14="http://schemas.microsoft.com/office/powerpoint/2010/main" val="23854449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6BF06B8-800F-44C6-A99C-D335CF7FE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3EE4BF-F8D0-4A7D-9DE3-5B157EFF3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6812343-7837-4EE2-90CB-9D7375263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B8CBAE2-DD83-4F0A-B8B8-A0EA85C6E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8321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Զրոյական շեղումը՝ 8.73 mg օգտակար ազդանշանի համեմատ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A9AE7DF-C463-433B-B36F-0A1E8981D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C1BDE3-2C34-4AB0-8593-FE560B19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0.5° թեքությանը համապատասխանող ազդանշանը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80A7120-54E2-4EA1-ACB9-FABB5B504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38528"/>
            <a:ext cx="10874959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spcAft>
                <a:spcPts val="600"/>
              </a:spcAft>
              <a:buNone/>
            </a:pPr>
            <a:r>
              <a:rPr sz="2090" b="1" i="0">
                <a:solidFill>
                  <a:srgbClr val="1A1F24"/>
                </a:solidFill>
                <a:latin typeface="DejaVu Sans Mono"/>
                <a:ea typeface="DejaVu Sans Mono"/>
                <a:cs typeface="DejaVu Sans Mono"/>
              </a:rPr>
              <a:t>0.5° թեքություն  =  sin(0.5°) × 1 g  =  8.73 mg</a:t>
            </a:r>
            <a:r>
              <a:rPr sz="2700" b="1" i="0">
                <a:solidFill>
                  <a:srgbClr val="0E7C86"/>
                </a:solidFill>
                <a:latin typeface="Courier New"/>
                <a:ea typeface="Courier New"/>
                <a:cs typeface="Courier New"/>
              </a:rPr>
              <a:t/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AB7D7F-2364-4026-B448-6CC54D8B0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87168"/>
            <a:ext cx="10874959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ամբողջ օգտակար ազդանշանը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B7A4CD1-2794-4E60-93A4-DF773FD89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880360"/>
            <a:ext cx="5349240" cy="512064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98324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8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ԲՆՈՐՈՇ ԶՐՈՅԱԿԱՆ ՇԵՂՈՒՄ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AC01893-F707-435D-8C42-A61DFB685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438144"/>
            <a:ext cx="534924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1750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200" b="1">
                <a:solidFill>
                  <a:srgbClr val="1A1F24"/>
                </a:solidFill>
                <a:latin typeface="Courier New"/>
                <a:ea typeface="Courier New"/>
                <a:cs typeface="Courier New"/>
              </a:rPr>
              <a:t>±10 mg   ÷   8.73 mg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6F666EA-4345-4CE8-B5AB-C2CDFAF3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626864"/>
            <a:ext cx="5349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4200" b="1" i="0">
                <a:solidFill>
                  <a:srgbClr val="D98324"/>
                </a:solidFill>
                <a:latin typeface="Courier New"/>
                <a:ea typeface="Courier New"/>
                <a:cs typeface="Courier New"/>
              </a:rPr>
              <a:t>1.15×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2DD460EC-D951-44AB-8029-83C9538C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2880360"/>
            <a:ext cx="5349240" cy="512064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C0392B"/>
          </a:solidFill>
          <a:ln xmlns:a="http://schemas.openxmlformats.org/drawingml/2006/main" w="15875">
            <a:solidFill>
              <a:srgbClr val="C0392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8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ԱՌԱՎԵԼԱԳՈՒՅՆ ԶՐՈՅԱԿԱՆ ՇԵՂՈՒՄ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952B859-73DE-4B06-ABED-070CD35F6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3438144"/>
            <a:ext cx="534924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1750">
            <a:solidFill>
              <a:srgbClr val="C0392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200" b="1">
                <a:solidFill>
                  <a:srgbClr val="1A1F24"/>
                </a:solidFill>
                <a:latin typeface="Courier New"/>
                <a:ea typeface="Courier New"/>
                <a:cs typeface="Courier New"/>
              </a:rPr>
              <a:t>±65 mg   ÷   8.73 mg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56274BA-304A-4D62-AC31-B690BCDC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4626864"/>
            <a:ext cx="5349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4200" b="1" i="0">
                <a:solidFill>
                  <a:srgbClr val="C0392B"/>
                </a:solidFill>
                <a:latin typeface="Courier New"/>
                <a:ea typeface="Courier New"/>
                <a:cs typeface="Courier New"/>
              </a:rPr>
              <a:t>7.45×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95A8DCD6-F282-432C-94F9-13EDC0A3B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440680"/>
            <a:ext cx="10874959" cy="786384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7DFDC"/>
          </a:solidFill>
          <a:ln xmlns:a="http://schemas.openxmlformats.org/drawingml/2006/main" w="15875">
            <a:solidFill>
              <a:srgbClr val="C0392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Նույնիսկ բնորոշ շեղումը գերազանցում է չափվող ամբողջ ազդանշանը։ Առավելագույն շեղումը մեծ է 7.45 անգամ։</a:t>
            </a:r>
          </a:p>
        </p:txBody>
      </p:sp>
    </p:spTree>
    <p:extLst>
      <p:ext uri="{BB962C8B-B14F-4D97-AF65-F5344CB8AC3E}">
        <p14:creationId xmlns:p14="http://schemas.microsoft.com/office/powerpoint/2010/main" val="39235829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B690DD8-1785-4526-9AE1-424B403A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F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C32FCBF-FB45-4B35-834F-59759E3DD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7A848C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C20EBAD-A4A7-43DC-9B51-1AC3BAA0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7A848C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97F2CC1-FC52-4F6F-8EAC-52D5543A3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4320"/>
            <a:ext cx="1087495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i="0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ԲԱԺԻՆ 1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B27E34D-DE04-4767-A12B-838884719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37360"/>
            <a:ext cx="9046159" cy="2313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4400" b="1" i="0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Հինգ կառուցվածք, որոնք հիմք են ծառայում MEMS տվիչների մեծ մասի համար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32CA57D-BD23-4AD4-B3EB-342314FA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94760"/>
            <a:ext cx="1371600" cy="5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54D23BA-59C1-4F0B-AC1F-C5F7CF4D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160520"/>
            <a:ext cx="10874959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</a:pPr>
            <a:r>
              <a:rPr sz="1710" b="0" i="0">
                <a:solidFill>
                  <a:srgbClr val="B8C0C6"/>
                </a:solidFill>
                <a:latin typeface="DejaVu Sans"/>
                <a:ea typeface="DejaVu Sans"/>
                <a:cs typeface="DejaVu Sans"/>
              </a:rPr>
              <a:t>Իներտ զանգված՝ առաձգական կախոցի վրա։ Միակողմանի ամրացված հեծան։ Թաղանթ։ Ռեզոնատոր։ Սանրաձև կառուցվածք։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</a:pPr>
            <a:r>
              <a:rPr sz="1900" b="0" i="0">
                <a:solidFill>
                  <a:srgbClr val="B8C0C6"/>
                </a:solidFill>
                <a:latin typeface="DejaVu Sans"/>
                <a:ea typeface="DejaVu Sans"/>
                <a:cs typeface="DejaVu Sans"/>
              </a:rPr>
              <a:t>Այս հինգ կառուցվածքների համակցություններով են աշխատում 5–11-րդ դասախոսությունների սարքերը։</a:t>
            </a:r>
          </a:p>
        </p:txBody>
      </p:sp>
    </p:spTree>
    <p:extLst>
      <p:ext uri="{BB962C8B-B14F-4D97-AF65-F5344CB8AC3E}">
        <p14:creationId xmlns:p14="http://schemas.microsoft.com/office/powerpoint/2010/main" val="7987589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F7D0A07-441D-47FC-8161-A68C8935E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9673E2-A9BD-409F-97B6-D0FD7E32C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808CDCA-5FAE-4A45-A839-600FCA4E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B42C7C1-B622-489E-9825-4D9A7DF70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1036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Կառուցվածք 1․ իներտ զանգված՝ առաձգական կախոցի վրա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1B25496-7F72-42FE-8396-E9157C8A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A90DFF5-F89E-4085-8062-3D3F12A7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Ունակային MEMS արագաչափի լայնական հատույթը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5C2E64B-A9D9-4AD9-8A4C-F743F60AC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2148840"/>
            <a:ext cx="58521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2DE"/>
          </a:solidFill>
          <a:ln xmlns:a="http://schemas.openxmlformats.org/drawingml/2006/main" w="15875">
            <a:solidFill>
              <a:srgbClr val="6B768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ԱՆՇԱՐԺ ԹԻԹԵՂ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8078452-6442-42E7-A8F4-0FC90622A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4224528"/>
            <a:ext cx="58521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2DE"/>
          </a:solidFill>
          <a:ln xmlns:a="http://schemas.openxmlformats.org/drawingml/2006/main" w="15875">
            <a:solidFill>
              <a:srgbClr val="6B768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ԱՆՇԱՐԺ ԹԻԹԵՂ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7594E88-17DE-49D8-9E05-29B6AD96F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2999232"/>
            <a:ext cx="365760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DEF"/>
          </a:solidFill>
          <a:ln xmlns:a="http://schemas.openxmlformats.org/drawingml/2006/main" w="2540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3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ԻՆԵՐՏ ԶԱՆԳՎԱԾ  m</a:t>
            </a:r>
          </a:p>
        </p:txBody>
      </p:sp>
      <p:sp>
        <p:nvSpPr>
          <p:cNvPr id="11" name="Freeform 10">
            <a:extLst xmlns:a="http://schemas.openxmlformats.org/drawingml/2006/main">
              <a:ext uri="{FF2B5EF4-FFF2-40B4-BE49-F238E27FC236}">
                <a16:creationId xmlns:a16="http://schemas.microsoft.com/office/drawing/2014/main" id="{14B934BE-0BA1-4D13-A3D8-653CD2EE3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3017520"/>
            <a:ext cx="640080" cy="768096"/>
          </a:xfrm>
          <a:custGeom xmlns:a="http://schemas.openxmlformats.org/drawingml/2006/main">
            <a:rect l="l" t="t" r="r" b="b"/>
            <a:pathLst>
              <a:path w="640080" h="768096">
                <a:moveTo>
                  <a:pt x="0" y="0"/>
                </a:moveTo>
                <a:lnTo>
                  <a:pt x="640080" y="96012"/>
                </a:lnTo>
                <a:lnTo>
                  <a:pt x="0" y="192024"/>
                </a:lnTo>
                <a:lnTo>
                  <a:pt x="640080" y="288036"/>
                </a:lnTo>
                <a:lnTo>
                  <a:pt x="0" y="384048"/>
                </a:lnTo>
                <a:lnTo>
                  <a:pt x="640080" y="480060"/>
                </a:lnTo>
                <a:lnTo>
                  <a:pt x="0" y="576072"/>
                </a:lnTo>
                <a:lnTo>
                  <a:pt x="640080" y="672084"/>
                </a:lnTo>
                <a:lnTo>
                  <a:pt x="0" y="768096"/>
                </a:lnTo>
              </a:path>
            </a:pathLst>
          </a:custGeom>
          <a:noFill xmlns:a="http://schemas.openxmlformats.org/drawingml/2006/main"/>
          <a:ln xmlns:a="http://schemas.openxmlformats.org/drawingml/2006/main" w="2540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Freeform 11">
            <a:extLst xmlns:a="http://schemas.openxmlformats.org/drawingml/2006/main">
              <a:ext uri="{FF2B5EF4-FFF2-40B4-BE49-F238E27FC236}">
                <a16:creationId xmlns:a16="http://schemas.microsoft.com/office/drawing/2014/main" id="{8C844434-D895-40D6-8576-4A39EE3B2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017520"/>
            <a:ext cx="640080" cy="768096"/>
          </a:xfrm>
          <a:custGeom xmlns:a="http://schemas.openxmlformats.org/drawingml/2006/main">
            <a:rect l="l" t="t" r="r" b="b"/>
            <a:pathLst>
              <a:path w="640080" h="768096">
                <a:moveTo>
                  <a:pt x="0" y="0"/>
                </a:moveTo>
                <a:lnTo>
                  <a:pt x="640080" y="96012"/>
                </a:lnTo>
                <a:lnTo>
                  <a:pt x="0" y="192024"/>
                </a:lnTo>
                <a:lnTo>
                  <a:pt x="640080" y="288036"/>
                </a:lnTo>
                <a:lnTo>
                  <a:pt x="0" y="384048"/>
                </a:lnTo>
                <a:lnTo>
                  <a:pt x="640080" y="480060"/>
                </a:lnTo>
                <a:lnTo>
                  <a:pt x="0" y="576072"/>
                </a:lnTo>
                <a:lnTo>
                  <a:pt x="640080" y="672084"/>
                </a:lnTo>
                <a:lnTo>
                  <a:pt x="0" y="768096"/>
                </a:lnTo>
              </a:path>
            </a:pathLst>
          </a:custGeom>
          <a:noFill xmlns:a="http://schemas.openxmlformats.org/drawingml/2006/main"/>
          <a:ln xmlns:a="http://schemas.openxmlformats.org/drawingml/2006/main" w="2540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479E6E8-7D76-472D-84E9-0E142B187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3246120"/>
            <a:ext cx="1051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60" b="1" i="0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առաձգական կախոց,  k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E02C80F-8535-4435-ABEC-5D6249FEA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246120"/>
            <a:ext cx="1097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60" b="1" i="0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առաձգական կախոց,  k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547F518-72F3-4C68-BF17-5554DB46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2651760"/>
            <a:ext cx="2377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40" b="1" i="0">
                <a:solidFill>
                  <a:srgbClr val="D98324"/>
                </a:solidFill>
                <a:latin typeface="DejaVu Sans Mono"/>
                <a:ea typeface="DejaVu Sans Mono"/>
                <a:cs typeface="DejaVu Sans Mono"/>
              </a:rPr>
              <a:t>բացակ  d ≈ 1–2 µm</a:t>
            </a:r>
          </a:p>
        </p:txBody>
      </p:sp>
      <p:sp>
        <p:nvSpPr>
          <p:cNvPr id="16" name="Left Brace 15">
            <a:extLst xmlns:a="http://schemas.openxmlformats.org/drawingml/2006/main">
              <a:ext uri="{FF2B5EF4-FFF2-40B4-BE49-F238E27FC236}">
                <a16:creationId xmlns:a16="http://schemas.microsoft.com/office/drawing/2014/main" id="{44C1B66E-DD33-4173-8231-AFAF8672B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8" y="2596896"/>
            <a:ext cx="164592" cy="329184"/>
          </a:xfrm>
          <a:prstGeom xmlns:a="http://schemas.openxmlformats.org/drawingml/2006/main" prst="leftBrace">
            <a:avLst/>
          </a:prstGeom>
          <a:noFill xmlns:a="http://schemas.openxmlformats.org/drawingml/2006/main"/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D5C20A4-8D9A-4EAC-B6CD-3B590E0C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3858768"/>
            <a:ext cx="2377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70" b="1" i="0">
                <a:solidFill>
                  <a:srgbClr val="D98324"/>
                </a:solidFill>
                <a:latin typeface="DejaVu Sans Mono"/>
                <a:ea typeface="DejaVu Sans Mono"/>
                <a:cs typeface="DejaVu Sans Mono"/>
              </a:rPr>
              <a:t>բացակ  d</a:t>
            </a:r>
          </a:p>
        </p:txBody>
      </p:sp>
      <p:sp>
        <p:nvSpPr>
          <p:cNvPr id="18" name="Left Brace 17">
            <a:extLst xmlns:a="http://schemas.openxmlformats.org/drawingml/2006/main">
              <a:ext uri="{FF2B5EF4-FFF2-40B4-BE49-F238E27FC236}">
                <a16:creationId xmlns:a16="http://schemas.microsoft.com/office/drawing/2014/main" id="{83E189FF-1A36-4F9A-BBE2-092C0F2D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8" y="3803904"/>
            <a:ext cx="164592" cy="329184"/>
          </a:xfrm>
          <a:prstGeom xmlns:a="http://schemas.openxmlformats.org/drawingml/2006/main" prst="leftBrace">
            <a:avLst/>
          </a:prstGeom>
          <a:noFill xmlns:a="http://schemas.openxmlformats.org/drawingml/2006/main"/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9436156-FD2D-43D2-B649-BA48FC750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92040"/>
            <a:ext cx="10874959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spcAft>
                <a:spcPts val="600"/>
              </a:spcAft>
              <a:buNone/>
            </a:pPr>
            <a:r>
              <a:rPr sz="180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Արագացման դեպքում իներտ զանգվածը տեղաշարժվում է։ Մի բացակը մեծանում է, մյուսը՝ փոքրանում, և տարբերակային ունակությունը դառնում է ելքային ազդանշան։</a:t>
            </a:r>
          </a:p>
          <a:p xmlns:a="http://schemas.openxmlformats.org/drawingml/2006/main">
            <a:pPr algn="l">
              <a:lnSpc>
                <a:spcPct val="125000"/>
              </a:lnSpc>
              <a:spcAft>
                <a:spcPts val="600"/>
              </a:spcAft>
              <a:buNone/>
            </a:pPr>
            <a:r>
              <a:rPr sz="172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Խածատումը, կառուցվածքի ազատումը, պատյանավորումն ու զոդումը կարող են փոխել d բացակը և զրոյական շեղումը։</a:t>
            </a:r>
          </a:p>
        </p:txBody>
      </p:sp>
    </p:spTree>
    <p:extLst>
      <p:ext uri="{BB962C8B-B14F-4D97-AF65-F5344CB8AC3E}">
        <p14:creationId xmlns:p14="http://schemas.microsoft.com/office/powerpoint/2010/main" val="73617700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1C8743E-6D88-44E5-A28B-A38E6BC36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4543A17-FF43-4867-B8F5-83C67A931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2CD8F24-EBF9-4B50-A896-187CD04BC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DE95D5-CE05-4F54-804C-878041D0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94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Իներտ զանգվածի կառուցվածքը նկարագրող երեք հարաբերություն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8073F6E-77FE-4150-AF59-9B2AA232A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76EBD2-DCFC-4377-B7CC-DC7C94518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Արագաչափի զգայունությունն ու թողունակությունը կախված են m, k և d մեծություններից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2339F718-9E6B-459E-98B8-BA8EF460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11680"/>
            <a:ext cx="3493008" cy="804672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3175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300" b="1">
                <a:solidFill>
                  <a:srgbClr val="0E7C86"/>
                </a:solidFill>
                <a:latin typeface="Courier New"/>
                <a:ea typeface="Courier New"/>
                <a:cs typeface="Courier New"/>
              </a:rPr>
              <a:t>F = ma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770ADA5-174B-48B8-8B19-C2B9E0479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62656"/>
            <a:ext cx="334670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147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արագացումը ստեղծում է իներցիոն ուժ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BE7767D-01E1-4B89-88BE-807D5E260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259" y="2011680"/>
            <a:ext cx="3493008" cy="804672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3175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300" b="1">
                <a:solidFill>
                  <a:srgbClr val="0E7C86"/>
                </a:solidFill>
                <a:latin typeface="Courier New"/>
                <a:ea typeface="Courier New"/>
                <a:cs typeface="Courier New"/>
              </a:rPr>
              <a:t>x = ma / k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1BC99D4-A7CD-4631-A780-E487E7B99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9411" y="2962656"/>
            <a:ext cx="334670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16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առաձգական կախոցը ուժը վերածում է տեղաշարժի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E0EF6A5A-7914-452A-823E-27900D72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0" y="2011680"/>
            <a:ext cx="3493008" cy="804672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31750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300" b="1">
                <a:solidFill>
                  <a:srgbClr val="D98324"/>
                </a:solidFill>
                <a:latin typeface="Courier New"/>
                <a:ea typeface="Courier New"/>
                <a:cs typeface="Courier New"/>
              </a:rPr>
              <a:t>f₀ = (1/2π)√(k/m)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B642872-5792-4F72-9D63-E3482B8C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7302" y="2962656"/>
            <a:ext cx="334670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129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m-ը և k-ն սահմանում են ռեզոնանսն ու օգտագործելի թողունակությունը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7F134DE-D934-4D04-871D-418B0062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977639"/>
            <a:ext cx="10874959" cy="786384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87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Զգայունությունն ու հաճախականային թողունակությունը անկախ պարամետրեր չեն. երկուսն էլ որոշվում են նույն m և k մեծություններով։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C97E9BF-CB5B-4F49-9B63-3DDF76EA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83480"/>
            <a:ext cx="10874959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</a:pPr>
            <a:r>
              <a:rPr sz="135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Չափման տիրույթը փոխվում է էլեկտրոնային կարգավորմամբ, իսկ մեխանիկական m և k մեծությունները սահմանվում են արտադրության ընթացքում։</a:t>
            </a:r>
          </a:p>
        </p:txBody>
      </p:sp>
    </p:spTree>
    <p:extLst>
      <p:ext uri="{BB962C8B-B14F-4D97-AF65-F5344CB8AC3E}">
        <p14:creationId xmlns:p14="http://schemas.microsoft.com/office/powerpoint/2010/main" val="152649188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A7E324E-7504-4308-8847-82B4CFB68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FE1D59F-9395-470E-A393-47EB9699C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8F6281C-195E-4510-9C2F-6CFC1CD3D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0C4F0B1-C64E-4574-B222-E693C9E8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Կառուցվածքներ 2 և 3․ հեծան և թաղանթ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561EA51-728A-4060-8EF4-5822C825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2403EA2-4410-4AE2-BE80-07D42FC2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Միակողմանի ամրացված հեծան · խոռոչի վրա ամրացված թաղանթ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2FD598B-C9CF-4C4F-BA89-758704D4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20240"/>
            <a:ext cx="5349240" cy="2423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143BE8E-8F2F-4FC2-A304-441572D6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20240"/>
            <a:ext cx="5349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ՄԻԱԿՈՂՄԱՆԻ ԱՄՐԱՑՎԱԾ ՀԵԾԱՆ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B68AE43-D6DC-4863-B644-93772940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578608"/>
            <a:ext cx="5056632" cy="475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 w="1270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1">
                <a:solidFill>
                  <a:srgbClr val="1A1F24"/>
                </a:solidFill>
                <a:latin typeface="Courier New"/>
                <a:ea typeface="Courier New"/>
                <a:cs typeface="Courier New"/>
              </a:rPr>
              <a:t>k  ∝  E·w·t³ / L³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7AAF4CA-0441-4EFA-9192-D686F9957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00400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ԶԳՈՒՄ Է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352C188-A5CB-4CC7-B177-15DC4D01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3163824"/>
            <a:ext cx="350215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ուժ և տեղաշարժ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80EAE3D-C2EA-4F54-903E-3370EE95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58444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3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ԱՅՍ ԴԱՍԸՆԹԱՑՈՒՄ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1140E29-28F9-41C7-8524-BEC32F22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3547872"/>
            <a:ext cx="350215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L8 — ուժի և հպման տվիչներ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F2B2C873-6949-4A78-98AE-18FB7C1C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794760"/>
            <a:ext cx="5056632" cy="402336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98324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95737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1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Կոշտությունը համեմատական է t³-ին։ Ուստի հաստության 5 % շեղումը կոշտությունը փոխում է մոտ 16 %-ով։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1BF94C8-F400-4201-A379-479F9E753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920240"/>
            <a:ext cx="5349240" cy="2423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5F44D7D-540D-44DB-AB8B-5BD526CD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920240"/>
            <a:ext cx="5349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ԹԱՂԱՆԹ՝ ԽՈՌՈՉԻ ՎՐԱ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DF044FB9-4C5E-4CCC-8215-53BA17955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2578608"/>
            <a:ext cx="5056632" cy="475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 w="1270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1">
                <a:solidFill>
                  <a:srgbClr val="1A1F24"/>
                </a:solidFill>
                <a:latin typeface="DejaVu Sans Mono"/>
                <a:ea typeface="DejaVu Sans Mono"/>
                <a:cs typeface="DejaVu Sans Mono"/>
              </a:rPr>
              <a:t>ճկվածք  ∝  ΔP·a⁴ / (E·t³)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B3DFAF2-895F-4413-8FE6-136488DF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200400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ԶԳՈՒՄ Է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E92E798-B76C-4DFA-9BD7-9473C6AA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163824"/>
            <a:ext cx="350215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ճնշում, ձայն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7B48195-A28C-42FD-95A7-60F525017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58444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3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ԱՅՍ ԴԱՍԸՆԹԱՑՈՒՄ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3A13902-7EAF-4391-94CB-58F6C1F3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547872"/>
            <a:ext cx="350215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L8 ճնշում · L11 խոսափող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1888A4BC-118E-4C05-B3F5-3FF33CB42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794760"/>
            <a:ext cx="5056632" cy="402336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98324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9161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6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Թաղանթային ճնշման տվիչը իներտ զանգված չունի։ Այն արձագանքում է ճնշումների տարբերությանը։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525D0BE4-08D7-4AD9-A95A-9BF020632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617720"/>
            <a:ext cx="10874959" cy="786384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A1F24"/>
          </a:solidFill>
          <a:ln xmlns:a="http://schemas.openxmlformats.org/drawingml/2006/main" w="15875">
            <a:solidFill>
              <a:srgbClr val="1A1F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Առաձգական կախոցը և միակողմանի ամրացված հեծանը նույն հիմնական մեխանիկական տարրի տարբեր կիրառություններն են։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E7D21709-94AC-4193-9C6C-3A3A6635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577840"/>
            <a:ext cx="10874978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275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Խոռոչի կնքումը կամ օդանցքը որոշում է հենակետային ճնշումը։ Ուստի պատյանավորումը ճնշման տվիչի չափման շղթայի մասն է։</a:t>
            </a:r>
          </a:p>
        </p:txBody>
      </p:sp>
    </p:spTree>
    <p:extLst>
      <p:ext uri="{BB962C8B-B14F-4D97-AF65-F5344CB8AC3E}">
        <p14:creationId xmlns:p14="http://schemas.microsoft.com/office/powerpoint/2010/main" val="59928003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E994403-984E-452F-82EF-D4D483985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E6199D4-E342-48D3-B001-F0A7F22C9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9CA9601-B85C-49F4-8892-BC1D9252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472030F-C991-4F9E-9119-E350B24A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1036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Կառուցվածքներ 4 և 5․ ռեզոնատոր և սանրաձև տարր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3EDECF9-06AC-4D34-B8AC-FC586755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E66ECF0-F8C7-4348-B4B6-E2DEC8F9B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1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Ռեզոնատորը չափում է հաճախականության շեղումը, իսկ սանրաձև տարրը կարող է նաև գործարկել շարժումը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7554BC7-2067-4DDF-BDA8-A57772AC7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20240"/>
            <a:ext cx="5349240" cy="2423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C5A3F15-E6C3-4078-BF93-EABA04140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20240"/>
            <a:ext cx="5349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ՌԵԶՈՆԱՏՈՐ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4B2BE163-B59A-4117-BA8A-0D440B57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578608"/>
            <a:ext cx="5056632" cy="475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 w="1270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92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1">
                <a:solidFill>
                  <a:srgbClr val="1A1F24"/>
                </a:solidFill>
                <a:latin typeface="DejaVu Sans Mono"/>
                <a:ea typeface="DejaVu Sans Mono"/>
                <a:cs typeface="DejaVu Sans Mono"/>
              </a:rPr>
              <a:t>f₀-ն փոխվում է զանգվածի, լարման և ջերմաստիճանի ազդեցությամբ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2C35649-4FF6-4221-8DCE-F5752CF15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00400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ԶԳՈՒՄ Է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2ECF4A0-B8FC-464A-A6DB-F7686D5DE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3163824"/>
            <a:ext cx="350215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զանգված, գազ, ջերմաստիճան, ժամանակ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98FD5CA-2FFB-45A0-9AF9-3BBBF9517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58444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3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ԱՅՍ ԴԱՍԸՆԹԱՑՈՒՄ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9B12DE1-922D-4B4E-94F6-A20AB0A2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3547872"/>
            <a:ext cx="3502152" cy="423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9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L9 գազային տվիչներ · հաճախականային հենակետեր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4B18002D-EC2C-465C-97D4-84A5921C1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794760"/>
            <a:ext cx="5056632" cy="402336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98324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85014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5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Ռեզոնանսային տվիչում չափվում է հաճախականությունը, որը հնարավոր է որոշել շատ բարձր հարաբերական ճշտությամբ։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7C8EF19-6817-420E-B7AA-362C2134A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920240"/>
            <a:ext cx="5349240" cy="2423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E87A6E5A-C188-47FD-9263-AD091A38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920240"/>
            <a:ext cx="5349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7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ՍԱՆՐԱՁԵՎ ԿԱՌՈՒՑՎԱԾՔ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421D6F1B-2662-474B-B35B-85F159EB6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2578608"/>
            <a:ext cx="5056632" cy="475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 w="1270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1">
                <a:solidFill>
                  <a:srgbClr val="1A1F24"/>
                </a:solidFill>
                <a:latin typeface="Courier New"/>
                <a:ea typeface="Courier New"/>
                <a:cs typeface="Courier New"/>
              </a:rPr>
              <a:t>C = n·ε·A/d      F ∝ n·V²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6C33CD4-75FB-47BD-ADA5-A04435D6B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200400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ԶԳՈՒՄ Է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DB0EC62-7619-46FE-9515-66E3F49F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163824"/>
            <a:ext cx="350215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տեղաշարժ, ինչպես նաև գործարկող ուժ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FE4CE8B-54A6-46D3-BAA6-169E11FE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58444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3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ԱՅՍ ԴԱՍԸՆԹԱՑՈՒՄ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3B0B8FC-56FE-4003-9F98-C07F7892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547872"/>
            <a:ext cx="350215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L5 · L6 · L10 MEMS հայելի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DA21305B-2F3C-4819-9D02-5BD66093E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794760"/>
            <a:ext cx="5056632" cy="402336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98324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9161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6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Սանրաձև տարրը կարող է միաժամանակ լինել զգայուն տարր և էլեկտրաստատիկ շարժաբեր։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2E356AE1-B037-46F8-B69A-8DDFCEA4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617720"/>
            <a:ext cx="10874959" cy="786384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84902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Գործարկող սանրը պահպանում է իներտ զանգվածի տատանումը, իսկ ուղղահայաց զգայուն սանրը չափում է Կորիոլիսի շեղումը։ Այս սկզբունքով է աշխատում MEMS գիրոսկոպը։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61FDC555-2AED-45C7-B7CA-A9A60A0C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577840"/>
            <a:ext cx="10874978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275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n-ը մատների զույգերի թիվն է, իսկ d բացակը սահմանվում է ֆոտոլիթոգրաֆիայով և խածատմամբ։ Փոքր d-ն մեծացնում է ունակությունը։</a:t>
            </a:r>
          </a:p>
        </p:txBody>
      </p:sp>
    </p:spTree>
    <p:extLst>
      <p:ext uri="{BB962C8B-B14F-4D97-AF65-F5344CB8AC3E}">
        <p14:creationId xmlns:p14="http://schemas.microsoft.com/office/powerpoint/2010/main" val="156443604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DE590D5-F321-4415-A35F-F028D02A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208EA9C-FC00-4DD6-9E13-ADDFB2C32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2E5DD46-765D-484A-8AE3-C3DCAAB68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1597AE2-E095-45F3-973B-C9A8EF84C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1036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Հինգ հիմնական կառուցվածքների համեմատություն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C2D91D2-8563-4814-9A86-D36EA293B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59016E1-6C1F-4D11-8B92-6F04C8286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Կառուցվածքը, հիմնական հարաբերությունը, չափվող մեծությունն ու դասընթացի կիրառումը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658368" y="1920240"/>
          <a:ext xmlns:a="http://schemas.openxmlformats.org/drawingml/2006/main" cx="10874957" cy="3401568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2490"/>
                <a:gridCol w="3044988"/>
                <a:gridCol w="2609990"/>
                <a:gridCol w="2827489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1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Կառուցվածք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5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Հիմնական հարաբերություն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25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Չափվող մեծություն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6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Դասընթացում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09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Իներտ զանգված՝ կախոցի վրա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1A1F24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x = ma/k,  f₀ = (1/2π)√(k/m)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09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արագացում, անկյունային արագություն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L5 արագաչափ, L6 գիրոսկոպ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Միակողմանի ամրացված հեծան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1A1F24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k ∝ Ewt³/L³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ուժ, տեղաշարժ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L8 ուժ և հպում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Թաղանթ՝ խոռոչի վրա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1A1F24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w ∝ ΔPa⁴/(Et³)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ճնշում, ձայն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L8 ճնշում, L11 խոսափող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Ռեզոնատոր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1A1F24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չափվող մեծությունը փոխում է f₀-ն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6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զանգված, գազ, ջերմաստիճան, ժամանակ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04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L9 գազային տվիչ, հաճախականային հենակետ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Սանրաձև կառուցվածք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1A1F24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C = nεA/d,  F ∝ nV²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տեղաշարժ և գործարկող ուժ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L5, L6, L10 MEMS հայելի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A2EACD1A-5964-4465-8F4F-FD6D7A59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440680"/>
            <a:ext cx="10874959" cy="786384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AECD8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7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Այս հինգ կառուցվածքները բավարար են 5–11-րդ դասախոսությունների սարքերի մեխանիկական հիմքը հասկանալու համար։</a:t>
            </a:r>
          </a:p>
        </p:txBody>
      </p:sp>
    </p:spTree>
    <p:extLst>
      <p:ext uri="{BB962C8B-B14F-4D97-AF65-F5344CB8AC3E}">
        <p14:creationId xmlns:p14="http://schemas.microsoft.com/office/powerpoint/2010/main" val="182218627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CC9B70B-4C53-4F70-8AE8-C5702A381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CEDA04-ECE0-46EF-913C-F7B7B84F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5D2F849-947B-4C7F-8C50-9556E005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C97739A-F372-4F60-8D0E-EAAC4138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4320"/>
            <a:ext cx="1087495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90" b="1" i="0">
                <a:solidFill>
                  <a:srgbClr val="D98324"/>
                </a:solidFill>
                <a:latin typeface="DejaVu Sans"/>
                <a:ea typeface="DejaVu Sans"/>
                <a:cs typeface="DejaVu Sans"/>
              </a:rPr>
              <a:t>ՔՎԵԱՐԿՈՒԹՅՈՒՆ 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011FDB4-747E-4CA9-BD90-A6908C6F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58368"/>
            <a:ext cx="10874959" cy="1325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260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Նշված MEMS սարքերից ո՞ր երկուսը չեն պարունակում իներտ զանգված։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8F97E3A5-9A44-4068-BA17-85D2EEE8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57400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8D96F0B-0773-4F57-97CE-5A0B71C8F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176272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A61D1F-1B4E-4C3B-9ED6-9709838AB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85416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եռառանցք արագաչափ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D967490-9F4E-450E-B2EE-63682F5A0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862072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D7665C7-CE71-45EB-86DD-F2ECCB0B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980944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61C8875-74B6-4872-976E-F0395E67C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90088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տատանվող կառուցվածքով գիրոսկոպ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CD3947F8-BEC6-4330-BFA9-34F0684B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66744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831D639-C844-4CE7-B894-3B16840A5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785616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7692EB2-5599-4DE4-A726-756783AE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794760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բարոմետրական ճնշման տվիչ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351A40DF-3A74-4235-BE26-888D8E25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471416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80B5AAB-E201-484C-828C-3ABF0EA5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590288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94A2D52-990A-4FEF-88CC-587AC9A6B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99432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MEMS խոսափող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90015E7-2421-42E1-AB5A-8F6527D7F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541264"/>
            <a:ext cx="10874959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</a:pPr>
            <a:r>
              <a:rPr sz="15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Ընտրեք պատասխանը՝ հիմնվելով սարքի մեխանիկական կառուցվածքի վրա։</a:t>
            </a:r>
          </a:p>
        </p:txBody>
      </p:sp>
    </p:spTree>
    <p:extLst>
      <p:ext uri="{BB962C8B-B14F-4D97-AF65-F5344CB8AC3E}">
        <p14:creationId xmlns:p14="http://schemas.microsoft.com/office/powerpoint/2010/main" val="112809326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BF2D973-0457-4362-8B65-621CBFF41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2FF44C-2C0F-4EDC-A56E-83BE9588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02763F4-6175-40A0-9A66-2EC8F50C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2F0E2F0-66C0-4752-948E-91E2A3AFB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4320"/>
            <a:ext cx="1087495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90" b="1" i="0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ՔՎԵԱՐԿՈՒԹՅՈՒՆ 2   ·   ՊԱՏԱՍԽԱՆ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5D35A5C-E1FB-4091-9CEF-B694F809D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58368"/>
            <a:ext cx="10874959" cy="1325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260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Նշված MEMS սարքերից ո՞ր երկուսը չեն պարունակում իներտ զանգված։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0628DBD1-C8F6-4A29-B293-F8130506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57400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944C0E8-5E2B-4A45-97DC-5D23A4E2F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176272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462A370-7D5C-477A-A488-03EF6C28E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85416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եռառանցք արագաչափ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7FC4510-12BB-45EF-88A1-1CBF2ACB6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862072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08E33AB-B1F6-49AC-84DD-94D204D3B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980944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3174A81-72D6-4F69-9314-C2513C034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90088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տատանվող կառուցվածքով գիրոսկոպ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6A185632-4DC6-49BD-A65C-F1E36CFC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66744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CEDEF"/>
          </a:solidFill>
          <a:ln xmlns:a="http://schemas.openxmlformats.org/drawingml/2006/main" w="3175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AEBAAAA-5BEC-4476-A55E-F70DFB94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785616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0E7C86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4DBE665-5074-4921-8979-F526A1AB7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794760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բարոմետրական ճնշման տվիչ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D2221838-5C71-4A09-B6A0-31DF997A1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471416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0AF703F-168E-4AE0-9565-398408B3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590288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014A4D2-A126-40EE-AD09-4658D890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99432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MEMS խոսափող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464236B-875D-4C0A-A251-CCEF50C5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541264"/>
            <a:ext cx="10874959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</a:pPr>
            <a:r>
              <a:rPr sz="1500" b="0" i="1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Ֆիզիկական տեսանկյունից ճիշտ են և՛ C-ն, և՛ D-ն։ Ճնշման տվիչն ու խոսափողը կիրառում են թաղանթ և արձագանքում ճնշմանը, ոչ թե իներտ զանգվածի շարժմանը։</a:t>
            </a:r>
          </a:p>
        </p:txBody>
      </p:sp>
    </p:spTree>
    <p:extLst>
      <p:ext uri="{BB962C8B-B14F-4D97-AF65-F5344CB8AC3E}">
        <p14:creationId xmlns:p14="http://schemas.microsoft.com/office/powerpoint/2010/main" val="180291336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C9C1188-316C-4BBC-A97E-261FFA5BE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409C96E-FF8A-4A6D-9FF6-DD412C69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1665225-2362-47C5-834B-7624741C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17FC3F0-449D-4E77-A164-16C52583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926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Ինչպես են հինգ կառուցվածքները կիրառվում տարբեր տվիչներում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14FEF2D-36A5-40A7-8C91-644BCC9E1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4A761F9-FA63-43D4-9B5D-FD5EEA6F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Մոդուլ Բ-ի սարքերը և դրանց մեխանիկական ու փոխակերպման հիմքերը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658368" y="1920240"/>
          <a:ext xmlns:a="http://schemas.openxmlformats.org/drawingml/2006/main" cx="10874957" cy="362102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7495"/>
                <a:gridCol w="2827489"/>
                <a:gridCol w="3914985"/>
                <a:gridCol w="3044988"/>
              </a:tblGrid>
              <a:tr h="402336"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07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Դասախոսություն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Սարք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1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Կառուցվածք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Փոխակերպման սկզբունք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50" b="1">
                          <a:solidFill>
                            <a:srgbClr val="1A1F24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L5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արագաչափ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3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իներտ զանգված՝ կախոցի վրա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ունակային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50" b="1">
                          <a:solidFill>
                            <a:srgbClr val="1A1F24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L6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գիրոսկոպ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07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գործարկող սանր + իներտ զանգված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ունակային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50" b="1">
                          <a:solidFill>
                            <a:srgbClr val="1A1F24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L7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մագնիսաչափ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27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շարժվող կառուցվածք չկա</a:t>
                      </a:r>
                    </a:p>
                  </a:txBody>
                  <a:tcPr marL="91440" marR="91440" marT="27432" marB="27432" anchor="ctr">
                    <a:solidFill>
                      <a:srgbClr val="E4E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29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էլեկտրամագնիսական</a:t>
                      </a:r>
                    </a:p>
                  </a:txBody>
                  <a:tcPr marL="91440" marR="91440" marT="27432" marB="27432" anchor="ctr">
                    <a:solidFill>
                      <a:srgbClr val="E4E2D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50" b="1">
                          <a:solidFill>
                            <a:srgbClr val="1A1F24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L8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ճնշման տվիչ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թաղանթ՝ խոռոչի վրա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6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պիեզոռեզիստիվ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50" b="1">
                          <a:solidFill>
                            <a:srgbClr val="1A1F24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L8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ուժի կամ հպման տվիչ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միակողմանի ամրացված հեծան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6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պիեզոռեզիստիվ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50" b="1">
                          <a:solidFill>
                            <a:srgbClr val="1A1F24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L9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գազային տվիչ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4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ռեզոնատոր կամ միկրոտաքացուցիչ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28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ջերմային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50" b="1">
                          <a:solidFill>
                            <a:srgbClr val="1A1F24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L10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MEMS հայելի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07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սանրաձև կառուցվածք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6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էլեկտրաստատիկ գործարկում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50" b="1">
                          <a:solidFill>
                            <a:srgbClr val="1A1F24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L11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խոսափող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թաղանթ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ունակային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20B753A5-B635-4F84-B97C-D6123EC8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577840"/>
            <a:ext cx="10874959" cy="713232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A1F24"/>
          </a:solidFill>
          <a:ln xmlns:a="http://schemas.openxmlformats.org/drawingml/2006/main" w="15875">
            <a:solidFill>
              <a:srgbClr val="1A1F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Ութ սարք հիմնված է հինգ կառուցվածքի վրա։ Մագնիսաչափը միակն է, որի աշխատանքին շարժվող մեխանիկական կառուցվածք անհրաժեշտ չէ։</a:t>
            </a:r>
          </a:p>
        </p:txBody>
      </p:sp>
    </p:spTree>
    <p:extLst>
      <p:ext uri="{BB962C8B-B14F-4D97-AF65-F5344CB8AC3E}">
        <p14:creationId xmlns:p14="http://schemas.microsoft.com/office/powerpoint/2010/main" val="148503285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86D942D-6A76-4725-9DF0-91B0BC424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F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21A9D9D-0AE9-42F4-B050-DA77D94F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7A848C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8BE207C-523D-40F4-8D1D-F32B2DE77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7A848C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EB63260-058B-4671-9EC5-FFCA10F7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4320"/>
            <a:ext cx="1087495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i="0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1-ին բաժնի հիմնական գաղափարը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E9164A7-070E-42A7-BE4D-EE24E9AEE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65960"/>
            <a:ext cx="10874959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800" b="1" i="0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Տարբեր սարքեր,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800" b="1" i="0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ընդհանուր կառուցվածքներ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810446F-AD13-496C-A1C3-983905AC1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617720"/>
            <a:ext cx="1371600" cy="5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88016EF-6695-45F4-AC7A-5C00F2B1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92040"/>
            <a:ext cx="9960559" cy="11292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500" b="0" i="0">
                <a:solidFill>
                  <a:srgbClr val="B8C0C6"/>
                </a:solidFill>
                <a:latin typeface="DejaVu Sans"/>
                <a:ea typeface="DejaVu Sans"/>
                <a:cs typeface="DejaVu Sans"/>
              </a:rPr>
              <a:t>Տվիչների ընտանիքները հինգ մեխանիկական կառուցվածքների և վեց փոխակերպման սկզբունքների տարբեր համակցություններ են։ Մոդուլ Բ-ում նույն վերլուծական մեթոդը կկիրառվի յուրաքանչյուր սարքի նկատմամբ։</a:t>
            </a:r>
          </a:p>
        </p:txBody>
      </p:sp>
    </p:spTree>
    <p:extLst>
      <p:ext uri="{BB962C8B-B14F-4D97-AF65-F5344CB8AC3E}">
        <p14:creationId xmlns:p14="http://schemas.microsoft.com/office/powerpoint/2010/main" val="142296263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0AC79EC-EF50-4F46-9230-BC1523419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6F5A8D8-FE73-4990-84DE-B07B9D85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C7F8E9C-87BA-4B76-B165-62F1FC7E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6EB5D59-16FD-42C8-851F-53933125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Նույն ռեզոնատորը՝ չորս չափման խնդրում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7CD17DC-BB0C-4D18-BA11-FB5BFFD0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E232A6B-A690-4831-A509-2B9861F69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518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Կառուցվածքը նույնն է, իսկ չափվող մեծությունը փոխում է ռեզոնանսային հաճախականությունը տարբեր ճանապարհներով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DD8A448-0C68-414E-B18D-24C54378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103120"/>
            <a:ext cx="2560320" cy="566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8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ԶԱՆԳՎԱԾ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DB9ED7A-878F-4100-BF84-526A5FF18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43200"/>
            <a:ext cx="256032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70" b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մոլեկուլի նստեցումը մեծացնում է զանգվածը, և f₀-ն նվազում է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67A2F8E-053E-4D72-983D-88A649A21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03120"/>
            <a:ext cx="2560320" cy="566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ԳԱԶ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8C0FBEB-02E1-4A7B-A810-1B3DB6F65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43200"/>
            <a:ext cx="256032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ընտրողական ծածկույթը կլանում է գազը և փոխում զանգվածը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CE48878B-438A-4961-A866-5AACC348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2103120"/>
            <a:ext cx="2560320" cy="566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98324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ՋԵՐՄԱՍՏԻՃԱՆ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D8A3901-5257-4F1A-A0E8-62A894BC6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2743200"/>
            <a:ext cx="256032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ջերմաստիճանը փոխում է Յունգի մոդուլը և f₀-ն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A4C96D8-0D62-483F-9C06-EE62F5769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264" y="2103120"/>
            <a:ext cx="2560320" cy="566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8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ԺԱՄԱՆԱԿ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B673036-6267-45C8-B380-79A73582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264" y="2743200"/>
            <a:ext cx="256032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10" b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f₀-ն կայուն հենակետ է և ծառայում է որպես ելքային մեծություն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55725F4-4AB0-4040-8052-79372420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206240"/>
            <a:ext cx="10874959" cy="786384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AECD8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Նույն կառուցվածքն ու հավասարումը կարող են հիմք ծառայել չորս տարբեր սարքերի համար։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81C9753-59C0-44A0-A913-8157BFC8F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212080"/>
            <a:ext cx="10874959" cy="810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</a:pPr>
            <a:r>
              <a:rPr sz="19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Գազային տվիչում ջերմաստիճանի ազդեցությունը փոխհատուցվող սխալ է, իսկ ռեզոնանսային ջերմաչափում նույն ազդեցությունն օգտակար ազդանշանն է։</a:t>
            </a:r>
          </a:p>
        </p:txBody>
      </p:sp>
    </p:spTree>
    <p:extLst>
      <p:ext uri="{BB962C8B-B14F-4D97-AF65-F5344CB8AC3E}">
        <p14:creationId xmlns:p14="http://schemas.microsoft.com/office/powerpoint/2010/main" val="1922977276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2E361E3-31D2-4433-B88F-3082B9B5E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F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2BF2C8F-7843-4B1C-8870-8E856589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7A848C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41F09CA-2917-4C99-9443-FA3DD8B6C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7A848C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22AE689-D684-4D88-90A5-A56C1C6D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4320"/>
            <a:ext cx="1087495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i="0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ԲԱԺԻՆ 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D047984-1FE3-49DA-B02A-0A5B478AB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37360"/>
            <a:ext cx="904617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2850" b="1" i="0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Փոխակերպման սկզբունքները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2850" b="1" i="0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և ստատիկ արձագանքը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BD4C0A9-8E1B-4509-98B8-934E51B5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94760"/>
            <a:ext cx="1371600" cy="5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1B1C277-3694-4E7D-9102-61CE7047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160520"/>
            <a:ext cx="10874959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</a:pPr>
            <a:r>
              <a:rPr sz="1820" b="0" i="0">
                <a:solidFill>
                  <a:srgbClr val="B8C0C6"/>
                </a:solidFill>
                <a:latin typeface="DejaVu Sans"/>
                <a:ea typeface="DejaVu Sans"/>
                <a:cs typeface="DejaVu Sans"/>
              </a:rPr>
              <a:t>Ունակային · պիեզոռեզիստիվ · պիեզոէլեկտրական · ջերմային · էլեկտրամագնիսական · օպտիկական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</a:pPr>
            <a:r>
              <a:rPr sz="1900" b="0" i="0">
                <a:solidFill>
                  <a:srgbClr val="B8C0C6"/>
                </a:solidFill>
                <a:latin typeface="DejaVu Sans"/>
                <a:ea typeface="DejaVu Sans"/>
                <a:cs typeface="DejaVu Sans"/>
              </a:rPr>
              <a:t>Հիմնական հարցը․ արդյո՞ք սկզբունքն արձագանքում է հաստատուն մուտքային մեծությանը։</a:t>
            </a:r>
          </a:p>
        </p:txBody>
      </p:sp>
    </p:spTree>
    <p:extLst>
      <p:ext uri="{BB962C8B-B14F-4D97-AF65-F5344CB8AC3E}">
        <p14:creationId xmlns:p14="http://schemas.microsoft.com/office/powerpoint/2010/main" val="1123856072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D13DD4D-C789-4C89-888B-A0EF44FF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BAF4B3D-98DF-48BB-91D0-93F33744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C01CAC3-2884-4CCD-9851-73B12002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77E51D1-1385-45FE-AD1C-49ED709E6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66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Ունակային և պիեզոռեզիստիվ փոխակերպում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AA5433E-9F31-4296-8CC1-737BA699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880F8E-9303-43DE-BDEC-39A97379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9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Երկու սկզբունքներն էլ պահպանում են ելքային ազդանշանը հաստատուն մուտքի դեպքում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8EC3022-CA47-41AE-8A07-4778A0989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20240"/>
            <a:ext cx="5349240" cy="31272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DA72206-3D9F-420D-8CAA-E7391F74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20240"/>
            <a:ext cx="5349240" cy="5120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8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ՈՒՆԱԿԱՅԻՆ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4D9A065-BACA-44E4-B1D0-0CD24FF5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596896"/>
            <a:ext cx="5056632" cy="438912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ՀԱՍՏԱՏՈՒՆ ՄՈՒՏՔԻ ԱՐՁԱԳԱՆՔ․ ԱՅՈ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93AAB9B-7B6A-4CBC-B3E9-CA59B5D4E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00400"/>
            <a:ext cx="50566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ԱԶԴԱՆՇԱՆ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05EBFEF-8A0B-420E-956F-813278BE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419856"/>
            <a:ext cx="5056632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0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ֆեմտոֆարադների կարգի ունակություն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BA9CAE5-2A40-4D85-92B2-7217738C6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803904"/>
            <a:ext cx="50566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78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ՀԻՄՆԱԿԱՆ ԹՈՒՅԼ ԿՈՂՄԸ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56D21F5-94D5-4EF9-B92D-57B75968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023360"/>
            <a:ext cx="5056632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0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մակաբույծ ունակություն և մոտ տեղադրված էլեկտրոնիկայի պահանջ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DD6D2D4-17DF-447C-992A-02F0211DA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407408"/>
            <a:ext cx="50566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4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ԲԱՑԱՏՐՈՒՄ Է ՏՎՅԱԼՆԵՐԻ ԹԵՐԹԻԿԻ ՏՈՂԸ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4870309-8D0C-42AB-9CA5-4D6509FC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626864"/>
            <a:ext cx="5056632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0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երկարատև թեքության չափման հնարավորություն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B47D8151-9C4E-44EA-9395-6BBC0C79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920240"/>
            <a:ext cx="5349240" cy="31272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412B81FB-ACBB-4413-B449-C9E81FAA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920240"/>
            <a:ext cx="5349240" cy="5120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89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ՊԻԵԶՈՌԵԶԻՍՏԻՎ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2CE7DBAF-A510-40DF-8973-1B8FC581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2596896"/>
            <a:ext cx="5056632" cy="438912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ՀԱՍՏԱՏՈՒՆ ՄՈՒՏՔԻ ԱՐՁԱԳԱՆՔ․ ԱՅՈ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7E9803A-664C-400E-AEFE-D2F227231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200400"/>
            <a:ext cx="50566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ԱԶԴԱՆՇԱՆ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F6FBB896-8094-4F5C-8BE4-4223DBDE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419856"/>
            <a:ext cx="5056632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0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միլիվոլտերի կարգի կամրջակային ելք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A28A436-A0A8-4EF4-BB7F-1793743E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803904"/>
            <a:ext cx="50566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78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ՀԻՄՆԱԿԱՆ ԹՈՒՅԼ ԿՈՂՄԸ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EB3A560-CDA7-45D5-B702-BC3B4D153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4023360"/>
            <a:ext cx="505663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0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դիմադրության և տենզոզգայունության ջերմաստիճանային կախում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BE23E47-3EDF-42F8-AE7C-AE5BB71F4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4407408"/>
            <a:ext cx="50566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4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ԲԱՑԱՏՐՈՒՄ Է ՏՎՅԱԼՆԵՐԻ ԹԵՐԹԻԿԻ ՏՈՂԸ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337ED0ED-7149-4B92-97FA-EB57DCB1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4626864"/>
            <a:ext cx="5056632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0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ճնշման տվիչի ջերմաստիճանային փոխհատուցում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729AA83A-83F4-422D-BE4A-FD745E51C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257800"/>
            <a:ext cx="10874959" cy="82296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A1F24"/>
          </a:solidFill>
          <a:ln xmlns:a="http://schemas.openxmlformats.org/drawingml/2006/main" w="15875">
            <a:solidFill>
              <a:srgbClr val="1A1F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83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Ունակային տվիչը չափում է բացակի փոփոխությունը, իսկ պիեզոռեզիստիվ տվիչը՝ մեխանիկական դեֆորմացիան։ Երկուսն էլ արձագանքում են հաստատուն մուտքին։</a:t>
            </a:r>
          </a:p>
        </p:txBody>
      </p:sp>
    </p:spTree>
    <p:extLst>
      <p:ext uri="{BB962C8B-B14F-4D97-AF65-F5344CB8AC3E}">
        <p14:creationId xmlns:p14="http://schemas.microsoft.com/office/powerpoint/2010/main" val="155753621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5F99227-CE28-458F-8031-4233BC190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ACFC9B8-E224-498D-AD9C-7DE58CBC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5099999-40D5-43C8-B61F-F0B189A63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0E136F1-2BD6-4627-8816-535167D1B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64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Պիեզոէլեկտրական փոխակերպման սահմանափակումը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62C8249-CB0F-4AD9-B37C-94CEE335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B0D92BA-EF63-4D27-8071-5450F3A3D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518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Ինքնագեներացվող ազդանշան, բայց հաստատուն մեծության երկարատև չափում հնարավոր չէ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067A3EB-896C-402C-8D17-89F48703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20240"/>
            <a:ext cx="5349240" cy="31272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C0392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C929B28-3EF2-4E2E-9C7F-EAE4B4F9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20240"/>
            <a:ext cx="5349240" cy="5120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392B"/>
          </a:solidFill>
          <a:ln xmlns:a="http://schemas.openxmlformats.org/drawingml/2006/main" w="15875">
            <a:solidFill>
              <a:srgbClr val="C0392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7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ՊԻԵԶՈԷԼԵԿՏՐԱԿԱՆ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C8FB102-41C3-487A-B92A-412E8A2F5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596896"/>
            <a:ext cx="5056632" cy="438912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C0392B"/>
          </a:solidFill>
          <a:ln xmlns:a="http://schemas.openxmlformats.org/drawingml/2006/main" w="15875">
            <a:solidFill>
              <a:srgbClr val="C0392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ՀԱՍՏԱՏՈՒՆ ՄՈՒՏՔԻ ԱՐՁԱԳԱՆՔ․ ՈՉ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1C9411B-3A0C-4EF1-A4EC-F855C8093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00400"/>
            <a:ext cx="50566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ԱԶԴԱՆՇԱՆ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3EE4E6D-9769-4B1B-B33A-44448BA2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419856"/>
            <a:ext cx="5056632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0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ինքնագեներացվող էլեկտրական լիցք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02D6756-3AF9-4251-9B12-A0C54068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803904"/>
            <a:ext cx="50566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78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ՀԻՄՆԱԿԱՆ ԹՈՒՅԼ ԿՈՂՄԸ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07DAC89-F426-427F-880B-B4310FA4D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023360"/>
            <a:ext cx="5056632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0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հաստատուն բաղադրիչի արձագանք չկա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FB128F5-E6F9-4149-9B0D-16E753E4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407408"/>
            <a:ext cx="50566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4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ԲԱՑԱՏՐՈՒՄ Է ՏՎՅԱԼՆԵՐԻ ԹԵՐԹԻԿԻ ՏՈՂԸ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7357111-C93F-441C-9C19-1C58FE45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626864"/>
            <a:ext cx="5056632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0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տատանման տվիչի ցածր հաճախականային սահման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E689311-CF12-4D41-97A4-F8AF046B4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11680"/>
            <a:ext cx="5029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30" b="1" i="0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ԹԵՔՈՒԹՅՈՒՆ՝ 0.5°-ով փոփոխված և հաստատուն պահված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C3446EAA-9C59-4240-BB25-5ECFCAB9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273552"/>
            <a:ext cx="475488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2D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Freeform 18">
            <a:extLst xmlns:a="http://schemas.openxmlformats.org/drawingml/2006/main">
              <a:ext uri="{FF2B5EF4-FFF2-40B4-BE49-F238E27FC236}">
                <a16:creationId xmlns:a16="http://schemas.microsoft.com/office/drawing/2014/main" id="{6512CEDB-8152-459A-B079-E6DFD873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560320"/>
            <a:ext cx="4754880" cy="713232"/>
          </a:xfrm>
          <a:custGeom xmlns:a="http://schemas.openxmlformats.org/drawingml/2006/main">
            <a:rect l="l" t="t" r="r" b="b"/>
            <a:pathLst>
              <a:path w="4754880" h="713232">
                <a:moveTo>
                  <a:pt x="0" y="713232"/>
                </a:moveTo>
                <a:lnTo>
                  <a:pt x="914400" y="713232"/>
                </a:lnTo>
                <a:lnTo>
                  <a:pt x="914400" y="0"/>
                </a:lnTo>
                <a:lnTo>
                  <a:pt x="47548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18E6B40-0158-49C8-A138-00B126478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2651760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 i="0">
                <a:solidFill>
                  <a:srgbClr val="0E7C86"/>
                </a:solidFill>
                <a:latin typeface="DejaVu Sans Mono"/>
                <a:ea typeface="DejaVu Sans Mono"/>
                <a:cs typeface="DejaVu Sans Mono"/>
              </a:rPr>
              <a:t>պահվում է տարիներ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0F4687D-549F-471D-B038-995F7F27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703320"/>
            <a:ext cx="5029200" cy="396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 i="0">
                <a:solidFill>
                  <a:srgbClr val="C0392B"/>
                </a:solidFill>
                <a:latin typeface="DejaVu Sans"/>
                <a:ea typeface="DejaVu Sans"/>
                <a:cs typeface="DejaVu Sans"/>
              </a:rPr>
              <a:t>ՊԻԵԶՈԷԼԵԿՏՐԱԿԱՆ ԵԼՔ՝ մարում է ուժեղարարի τ ժամանակային հաստատունով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B9237D9B-0CAE-4573-BC83-7455AD36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956048"/>
            <a:ext cx="475488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2D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Freeform 22">
            <a:extLst xmlns:a="http://schemas.openxmlformats.org/drawingml/2006/main">
              <a:ext uri="{FF2B5EF4-FFF2-40B4-BE49-F238E27FC236}">
                <a16:creationId xmlns:a16="http://schemas.microsoft.com/office/drawing/2014/main" id="{BC402D89-BD58-434A-9585-6EF57F26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242816"/>
            <a:ext cx="4754880" cy="713232"/>
          </a:xfrm>
          <a:custGeom xmlns:a="http://schemas.openxmlformats.org/drawingml/2006/main">
            <a:rect l="l" t="t" r="r" b="b"/>
            <a:pathLst>
              <a:path w="4754880" h="713232">
                <a:moveTo>
                  <a:pt x="0" y="713232"/>
                </a:moveTo>
                <a:lnTo>
                  <a:pt x="914400" y="713232"/>
                </a:lnTo>
                <a:lnTo>
                  <a:pt x="914400" y="0"/>
                </a:lnTo>
                <a:lnTo>
                  <a:pt x="914400" y="0"/>
                </a:lnTo>
                <a:lnTo>
                  <a:pt x="978408" y="39292"/>
                </a:lnTo>
                <a:lnTo>
                  <a:pt x="1042416" y="76420"/>
                </a:lnTo>
                <a:lnTo>
                  <a:pt x="1106424" y="111503"/>
                </a:lnTo>
                <a:lnTo>
                  <a:pt x="1170432" y="144653"/>
                </a:lnTo>
                <a:lnTo>
                  <a:pt x="1234440" y="175976"/>
                </a:lnTo>
                <a:lnTo>
                  <a:pt x="1298448" y="205574"/>
                </a:lnTo>
                <a:lnTo>
                  <a:pt x="1362456" y="233541"/>
                </a:lnTo>
                <a:lnTo>
                  <a:pt x="1426464" y="259968"/>
                </a:lnTo>
                <a:lnTo>
                  <a:pt x="1490472" y="284939"/>
                </a:lnTo>
                <a:lnTo>
                  <a:pt x="1554480" y="308534"/>
                </a:lnTo>
                <a:lnTo>
                  <a:pt x="1618488" y="330829"/>
                </a:lnTo>
                <a:lnTo>
                  <a:pt x="1682496" y="351896"/>
                </a:lnTo>
                <a:lnTo>
                  <a:pt x="1746504" y="371802"/>
                </a:lnTo>
                <a:lnTo>
                  <a:pt x="1810512" y="390612"/>
                </a:lnTo>
                <a:lnTo>
                  <a:pt x="1874520" y="408385"/>
                </a:lnTo>
                <a:lnTo>
                  <a:pt x="1938528" y="425180"/>
                </a:lnTo>
                <a:lnTo>
                  <a:pt x="2002536" y="441049"/>
                </a:lnTo>
                <a:lnTo>
                  <a:pt x="2066544" y="456044"/>
                </a:lnTo>
                <a:lnTo>
                  <a:pt x="2130552" y="470212"/>
                </a:lnTo>
                <a:lnTo>
                  <a:pt x="2194560" y="483601"/>
                </a:lnTo>
                <a:lnTo>
                  <a:pt x="2258568" y="496251"/>
                </a:lnTo>
                <a:lnTo>
                  <a:pt x="2322576" y="508205"/>
                </a:lnTo>
                <a:lnTo>
                  <a:pt x="2386584" y="519500"/>
                </a:lnTo>
                <a:lnTo>
                  <a:pt x="2450592" y="530173"/>
                </a:lnTo>
                <a:lnTo>
                  <a:pt x="2514600" y="540258"/>
                </a:lnTo>
                <a:lnTo>
                  <a:pt x="2578608" y="549787"/>
                </a:lnTo>
                <a:lnTo>
                  <a:pt x="2642616" y="558791"/>
                </a:lnTo>
                <a:lnTo>
                  <a:pt x="2706624" y="567300"/>
                </a:lnTo>
                <a:lnTo>
                  <a:pt x="2770632" y="575339"/>
                </a:lnTo>
                <a:lnTo>
                  <a:pt x="2834640" y="582936"/>
                </a:lnTo>
                <a:lnTo>
                  <a:pt x="2898648" y="590114"/>
                </a:lnTo>
                <a:lnTo>
                  <a:pt x="2962656" y="596897"/>
                </a:lnTo>
                <a:lnTo>
                  <a:pt x="3026664" y="603306"/>
                </a:lnTo>
                <a:lnTo>
                  <a:pt x="3090672" y="609362"/>
                </a:lnTo>
                <a:lnTo>
                  <a:pt x="3154680" y="615084"/>
                </a:lnTo>
                <a:lnTo>
                  <a:pt x="3218688" y="620491"/>
                </a:lnTo>
                <a:lnTo>
                  <a:pt x="3282696" y="625600"/>
                </a:lnTo>
                <a:lnTo>
                  <a:pt x="3346704" y="630428"/>
                </a:lnTo>
                <a:lnTo>
                  <a:pt x="3410712" y="634989"/>
                </a:lnTo>
                <a:lnTo>
                  <a:pt x="3474720" y="639300"/>
                </a:lnTo>
                <a:lnTo>
                  <a:pt x="3538728" y="643373"/>
                </a:lnTo>
                <a:lnTo>
                  <a:pt x="3602736" y="647221"/>
                </a:lnTo>
                <a:lnTo>
                  <a:pt x="3666744" y="650858"/>
                </a:lnTo>
                <a:lnTo>
                  <a:pt x="3730752" y="654294"/>
                </a:lnTo>
                <a:lnTo>
                  <a:pt x="3794760" y="657541"/>
                </a:lnTo>
                <a:lnTo>
                  <a:pt x="3858768" y="660609"/>
                </a:lnTo>
                <a:lnTo>
                  <a:pt x="3922776" y="663508"/>
                </a:lnTo>
                <a:lnTo>
                  <a:pt x="3986784" y="666248"/>
                </a:lnTo>
                <a:lnTo>
                  <a:pt x="4050792" y="668836"/>
                </a:lnTo>
                <a:lnTo>
                  <a:pt x="4114800" y="671282"/>
                </a:lnTo>
                <a:lnTo>
                  <a:pt x="4178808" y="673593"/>
                </a:lnTo>
                <a:lnTo>
                  <a:pt x="4242816" y="675777"/>
                </a:lnTo>
                <a:lnTo>
                  <a:pt x="4306824" y="677840"/>
                </a:lnTo>
                <a:lnTo>
                  <a:pt x="4370832" y="679790"/>
                </a:lnTo>
                <a:lnTo>
                  <a:pt x="4434840" y="681632"/>
                </a:lnTo>
                <a:lnTo>
                  <a:pt x="4498848" y="683373"/>
                </a:lnTo>
                <a:lnTo>
                  <a:pt x="4562856" y="685018"/>
                </a:lnTo>
                <a:lnTo>
                  <a:pt x="4626864" y="686572"/>
                </a:lnTo>
                <a:lnTo>
                  <a:pt x="4690872" y="688041"/>
                </a:lnTo>
                <a:lnTo>
                  <a:pt x="4754880" y="689429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C0392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8613A329-0DE6-47AD-88DD-C6CB23976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4590288"/>
            <a:ext cx="8229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 i="0">
                <a:solidFill>
                  <a:srgbClr val="C0392B"/>
                </a:solidFill>
                <a:latin typeface="Courier New"/>
                <a:ea typeface="Courier New"/>
                <a:cs typeface="Courier New"/>
              </a:rPr>
              <a:t>→ 0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4DD59A7A-0A85-4DB9-9A24-3F82A138A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257800"/>
            <a:ext cx="10874959" cy="82296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7DFDC"/>
          </a:solidFill>
          <a:ln xmlns:a="http://schemas.openxmlformats.org/drawingml/2006/main" w="15875">
            <a:solidFill>
              <a:srgbClr val="C0392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91873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Պիեզոէլեկտրական տարրը արձագանքում է մեխանիկական լարման փոփոխությանը։ Հաստատուն մուտքի դեպքում ելքը ժամանակի ընթացքում նվազում է մինչև զրո։</a:t>
            </a:r>
          </a:p>
        </p:txBody>
      </p:sp>
    </p:spTree>
    <p:extLst>
      <p:ext uri="{BB962C8B-B14F-4D97-AF65-F5344CB8AC3E}">
        <p14:creationId xmlns:p14="http://schemas.microsoft.com/office/powerpoint/2010/main" val="13615677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170E660-6566-4698-B782-8A6C85A12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092BEB7-CE7C-4592-B029-F40F7098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0B5EB76-2E2D-44C8-80F9-3D268676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0EB10B6-526F-4C7D-AA72-2EC54FBB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1036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Ջերմային և էլեկտրամագնիսական փոխակերպում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7128684-5CD8-4FB9-9321-BEBEF32C0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721D3C7-ED52-4703-82CF-25209C483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1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Երկու սկզբունքներն էլ կիրառվում են Մոդուլ Բ-ի տվիչներում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21F653C-7F9A-45D3-97EF-5191CBA84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20240"/>
            <a:ext cx="5349240" cy="31272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B36FF6E-6C64-4BC5-839F-CF430CE9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20240"/>
            <a:ext cx="5349240" cy="5120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9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ՋԵՐՄԱՅԻՆ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DF45DE8-B795-4210-BFD4-F89164F01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596896"/>
            <a:ext cx="5056632" cy="438912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98324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ՀԱՍՏԱՏՈՒՆ ՄՈՒՏՔԻ ԱՐՁԱԳԱՆՔ․ ԱՅՈ, ԴԱՆԴԱՂ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299BFEA-B052-4DEC-B718-A2131A4F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00400"/>
            <a:ext cx="50566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ԱԶԴԱՆՇԱՆ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CB61DDA-D0C0-4C8F-B2E0-2A79A3E1D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419856"/>
            <a:ext cx="5056632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0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միկրովոլտերի կարգի լարում կամ ΔR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F551A15-A9E9-4258-AB91-731B4CBD1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803904"/>
            <a:ext cx="50566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78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ՀԻՄՆԱԿԱՆ ԹՈՒՅԼ ԿՈՂՄԸ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F2D6D55-3FE8-4598-9FD7-EF5A0686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023360"/>
            <a:ext cx="5056632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0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դանդաղ արձագանք և ինքնատաքացում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AEBD0C4-4FBD-43E9-B1EB-88F5A922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407408"/>
            <a:ext cx="50566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4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ԲԱՑԱՏՐՈՒՄ Է ՏՎՅԱԼՆԵՐԻ ԹԵՐԹԻԿԻ ՏՈՂԸ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603FF5F-A219-455E-BF03-7087EC6A2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626864"/>
            <a:ext cx="5056632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0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գազային տվիչի տաքացման ժամանակ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2100EF8-4D35-4A69-81F9-CE93DBBAA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920240"/>
            <a:ext cx="5349240" cy="31272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6A98DE2E-B79D-4355-BDBE-6896068F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920240"/>
            <a:ext cx="5349240" cy="5120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ԷԼԵԿՏՐԱՄԱԳՆԻՍԱԿԱՆ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A9C289F4-D03D-4724-BD3D-398ECB97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2596896"/>
            <a:ext cx="5056632" cy="438912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ՀԱՍՏԱՏՈՒՆ ՄՈՒՏՔԻ ԱՐՁԱԳԱՆՔ․ ԱՅՈ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2ED1278-6D77-4BD1-A369-86BEBB17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200400"/>
            <a:ext cx="50566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ԱԶԴԱՆՇԱՆ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2CA51A34-CB5E-4D38-9080-6E6D85762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419856"/>
            <a:ext cx="5056632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0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մեծ, ցածր դիմադրությամբ ելք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7B844320-A55C-429A-B0C0-3DF858327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803904"/>
            <a:ext cx="50566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78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ՀԻՄՆԱԿԱՆ ԹՈՒՅԼ ԿՈՂՄԸ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96FEC9D-0ACF-418F-896A-8123D4BB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4023360"/>
            <a:ext cx="505663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0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փոքրացման դժվարություն և արտաքին մագնիսական խանգարումներ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FDEBF17E-78BD-4910-952F-D5164B41B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4407408"/>
            <a:ext cx="50566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4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ԲԱՑԱՏՐՈՒՄ Է ՏՎՅԱԼՆԵՐԻ ԹԵՐԹԻԿԻ ՏՈՂԸ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262EE6A7-91C9-4218-8B53-69E1B9C43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4626864"/>
            <a:ext cx="5056632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0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«կոշտ» և «փափուկ» երկաթի աղավաղումներ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83E18019-E222-44C4-B2FF-9EF17FDB5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257800"/>
            <a:ext cx="10874959" cy="82296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AECD8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88513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839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Ջերմային տվիչը կարող է ինքնատաքացմամբ փոխել չափվող միջավայրը։ Էլեկտրամագնիսական սկզբունքի արդյունավետությունը փոքրացման դեպքում սովորաբար նվազում է։</a:t>
            </a:r>
          </a:p>
        </p:txBody>
      </p:sp>
    </p:spTree>
    <p:extLst>
      <p:ext uri="{BB962C8B-B14F-4D97-AF65-F5344CB8AC3E}">
        <p14:creationId xmlns:p14="http://schemas.microsoft.com/office/powerpoint/2010/main" val="199722069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F8519AB-EBC4-43CC-960E-4417A647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E1DD2AA-8111-4BE8-A08C-06FDC1812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B02DA1A-3BCC-49A3-BFFE-D05AA6819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D7E0E78-F9D5-457E-87F1-74AF44D2C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68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Օպտիկական փոխակերպում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70D8932-CA7A-45E5-9B0F-3B1D5859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C252E4B-581F-4C31-8BF5-66DE7255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518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Բարձր ազդանշան և լուծաչափ, բայց խիստ պահանջներ օպտիկական ուղու ու պատյանի նկատմամբ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54832E0-D175-45D8-9E74-DDD797DC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20240"/>
            <a:ext cx="5349240" cy="31272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CA381C4-12CB-42C8-9018-58461CC1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20240"/>
            <a:ext cx="5349240" cy="5120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2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ՕՊՏԻԿԱԿԱՆ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0166454-3618-4F93-A86A-962C7FC9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596896"/>
            <a:ext cx="5056632" cy="438912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ՀԱՍՏԱՏՈՒՆ ՄՈՒՏՔԻ ԱՐՁԱԳԱՆՔ․ ԱՅՈ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ACFD02B-AC17-4A1F-B644-3F7448FD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00400"/>
            <a:ext cx="50566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ԱԶԴԱՆՇԱՆ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79EF48A-7546-4A49-A25C-5EDCDD5E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419856"/>
            <a:ext cx="5056632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0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մեծ ելքային ազդանշան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8AC2E9A-D25D-4566-9ADE-F6DF7B46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803904"/>
            <a:ext cx="50566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78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ՀԻՄՆԱԿԱՆ ԹՈՒՅԼ ԿՈՂՄԸ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65925C6-B823-4480-AC15-C09C1AB61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023360"/>
            <a:ext cx="5056632" cy="47914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0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մաքուր օպտիկական պատուհան և շրջակա լույսի ազդեցություն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CDA1923-27D3-41AB-B714-F57F85CB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407408"/>
            <a:ext cx="50566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4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ԲԱՑԱՏՐՈՒՄ Է ՏՎՅԱԼՆԵՐԻ ԹԵՐԹԻԿԻ ՏՈՂԸ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24D1D80-C509-4F16-BC24-242438B02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626864"/>
            <a:ext cx="5056632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0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պաշտպանիչ պատուհանի նախագծում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0B84898-827F-4745-925D-45DBC7A5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965960"/>
            <a:ext cx="5349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5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ԵՐԵՔ ՍԿԶԲՈՒՆՔՆԵՐԻ ՀԵՏԱԳԱ ԿԻՐԱՌՈՒՄՆԵՐԸ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2659FB4-B483-46AB-869F-797E118F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2377440"/>
            <a:ext cx="749808" cy="566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>
                <a:solidFill>
                  <a:srgbClr val="F7F5F1"/>
                </a:solidFill>
                <a:latin typeface="Courier New"/>
                <a:ea typeface="Courier New"/>
                <a:cs typeface="Courier New"/>
              </a:rPr>
              <a:t>L7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E0E1393-A062-4C02-BC28-26F30BA2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2395728"/>
            <a:ext cx="4434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0" b="1" i="0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էլեկտրամագնիսական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88F27AB0-B94B-461D-8C87-675E3FE5A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2651760"/>
            <a:ext cx="443484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45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մագնիսաչափեր և տեղում կատարվող չափաբերում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A2E8476B-2CA0-4790-BAB0-C01749D7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3127248"/>
            <a:ext cx="749808" cy="566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>
                <a:solidFill>
                  <a:srgbClr val="F7F5F1"/>
                </a:solidFill>
                <a:latin typeface="Courier New"/>
                <a:ea typeface="Courier New"/>
                <a:cs typeface="Courier New"/>
              </a:rPr>
              <a:t>L9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7736F74-8782-4546-A797-8B9BC796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3145536"/>
            <a:ext cx="4434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10" b="1" i="0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ջերմային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5A25E054-BDE0-4F4B-ACC9-A6277CCE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3401568"/>
            <a:ext cx="4434840" cy="4718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29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գազային տվիչներ, ինքնատաքացում և տաքացման ժամանակ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EF3F77B2-8DFC-4F38-BF86-6525876D9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3877056"/>
            <a:ext cx="749808" cy="566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>
                <a:solidFill>
                  <a:srgbClr val="F7F5F1"/>
                </a:solidFill>
                <a:latin typeface="Courier New"/>
                <a:ea typeface="Courier New"/>
                <a:cs typeface="Courier New"/>
              </a:rPr>
              <a:t>L10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CB2CD094-BC54-45AD-919E-B4100334E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3895344"/>
            <a:ext cx="4434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60" b="1" i="0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օպտիկական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E9FC0EBE-7C51-46FB-92A9-33219ED1B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4151376"/>
            <a:ext cx="4434840" cy="50474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8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հայելիներ և պաշտպանիչ պատուհանի նախագծում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E66FA8E1-1AFC-4353-A7FA-1B767B0E8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4663440"/>
            <a:ext cx="5349240" cy="38404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7F5F1"/>
          </a:solidFill>
          <a:ln xmlns:a="http://schemas.openxmlformats.org/drawingml/2006/main" w="15875">
            <a:solidFill>
              <a:srgbClr val="6B768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71871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Այս երեք սկզբունքները մանրամասն կքննարկվեն համապատասխան սարքերի դասախոսություններում։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8023FEFD-0828-4496-A60E-59AFC47F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257800"/>
            <a:ext cx="10874959" cy="82296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A1F24"/>
          </a:solidFill>
          <a:ln xmlns:a="http://schemas.openxmlformats.org/drawingml/2006/main" w="15875">
            <a:solidFill>
              <a:srgbClr val="1A1F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Օպտիկական տվիչում պատուհանը չափման ուղու մասն է։ Առանց համապատասխան պատուհանի չափումը հնարավոր չէ։</a:t>
            </a:r>
          </a:p>
        </p:txBody>
      </p:sp>
    </p:spTree>
    <p:extLst>
      <p:ext uri="{BB962C8B-B14F-4D97-AF65-F5344CB8AC3E}">
        <p14:creationId xmlns:p14="http://schemas.microsoft.com/office/powerpoint/2010/main" val="1223497341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6A6D85F-0FF8-4560-B2AB-F4DC3212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272387B-DB8B-4F82-BEF9-716260D0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BD744A2-99F9-4EC7-AED1-4D42013D9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919B69D-C5BF-4D17-818D-F7638AD26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4320"/>
            <a:ext cx="1087495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90" b="1" i="0">
                <a:solidFill>
                  <a:srgbClr val="D98324"/>
                </a:solidFill>
                <a:latin typeface="DejaVu Sans"/>
                <a:ea typeface="DejaVu Sans"/>
                <a:cs typeface="DejaVu Sans"/>
              </a:rPr>
              <a:t>ՔՎԵԱՐԿՈՒԹՅՈՒՆ 3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3B2E85A-762D-42DF-BB44-7E584E5C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58368"/>
            <a:ext cx="10874959" cy="17556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939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Արդյունաբերական տատանումների համար նախատեսված պիեզոէլեկտրական արագաչափը տեղադրվել է արևին հետևող շրջանակի վրա։ Շրջանակը թեքվել է 0.5°-ով և պահվել այդ դիրքում։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205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Ի՞նչ թեքություն կգրանցվի 30 վայրկյան անց։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865993FD-23AF-45EC-AD1C-21758127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87168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160781C-27A8-479C-BA81-94ED71E2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606040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F6CD29B-C33D-44C3-871D-8F566043E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615184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0.5°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8268212-F075-450D-81AE-7AD914196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291840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89949EB-ADD0-443C-9760-58FE7ACD5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410712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37F6F72-B7E2-4CC9-8B2D-454B2CBC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19856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 i="0">
                <a:solidFill>
                  <a:srgbClr val="1A1F24"/>
                </a:solidFill>
                <a:latin typeface="Arial"/>
                <a:ea typeface="Arial"/>
                <a:cs typeface="Arial"/>
              </a:rPr>
              <a:t>0°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9E5F0BB7-05A0-4DDE-85AB-085BD2AF8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96512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9EC5A29-A254-4140-A256-ADB5202B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215384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0B13807-6F6B-4B10-B93B-086F64B8A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224528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39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0.5°, բայց մեծ աղմուկով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880B66A-9CCD-4C3F-A30B-0DF05FE69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01184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A526369-6259-472C-9DAC-2B4FAFE1B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20056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0CB0BEC-DA85-46F9-9717-8193F0AAD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կախված է միայն ուժեղացման գործակցից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5C0D4D7-0D80-4E58-8FEE-9A0B37985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541264"/>
            <a:ext cx="10874959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</a:pPr>
            <a:r>
              <a:rPr sz="15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Ընտրեք պատասխանը և զուգընկերոջ հետ համեմատեք ձեր ֆիզիկական հիմնավորումը։</a:t>
            </a:r>
          </a:p>
        </p:txBody>
      </p:sp>
    </p:spTree>
    <p:extLst>
      <p:ext uri="{BB962C8B-B14F-4D97-AF65-F5344CB8AC3E}">
        <p14:creationId xmlns:p14="http://schemas.microsoft.com/office/powerpoint/2010/main" val="1023659013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7890300-0500-4E8F-9DC7-9192FA09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1CF84E5-DEA1-48CC-A7DB-2597CBF1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389E266-03B6-4CCC-8F76-572B0194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A029268-6E13-4248-9E4C-FA76C8DA4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4320"/>
            <a:ext cx="1087495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90" b="1" i="0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ՔՎԵԱՐԿՈՒԹՅՈՒՆ 3   ·   ՊԱՏԱՍԽԱՆ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49F5B38-E912-4ABA-8BA4-5BB2DC44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58368"/>
            <a:ext cx="10874959" cy="17556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939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Պիեզոէլեկտրական արագաչափը՝ արդյունաբերական վիբրացիոն տիպի բնորոշ ներկայացուցիչ, ամրացված է 2-րդ դասախոսության արևին հետևող շրջանակին՝ դրա թեքությունը չափելու համար։ Շրջանակը թեքվում է 0.5°-ի և պահվում այդ դիրքում։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205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Երեսուն վայրկյան անց հաղորդվող թեքությունը՝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8D1DC4DF-C045-4205-A484-C0F08B24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87168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522387D-E43D-4DB8-8FFE-FF8DC3EF0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606040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A159156-C2B1-4D05-957C-66A9611EB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615184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0.5°, ճիշտ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F3C720B-96FA-4A69-9476-51D8AF7F4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291840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CEDEF"/>
          </a:solidFill>
          <a:ln xmlns:a="http://schemas.openxmlformats.org/drawingml/2006/main" w="3175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80FFE42-7B36-451B-A1BE-729227853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410712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0E7C86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6D13865-CE39-46A8-87E8-528E3716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19856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1A1F24"/>
                </a:solidFill>
                <a:latin typeface="Arial"/>
                <a:ea typeface="Arial"/>
                <a:cs typeface="Arial"/>
              </a:rPr>
              <a:t>0°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38B19F63-CC0A-424D-93FE-FA054923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96512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E215517-EEDE-4DA9-A541-301337E51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215384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FA93930-29EE-490C-AFAB-E450C7E65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224528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39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0.5°, բայց շատ աղմկոտ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35E5D56F-55B9-47E5-9FBD-F9FE8BB08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01184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BD2AC65-F1A1-467F-A0AA-9642D31F4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20056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BB6D18D-BB63-4E53-B6F9-329B5285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կախված է ուժեղարարի ուժեղացման գործակցից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A3338A6-255A-410A-99F2-3F15166B5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541264"/>
            <a:ext cx="10874959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</a:pPr>
            <a:r>
              <a:rPr sz="1410" b="0" i="1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Զրո։ Լիցքը հայտնվում է, երբ դեֆորմացիան ՓՈՓՈԽՎՈՒՄ Է; անշարժ պահելիս այն մի քանի վայրկյանում հոսում է դուրս ուժեղարարի մուտքային դիմադրության միջով։ Պիեզոէլեկտրական արագաչափը DC արձագանք չունի։ Այն չի կարող չափել թեքություն՝ ոչ թե վատ, այլ ընդհանրապես։</a:t>
            </a:r>
          </a:p>
        </p:txBody>
      </p:sp>
    </p:spTree>
    <p:extLst>
      <p:ext uri="{BB962C8B-B14F-4D97-AF65-F5344CB8AC3E}">
        <p14:creationId xmlns:p14="http://schemas.microsoft.com/office/powerpoint/2010/main" val="305837007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06DAA66-2605-4FA7-B3D3-3959E3899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F9D3812-0B7E-4D4E-AA5C-13651DDF5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6D1C721-B3ED-424B-A1C0-B6820F85B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DADD468-4A98-4139-B6B0-123FAEFA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1036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Փոխակերպման վեց սկզբունքների համեմատություն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1D9E776-4F9D-403B-BB35-60DBCACC0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A293976-529A-4023-A534-673ADD54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Արդյո՞ք սկզբունքը կարող է չափել հաստատուն մուտքային մեծություն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658368" y="1920240"/>
          <a:ext xmlns:a="http://schemas.openxmlformats.org/drawingml/2006/main" cx="10874957" cy="332841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6242"/>
                <a:gridCol w="1631243"/>
                <a:gridCol w="3044988"/>
                <a:gridCol w="4132484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Սկզբունք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Հաստատուն մուտք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4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Ազդանշան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1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Հիմնական սահմանափակում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Ունակային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0E7C8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այո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27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fF, բարձր դիմադրություն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2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մակաբույծ ունակություն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Պիեզոռեզիստիվ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0E7C8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այո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կամրջակից՝ mV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ուժեղ ջերմաստիճանային կախում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1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Պիեզոէլեկտրական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C039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ոչ</a:t>
                      </a:r>
                    </a:p>
                  </a:txBody>
                  <a:tcPr marL="91440" marR="91440" marT="27432" marB="27432" anchor="ctr">
                    <a:solidFill>
                      <a:srgbClr val="F7D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ինքնագեներացվող լիցք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1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հաստատուն բաղադրիչի արձագանք չկա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2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Ջերմային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0E7C8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այո, դանդաղ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21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µV կամ ΔR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դանդաղություն, ինքնատաքացում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Էլեկտրամագնիսական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0E7C8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այո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1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մեծ, ցածր դիմադրություն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դժվար է փոքրացվում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8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Օպտիկական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0E7C8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այո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23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կարող է շատ մեծ լինել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29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պատուհան և շրջակա լույս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861062D3-2876-42E9-A79F-B822EFDE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394960"/>
            <a:ext cx="10874959" cy="82296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7DFDC"/>
          </a:solidFill>
          <a:ln xmlns:a="http://schemas.openxmlformats.org/drawingml/2006/main" w="15875">
            <a:solidFill>
              <a:srgbClr val="C0392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Միայն պիեզոէլեկտրական սկզբունքը չունի հաստատուն բաղադրիչի նկատմամբ երկարատև արձագանք։</a:t>
            </a:r>
          </a:p>
        </p:txBody>
      </p:sp>
    </p:spTree>
    <p:extLst>
      <p:ext uri="{BB962C8B-B14F-4D97-AF65-F5344CB8AC3E}">
        <p14:creationId xmlns:p14="http://schemas.microsoft.com/office/powerpoint/2010/main" val="832247612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8464B06-A1EE-4F95-89DB-7173F9B86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E99CAAF-740E-42E5-92A0-383B4DCF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84E85A0-DB3F-410A-B074-9ADD93A7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7CA9442-0248-4467-9CAF-C681BF165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1036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Փոխակերպման սկզբունքը և տվյալների թերթիկը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A280C6A-A460-4712-B85F-0F067B18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0289FA2-C2C4-417E-BAED-893C62B4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9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Յուրաքանչյուր տեխնիկական բնութագիր ունի կառուցվածքային կամ ֆիզիկական պատճառ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658368" y="1920240"/>
          <a:ext xmlns:a="http://schemas.openxmlformats.org/drawingml/2006/main" cx="10874958" cy="332841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3741"/>
                <a:gridCol w="1739993"/>
                <a:gridCol w="6851224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Սկզբունք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Հաստատուն մուտք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7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Բացատրվող տեխնիկական բնութագիր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5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Ունակային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50" b="1">
                          <a:solidFill>
                            <a:srgbClr val="0E7C8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այո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2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երկարատև թեքության չափման հնարավորություն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Պիեզոռեզիստիվ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50" b="1">
                          <a:solidFill>
                            <a:srgbClr val="0E7C8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այո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5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ջերմաստիճանային փոխհատուցման գործակիցներ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5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Պիեզոէլեկտրական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50" b="1">
                          <a:solidFill>
                            <a:srgbClr val="C039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ոչ</a:t>
                      </a:r>
                    </a:p>
                  </a:txBody>
                  <a:tcPr marL="91440" marR="91440" marT="27432" marB="27432" anchor="ctr">
                    <a:solidFill>
                      <a:srgbClr val="F7D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7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ցածր հաճախականային սահման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7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Ջերմային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50" b="1">
                          <a:solidFill>
                            <a:srgbClr val="0E7C8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այո, դանդաղ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5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տաքացման ժամանակ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5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Էլեկտրամագնիսական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50" b="1">
                          <a:solidFill>
                            <a:srgbClr val="0E7C8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այո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2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«կոշտ» և «փափուկ» երկաթի աղավաղումներ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22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Օպտիկական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50" b="1">
                          <a:solidFill>
                            <a:srgbClr val="0E7C8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այո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պաշտպանիչ պատուհան և փոխադարձ լուսային ազդեցություն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E8DEB533-6C7B-418A-989D-721B9E0E1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394960"/>
            <a:ext cx="10874959" cy="82296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92584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1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Տվյալների թերթիկի տողերը կամայական չեն. դրանք արտացոլում են կառուցվածքի, փոխակերպման սկզբունքի և արտադրության սահմանափակումները։</a:t>
            </a:r>
          </a:p>
        </p:txBody>
      </p:sp>
    </p:spTree>
    <p:extLst>
      <p:ext uri="{BB962C8B-B14F-4D97-AF65-F5344CB8AC3E}">
        <p14:creationId xmlns:p14="http://schemas.microsoft.com/office/powerpoint/2010/main" val="48352883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C791BEE-E776-4182-AF2F-907A414B4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F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7F699A6-3208-4DAD-805F-1A7850F0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7A848C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CD4FC92-E019-43E1-A177-9D5F0B14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7A848C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4A8771D-8307-49DF-A602-35347176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4320"/>
            <a:ext cx="1087495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i="0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ԲԱԺԻՆ 3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89A7D79-1DCA-47D9-B23A-C5EB5E33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37360"/>
            <a:ext cx="9046159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260" b="1" i="0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Միկրոարտադրության փուլերը և դրանց չափագիտական հետևանքները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D8242AD-0D16-4106-9276-C6304FDF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94760"/>
            <a:ext cx="1371600" cy="5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03093E7-A712-4780-A3AE-4AD7085E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160520"/>
            <a:ext cx="10874959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</a:pPr>
            <a:r>
              <a:rPr sz="1800" b="0" i="0">
                <a:solidFill>
                  <a:srgbClr val="B8C0C6"/>
                </a:solidFill>
                <a:latin typeface="DejaVu Sans"/>
                <a:ea typeface="DejaVu Sans"/>
                <a:cs typeface="DejaVu Sans"/>
              </a:rPr>
              <a:t>Կքննարկենք չորս հիմնական փուլ և յուրաքանչյուրի առաջացրած մեկ սահմանափակում։ Նպատակը արտադրական գործընթացը չէ, այլ տվիչի տեխնիկական բնութագրերի ֆիզիկական հիմքը։</a:t>
            </a:r>
          </a:p>
        </p:txBody>
      </p:sp>
    </p:spTree>
    <p:extLst>
      <p:ext uri="{BB962C8B-B14F-4D97-AF65-F5344CB8AC3E}">
        <p14:creationId xmlns:p14="http://schemas.microsoft.com/office/powerpoint/2010/main" val="1183166935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7A4FCE3-3D83-41BF-8E50-64A62AE6C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F71AC20-F631-4C26-AE33-EE6BD951D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4AA3AF7-FD54-4701-932B-68ED4A7C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9C8C64E-E096-43C5-A99E-576590D8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2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Միկրոարտադրության չորս փուլերը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682F829-72BE-4728-8665-145C7499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D01EF55-0E86-49A7-B005-0E30273B6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Յուրաքանչյուր փուլ սահմանում է սարքի վարքի կամ հուսալիության մի կարևոր հատկություն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6E7B3EA-55C1-46E0-B67A-04748FDE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65960"/>
            <a:ext cx="2395728" cy="6400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5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ՖՈՏՈԼԻԹՈԳՐԱՖԻԱ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0DFC551-E0B5-4364-91B8-5FA337C3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743200"/>
            <a:ext cx="2286000" cy="17899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</a:pPr>
            <a:r>
              <a:rPr sz="15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նվազագույն տարրի չափ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</a:pPr>
            <a:r>
              <a:rPr sz="15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→ սանրի d բացակ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</a:pPr>
            <a:r>
              <a:rPr sz="15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→ ունակություն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</a:pPr>
            <a:r>
              <a:rPr sz="13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→ աղմուկի ստորին սահման</a:t>
            </a:r>
          </a:p>
        </p:txBody>
      </p:sp>
      <p:sp>
        <p:nvSpPr>
          <p:cNvPr id="10" name="Right Arrow 9">
            <a:extLst xmlns:a="http://schemas.openxmlformats.org/drawingml/2006/main">
              <a:ext uri="{FF2B5EF4-FFF2-40B4-BE49-F238E27FC236}">
                <a16:creationId xmlns:a16="http://schemas.microsoft.com/office/drawing/2014/main" id="{8709FC38-31D8-49F6-A2C1-46600BE3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2185416"/>
            <a:ext cx="320040" cy="20116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B768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4092B5E-C01A-4141-AB3B-5EAC62B31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965960"/>
            <a:ext cx="2395728" cy="6400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98324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ՇԵՐՏԵՐԻ ՆՍՏԵՑՈՒՄ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1913AB2-C9B0-4CF6-9178-B6F4FCC79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864" y="2743200"/>
            <a:ext cx="2286000" cy="1421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</a:pPr>
            <a:r>
              <a:rPr sz="13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թաղանթի հաստություն և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</a:pPr>
            <a:r>
              <a:rPr sz="111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ՄՆԱՑՈՐԴԱՅԻՆ ԼԱՐՈՒՄ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</a:pPr>
            <a:r>
              <a:rPr sz="15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→ կառուցվածքի սկզբնական դեֆորմացիա</a:t>
            </a:r>
          </a:p>
        </p:txBody>
      </p:sp>
      <p:sp>
        <p:nvSpPr>
          <p:cNvPr id="13" name="Right Arrow 12">
            <a:extLst xmlns:a="http://schemas.openxmlformats.org/drawingml/2006/main">
              <a:ext uri="{FF2B5EF4-FFF2-40B4-BE49-F238E27FC236}">
                <a16:creationId xmlns:a16="http://schemas.microsoft.com/office/drawing/2014/main" id="{D356FADE-B702-4851-BC04-683408A5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9592" y="2185416"/>
            <a:ext cx="320040" cy="20116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B768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BDFEEC1-763F-4D45-9E3C-BD772BB4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965960"/>
            <a:ext cx="2395728" cy="6400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4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ԽԱԾԱՏՈՒՄ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B33D8F0-C907-4817-963F-FB81A239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2743200"/>
            <a:ext cx="2286000" cy="142372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</a:pPr>
            <a:r>
              <a:rPr sz="15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իզոտրոպ կամ անիզոտրոպ գործընթաց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</a:pPr>
            <a:r>
              <a:rPr sz="121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→ հնարավոր երկրաչափական ձևեր</a:t>
            </a:r>
          </a:p>
        </p:txBody>
      </p:sp>
      <p:sp>
        <p:nvSpPr>
          <p:cNvPr id="16" name="Right Arrow 15">
            <a:extLst xmlns:a="http://schemas.openxmlformats.org/drawingml/2006/main">
              <a:ext uri="{FF2B5EF4-FFF2-40B4-BE49-F238E27FC236}">
                <a16:creationId xmlns:a16="http://schemas.microsoft.com/office/drawing/2014/main" id="{F4ADD61F-5CC3-4C94-9170-6966D4B00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2185416"/>
            <a:ext cx="320040" cy="20116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B768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0CAE6FBD-A0D4-4D49-8AD8-4CEE902B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264" y="1965960"/>
            <a:ext cx="2395728" cy="6400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98324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ԿԱՌՈՒՑՎԱԾՔԻ ԱԶԱՏՈՒՄ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72B1FEC-AE03-4FC3-9828-A0264485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2743200"/>
            <a:ext cx="22860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</a:pPr>
            <a:r>
              <a:rPr sz="15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զոհաբերական շերտի հեռացում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</a:pPr>
            <a:r>
              <a:rPr sz="15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→ շարժվող տարր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</a:pPr>
            <a:r>
              <a:rPr sz="131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→ ստիքշնի վտանգ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B4514879-A396-46A8-A31D-00FB6E3D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297680"/>
            <a:ext cx="10874959" cy="73152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AECD8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ԶՈՒՅԳԵՐՈՎ · 3 ՐՈՊԵ․ դասավորեք փուլերը ճիշտ հերթականությամբ և յուրաքանչյուրին համապատասխանեցրեք դրա հետևանքը։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C23E5F95-F65A-4056-89C9-AF916ACFB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175504"/>
            <a:ext cx="10874959" cy="82296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A1F24"/>
          </a:solidFill>
          <a:ln xmlns:a="http://schemas.openxmlformats.org/drawingml/2006/main" w="15875">
            <a:solidFill>
              <a:srgbClr val="1A1F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Հարց․ ո՞ր փուլերն են առավել ուղղակիորեն ազդում ունակային արագաչափի աղմուկի ստորին սահմանի վրա։</a:t>
            </a:r>
          </a:p>
        </p:txBody>
      </p:sp>
    </p:spTree>
    <p:extLst>
      <p:ext uri="{BB962C8B-B14F-4D97-AF65-F5344CB8AC3E}">
        <p14:creationId xmlns:p14="http://schemas.microsoft.com/office/powerpoint/2010/main" val="1579129607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C7688CD-7B99-4368-A7E2-028D986A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D6CDFB-8F5F-4E74-BFCD-844205635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E975F38-A85D-4132-B83E-E35FDD37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66D868C-6D7A-4491-B9E2-BE849029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2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Ծավալային և մակերևութային միկրոմշակում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A9D5D7D-0F23-4795-81A0-7DF3419A8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E2CB55A-728C-4175-9FAA-77741CC6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518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Նույն տեսակի կառուցվածքի արտադրության երկու մոտեցում. հիմնական փոխզիջումը շարժվող զանգվածն է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2275F8F5-73FE-43A9-AC4C-68D3EF356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20240"/>
            <a:ext cx="5349240" cy="566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A1F24"/>
          </a:solidFill>
          <a:ln xmlns:a="http://schemas.openxmlformats.org/drawingml/2006/main" w="15875">
            <a:solidFill>
              <a:srgbClr val="1A1F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7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ԾԱՎԱԼԱՅԻՆ ՄԻԿՐՈՄՇԱԿՈՒՄ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C72B21D8-EDCA-43B8-98A8-8A3A31F2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920240"/>
            <a:ext cx="5349240" cy="566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A1F24"/>
          </a:solidFill>
          <a:ln xmlns:a="http://schemas.openxmlformats.org/drawingml/2006/main" w="15875">
            <a:solidFill>
              <a:srgbClr val="1A1F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8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ՄԱԿԵՐԵՎՈՒԹԱՅԻՆ ՄԻԿՐՈՄՇԱԿՈՒՄ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DAF744E-FE15-4F03-B063-C30ACC035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670048"/>
            <a:ext cx="5257800" cy="518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 i="0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▸  կառուցվածքը ձևավորվում է սիլիցիումային թիթեղի ծավալում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95FEA2F-BF4E-4EF5-82AB-7C811CC5B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670048"/>
            <a:ext cx="5257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60" b="1" i="0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▸  կառուցվածքը ձևավորվում է մակերևույթի բարակ շերտերից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71C40CA-5775-4785-B941-34CA21D0D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145536"/>
            <a:ext cx="5257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10" b="1" i="0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▸  հաստ կառուցվածքներ, մեծ իներտ զանգվածներ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401A887-5C2E-4702-B5F9-0C63F31FB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145536"/>
            <a:ext cx="5257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80" b="1" i="0">
                <a:solidFill>
                  <a:srgbClr val="D98324"/>
                </a:solidFill>
                <a:latin typeface="DejaVu Sans"/>
                <a:ea typeface="DejaVu Sans"/>
                <a:cs typeface="DejaVu Sans"/>
              </a:rPr>
              <a:t>▸  միկրոմետրերի հաստություն, փոքր զանգվածներ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ED48E06-4140-49D6-8EBD-C05F023D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621024"/>
            <a:ext cx="5257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90" b="1" i="0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▸  ավելի փոքր աղմուկի ստորին սահման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40C09B9-8012-40EB-A20D-7E303C98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5257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60" b="1" i="0">
                <a:solidFill>
                  <a:srgbClr val="D98324"/>
                </a:solidFill>
                <a:latin typeface="DejaVu Sans"/>
                <a:ea typeface="DejaVu Sans"/>
                <a:cs typeface="DejaVu Sans"/>
              </a:rPr>
              <a:t>▸  ավելի բարձր աղմուկի ստորին սահման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AD53779-1A25-4EF1-A2B6-3EE9D4B0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096512"/>
            <a:ext cx="5257800" cy="518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 i="0">
                <a:solidFill>
                  <a:srgbClr val="D98324"/>
                </a:solidFill>
                <a:latin typeface="DejaVu Sans"/>
                <a:ea typeface="DejaVu Sans"/>
                <a:cs typeface="DejaVu Sans"/>
              </a:rPr>
              <a:t>▸  մեծ բյուրեղ, բարձր արժեք, ինտեգրման դժվարություն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B5E7804-C26D-4A73-873D-F3AECB4AA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096512"/>
            <a:ext cx="5257800" cy="518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 i="0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▸  փոքր չափ և արժեք, էլեկտրոնիկայի հետ ինտեգրում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0A2922D-4A1A-486D-88F1-FBFA6034B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572000"/>
            <a:ext cx="5257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9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▸  ճնշման տվիչներ, բարձրակարգ իներցիոն սարքեր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238AFC5-488D-478E-8C77-FED4427E1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572000"/>
            <a:ext cx="5257800" cy="4785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▸  զանգվածային արտադրության IMU-ներ, այդ թվում՝ դասընթացի սարքը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71A8D895-CC9B-4AFD-9415-44843B22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138928"/>
            <a:ext cx="10874959" cy="786384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AECD8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3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m ∝ L³ օրենքից հետևում է, որ մեծ զանգվածով ծավալային կառուցվածքը սովորաբար ունի ավելի փոքր մեխանիկական աղմուկ։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74646509-D0E8-43F4-9446-0FA3503E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925312"/>
            <a:ext cx="1087497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05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Դասընթացի IMU-ն համատեղում է բավարար աղմկային բնութագրեր, փոքր չափ, ցածր արժեք և ներկառուցված ԱԹՓ։</a:t>
            </a:r>
          </a:p>
        </p:txBody>
      </p:sp>
    </p:spTree>
    <p:extLst>
      <p:ext uri="{BB962C8B-B14F-4D97-AF65-F5344CB8AC3E}">
        <p14:creationId xmlns:p14="http://schemas.microsoft.com/office/powerpoint/2010/main" val="258171695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DD2EB7F-3A5B-4126-84EB-8E712B38E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040EBFE-014B-4086-9495-FD00D9841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185D515-5AB2-47B1-A0F1-266A6304F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06663A0-1445-414A-A54C-62E70DCA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1036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Կառուցվածքի ազատում և մակերևութային կպչում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E303998-EC24-4A20-BC27-CDEED382A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307948F-0075-42B3-B7A9-DC320DB5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Զոհաբերական շերտի հեռացումը շերտային կառուցվածքը վերածում է շարժվող մեխանիզմի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2F201A48-5637-4D4A-A634-441352CE9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20240"/>
            <a:ext cx="3493008" cy="512064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4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1 · ՄԻՆՉԵՎ ԱԶԱՏՈՒՄԸ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B23089B-15E7-4719-ADB5-E7A921290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310128"/>
            <a:ext cx="3200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2DE"/>
          </a:solidFill>
          <a:ln xmlns:a="http://schemas.openxmlformats.org/drawingml/2006/main" w="15875">
            <a:solidFill>
              <a:srgbClr val="6B768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ՀԵՆՔ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277BCFD-702F-42EB-A393-6996854EF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990088"/>
            <a:ext cx="320040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CD8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5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ԶՈՀԱԲԵՐՎՈՂ ՇԵՐՏ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D8222F2-83FE-4803-B6FB-05D415923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788920"/>
            <a:ext cx="320040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DEF"/>
          </a:solidFill>
          <a:ln xmlns:a="http://schemas.openxmlformats.org/drawingml/2006/main" w="1905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2F13103-A97D-417F-8A48-3CC0CF77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913632"/>
            <a:ext cx="32004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136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կառուցվածքային շերտը հենված է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136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զոհաբերական շերտի վրա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EB82A3B3-0294-4EE8-B4E1-863E7E44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544" y="1920240"/>
            <a:ext cx="3493008" cy="512064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2 · ԱԶԱՏՎԱԾ ԿԱՌՈՒՑՎԱԾՔ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983376A-AAD0-4F7D-B77C-CFABA3DB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3310128"/>
            <a:ext cx="3200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2DE"/>
          </a:solidFill>
          <a:ln xmlns:a="http://schemas.openxmlformats.org/drawingml/2006/main" w="15875">
            <a:solidFill>
              <a:srgbClr val="6B768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ՀԵՆՔ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A2CC8D8-0E59-414B-9CAE-FA2684E2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2788920"/>
            <a:ext cx="320040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DEF"/>
          </a:solidFill>
          <a:ln xmlns:a="http://schemas.openxmlformats.org/drawingml/2006/main" w="1905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01CD009-8D5E-4E3E-8FC4-5CF4A873D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3017520"/>
            <a:ext cx="3200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69" b="1" i="0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ազատ շարժվում է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22491CD-7A8D-4218-AE45-D62FAB24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3913632"/>
            <a:ext cx="32004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14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զոհաբերական շերտը խածատվում է, և հեծանը դառնում է ազատ շարժունակ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A3BE6BA-1F26-49A1-B57C-322C499D3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920240"/>
            <a:ext cx="3493008" cy="512064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C0392B"/>
          </a:solidFill>
          <a:ln xmlns:a="http://schemas.openxmlformats.org/drawingml/2006/main" w="15875">
            <a:solidFill>
              <a:srgbClr val="C0392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98876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3 · ՄԱԿԵՐԵՎՈՒԹԱՅԻՆ ԿՊՉՈՒՄ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DC233892-AA73-4579-A829-20A8E6E6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310128"/>
            <a:ext cx="3200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2DE"/>
          </a:solidFill>
          <a:ln xmlns:a="http://schemas.openxmlformats.org/drawingml/2006/main" w="15875">
            <a:solidFill>
              <a:srgbClr val="6B768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ՀԵՆՔ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717F0D95-8075-45E1-87EF-E843B6314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320040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DFDC"/>
          </a:solidFill>
          <a:ln xmlns:a="http://schemas.openxmlformats.org/drawingml/2006/main" w="19050">
            <a:solidFill>
              <a:srgbClr val="C0392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CD56C0D-372B-419D-A395-326533D8A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852928"/>
            <a:ext cx="3200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19" b="1" i="0">
                <a:solidFill>
                  <a:srgbClr val="C0392B"/>
                </a:solidFill>
                <a:latin typeface="DejaVu Sans"/>
                <a:ea typeface="DejaVu Sans"/>
                <a:cs typeface="DejaVu Sans"/>
              </a:rPr>
              <a:t>մշտապես կպած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D235E82-9E9B-47A9-98B1-E6A7C172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913632"/>
            <a:ext cx="3200400" cy="10619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134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մակերևութային ուժերը հեծանը պահում են հենքին կպած վիճակում, և սարքը դառնում է անաշխատունակ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78354BD0-3846-4E89-A61F-633893F59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074920"/>
            <a:ext cx="10874959" cy="82296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AECD8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7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Ստիքշնը մակերես/ծավալ հարաբերության մեծացման հետևանք է. միկրոմասշտաբում մակերևութային ուժերը կարող են գերազանցել զսպանակի վերականգնող ուժը։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D6A6D00-B1DD-449E-A455-EB96770EB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961888"/>
            <a:ext cx="1087497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05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Կպչումը կարող է առաջանալ արտադրության կամ շահագործման ընթացքում՝ խտացումից, հարվածից կամ էլեկտրաստատիկ ազդեցությունից։</a:t>
            </a:r>
          </a:p>
        </p:txBody>
      </p:sp>
    </p:spTree>
    <p:extLst>
      <p:ext uri="{BB962C8B-B14F-4D97-AF65-F5344CB8AC3E}">
        <p14:creationId xmlns:p14="http://schemas.microsoft.com/office/powerpoint/2010/main" val="1818224761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B05360-AA55-4441-954C-58D19C14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750107F-522E-4539-923C-2A2274E31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51DEE1A-C1C7-4D33-9579-6034488BA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F72AEBE-70D6-47E1-A239-715C458E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Պատյանը չափման համակարգի մասն է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797E01C-2FAC-4725-B3D7-97CB87F9B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B0C86D6-2407-4D6E-BF4D-D81EFAF61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Խոռոչ · բյուրեղի ամրացում · հաղորդալարային կապակցում · հերմետիկ կնքում · գազակլանիչ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ED13F94-DDEA-4C94-8D86-471C5B21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03120"/>
            <a:ext cx="548640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680"/>
          </a:solidFill>
          <a:ln xmlns:a="http://schemas.openxmlformats.org/drawingml/2006/main" w="15875">
            <a:solidFill>
              <a:srgbClr val="6B768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ԿԱՓԱՐԻՉ · ՀԵՐՄԵՏԻԿ ԿՆՔՈՒՄ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56B292B-3D69-4201-8502-E357522F9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40864"/>
            <a:ext cx="5486400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2DE"/>
          </a:solidFill>
          <a:ln xmlns:a="http://schemas.openxmlformats.org/drawingml/2006/main" w="15875">
            <a:solidFill>
              <a:srgbClr val="6B768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48640662-7509-4B2F-BDC5-380196868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06040"/>
            <a:ext cx="484632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6B7680"/>
            </a:solidFill>
            <a:prstDash val="dash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E86F055-21C6-417E-8177-B8478A5C5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69748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ԽՈՌՈՉ՝ հերմետիկ, հաճախ իջեցված ճնշմամբ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424F703-3613-4A95-909F-F9298DED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154680"/>
            <a:ext cx="2011680" cy="475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DEF"/>
          </a:solidFill>
          <a:ln xmlns:a="http://schemas.openxmlformats.org/drawingml/2006/main" w="2540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4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MEMS ԲՅՈՒՐԵՂ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2857AA2-DE8A-4E22-AB1B-9BF600CC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630168"/>
            <a:ext cx="201168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CD8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78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ԲՅՈՒՐԵՂԻ ԱՄՐԱՑՈՒՄ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A9272747-7FAE-427C-A82F-A04F5B880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584448"/>
            <a:ext cx="86868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324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78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ԳԱԶԱԿԼԱՆԻՉ</a:t>
            </a:r>
          </a:p>
        </p:txBody>
      </p:sp>
      <p:sp>
        <p:nvSpPr>
          <p:cNvPr id="15" name="Freeform 14">
            <a:extLst xmlns:a="http://schemas.openxmlformats.org/drawingml/2006/main">
              <a:ext uri="{FF2B5EF4-FFF2-40B4-BE49-F238E27FC236}">
                <a16:creationId xmlns:a16="http://schemas.microsoft.com/office/drawing/2014/main" id="{B7148B62-DF10-4515-95C8-D9245CE6A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60" y="2788920"/>
            <a:ext cx="1051560" cy="365760"/>
          </a:xfrm>
          <a:custGeom xmlns:a="http://schemas.openxmlformats.org/drawingml/2006/main">
            <a:rect l="l" t="t" r="r" b="b"/>
            <a:pathLst>
              <a:path w="1051560" h="365760">
                <a:moveTo>
                  <a:pt x="1051560" y="365760"/>
                </a:moveTo>
                <a:lnTo>
                  <a:pt x="525780" y="0"/>
                </a:lnTo>
                <a:lnTo>
                  <a:pt x="0" y="33832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6B768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Freeform 15">
            <a:extLst xmlns:a="http://schemas.openxmlformats.org/drawingml/2006/main">
              <a:ext uri="{FF2B5EF4-FFF2-40B4-BE49-F238E27FC236}">
                <a16:creationId xmlns:a16="http://schemas.microsoft.com/office/drawing/2014/main" id="{FB2F824C-16BA-41BF-96DD-01388057E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788920"/>
            <a:ext cx="1051560" cy="365760"/>
          </a:xfrm>
          <a:custGeom xmlns:a="http://schemas.openxmlformats.org/drawingml/2006/main">
            <a:rect l="l" t="t" r="r" b="b"/>
            <a:pathLst>
              <a:path w="1051560" h="365760">
                <a:moveTo>
                  <a:pt x="0" y="365760"/>
                </a:moveTo>
                <a:lnTo>
                  <a:pt x="525780" y="0"/>
                </a:lnTo>
                <a:lnTo>
                  <a:pt x="1051560" y="33832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6B768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DFDE321-8DB5-41CE-B8E8-098D593B5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487168"/>
            <a:ext cx="1371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1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կապակցող հաղորդալարեր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7DCE2545-3041-4733-8B0D-CC274168B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443984"/>
            <a:ext cx="77724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324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C48C9831-EBEB-4E88-8CC1-71A08059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4443984"/>
            <a:ext cx="77724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324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6F7FAA96-6482-468F-9D2C-AD13202E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4443984"/>
            <a:ext cx="77724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324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6E4163B3-B5D8-4307-BE89-904E5B8E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608576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DFDC"/>
          </a:solidFill>
          <a:ln xmlns:a="http://schemas.openxmlformats.org/drawingml/2006/main" w="15875">
            <a:solidFill>
              <a:srgbClr val="C0392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69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ՏՊԱՍԱԼ — ՁԵՐ ՏՊԱՍԱԼԸ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7F92D9C-51F0-4129-85EF-FE5C49B50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01168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9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ՅՈՒՐԱՔԱՆՉՅՈՒՐ ՏԱՐՐԻ ՉԱՓԱԳԻՏԱԿԱՆ ԴԵՐԸ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F987679A-C04B-4123-B394-53633CBB9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304288"/>
            <a:ext cx="1481328" cy="47548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5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ԽՈՌՈՉ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1C509082-5D53-47ED-84D3-646AD0F56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7" y="2295144"/>
            <a:ext cx="320040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975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վերահսկվող ճնշմամբ խոռոչ՝ մեխանիկական դեմպֆերման համար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8CF354C8-3CC2-4941-A8CA-5B282C01A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862072"/>
            <a:ext cx="1481328" cy="47548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98324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19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ԲՅՈՒՐԵՂԻ ԱՄՐԱՑՈՒՄ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8FAA88B9-A4C1-4976-8F7D-5522E110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7" y="2852928"/>
            <a:ext cx="320040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975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կարծրանալիս կծկվող սոսինձ՝ մեխանիկական լարման աղբյուր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5C3A8757-7401-4C40-8D9B-5702D7D6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419856"/>
            <a:ext cx="1481328" cy="47548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98324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19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ՀԱՂՈՐԴԱԼԱՐԱՅԻՆ ԿԱՊԱԿՑՈՒՄ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413BA7AE-650D-440C-A875-710949E5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7" y="3410712"/>
            <a:ext cx="320040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975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էլեկտրական կապ և մակաբույծ ունակություն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5499AB31-AF03-468E-81B6-559C1160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977640"/>
            <a:ext cx="1481328" cy="47548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19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ՀԵՐՄԵՏԻԿ ԿՆՔՈՒՄ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025A120A-C9D9-4B8D-9BFF-8D5DBE3CD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7" y="3968496"/>
            <a:ext cx="320040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975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պաշտպանում է բացակը փոշուց և պահպանում խոռոչի ճնշումը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CAC812DB-211B-41BD-888F-DDFDCF345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535424"/>
            <a:ext cx="1481328" cy="47548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19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ԳԱԶԱԿԼԱՆԻՉ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2CE9522B-69C5-4997-9DEA-AE5D87888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7" y="4526280"/>
            <a:ext cx="320040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975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կլանում է գազազատված մոլեկուլները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C3C1E8D9-D138-48DB-92E1-397FE414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120640"/>
            <a:ext cx="10874959" cy="786384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AECD8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Բյուրեղի ամրացումն ու պատյանի իրանը մեխանիկական լարում են հաղորդում զգայուն կառուցվածքին դեռևս մինչև սնուցումը միացնելը։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C7B647D1-038F-4FCA-9CE8-0E129C32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989320"/>
            <a:ext cx="1087497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975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Տվյալների թերթիկը բնութագրում է արտադրողի պատյանը։ Տպասալի և ամրացման ազդեցությունը չափվում է վերջնական հավաքվածքի վրա։</a:t>
            </a:r>
          </a:p>
        </p:txBody>
      </p:sp>
    </p:spTree>
    <p:extLst>
      <p:ext uri="{BB962C8B-B14F-4D97-AF65-F5344CB8AC3E}">
        <p14:creationId xmlns:p14="http://schemas.microsoft.com/office/powerpoint/2010/main" val="911699626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7B3EBEF-E7DE-4BAD-9A47-197F583C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729FE7-4FD1-43CF-B7D0-BA3AF936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FE3E1E8-13FD-46FF-8D5F-46636989F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73D4DDD-C07E-4C36-B91A-1A5F1EA86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Երկու տարբեր 10 mg սխալներ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374500C-5A0F-4845-BBC3-EBA73956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7F38C2A-3159-4B3F-94C9-9D1C981C2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518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Թվային համընկնումը չպետք է շփոթեցնել սխալների ֆիզիկական ծագումն ու ուղղման եղանակը</a:t>
            </a:r>
          </a:p>
        </p:txBody>
      </p:sp>
      <p:graphicFrame>
        <p:nvGraphicFramePr>
          <p:cNvPr id="18" name="Table 7"/>
          <p:cNvGraphicFramePr/>
          <p:nvPr/>
        </p:nvGraphicFramePr>
        <p:xfrm>
          <a:off xmlns:a="http://schemas.openxmlformats.org/drawingml/2006/main" x="658368" y="1920240"/>
          <a:ext xmlns:a="http://schemas.openxmlformats.org/drawingml/2006/main" cx="10874958" cy="32004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F7F5F1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1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2-րդ դասախոսության 10 mg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1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4-րդ դասախոսության 10 mg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Ի՞նչ 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21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ջերմաստիճանային դրեյֆ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28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զոդումից հետո զրոյական շեղում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Ֆիզիկական աղբյուր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ջերմաստիճանային գործակից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23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ամրացման, պատյանի և զոդման լարումներ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Հաշվարկ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0">
                          <a:solidFill>
                            <a:srgbClr val="1A1F24"/>
                          </a:solidFill>
                          <a:latin typeface="Arial"/>
                          <a:ea typeface="Arial"/>
                          <a:cs typeface="Arial"/>
                        </a:rPr>
                        <a:t>±0.5 mg/°C × 20 °C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30" b="0">
                          <a:solidFill>
                            <a:srgbClr val="1A1F24"/>
                          </a:solidFill>
                          <a:latin typeface="Arial"/>
                          <a:ea typeface="Arial"/>
                          <a:cs typeface="Arial"/>
                        </a:rPr>
                        <a:t>±10 mg բնորոշ, ±65 mg առավելագույն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8.73 mg ազդանշանի համեմատ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0">
                          <a:solidFill>
                            <a:srgbClr val="1A1F24"/>
                          </a:solidFill>
                          <a:latin typeface="Arial"/>
                          <a:ea typeface="Arial"/>
                          <a:cs typeface="Arial"/>
                        </a:rPr>
                        <a:t>1.15 անգամ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30" b="0">
                          <a:solidFill>
                            <a:srgbClr val="1A1F24"/>
                          </a:solidFill>
                          <a:latin typeface="Arial"/>
                          <a:ea typeface="Arial"/>
                          <a:cs typeface="Arial"/>
                        </a:rPr>
                        <a:t>1.15 անգամ բնորոշ, 7.45 անգամ առավելագույն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6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Միակետ չափաբերում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1">
                          <a:solidFill>
                            <a:srgbClr val="C039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չի վերացնում</a:t>
                      </a:r>
                    </a:p>
                  </a:txBody>
                  <a:tcPr marL="91440" marR="91440" marT="27432" marB="27432" anchor="ctr">
                    <a:solidFill>
                      <a:srgbClr val="F7D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1">
                          <a:solidFill>
                            <a:srgbClr val="0E7C8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վերացնում է հավաքվածքի վրա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1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Անհրաժեշտ գործողություն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50" b="0">
                          <a:solidFill>
                            <a:srgbClr val="1A1F24"/>
                          </a:solidFill>
                          <a:latin typeface="Arial"/>
                          <a:ea typeface="Arial"/>
                          <a:cs typeface="Arial"/>
                        </a:rPr>
                        <a:t>ջերմաստիճանային փոխհատուցում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07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մեկ չափում յուրաքանչյուր սարքի համար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19C11177-4E77-4879-90D4-3D01119F2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175504"/>
            <a:ext cx="10874959" cy="694944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A1F24"/>
          </a:solidFill>
          <a:ln xmlns:a="http://schemas.openxmlformats.org/drawingml/2006/main" w="15875">
            <a:solidFill>
              <a:srgbClr val="1A1F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74822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Պատյանավորումը կարող է առաջացնել մեծ, բայց միակետ չափաբերմամբ վերացվող սխալ։ Ջերմաստիճանային գործակիցը տալիս է փոքր թվացող, սակայն մեկ ջերմաստիճանում չվերացվող սխալ։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AAFB853-89BF-4319-B3A8-229F73055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943600"/>
            <a:ext cx="1087495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2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Երկու արժեքների 10 mg լինելը պատահական համընկնում է։ Որոշիչը սխալի ֆիզիկական աղբյուրն է։</a:t>
            </a:r>
          </a:p>
        </p:txBody>
      </p:sp>
    </p:spTree>
    <p:extLst>
      <p:ext uri="{BB962C8B-B14F-4D97-AF65-F5344CB8AC3E}">
        <p14:creationId xmlns:p14="http://schemas.microsoft.com/office/powerpoint/2010/main" val="997080258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1616580-BDFB-4784-B461-47D6EE873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C284A3F-6480-4B3F-9F93-20336989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1BBC9F2-8085-4EEF-AF17-731091E1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494FB2A-F78E-430D-A3DF-0803D1C23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4320"/>
            <a:ext cx="1087495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90" b="1" i="0">
                <a:solidFill>
                  <a:srgbClr val="D98324"/>
                </a:solidFill>
                <a:latin typeface="DejaVu Sans"/>
                <a:ea typeface="DejaVu Sans"/>
                <a:cs typeface="DejaVu Sans"/>
              </a:rPr>
              <a:t>ՔՎԵԱՐԿՈՒԹՅՈՒՆ 4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D14611-BA6A-47EF-AF47-0054C969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58368"/>
            <a:ext cx="10874959" cy="17556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205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Ամփոփիչ նախագծի համար ընտրում եք ճնշման տվիչ։ Նշված բնութագրերից ո՞րը պետք է չափել վերջնական հավաքվածքի վրա, քանի որ այն հնարավոր չէ ստանալ տվյալների թերթիկից։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625824F7-28B1-4F6F-A5BE-EC56458E7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87168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494654E-9AC4-4611-890A-B0F1DE99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606040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750C63A-F5D5-40D6-A4DF-F33C9F6A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615184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9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աղմուկի սպեկտրային խտությունը ընտրված թողունակության դեպքում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BDB6CF2-C990-4D4C-ABFA-AE995DC46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291840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E837D75-7974-4A05-B0C2-7E553A24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410712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87CC808-5BFF-4FC2-9034-84C3268DB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19856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զգայունությունը 25 °C-ում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92C960F1-86A1-4A00-9046-3E378695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96512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0D9D9B8-9D2E-4E14-9847-EA2AC13E0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215384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9E53033-BDDE-40FA-9608-B1D95DAE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224528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պատյանի սեղմումից առաջացած զրոյական շեղման փոփոխությունը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2B4C22E-25A2-49D5-88CF-03EEC739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01184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39F0183-037F-45D1-9146-B49090357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20056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D8A46D4-B340-4412-B6E6-6942A773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3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սխալի ընդհանուր միջակայքը աշխատանքային ջերմաստիճաններում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BC2A23C-9C4C-43F9-9578-B0C09C22D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541264"/>
            <a:ext cx="10874959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</a:pPr>
            <a:r>
              <a:rPr sz="15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Նույն տրամաբանությունը կիրառվում է նաև այլ չափվող մեծությունների և տվիչների նկատմամբ։</a:t>
            </a:r>
          </a:p>
        </p:txBody>
      </p:sp>
    </p:spTree>
    <p:extLst>
      <p:ext uri="{BB962C8B-B14F-4D97-AF65-F5344CB8AC3E}">
        <p14:creationId xmlns:p14="http://schemas.microsoft.com/office/powerpoint/2010/main" val="1100230296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A7CDDD4-6175-478B-9DFD-65B7E580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33C8428-9C34-460A-8B1F-6A71C34A2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448FF81-2FB2-48D7-8997-EDB11C61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91669AF-0240-4666-90D2-F1EE956B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4320"/>
            <a:ext cx="1087495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90" b="1" i="0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ՔՎԵԱՐԿՈՒԹՅՈՒՆ 4   ·   ՊԱՏԱՍԽԱՆ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365014B-E2D8-4C00-98F5-867020B4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58368"/>
            <a:ext cx="10874959" cy="17556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205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Ամփոփիչ նախագծի համար ընտրում եք ճնշման տվիչ։ Նշված բնութագրերից ո՞րը պետք է չափել վերջնական հավաքվածքի վրա, քանի որ այն հնարավոր չէ ստանալ տվյալների թերթիկից։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6113CCB2-7F06-4405-8F72-184149DC4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87168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4B8808D-A718-4186-AAA6-2B73B852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606040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9503578-8CD7-4053-AC4E-605BE265C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615184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9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աղմուկի սպեկտրային խտությունը ընտրված թողունակության դեպքում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3A4506C-6349-4648-8E60-E035457E6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291840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FC4EF15-FC3B-4DE2-BADF-9967C784C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410712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04879FA-DF30-424D-8D19-90ABD06F7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19856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զգայունությունը 25 °C-ում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E05ED633-3ECB-4E9F-BD4C-ECB56B6D1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96512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CEDEF"/>
          </a:solidFill>
          <a:ln xmlns:a="http://schemas.openxmlformats.org/drawingml/2006/main" w="3175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31ABB46-2C21-4798-A53E-F4ECCE5FD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215384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0E7C86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C93622C-7F74-49F9-A3EC-C4BA96DE2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224528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պատյանի սեղմումից առաջացած զրոյական շեղման փոփոխությունը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765A8050-455C-45B2-B27F-DEFF0B69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01184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7EC3D20-96A5-42CD-9512-1C090E5A8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20056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E89E9DC-564E-4C91-A003-33C97A0EF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3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սխալի ընդհանուր միջակայքը աշխատանքային ջերմաստիճաններում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DCF0924-AAF4-4360-97A6-FF81FC52E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541264"/>
            <a:ext cx="10874959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</a:pPr>
            <a:r>
              <a:rPr sz="1290" b="0" i="1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A, B և D բնութագրերը արտադրողը կարող է չափել ու ներկայացնել տվյալների թերթիկում։ C-ն կախված է ձեր պատյանից, O-օղակից և պտուտակի ձգման մոմենտից, ուստի այն պետք է չափել իրական հավաքվածքի վրա։</a:t>
            </a:r>
          </a:p>
        </p:txBody>
      </p:sp>
    </p:spTree>
    <p:extLst>
      <p:ext uri="{BB962C8B-B14F-4D97-AF65-F5344CB8AC3E}">
        <p14:creationId xmlns:p14="http://schemas.microsoft.com/office/powerpoint/2010/main" val="1759693347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98579B8-6D6E-437B-ADAC-645E3649A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7949435-1AEF-4DFD-8593-B2621D1CC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602CD92-EC78-444A-A976-86C7CAA3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C0E5A7E-9E3F-4577-8839-2CF7333F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4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Մեխանիկական լարումների փոխանցման շղթան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5065497-D455-4824-B641-E2588ABDE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A2EE682-DE9D-474E-9F25-E3018EA8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518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Արտադրողը բնութագրում է բյուրեղն ու պատյանը, իսկ վերջնական հավաքվածքի ազդեցությունը չափվում է առանձին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828577E-C42A-46FE-8211-1F8FE9CF7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37360"/>
            <a:ext cx="38404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ՇՂԹԱՆ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5924906-DB8D-4D68-9A79-C1F2533C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1737360"/>
            <a:ext cx="38404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ՉԱՓՄԱՆ ՎՐԱ ԱԶԴԵՑՈՒԹՅՈՒՆԸ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315B922-2980-4248-B736-327F6A07B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1737360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ԱՐՏԱԴՐՈՂԸ ԲՆՈՒԹԱԳՐՈ՞ՒՄ Է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D839B00-AB31-482E-83C3-BD36E319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38528"/>
            <a:ext cx="384048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ԲՅՈՒՐԵՂ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676F7AB-BEA3-45EE-A484-9B3732D84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202996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բուն փոխակերպումը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2B7A91C8-E981-4D1D-BB82-1921726E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1938528"/>
            <a:ext cx="2779776" cy="438912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8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ԱՅՈ · տվյալների թերթիկում</a:t>
            </a:r>
          </a:p>
        </p:txBody>
      </p:sp>
      <p:sp>
        <p:nvSpPr>
          <p:cNvPr id="14" name="Down Arrow 13">
            <a:extLst xmlns:a="http://schemas.openxmlformats.org/drawingml/2006/main">
              <a:ext uri="{FF2B5EF4-FFF2-40B4-BE49-F238E27FC236}">
                <a16:creationId xmlns:a16="http://schemas.microsoft.com/office/drawing/2014/main" id="{C691070E-3357-47A9-9ACC-3BD3B03A5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2386584"/>
            <a:ext cx="182880" cy="109728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CA3D1BA-FBF2-4874-8D57-C219E0F3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500884"/>
            <a:ext cx="384048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ԲՅՈՒՐԵՂԻ ԱՄՐԱՑՄԱՆ ՍՈՍԻՆՁ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BA5F3FD-CEF7-4CF7-B3B6-FBF2EBBAF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2592324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7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զրոյական շեղման փոփոխություն և հիստերեզիս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BBF6EB37-ED3F-459C-A246-BB7C91B8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2500884"/>
            <a:ext cx="2779776" cy="438912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98324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ՄԱՍԱՄԲ · «զոդումից հետո»</a:t>
            </a:r>
          </a:p>
        </p:txBody>
      </p:sp>
      <p:sp>
        <p:nvSpPr>
          <p:cNvPr id="18" name="Down Arrow 17">
            <a:extLst xmlns:a="http://schemas.openxmlformats.org/drawingml/2006/main">
              <a:ext uri="{FF2B5EF4-FFF2-40B4-BE49-F238E27FC236}">
                <a16:creationId xmlns:a16="http://schemas.microsoft.com/office/drawing/2014/main" id="{18E6EF54-B3F5-46D0-9372-0E5D560AC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2948940"/>
            <a:ext cx="182880" cy="109728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D983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5AB6AB3A-D18A-42A2-98CD-B8F38D262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63240"/>
            <a:ext cx="384048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ՊԱՏՅԱՆԻ ԻՐԱՆ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F08AD7B-B836-4DBF-97B2-89EEF67C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3154680"/>
            <a:ext cx="3931920" cy="441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ջերմաստիճանային գործակցի փոփոխություն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E525B7DB-A160-45CB-9239-4C0E7309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3063240"/>
            <a:ext cx="2779776" cy="438912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98324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ՄԱՍԱՄԲ</a:t>
            </a:r>
          </a:p>
        </p:txBody>
      </p:sp>
      <p:sp>
        <p:nvSpPr>
          <p:cNvPr id="22" name="Down Arrow 21">
            <a:extLst xmlns:a="http://schemas.openxmlformats.org/drawingml/2006/main">
              <a:ext uri="{FF2B5EF4-FFF2-40B4-BE49-F238E27FC236}">
                <a16:creationId xmlns:a16="http://schemas.microsoft.com/office/drawing/2014/main" id="{8A86D5A3-4472-4110-AA9B-F5AC7302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3511296"/>
            <a:ext cx="182880" cy="109728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D983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8326AFF-D9BE-404D-92A5-F4B7E94D4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25596"/>
            <a:ext cx="384048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C0392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ԶՈԴԱՅԻՆ ՄԻԱՑՈՒՄՆԵՐ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7EDD7329-45C7-4904-84F6-A149E5781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3717036"/>
            <a:ext cx="3931920" cy="396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անհամաչափ լարում և միջառանցքային սխալ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17863031-FE8D-401E-831E-7AAACD9BE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3625596"/>
            <a:ext cx="2779776" cy="438912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C0392B"/>
          </a:solidFill>
          <a:ln xmlns:a="http://schemas.openxmlformats.org/drawingml/2006/main" w="15875">
            <a:solidFill>
              <a:srgbClr val="C0392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ՈՉ</a:t>
            </a:r>
          </a:p>
        </p:txBody>
      </p:sp>
      <p:sp>
        <p:nvSpPr>
          <p:cNvPr id="26" name="Down Arrow 25">
            <a:extLst xmlns:a="http://schemas.openxmlformats.org/drawingml/2006/main">
              <a:ext uri="{FF2B5EF4-FFF2-40B4-BE49-F238E27FC236}">
                <a16:creationId xmlns:a16="http://schemas.microsoft.com/office/drawing/2014/main" id="{60F8E8E3-25FC-40FF-A3C1-457DF8EA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4073652"/>
            <a:ext cx="182880" cy="109728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0392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6AFAF994-B88B-4CA7-B062-65010DAAE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187952"/>
            <a:ext cx="384048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C0392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1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ՏՊԱՍԱԼԻ ԾՌՈՒՄ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DDD85AA1-575C-43EA-9EE7-E33F8E682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4279392"/>
            <a:ext cx="393192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3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բեռից կախված զրոյական և միջառանցքային շեղումներ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0190FA05-4CC1-42E2-AFD4-CB34A4C2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4187952"/>
            <a:ext cx="2779776" cy="438912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C0392B"/>
          </a:solidFill>
          <a:ln xmlns:a="http://schemas.openxmlformats.org/drawingml/2006/main" w="15875">
            <a:solidFill>
              <a:srgbClr val="C0392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ՈՉ</a:t>
            </a:r>
          </a:p>
        </p:txBody>
      </p:sp>
      <p:sp>
        <p:nvSpPr>
          <p:cNvPr id="30" name="Down Arrow 29">
            <a:extLst xmlns:a="http://schemas.openxmlformats.org/drawingml/2006/main">
              <a:ext uri="{FF2B5EF4-FFF2-40B4-BE49-F238E27FC236}">
                <a16:creationId xmlns:a16="http://schemas.microsoft.com/office/drawing/2014/main" id="{5F9EC2E0-573D-47B3-8F6E-E2C498551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4636008"/>
            <a:ext cx="182880" cy="109728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0392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71047983-FFD5-4F51-9CF8-EA22F674B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0308"/>
            <a:ext cx="384048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C0392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2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ԱՄՐԱՑՄԱՆ ՊՏՈՒՏԱԿ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B10A615E-F205-47CE-A231-601C2F39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4841748"/>
            <a:ext cx="3931920" cy="441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կրկին ձգելուց հետո փոփոխվող զրոյական շեղում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3E4CEB6B-5B7C-4526-A471-A54EB7BA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4750308"/>
            <a:ext cx="2779776" cy="438912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C0392B"/>
          </a:solidFill>
          <a:ln xmlns:a="http://schemas.openxmlformats.org/drawingml/2006/main" w="15875">
            <a:solidFill>
              <a:srgbClr val="C0392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ՈՉ</a:t>
            </a:r>
          </a:p>
        </p:txBody>
      </p:sp>
      <p:sp>
        <p:nvSpPr>
          <p:cNvPr id="34" name="Down Arrow 33">
            <a:extLst xmlns:a="http://schemas.openxmlformats.org/drawingml/2006/main">
              <a:ext uri="{FF2B5EF4-FFF2-40B4-BE49-F238E27FC236}">
                <a16:creationId xmlns:a16="http://schemas.microsoft.com/office/drawing/2014/main" id="{515DF14C-FEE4-4A0B-B34C-E5B25BF77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5198364"/>
            <a:ext cx="182880" cy="109728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0392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7E479099-5AAF-4792-BBD9-395C6A6C8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312664"/>
            <a:ext cx="384048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C0392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5 մմ ՌԵՏԻՆԵ ՄԻՋԱԴԻՐ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DBFF3634-8A98-46F6-A15A-0C37EF41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5404104"/>
            <a:ext cx="3931920" cy="377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4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մեխանիկական կապի թուլացում և ազդանշանի կորուստ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DF50D2B5-7BFD-467D-904B-B4090AF6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5312664"/>
            <a:ext cx="2779776" cy="438912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C0392B"/>
          </a:solidFill>
          <a:ln xmlns:a="http://schemas.openxmlformats.org/drawingml/2006/main" w="15875">
            <a:solidFill>
              <a:srgbClr val="C0392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ՈՉ</a:t>
            </a:r>
          </a:p>
        </p:txBody>
      </p:sp>
      <p:sp>
        <p:nvSpPr>
          <p:cNvPr id="38" name="Rounded Rectangle 37">
            <a:extLst xmlns:a="http://schemas.openxmlformats.org/drawingml/2006/main">
              <a:ext uri="{FF2B5EF4-FFF2-40B4-BE49-F238E27FC236}">
                <a16:creationId xmlns:a16="http://schemas.microsoft.com/office/drawing/2014/main" id="{3E4AC0FE-E197-4CA7-AABC-97070762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70448"/>
            <a:ext cx="9906000" cy="4114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A1F24"/>
          </a:solidFill>
          <a:ln xmlns:a="http://schemas.openxmlformats.org/drawingml/2006/main" w="15875">
            <a:solidFill>
              <a:srgbClr val="1A1F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5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Լարումների փոխանցման շղթան բյուրեղից շարունակվում է մինչև տպասալ, ամրացման պտուտակ և արտաքին մեխանիկական կապ։</a:t>
            </a:r>
          </a:p>
        </p:txBody>
      </p:sp>
    </p:spTree>
    <p:extLst>
      <p:ext uri="{BB962C8B-B14F-4D97-AF65-F5344CB8AC3E}">
        <p14:creationId xmlns:p14="http://schemas.microsoft.com/office/powerpoint/2010/main" val="950202659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6EEAEB7-3A0F-43D0-986D-5420BF0E0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5A82F53-6C3B-4417-A303-D11DB3D8B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D3A3DFE-20B9-4724-84C4-5D703F16A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CDD3D14-712F-43AA-877D-9565F14B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4320"/>
            <a:ext cx="1087495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90" b="1" i="0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ՔՎԵԱՐԿՈՒԹՅՈՒՆ 1   ·   ՊԱՏԱՍԽԱՆ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BD13176-1E18-4D0E-A1E0-2D201693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58368"/>
            <a:ext cx="10874959" cy="17556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205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2-րդ դասախոսությունում հարցվեց սարքի միջառանցքային զգայունությունը տպասալին զոդելուց հետո։ Ինչո՞ւ այդ արժեքը չկա տվյալների թերթիկում։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FBA494C-B566-4581-BFFF-AFF3E47E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87168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D759F13-A7A5-4F1C-ACC2-429F1076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606040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502DC63-BCDE-4A98-B67C-41DA18B6F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615184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6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Դա արտադրողի առևտրային գաղտնիքն է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B3F0186-84EE-4EA3-9B37-FB65CF2F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291840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CEDEF"/>
          </a:solidFill>
          <a:ln xmlns:a="http://schemas.openxmlformats.org/drawingml/2006/main" w="31750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383EBC3-2DC9-48B7-9531-83B93A078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410712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0E7C86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9B1ABB4-8193-4EF2-A8E8-FCDE434D1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19856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7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Այն կախված է տպասալից և վերջնական հավաքումից, որոնք արտադրողը չի վերահսկում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329C915C-437D-4174-BEFE-09281094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96512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27BE68C-B026-4FFC-85A9-728E065C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215384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7578E7F-F0EE-4D52-9DAD-4B672FCE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224528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89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Այն տրվում է միայն կիրառական ուղեցույցում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1A6F0C4-9EC5-4D80-B563-49EE6CDA9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01184"/>
            <a:ext cx="10874959" cy="65836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E4E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0">
                <a:solidFill>
                  <a:srgbClr val="1A1F2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297ECD3-EB7B-49C9-A539-4804273B7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20056"/>
            <a:ext cx="457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1BF29C1-FE24-4125-A47C-F86BA234F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869119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Այն միշտ հավասար է պատյանի մակարդակում չափված արժեքին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5AF470B-C270-4D49-A4AE-5FF45332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541264"/>
            <a:ext cx="10874959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</a:pPr>
            <a:r>
              <a:rPr sz="1440" b="0" i="1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Պատասխանը B-ն է։ Արտադրողը կարող է բնութագրել բյուրեղն ու սեփական պատյանը, բայց ոչ ձեր զոդային միացումները, տպասալի ծռումը և ամրացման եղանակը։ Ուստի միջառանցքային զգայունությունը պետք է չափել վերջնական հավաքվածքի վրա։</a:t>
            </a:r>
          </a:p>
        </p:txBody>
      </p:sp>
    </p:spTree>
    <p:extLst>
      <p:ext uri="{BB962C8B-B14F-4D97-AF65-F5344CB8AC3E}">
        <p14:creationId xmlns:p14="http://schemas.microsoft.com/office/powerpoint/2010/main" val="1997628237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46AD20E-A978-4C94-98BD-63211B84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00B7214-E98E-4002-959B-B8E8A27A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48C1199-6828-4121-8C92-5D50C081B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D8FAB28-7890-43C8-B961-64648A00E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1036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Փոքրացման առավելությունների և սահմանափակումների հաշվեկշիռը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48D663C-A2D2-4286-944B-E4E4A3927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DC09032-C2AC-4EFA-ABC8-42124B057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4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Յուրաքանչյուր մասշտաբման օրենքի դիմաց նշվում է ստացվող առավելությունն ու դրա գինը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658368" y="1920240"/>
          <a:ext xmlns:a="http://schemas.openxmlformats.org/drawingml/2006/main" cx="10874958" cy="332841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9990"/>
                <a:gridCol w="3697486"/>
                <a:gridCol w="4567482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Փոքրացման հետևանքը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Առավելություն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60" b="1">
                          <a:solidFill>
                            <a:srgbClr val="F7F5F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Սահմանափակում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50" b="1">
                          <a:solidFill>
                            <a:srgbClr val="1A1F24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m ∝ L³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50" b="0">
                          <a:solidFill>
                            <a:srgbClr val="1A1F24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50" b="1">
                          <a:solidFill>
                            <a:srgbClr val="C039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փոքր զանգված և ավելի բարձր աղմուկ</a:t>
                      </a:r>
                    </a:p>
                  </a:txBody>
                  <a:tcPr marL="91440" marR="91440" marT="27432" marB="27432" anchor="ctr">
                    <a:solidFill>
                      <a:srgbClr val="F7DFD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50" b="1">
                          <a:solidFill>
                            <a:srgbClr val="1A1F24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k ∝ L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50" b="0">
                          <a:solidFill>
                            <a:srgbClr val="1A1F24"/>
                          </a:solidFill>
                          <a:latin typeface="Arial"/>
                          <a:ea typeface="Arial"/>
                          <a:cs typeface="Arial"/>
                        </a:rPr>
                        <a:t>ճկուն կառուցվածքներ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50" b="0">
                          <a:solidFill>
                            <a:srgbClr val="1A1F24"/>
                          </a:solidFill>
                          <a:latin typeface="Arial"/>
                          <a:ea typeface="Arial"/>
                          <a:cs typeface="Arial"/>
                        </a:rPr>
                        <a:t>երկրաչափական շեղումների մեծ ազդեցություն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50" b="1">
                          <a:solidFill>
                            <a:srgbClr val="1A1F24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f₀ ∝ 1/L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50" b="1">
                          <a:solidFill>
                            <a:srgbClr val="0E7C8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ավելի լայն թողունակություն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5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ռեզոնանսը մոտենում է ազդանշանի տիրույթին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10" b="1">
                          <a:solidFill>
                            <a:srgbClr val="1A1F24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մակերես/ծավալ ∝ 1/L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5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արագ ջերմային արձագանք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50" b="1">
                          <a:solidFill>
                            <a:srgbClr val="C039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մակերևութային ուժեր և ստիքշն</a:t>
                      </a:r>
                    </a:p>
                  </a:txBody>
                  <a:tcPr marL="91440" marR="91440" marT="27432" marB="27432" anchor="ctr">
                    <a:solidFill>
                      <a:srgbClr val="F7DFD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50" b="1">
                          <a:solidFill>
                            <a:srgbClr val="1A1F24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խմբաքանակային արտադրություն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90" b="1">
                          <a:solidFill>
                            <a:srgbClr val="0E7C8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ցածր արժեք և էլեկտրոնիկայի ինտեգրում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7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արտադրական թույլատրելիքներ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50" b="1">
                          <a:solidFill>
                            <a:srgbClr val="1A1F24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պատյանավորում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50" b="0">
                          <a:solidFill>
                            <a:srgbClr val="1A1F2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պաշտպանություն և գործածելիություն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50" b="1">
                          <a:solidFill>
                            <a:srgbClr val="C0392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վերջնական հավաքվածքից կախված լարումներ</a:t>
                      </a:r>
                    </a:p>
                  </a:txBody>
                  <a:tcPr marL="91440" marR="91440" marT="27432" marB="27432" anchor="ctr">
                    <a:solidFill>
                      <a:srgbClr val="F7DFD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40F78289-938D-48EA-AB57-32C11A975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394960"/>
            <a:ext cx="10874959" cy="82296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AECD8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83964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Տվյալների թերթիկը հիմնականում բնութագրում է սարքի առավելությունները։ Արտադրական թույլատրելիքների և վերջնական հավաքման ազդեցությունը պետք է գնահատել առանձին։</a:t>
            </a:r>
          </a:p>
        </p:txBody>
      </p:sp>
    </p:spTree>
    <p:extLst>
      <p:ext uri="{BB962C8B-B14F-4D97-AF65-F5344CB8AC3E}">
        <p14:creationId xmlns:p14="http://schemas.microsoft.com/office/powerpoint/2010/main" val="554869469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C31CF4B-876B-4FAD-84E4-C9E990864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F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1576276-15D4-4F7F-96A5-9C31A0B0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7A848C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9847889-50AA-4279-AAA9-70363228C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7A848C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47BD9DC-CEA7-421E-A203-B29226B6E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4320"/>
            <a:ext cx="1087495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90" b="1" i="0">
                <a:solidFill>
                  <a:srgbClr val="D98324"/>
                </a:solidFill>
                <a:latin typeface="DejaVu Sans"/>
                <a:ea typeface="DejaVu Sans"/>
                <a:cs typeface="DejaVu Sans"/>
              </a:rPr>
              <a:t>Միկրոմասշտաբի հիմնական փոխզիջումը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A859DF4-FFA2-4A92-B712-AB9718FA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65960"/>
            <a:ext cx="10874959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560" b="1" i="0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Փոքրացումը միաժամանակ տալիս է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4000" b="1" i="0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առավելություններ և սահմանափակումներ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447D136-732E-4321-8E3B-BD69336A7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617720"/>
            <a:ext cx="1371600" cy="5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3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6E98030-29DB-419F-923D-E85F4464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92040"/>
            <a:ext cx="9960559" cy="14106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780" b="0" i="0">
                <a:solidFill>
                  <a:srgbClr val="B8C0C6"/>
                </a:solidFill>
                <a:latin typeface="DejaVu Sans"/>
                <a:ea typeface="DejaVu Sans"/>
                <a:cs typeface="DejaVu Sans"/>
              </a:rPr>
              <a:t>Տվյալների թերթիկը քանակապես նկարագրում է սարքի բազմաթիվ հատկություններ։ Արտադրական թույլատրելիքների և վերջնական հավաքվածքի լարումների ազդեցությունը նախագծողը պետք է չափի իր տպասալի և ամրացման վրա։</a:t>
            </a:r>
          </a:p>
        </p:txBody>
      </p:sp>
    </p:spTree>
    <p:extLst>
      <p:ext uri="{BB962C8B-B14F-4D97-AF65-F5344CB8AC3E}">
        <p14:creationId xmlns:p14="http://schemas.microsoft.com/office/powerpoint/2010/main" val="1971068742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3CA7973-7ADF-4AB9-A673-5E96AFDD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4D521A5-C3F8-4E5C-930E-45A89429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C3F2273-BF86-4E0D-B3BC-F7C561CB9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B0A68E5-7104-4D7F-AC97-861CF892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2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Մոդուլ Ա-ի ամփոփումը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8A3B923-3A52-4A21-ABD7-E405301EC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3F5FF1-829F-463C-9AB6-23F3E574F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9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Չորս դասախոսություններում ձևավորվեց տվիչների վերլուծության միասնական մեթոդ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CD73EAC-87FA-485F-A8FE-0CC2C6382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38528"/>
            <a:ext cx="10874959" cy="11727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3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Այժմ կարող եք պահանջը վերածել տեխնիկական բնութագրերի, գնահատել տվյալների թերթիկը և բացատրել վերջնական հավաքվածքում առաջացող շեղումները։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4D9D293-64E5-470D-B8F0-C12AE82F3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834640"/>
            <a:ext cx="1087495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50" b="1" i="0">
                <a:solidFill>
                  <a:srgbClr val="D98324"/>
                </a:solidFill>
                <a:latin typeface="DejaVu Sans"/>
                <a:ea typeface="DejaVu Sans"/>
                <a:cs typeface="DejaVu Sans"/>
              </a:rPr>
              <a:t>5–11-ՐԴ ԴԱՍԱԽՈՍՈՒԹՅՈՒՆՆԵՐՈՒՄ ՆՈՒՅՆ ՄԵԹՈԴԸ ԿԿԻՐԱՌՎԻ ՅՈԹ ՏԱՐԲԵՐ ՍԱՐՔԵՐԻ ՆԿԱՏՄԱՄԲ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CABC730-4C34-4E62-9F9D-E000338C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182112"/>
            <a:ext cx="2432304" cy="566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CEDEF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4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ՉԱՓՎՈՂ ՄԵԾՈՒԹՅՈՒՆ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827161-0387-4AD8-894C-89CE33DE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09544"/>
            <a:ext cx="274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 i="0">
                <a:solidFill>
                  <a:srgbClr val="0E7C86"/>
                </a:solidFill>
                <a:latin typeface="Courier New"/>
                <a:ea typeface="Courier New"/>
                <a:cs typeface="Courier New"/>
              </a:rPr>
              <a:t>1</a:t>
            </a:r>
          </a:p>
        </p:txBody>
      </p:sp>
      <p:sp>
        <p:nvSpPr>
          <p:cNvPr id="12" name="Right Arrow 11">
            <a:extLst xmlns:a="http://schemas.openxmlformats.org/drawingml/2006/main">
              <a:ext uri="{FF2B5EF4-FFF2-40B4-BE49-F238E27FC236}">
                <a16:creationId xmlns:a16="http://schemas.microsoft.com/office/drawing/2014/main" id="{3725DBFE-C241-42E7-BA6D-0C438ED1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5536" y="3364992"/>
            <a:ext cx="274320" cy="20116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59D7B2CB-6F3A-4E90-858E-225C7670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3182112"/>
            <a:ext cx="2432304" cy="566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CEDEF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ՉԱՓՄԱՆ ՓՈԽԱԿԵՐՊՈՒՄ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6BB7579-1954-46F9-95B3-A81A2602F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3209544"/>
            <a:ext cx="274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 i="0">
                <a:solidFill>
                  <a:srgbClr val="0E7C86"/>
                </a:solidFill>
                <a:latin typeface="Courier New"/>
                <a:ea typeface="Courier New"/>
                <a:cs typeface="Courier New"/>
              </a:rPr>
              <a:t>2</a:t>
            </a:r>
          </a:p>
        </p:txBody>
      </p:sp>
      <p:sp>
        <p:nvSpPr>
          <p:cNvPr id="1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9AEA926B-B8C9-47C7-9679-9E500D690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888" y="3364992"/>
            <a:ext cx="274320" cy="20116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846C403-1A97-456E-B260-DE5C96A5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3182112"/>
            <a:ext cx="2432304" cy="566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CEDEF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7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ԿԱՌՈՒՑՎԱԾՔ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A1ED128-8EEA-4290-AB93-53CC8F52D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3209544"/>
            <a:ext cx="274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 i="0">
                <a:solidFill>
                  <a:srgbClr val="0E7C86"/>
                </a:solidFill>
                <a:latin typeface="Courier New"/>
                <a:ea typeface="Courier New"/>
                <a:cs typeface="Courier New"/>
              </a:rPr>
              <a:t>3</a:t>
            </a:r>
          </a:p>
        </p:txBody>
      </p:sp>
      <p:sp>
        <p:nvSpPr>
          <p:cNvPr id="18" name="Right Arrow 17">
            <a:extLst xmlns:a="http://schemas.openxmlformats.org/drawingml/2006/main">
              <a:ext uri="{FF2B5EF4-FFF2-40B4-BE49-F238E27FC236}">
                <a16:creationId xmlns:a16="http://schemas.microsoft.com/office/drawing/2014/main" id="{AE0681AF-B3DF-455D-B712-A5A99B06F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364992"/>
            <a:ext cx="274320" cy="20116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3B72A41A-8A21-4D85-971F-86301AB1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3182112"/>
            <a:ext cx="2432304" cy="566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CEDEF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ԵԼՔ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1FC9D0D-FA82-48D0-9A04-5FD503D9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209544"/>
            <a:ext cx="274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 i="0">
                <a:solidFill>
                  <a:srgbClr val="0E7C86"/>
                </a:solidFill>
                <a:latin typeface="Courier New"/>
                <a:ea typeface="Courier New"/>
                <a:cs typeface="Courier New"/>
              </a:rPr>
              <a:t>4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12D52346-1221-42F0-8C6B-081A6D32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78224"/>
            <a:ext cx="2432304" cy="566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CEDEF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4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ՏԵԽՆԻԿԱԿԱՆ ԲՆՈՒԹԱԳՐԵՐ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CA3DF38D-7D95-4DCD-98A6-2586C72BE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05656"/>
            <a:ext cx="274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 i="0">
                <a:solidFill>
                  <a:srgbClr val="0E7C86"/>
                </a:solidFill>
                <a:latin typeface="Courier New"/>
                <a:ea typeface="Courier New"/>
                <a:cs typeface="Courier New"/>
              </a:rPr>
              <a:t>5</a:t>
            </a:r>
          </a:p>
        </p:txBody>
      </p:sp>
      <p:sp>
        <p:nvSpPr>
          <p:cNvPr id="23" name="Right Arrow 22">
            <a:extLst xmlns:a="http://schemas.openxmlformats.org/drawingml/2006/main">
              <a:ext uri="{FF2B5EF4-FFF2-40B4-BE49-F238E27FC236}">
                <a16:creationId xmlns:a16="http://schemas.microsoft.com/office/drawing/2014/main" id="{3A4AF177-EC36-489D-9F47-B944789C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5536" y="4261104"/>
            <a:ext cx="274320" cy="20116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7B1F6E4E-2E9E-4953-A189-297B02728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4078224"/>
            <a:ext cx="2432304" cy="566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CEDEF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ԻՆՏԵՐՖԵՅՍ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937AC4AA-ED09-467B-AE57-59165A4CB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4105656"/>
            <a:ext cx="274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 i="0">
                <a:solidFill>
                  <a:srgbClr val="0E7C86"/>
                </a:solidFill>
                <a:latin typeface="Courier New"/>
                <a:ea typeface="Courier New"/>
                <a:cs typeface="Courier New"/>
              </a:rPr>
              <a:t>6</a:t>
            </a:r>
          </a:p>
        </p:txBody>
      </p:sp>
      <p:sp>
        <p:nvSpPr>
          <p:cNvPr id="26" name="Right Arrow 25">
            <a:extLst xmlns:a="http://schemas.openxmlformats.org/drawingml/2006/main">
              <a:ext uri="{FF2B5EF4-FFF2-40B4-BE49-F238E27FC236}">
                <a16:creationId xmlns:a16="http://schemas.microsoft.com/office/drawing/2014/main" id="{053CACD9-CF1F-4654-B036-5008A2BAA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888" y="4261104"/>
            <a:ext cx="274320" cy="20116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A5470167-DCF4-416B-ABF9-D7C69AC8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4078224"/>
            <a:ext cx="2432304" cy="566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CEDEF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ՉԱՓԱԲԵՐՈՒՄ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66CA7BFB-F25C-41FA-B0AB-305C6BDD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4105656"/>
            <a:ext cx="274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 i="0">
                <a:solidFill>
                  <a:srgbClr val="0E7C86"/>
                </a:solidFill>
                <a:latin typeface="Courier New"/>
                <a:ea typeface="Courier New"/>
                <a:cs typeface="Courier New"/>
              </a:rPr>
              <a:t>7</a:t>
            </a:r>
          </a:p>
        </p:txBody>
      </p:sp>
      <p:sp>
        <p:nvSpPr>
          <p:cNvPr id="29" name="Right Arrow 28">
            <a:extLst xmlns:a="http://schemas.openxmlformats.org/drawingml/2006/main">
              <a:ext uri="{FF2B5EF4-FFF2-40B4-BE49-F238E27FC236}">
                <a16:creationId xmlns:a16="http://schemas.microsoft.com/office/drawing/2014/main" id="{7F9DA6E6-E53E-4001-BD5A-22F2F0BE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261104"/>
            <a:ext cx="274320" cy="20116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F88F62C6-6FC8-4174-B280-A9F8AF78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4078224"/>
            <a:ext cx="2432304" cy="566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CEDEF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4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ԽԱՓԱՆՄԱՆ ՁԵՎԵՐ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52B509E-B7CC-4F42-8277-441A30334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4105656"/>
            <a:ext cx="274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 i="0">
                <a:solidFill>
                  <a:srgbClr val="0E7C86"/>
                </a:solidFill>
                <a:latin typeface="Courier New"/>
                <a:ea typeface="Courier New"/>
                <a:cs typeface="Courier New"/>
              </a:rPr>
              <a:t>8</a:t>
            </a:r>
          </a:p>
        </p:txBody>
      </p:sp>
      <p:sp>
        <p:nvSpPr>
          <p:cNvPr id="32" name="Down Arrow 31">
            <a:extLst xmlns:a="http://schemas.openxmlformats.org/drawingml/2006/main">
              <a:ext uri="{FF2B5EF4-FFF2-40B4-BE49-F238E27FC236}">
                <a16:creationId xmlns:a16="http://schemas.microsoft.com/office/drawing/2014/main" id="{48F54213-C6B7-4C55-A8B2-866557C25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8712" y="3785615"/>
            <a:ext cx="182880" cy="237744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3E9BB108-EA2C-4F80-BCB5-076AB0CD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074920"/>
            <a:ext cx="10874959" cy="73152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A1F24"/>
          </a:solidFill>
          <a:ln xmlns:a="http://schemas.openxmlformats.org/drawingml/2006/main" w="15875">
            <a:solidFill>
              <a:srgbClr val="1A1F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97265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Յոթ տարբեր սարքերի ուսումնասիրությունը կկառուցվի նույն հաջորդականությամբ՝ չափվող մեծությունից մինչև չափաբերում և խափանման ձևեր։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F447421A-3823-4E67-A809-FC656D0AE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943600"/>
            <a:ext cx="1087497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1" i="0">
                <a:solidFill>
                  <a:srgbClr val="0E7C86"/>
                </a:solidFill>
                <a:latin typeface="DejaVu Sans"/>
                <a:ea typeface="DejaVu Sans"/>
                <a:cs typeface="DejaVu Sans"/>
              </a:rPr>
              <a:t>ՀԱՋՈՐԴԸ․ Դասախոսություն 5 · արագաչափի կառուցվածքը, փոխակերպումը և ռեգիստրային ելքը</a:t>
            </a:r>
          </a:p>
        </p:txBody>
      </p:sp>
    </p:spTree>
    <p:extLst>
      <p:ext uri="{BB962C8B-B14F-4D97-AF65-F5344CB8AC3E}">
        <p14:creationId xmlns:p14="http://schemas.microsoft.com/office/powerpoint/2010/main" val="428538523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5833A1E-12F4-422C-8FDE-F6995FC52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041C765-5604-441F-9916-3C7AC446F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008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MEMS և տվիչներ  ·  Դասախոսություն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5059882-58A2-4764-BF04-609DE3856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927" y="640080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0" i="0">
                <a:solidFill>
                  <a:srgbClr val="6B768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A9C0D31-1803-4203-9230-E69C7364C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10874959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Եզրափակիչ առաջադրանք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720270E-465C-4166-BDD7-EF06A640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F269E57-EB97-45FD-A29E-8EF3E3B1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1087495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Երկու հարց · 90 վայրկյան · գրավոր պատասխան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AC0040A-F1E1-4037-8670-54886FC5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65960"/>
            <a:ext cx="5349240" cy="621792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7C86"/>
          </a:solidFill>
          <a:ln xmlns:a="http://schemas.openxmlformats.org/drawingml/2006/main" w="15875">
            <a:solidFill>
              <a:srgbClr val="0E7C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>
                <a:solidFill>
                  <a:srgbClr val="F7F5F1"/>
                </a:solidFill>
                <a:latin typeface="DejaVu Sans"/>
                <a:ea typeface="DejaVu Sans"/>
                <a:cs typeface="DejaVu Sans"/>
              </a:rPr>
              <a:t>1 · ՁԵՐ ՆԱԽԱԳԻԾԸ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8F32D5-737D-40BF-BA49-8ACCA13F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834640"/>
            <a:ext cx="5074920" cy="25191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</a:pPr>
            <a:r>
              <a:rPr sz="13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Նշեք ձեր նախագծի տվիչի մեկ բնութագիր, որը պետք է չափեք վերջնական հավաքվածքի վրա։ Նշեք նաև մեխանիկական լարման փոխանցման համապատասխան ուղին։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E1FA9AB-9B6B-4264-A77A-035D672E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965960"/>
            <a:ext cx="5349240" cy="621792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98324"/>
          </a:solidFill>
          <a:ln xmlns:a="http://schemas.openxmlformats.org/drawingml/2006/main" w="15875">
            <a:solidFill>
              <a:srgbClr val="D9832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3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2 · ԸՆԴՀԱՆՈՒՐ ՄԵԹՈԴԸ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83DA1CA-69BE-4E82-872B-16CC108A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2834640"/>
            <a:ext cx="507492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</a:pPr>
            <a:r>
              <a:rPr sz="1350" b="0" i="0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Մեկ նախադասությամբ ձևակերպեք այն վերլուծական հաջորդականությունը, որը կրկնվելու է 5–11-րդ դասախոսություններում։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9653CC57-1BEA-4E04-8B64-62DCDE047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212080"/>
            <a:ext cx="10874959" cy="77724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7F5F1"/>
          </a:solidFill>
          <a:ln xmlns:a="http://schemas.openxmlformats.org/drawingml/2006/main" w="15875">
            <a:solidFill>
              <a:srgbClr val="6B768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tIns="27432" rIns="54864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60" b="1">
                <a:solidFill>
                  <a:srgbClr val="1A1F24"/>
                </a:solidFill>
                <a:latin typeface="DejaVu Sans"/>
                <a:ea typeface="DejaVu Sans"/>
                <a:cs typeface="DejaVu Sans"/>
              </a:rPr>
              <a:t>Եթե պատասխաններից պարզվի, որ ընդհանուր մեթոդը դեռ հստակ չէ, 5-րդ դասախոսությունը կսկսենք դրա համառոտ կրկնությունից։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09AA975-D43E-4F9D-BBAB-9D82BEE2E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053328"/>
            <a:ext cx="1087497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75" b="0" i="1">
                <a:solidFill>
                  <a:srgbClr val="6B7680"/>
                </a:solidFill>
                <a:latin typeface="DejaVu Sans"/>
                <a:ea typeface="DejaVu Sans"/>
                <a:cs typeface="DejaVu Sans"/>
              </a:rPr>
              <a:t>Ընթերցանություն․ ուսումնական ձեռնարկի 4-րդ գլուխ՝ MEMS կառուցվածքներ, միկրոարտադրություն և պատյանավորում։</a:t>
            </a:r>
          </a:p>
        </p:txBody>
      </p:sp>
    </p:spTree>
    <p:extLst>
      <p:ext uri="{BB962C8B-B14F-4D97-AF65-F5344CB8AC3E}">
        <p14:creationId xmlns:p14="http://schemas.microsoft.com/office/powerpoint/2010/main" val="177367348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2026-09-22T13:26:18.5580000Z</dcterms:created>
  <dcterms:modified xsi:type="dcterms:W3CDTF">2026-09-22T13:26:18.5580000Z</dcterms:modified>
</coreProperties>
</file>