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0:00. BEFORE THE BELL: have the L3 exit tickets in front of you, the</a:t>
            </a:r>
          </a:p>
          <a:p>
            <a:r>
              <a:t>ISM330DHCX datasheet open at the zero-g level rows with the page number written</a:t>
            </a:r>
          </a:p>
          <a:p>
            <a:r>
              <a:t>on your hand, and the twelve sets of sequencing cards counted out.</a:t>
            </a:r>
          </a:p>
          <a:p/>
          <a:p>
            <a:r>
              <a:t>Write 8.73 mg on the physical board before anyone arrives and do not erase it.</a:t>
            </a:r>
          </a:p>
          <a:p>
            <a:r>
              <a:t>You will point at it six times today.</a:t>
            </a:r>
          </a:p>
          <a:p/>
          <a:p>
            <a:r>
              <a:t>Say the hook line out loud rather than reading it: "Lecture 2 ended with a</a:t>
            </a:r>
          </a:p>
          <a:p>
            <a:r>
              <a:t>question I could not answer. That was deliberate. Today we open the box."</a:t>
            </a:r>
          </a:p>
          <a:p/>
          <a:p>
            <a:r>
              <a:t>Then go straight to the muddiest points. Do not preamble.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0:00–0:02. TEMPLATE SLIDE — you must fill it in before class.</a:t>
            </a:r>
          </a:p>
          <a:p/>
          <a:p>
            <a:r>
              <a:t>Transcribe the three most frequent muddiest points from Lecture 3 and answer each</a:t>
            </a:r>
          </a:p>
          <a:p>
            <a:r>
              <a:t>in about twenty-five seconds. Name the concept, never the student.</a:t>
            </a:r>
          </a:p>
          <a:p/>
          <a:p>
            <a:r>
              <a:t>If aliasing or anti-alias filtering is still unresolved for a large part of the</a:t>
            </a:r>
          </a:p>
          <a:p>
            <a:r>
              <a:t>room, say one sentence and promise Laboratory 2 — do not re-teach it here, you</a:t>
            </a:r>
          </a:p>
          <a:p>
            <a:r>
              <a:t>have no slack today.</a:t>
            </a:r>
          </a:p>
          <a:p/>
          <a:p>
            <a:r>
              <a:t>If the tickets were useless, delete this slide rather than improvising. A hollow</a:t>
            </a:r>
          </a:p>
          <a:p>
            <a:r>
              <a:t>ritual is worse than none, and today's opening needs its two minutes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0:02–0:05. RETRIEVAL PRACTICE, not review. Ask before you show.</a:t>
            </a:r>
          </a:p>
          <a:p/>
          <a:p>
            <a:r>
              <a:t>"Notes down. Four relations from Lecture 1 — mass, stiffness, resonance, surface</a:t>
            </a:r>
          </a:p>
          <a:p>
            <a:r>
              <a:t>to volume. Somebody give me one." Take four students, one relation each, and let</a:t>
            </a:r>
          </a:p>
          <a:p>
            <a:r>
              <a:t>the room correct them. It costs ninety seconds and beats re-explaining.</a:t>
            </a:r>
          </a:p>
          <a:p/>
          <a:p>
            <a:r>
              <a:t>If they cannot produce m ∝ L³, write it up and leave it up — the honest ledger at</a:t>
            </a:r>
          </a:p>
          <a:p>
            <a:r>
              <a:t>minute 73 collapses without it.</a:t>
            </a:r>
          </a:p>
          <a:p/>
          <a:p>
            <a:r>
              <a:t>Then the bridge: "You have used these to predict behaviour. Today they turn into</a:t>
            </a:r>
          </a:p>
          <a:p>
            <a:r>
              <a:t>process steps and a stress path."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0:05–0:07. Put it up in silence and let them recognise it. Somebody will.</a:t>
            </a:r>
          </a:p>
          <a:p/>
          <a:p>
            <a:r>
              <a:t>Then say plainly: "Two weeks ago I told you a number could not exist and moved</a:t>
            </a:r>
          </a:p>
          <a:p>
            <a:r>
              <a:t>on. That was a debt. A course that leaves debts like that unpaid teaches students</a:t>
            </a:r>
          </a:p>
          <a:p>
            <a:r>
              <a:t>that engineering has magic in it."</a:t>
            </a:r>
          </a:p>
          <a:p/>
          <a:p>
            <a:r>
              <a:t>Ask for the reason, take two answers, accept none of them yet: "Hold those. In</a:t>
            </a:r>
          </a:p>
          <a:p>
            <a:r>
              <a:t>three minutes you will vote on it, and I will not tell you the answer until</a:t>
            </a:r>
          </a:p>
          <a:p>
            <a:r>
              <a:t>minute seventy, by which point you will not need me to."</a:t>
            </a:r>
          </a:p>
          <a:p/>
          <a:p>
            <a:r>
              <a:t>Do not explain. The poll is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0:07–0:08. Sixty seconds, four lines, read them and stop.</a:t>
            </a:r>
          </a:p>
          <a:p/>
          <a:p>
            <a:r>
              <a:t>Point at line 4 and make it physical: "You will tighten that screw yourself, in</a:t>
            </a:r>
          </a:p>
          <a:p>
            <a:r>
              <a:t>the capstone, with a screwdriver, by feel. That torque is now part of your</a:t>
            </a:r>
          </a:p>
          <a:p>
            <a:r>
              <a:t>instrument."</a:t>
            </a:r>
          </a:p>
          <a:p/>
          <a:p>
            <a:r>
              <a:t>The sentence to land, in the first person because that is how habits install:</a:t>
            </a:r>
          </a:p>
          <a:p>
            <a:r>
              <a:t>"The datasheet describes a die. I bought an assembly, and I built the rest of it."</a:t>
            </a:r>
          </a:p>
          <a:p/>
          <a:p>
            <a:r>
              <a:t>Do not go further. This slide only has to make the poll feel answerable rather</a:t>
            </a:r>
          </a:p>
          <a:p>
            <a:r>
              <a:t>than mystical. Go straight to the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0:08–0:11. Baseline. DO NOT REVEAL. Record the distribution; you re-show</a:t>
            </a:r>
          </a:p>
          <a:p>
            <a:r>
              <a:t>this slide at minute seventy.</a:t>
            </a:r>
          </a:p>
          <a:p/>
          <a:p>
            <a:r>
              <a:t>Expect 25–40 % for B. This poll is less about the split than about planting the</a:t>
            </a:r>
          </a:p>
          <a:p>
            <a:r>
              <a:t>question, so do not fish for the answer.</a:t>
            </a:r>
          </a:p>
          <a:p/>
          <a:p>
            <a:r>
              <a:t>A is the commercial-secrecy instinct — worth thirty seconds of dismantling later:</a:t>
            </a:r>
          </a:p>
          <a:p>
            <a:r>
              <a:t>they publish noise density, which is far more competitively sensitive.</a:t>
            </a:r>
          </a:p>
          <a:p/>
          <a:p>
            <a:r>
              <a:t>C is the most useful wrong answer, because somebody will go looking during the</a:t>
            </a:r>
          </a:p>
          <a:p>
            <a:r>
              <a:t>break. If they find an app note, that is a gift — read its mounting-stress</a:t>
            </a:r>
          </a:p>
          <a:p>
            <a:r>
              <a:t>mitigation list aloud at minute seventy.</a:t>
            </a:r>
          </a:p>
          <a:p/>
          <a:p>
            <a:r>
              <a:t>D is misconception M1 in its purest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0:11–0:12. These are the real rows, from the real part in their kit. Say</a:t>
            </a:r>
          </a:p>
          <a:p>
            <a:r>
              <a:t>so — after two weeks of representative extracts, that matters.</a:t>
            </a:r>
          </a:p>
          <a:p/>
          <a:p>
            <a:r>
              <a:t>Read row 1 aloud with its condition, twice: "plus or minus ten milli-g typical,</a:t>
            </a:r>
          </a:p>
          <a:p>
            <a:r>
              <a:t>plus or minus sixty-five maximum, at twenty-five degrees, AFTER SOLDERING."</a:t>
            </a:r>
          </a:p>
          <a:p/>
          <a:p>
            <a:r>
              <a:t>Then the honesty point: "This is not a manufacturer hiding. This is a</a:t>
            </a:r>
          </a:p>
          <a:p>
            <a:r>
              <a:t>manufacturer telling you exactly where the boundary of their responsibility is,</a:t>
            </a:r>
          </a:p>
          <a:p>
            <a:r>
              <a:t>in five words, and almost nobody reads them."</a:t>
            </a:r>
          </a:p>
          <a:p/>
          <a:p>
            <a:r>
              <a:t>Hold the arithmetic. The next slide is the punch.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0:12–0:14. Do both divisions on the board, out loud. Ten over eight point</a:t>
            </a:r>
          </a:p>
          <a:p>
            <a:r>
              <a:t>seven three is one point one five. Sixty-five over eight point seven three is</a:t>
            </a:r>
          </a:p>
          <a:p>
            <a:r>
              <a:t>seven point four five.</a:t>
            </a:r>
          </a:p>
          <a:p/>
          <a:p>
            <a:r>
              <a:t>Then stop and let it sit: "The offset of the part in your kit is larger than the</a:t>
            </a:r>
          </a:p>
          <a:p>
            <a:r>
              <a:t>tilt you were asked to measure. Not comparable to it — larger."</a:t>
            </a:r>
          </a:p>
          <a:p/>
          <a:p>
            <a:r>
              <a:t>Take the obvious objection from the room, because someone will raise it: yes, you</a:t>
            </a:r>
          </a:p>
          <a:p>
            <a:r>
              <a:t>can calibrate an offset out. Say "hold that thought, it is the best question in</a:t>
            </a:r>
          </a:p>
          <a:p>
            <a:r>
              <a:t>the lecture, and it is slide thirty-four."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0:14. Section marker, fifteen seconds. Read the two lines and move.</a:t>
            </a:r>
          </a:p>
          <a:p/>
          <a:p>
            <a:r>
              <a:t>Say the promise out loud because it lowers the cognitive load of the whole chunk:</a:t>
            </a:r>
          </a:p>
          <a:p>
            <a:r>
              <a:t>"Five, not fifty. Five fits in your head, and five is genuinely all there is.</a:t>
            </a:r>
          </a:p>
          <a:p>
            <a:r>
              <a:t>Every sensor in the second half of this course is one of these five shapes with a</a:t>
            </a:r>
          </a:p>
          <a:p>
            <a:r>
              <a:t>different transduction bolted onto it."</a:t>
            </a:r>
          </a:p>
          <a:p/>
          <a:p>
            <a:r>
              <a:t>Do not list them twice. The next slide starts drawing.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0:14–0:16. Deliberately the SAME picture as Lecture 1. Say that: "I have</a:t>
            </a:r>
          </a:p>
          <a:p>
            <a:r>
              <a:t>not redrawn this. You have seen it. What has changed is what you can now ask</a:t>
            </a:r>
          </a:p>
          <a:p>
            <a:r>
              <a:t>about it."</a:t>
            </a:r>
          </a:p>
          <a:p/>
          <a:p>
            <a:r>
              <a:t>Point at the one-to-two micrometre gap and name the stake: "C is epsilon A over</a:t>
            </a:r>
          </a:p>
          <a:p>
            <a:r>
              <a:t>d. If assembly stress changes d by one per cent, the capacitance changes by one</a:t>
            </a:r>
          </a:p>
          <a:p>
            <a:r>
              <a:t>per cent, and that appears as an offset. That is the ten milli-g."</a:t>
            </a:r>
          </a:p>
          <a:p/>
          <a:p>
            <a:r>
              <a:t>That single sentence is the whole lecture in miniature. If you have to cut</a:t>
            </a:r>
          </a:p>
          <a:p>
            <a:r>
              <a:t>something later, do not cut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0:16–0:18. Three boxes, thirty seconds each, then the grey paragraph.</a:t>
            </a:r>
          </a:p>
          <a:p/>
          <a:p>
            <a:r>
              <a:t>The trap to name explicitly: students want sensitivity and bandwidth to be</a:t>
            </a:r>
          </a:p>
          <a:p>
            <a:r>
              <a:t>independent knobs. "They are the same two numbers. Make the mass bigger and you</a:t>
            </a:r>
          </a:p>
          <a:p>
            <a:r>
              <a:t>buy sensitivity and lose bandwidth. There is no setting for this — it was decided</a:t>
            </a:r>
          </a:p>
          <a:p>
            <a:r>
              <a:t>by a mask."</a:t>
            </a:r>
          </a:p>
          <a:p/>
          <a:p>
            <a:r>
              <a:t>That is the first place in the course where a specification is traceable to a</a:t>
            </a:r>
          </a:p>
          <a:p>
            <a:r>
              <a:t>manufacturing decision rather than a design choice, so say the word "mask" and</a:t>
            </a:r>
          </a:p>
          <a:p>
            <a:r>
              <a:t>let it land. It comes back at minute fifty-two.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0:18–0:20. Two cards, and one connection they will not make unaided.</a:t>
            </a:r>
          </a:p>
          <a:p/>
          <a:p>
            <a:r>
              <a:t>Say the connection: "A cantilever is a flexure with nothing on the end. You have</a:t>
            </a:r>
          </a:p>
          <a:p>
            <a:r>
              <a:t>not learned a second structure, you have learned the same one used differently."</a:t>
            </a:r>
          </a:p>
          <a:p>
            <a:r>
              <a:t>That halves the load of this chunk.</a:t>
            </a:r>
          </a:p>
          <a:p/>
          <a:p>
            <a:r>
              <a:t>The exponents are the teaching point on the beam: t cubed. Do the arithmetic</a:t>
            </a:r>
          </a:p>
          <a:p>
            <a:r>
              <a:t>aloud — five per cent thickness error, sixteen per cent stiffness error — and</a:t>
            </a:r>
          </a:p>
          <a:p>
            <a:r>
              <a:t>promise that deposition at minute fifty-two is where the five per cent comes from.</a:t>
            </a:r>
          </a:p>
          <a:p/>
          <a:p>
            <a:r>
              <a:t>Plant the diaphragm note deliberately. Poll 2 is four minutes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0:20–0:22. Spend your time on the comb, not the resonator.</a:t>
            </a:r>
          </a:p>
          <a:p/>
          <a:p>
            <a:r>
              <a:t>Say the gyroscope sentence slowly and once: drive comb sustains, sense comb</a:t>
            </a:r>
          </a:p>
          <a:p>
            <a:r>
              <a:t>reads Coriolis. Lecture 6 will thank you, and a student who holds this needs</a:t>
            </a:r>
          </a:p>
          <a:p>
            <a:r>
              <a:t>half as long in week six.</a:t>
            </a:r>
          </a:p>
          <a:p/>
          <a:p>
            <a:r>
              <a:t>On the resonator, one line only: "the output is a frequency, and frequency is the</a:t>
            </a:r>
          </a:p>
          <a:p>
            <a:r>
              <a:t>one quantity we can measure to nine digits with a cheap counter."</a:t>
            </a:r>
          </a:p>
          <a:p/>
          <a:p>
            <a:r>
              <a:t>The grey paragraph is the second plant for minute fifty-two — lithography sets d,</a:t>
            </a:r>
          </a:p>
          <a:p>
            <a:r>
              <a:t>d sets C, C sets the noise floor. You will ask for that chain back in the</a:t>
            </a:r>
          </a:p>
          <a:p>
            <a:r>
              <a:t>sequencing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0:22. DO NOT READ THIS SLIDE OUT. It is a reference page and it is in the</a:t>
            </a:r>
          </a:p>
          <a:p>
            <a:r>
              <a:t>handout — say both things so nobody transcribes it.</a:t>
            </a:r>
          </a:p>
          <a:p/>
          <a:p>
            <a:r>
              <a:t>Point at exactly one column: "Senses". "Read down that column and notice that</a:t>
            </a:r>
          </a:p>
          <a:p>
            <a:r>
              <a:t>four different measurands come out of five shapes. You are not learning devices.</a:t>
            </a:r>
          </a:p>
          <a:p>
            <a:r>
              <a:t>You are learning shapes, and then which measurand each shape is good for."</a:t>
            </a:r>
          </a:p>
          <a:p/>
          <a:p>
            <a:r>
              <a:t>Fifteen seconds, then the poll. If you are running late, this is the slide to</a:t>
            </a:r>
          </a:p>
          <a:p>
            <a:r>
              <a:t>put on screen while you set up Poll 2 rather than a slide to talk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0:22–0:24. Hands up simultaneously on a count. Expect A and B combined at</a:t>
            </a:r>
          </a:p>
          <a:p>
            <a:r>
              <a:t>30–45 % — those are the students who have not yet separated structure from device</a:t>
            </a:r>
          </a:p>
          <a:p>
            <a:r>
              <a:t>category, and they are who this chunk was for.</a:t>
            </a:r>
          </a:p>
          <a:p/>
          <a:p>
            <a:r>
              <a:t>Expect C at 30–40 % and D at 15–25 %.</a:t>
            </a:r>
          </a:p>
          <a:p/>
          <a:p>
            <a:r>
              <a:t>This item is deliberately a little unfair, and you are going to say so on the</a:t>
            </a:r>
          </a:p>
          <a:p>
            <a:r>
              <a:t>next slide, so do not pretend otherwise now. Take one spoken reason for A or B</a:t>
            </a:r>
          </a:p>
          <a:p>
            <a:r>
              <a:t>before you reveal — "what is a proof mass FOR?" — because that answer is the</a:t>
            </a:r>
          </a:p>
          <a:p>
            <a:r>
              <a:t>thirty seconds of the chunk that actually teaches.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0:24–0:26. Reveal, then be honest immediately — the honesty is the lesson.</a:t>
            </a:r>
          </a:p>
          <a:p/>
          <a:p>
            <a:r>
              <a:t>Say it in these words: "If you voted D, you were right about the physics and I</a:t>
            </a:r>
          </a:p>
          <a:p>
            <a:r>
              <a:t>asked a bad question. Both C and D are diaphragm devices. C is the intended</a:t>
            </a:r>
          </a:p>
          <a:p>
            <a:r>
              <a:t>answer only because a barometer is unambiguously one."</a:t>
            </a:r>
          </a:p>
          <a:p/>
          <a:p>
            <a:r>
              <a:t>Then to the A and B voters: "Tell me what a proof mass is for." Answer: inertia.</a:t>
            </a:r>
          </a:p>
          <a:p>
            <a:r>
              <a:t>It converts acceleration into force. A pressure sensor has nothing to accelerate.</a:t>
            </a:r>
          </a:p>
          <a:p/>
          <a:p>
            <a:r>
              <a:t>Modelling a flawed item honestly is worth more than a clean item. Do not skip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0:26–0:29. Walk down the Structure column only. Do not discuss devices —</a:t>
            </a:r>
          </a:p>
          <a:p>
            <a:r>
              <a:t>that is Module B's job and you will run out of clock.</a:t>
            </a:r>
          </a:p>
          <a:p/>
          <a:p>
            <a:r>
              <a:t>Stop on L7. "The magnetometer has no structure. Nothing moves. It is a solid-state</a:t>
            </a:r>
          </a:p>
          <a:p>
            <a:r>
              <a:t>effect in silicon, and it is in this course because it sits on the same die as</a:t>
            </a:r>
          </a:p>
          <a:p>
            <a:r>
              <a:t>the accelerometer in your kit." Being honest that the pattern has an exception</a:t>
            </a:r>
          </a:p>
          <a:p>
            <a:r>
              <a:t>makes the pattern credible.</a:t>
            </a:r>
          </a:p>
          <a:p/>
          <a:p>
            <a:r>
              <a:t>Then the payoff: "You now have a reading strategy for seven lectures. Ask what</a:t>
            </a:r>
          </a:p>
          <a:p>
            <a:r>
              <a:t>shape it is before you ask what it measures."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0:29–0:30. Read the black line once. Then the grey block once. Then stop</a:t>
            </a:r>
          </a:p>
          <a:p>
            <a:r>
              <a:t>talking for three seconds — this slide works on silence.</a:t>
            </a:r>
          </a:p>
          <a:p/>
          <a:p>
            <a:r>
              <a:t>Why it is here: the single largest delivery risk in the semester plan is that</a:t>
            </a:r>
          </a:p>
          <a:p>
            <a:r>
              <a:t>Lectures 5 to 11 are experienced as a list of unrelated devices. This slide, the</a:t>
            </a:r>
          </a:p>
          <a:p>
            <a:r>
              <a:t>close at minute seventy-six, and exit-ticket question 2 are the three places you</a:t>
            </a:r>
          </a:p>
          <a:p>
            <a:r>
              <a:t>push against that. Say the same sentence in all three.</a:t>
            </a:r>
          </a:p>
          <a:p/>
          <a:p>
            <a:r>
              <a:t>If the room looks relieved, you have landed it. Move on briskly.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0:30–0:32. DESIGNATED CUT. If you reached this slide later than minute</a:t>
            </a:r>
          </a:p>
          <a:p>
            <a:r>
              <a:t>thirty-one, put it on the screen, read the amber line, and go.</a:t>
            </a:r>
          </a:p>
          <a:p/>
          <a:p>
            <a:r>
              <a:t>If you have the time, the amber line is the idea: the same physics is a feature</a:t>
            </a:r>
          </a:p>
          <a:p>
            <a:r>
              <a:t>or a defect depending only on what you claimed to be selling. Ask the room which</a:t>
            </a:r>
          </a:p>
          <a:p>
            <a:r>
              <a:t>of the four is the error term in the other three. They will get it.</a:t>
            </a:r>
          </a:p>
          <a:p/>
          <a:p>
            <a:r>
              <a:t>This is also where a keen student asks about quartz crystals and temperature</a:t>
            </a:r>
          </a:p>
          <a:p>
            <a:r>
              <a:t>compensation. One sentence, then defer to Lecture 9. Do not follow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0:32. Section marker, fifteen seconds — but say the question, because it</a:t>
            </a:r>
          </a:p>
          <a:p>
            <a:r>
              <a:t>is the spine of the next twenty minutes.</a:t>
            </a:r>
          </a:p>
          <a:p/>
          <a:p>
            <a:r>
              <a:t>"Six principles. I could compare them on ten axes and you would remember none of</a:t>
            </a:r>
          </a:p>
          <a:p>
            <a:r>
              <a:t>it. So we are going to compare them on one axis that actually changes an</a:t>
            </a:r>
          </a:p>
          <a:p>
            <a:r>
              <a:t>engineering decision: static response. Can this thing measure a quantity that is</a:t>
            </a:r>
          </a:p>
          <a:p>
            <a:r>
              <a:t>sitting still?"</a:t>
            </a:r>
          </a:p>
          <a:p/>
          <a:p>
            <a:r>
              <a:t>Flag the difficulty honestly: "The hardest vote of the lecture is fourteen</a:t>
            </a:r>
          </a:p>
          <a:p>
            <a:r>
              <a:t>minutes away, and it lives on exactly this question."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0:32–0:36. Two cards, two minutes each, and one contrast.</a:t>
            </a:r>
          </a:p>
          <a:p/>
          <a:p>
            <a:r>
              <a:t>Capacitive: "It measures a distance. A distance still exists when nothing is</a:t>
            </a:r>
          </a:p>
          <a:p>
            <a:r>
              <a:t>happening, so the reading survives standing still. The price is that the signal</a:t>
            </a:r>
          </a:p>
          <a:p>
            <a:r>
              <a:t>is tiny and high-impedance, which is why the electronics have to be on the same</a:t>
            </a:r>
          </a:p>
          <a:p>
            <a:r>
              <a:t>die — you cannot run that signal down a track."</a:t>
            </a:r>
          </a:p>
          <a:p/>
          <a:p>
            <a:r>
              <a:t>Piezoresistive: "Millivolts, robust, easy. The price is on the last line: the</a:t>
            </a:r>
          </a:p>
          <a:p>
            <a:r>
              <a:t>bridge drifts with temperature, so every pressure sensor you meet has a</a:t>
            </a:r>
          </a:p>
          <a:p>
            <a:r>
              <a:t>compensation scheme. Lecture 8."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0:36–0:38. This slide exists to make Poll 3 answerable, so build the</a:t>
            </a:r>
          </a:p>
          <a:p>
            <a:r>
              <a:t>picture on the board as well as showing it.</a:t>
            </a:r>
          </a:p>
          <a:p/>
          <a:p>
            <a:r>
              <a:t>"Charge appears when the strain changes. Nothing generates charge to hold it</a:t>
            </a:r>
          </a:p>
          <a:p>
            <a:r>
              <a:t>there, and the amplifier's input impedance is finite, so the charge leaks. Time</a:t>
            </a:r>
          </a:p>
          <a:p>
            <a:r>
              <a:t>constant: seconds. The frame will be tilted for years."</a:t>
            </a:r>
          </a:p>
          <a:p/>
          <a:p>
            <a:r>
              <a:t>Then pre-empt distractor D out loud without giving the poll away: "Yes, a better</a:t>
            </a:r>
          </a:p>
          <a:p>
            <a:r>
              <a:t>amplifier lengthens the decay. Lengthens. Not removes."</a:t>
            </a:r>
          </a:p>
          <a:p/>
          <a:p>
            <a:r>
              <a:t>Do not say the words "it cannot measure tilt". Let them vote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0:38–0:40. DESIGNATED CUT if you are behind — collapse both cards to a</a:t>
            </a:r>
          </a:p>
          <a:p>
            <a:r>
              <a:t>named list and keep Poll 3.</a:t>
            </a:r>
          </a:p>
          <a:p/>
          <a:p>
            <a:r>
              <a:t>If you have the time, one sentence each is enough. Thermal: "self-heating means</a:t>
            </a:r>
          </a:p>
          <a:p>
            <a:r>
              <a:t>the sensor is part of the thing it measures. That is the warm-up line on every</a:t>
            </a:r>
          </a:p>
          <a:p>
            <a:r>
              <a:t>gas sensor datasheet." Electromagnetic: "big, easy signal — and it does not</a:t>
            </a:r>
          </a:p>
          <a:p>
            <a:r>
              <a:t>shrink, because the useful force needs turns and area, and both die when you</a:t>
            </a:r>
          </a:p>
          <a:p>
            <a:r>
              <a:t>scale down."</a:t>
            </a:r>
          </a:p>
          <a:p/>
          <a:p>
            <a:r>
              <a:t>The amber line is why these two are on one slide together: both fail in a way the</a:t>
            </a:r>
          </a:p>
          <a:p>
            <a:r>
              <a:t>other four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0:40–0:42. DESIGNATED CUT alongside slide 23.</a:t>
            </a:r>
          </a:p>
          <a:p/>
          <a:p>
            <a:r>
              <a:t>One idea only: the window. "Every other principle would rather be sealed in the</a:t>
            </a:r>
          </a:p>
          <a:p>
            <a:r>
              <a:t>dark. This one needs a hole in the package, filled with something optically</a:t>
            </a:r>
          </a:p>
          <a:p>
            <a:r>
              <a:t>flat, that survives reflow and does not yellow. That is not a footnote — it is</a:t>
            </a:r>
          </a:p>
          <a:p>
            <a:r>
              <a:t>half the product."</a:t>
            </a:r>
          </a:p>
          <a:p/>
          <a:p>
            <a:r>
              <a:t>That also sets up Chunk 3 nicely: you are already talking about packaging as</a:t>
            </a:r>
          </a:p>
          <a:p>
            <a:r>
              <a:t>physics, four slides early.</a:t>
            </a:r>
          </a:p>
          <a:p/>
          <a:p>
            <a:r>
              <a:t>Then straight to Poll 3. Do not summarise the six. The table does that at</a:t>
            </a:r>
          </a:p>
          <a:p>
            <a:r>
              <a:t>minute forty-six.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0:42–0:44. THE HARDEST VOTE OF THE LECTURE. Target 15–30 % on the first</a:t>
            </a:r>
          </a:p>
          <a:p>
            <a:r>
              <a:t>vote, 55–70 % after pairs.</a:t>
            </a:r>
          </a:p>
          <a:p/>
          <a:p>
            <a:r>
              <a:t>Full peer instruction, and the prompt matters: assign the positions rather than</a:t>
            </a:r>
          </a:p>
          <a:p>
            <a:r>
              <a:t>letting them discuss freely — one argues 0.5°, one argues zero, then decide.</a:t>
            </a:r>
          </a:p>
          <a:p/>
          <a:p>
            <a:r>
              <a:t>Expect 40–55 % for A: an accelerometer is an accelerometer. C is misconception M3</a:t>
            </a:r>
          </a:p>
          <a:p>
            <a:r>
              <a:t>— self-generating read as strong. D is the student reaching for electronics, and</a:t>
            </a:r>
          </a:p>
          <a:p>
            <a:r>
              <a:t>it is productive.</a:t>
            </a:r>
          </a:p>
          <a:p/>
          <a:p>
            <a:r>
              <a:t>If the first vote clears 40 %, someone has met charge amplifiers. Find them and</a:t>
            </a:r>
          </a:p>
          <a:p>
            <a:r>
              <a:t>let them explain it; they will do it better than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0:44–0:46. Reveal, then say why this question is in the lecture.</a:t>
            </a:r>
          </a:p>
          <a:p/>
          <a:p>
            <a:r>
              <a:t>"This is the only place in Module A where the PRINCIPLE forbids the application.</a:t>
            </a:r>
          </a:p>
          <a:p>
            <a:r>
              <a:t>Every other trade-off you have met was quantitative — better, worse, by how much.</a:t>
            </a:r>
          </a:p>
          <a:p>
            <a:r>
              <a:t>This one is categorical. No specification, no amplifier and no budget fixes it."</a:t>
            </a:r>
          </a:p>
          <a:p/>
          <a:p>
            <a:r>
              <a:t>Then the follow-up that generalises it, and take the answer from the room: "which</a:t>
            </a:r>
          </a:p>
          <a:p>
            <a:r>
              <a:t>of the six principles COULD measure this tilt?" Answer: all of them except this</a:t>
            </a:r>
          </a:p>
          <a:p>
            <a:r>
              <a:t>one. Capacitive, piezoresistive, thermal, electromagnetic, optical.</a:t>
            </a:r>
          </a:p>
          <a:p/>
          <a:p>
            <a:r>
              <a:t>Same lesson as Lecture 2, promoted from a number to a principle. Say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0:46–0:49. Read down column two and nothing else. The rest of the table</a:t>
            </a:r>
          </a:p>
          <a:p>
            <a:r>
              <a:t>is a handout page and you should say so.</a:t>
            </a:r>
          </a:p>
          <a:p/>
          <a:p>
            <a:r>
              <a:t>"Five yeses and one no. If you remember one thing from this chunk, remember which</a:t>
            </a:r>
          </a:p>
          <a:p>
            <a:r>
              <a:t>row is red."</a:t>
            </a:r>
          </a:p>
          <a:p/>
          <a:p>
            <a:r>
              <a:t>Then the honest qualifier on the thermal row: "yes, slowly" is not a hedge — it</a:t>
            </a:r>
          </a:p>
          <a:p>
            <a:r>
              <a:t>means the principle has DC response but a settling time measured in seconds, and</a:t>
            </a:r>
          </a:p>
          <a:p>
            <a:r>
              <a:t>that is a real engineering constraint rather than a disqualification.</a:t>
            </a:r>
          </a:p>
          <a:p/>
          <a:p>
            <a:r>
              <a:t>Do not discuss signal levels. The next slide is the one that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0:49–0:52. This is the slide that justifies Chunk 2 to a sceptical</a:t>
            </a:r>
          </a:p>
          <a:p>
            <a:r>
              <a:t>student, so say the justification.</a:t>
            </a:r>
          </a:p>
          <a:p/>
          <a:p>
            <a:r>
              <a:t>"You did not learn six principles because six principles are interesting. You</a:t>
            </a:r>
          </a:p>
          <a:p>
            <a:r>
              <a:t>learned them because the right-hand column is the kind of sentence you will need</a:t>
            </a:r>
          </a:p>
          <a:p>
            <a:r>
              <a:t>in a design review, and none of it is memorisation — each line follows from the</a:t>
            </a:r>
          </a:p>
          <a:p>
            <a:r>
              <a:t>physics on the left."</a:t>
            </a:r>
          </a:p>
          <a:p/>
          <a:p>
            <a:r>
              <a:t>Point at row 3 one last time and connect it to the vote they just lost: "the</a:t>
            </a:r>
          </a:p>
          <a:p>
            <a:r>
              <a:t>low-frequency limit on a vibration sensor is Poll 3, printed as a specification."</a:t>
            </a:r>
          </a:p>
          <a:p/>
          <a:p>
            <a:r>
              <a:t>Then the section marker. You are on time if this lands at fifty-two.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0:52. Section marker, and state the boundary out loud because students</a:t>
            </a:r>
          </a:p>
          <a:p>
            <a:r>
              <a:t>will otherwise expect a process tour.</a:t>
            </a:r>
          </a:p>
          <a:p/>
          <a:p>
            <a:r>
              <a:t>"Four steps. Not forty. I am not teaching you to fabricate anything, and the</a:t>
            </a:r>
          </a:p>
          <a:p>
            <a:r>
              <a:t>semester plan says so explicitly. Each step is here because it is the reason for</a:t>
            </a:r>
          </a:p>
          <a:p>
            <a:r>
              <a:t>a number you have already met."</a:t>
            </a:r>
          </a:p>
          <a:p/>
          <a:p>
            <a:r>
              <a:t>If somebody asks a real fabrication question in this chunk: answer it in ONE</a:t>
            </a:r>
          </a:p>
          <a:p>
            <a:r>
              <a:t>sentence, offer the ITMO 2020 text as further reading, and move on. Following</a:t>
            </a:r>
          </a:p>
          <a:p>
            <a:r>
              <a:t>that question is exactly the drift this lecture is designed to resist.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0:52–0:56. Hand out the shuffled cards BEFORE you show the steps —</a:t>
            </a:r>
          </a:p>
          <a:p>
            <a:r>
              <a:t>four steps and four consequences, twelve sets. Three minutes, pairs, collect</a:t>
            </a:r>
          </a:p>
          <a:p>
            <a:r>
              <a:t>nothing, walk the room.</a:t>
            </a:r>
          </a:p>
          <a:p/>
          <a:p>
            <a:r>
              <a:t>Then take the closing question from the room. Answer: LITHOGRAPHY. Minimum</a:t>
            </a:r>
          </a:p>
          <a:p>
            <a:r>
              <a:t>feature size sets how small the structure can be, size sets the mass, and by</a:t>
            </a:r>
          </a:p>
          <a:p>
            <a:r>
              <a:t>Lecture 1's m ∝ L³ less mass means a higher noise floor.</a:t>
            </a:r>
          </a:p>
          <a:p/>
          <a:p>
            <a:r>
              <a:t>A student who makes that connection unprompted has understood Module A — say so</a:t>
            </a:r>
          </a:p>
          <a:p>
            <a:r>
              <a:t>publicly when it happens. If nobody gets it, draw the chain on the board:</a:t>
            </a:r>
          </a:p>
          <a:p>
            <a:r>
              <a:t>feature → size → mass →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0:56–0:58. ONE comparison slide. Do not add a second.</a:t>
            </a:r>
          </a:p>
          <a:p/>
          <a:p>
            <a:r>
              <a:t>Ask before you show the bottom line: "Which of these two is quieter, and why?"</a:t>
            </a:r>
          </a:p>
          <a:p>
            <a:r>
              <a:t>They have m ∝ L³ from minute three. Bulk wins, because bulk can afford mass.</a:t>
            </a:r>
          </a:p>
          <a:p/>
          <a:p>
            <a:r>
              <a:t>Then the reframe in the grey line, which is the honest engineering point: their</a:t>
            </a:r>
          </a:p>
          <a:p>
            <a:r>
              <a:t>part was not chosen to be the best, it was chosen to be integrable and cheap. "A</a:t>
            </a:r>
          </a:p>
          <a:p>
            <a:r>
              <a:t>high-grade bulk-micromachined accelerometer costs a thousand times more and does</a:t>
            </a:r>
          </a:p>
          <a:p>
            <a:r>
              <a:t>not fit on your board."</a:t>
            </a:r>
          </a:p>
          <a:p/>
          <a:p>
            <a:r>
              <a:t>Amber marks the cost side of each column. Point that out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0:58–1:00. Three panels, left to right, thirty seconds each.</a:t>
            </a:r>
          </a:p>
          <a:p/>
          <a:p>
            <a:r>
              <a:t>Panel 3 is the point. "A restoring force that scales as L competes with a surface</a:t>
            </a:r>
          </a:p>
          <a:p>
            <a:r>
              <a:t>force that scales as area over volume. Shrink far enough and the surface wins, and</a:t>
            </a:r>
          </a:p>
          <a:p>
            <a:r>
              <a:t>the beam welds itself to the substrate. There is no electrical fix."</a:t>
            </a:r>
          </a:p>
          <a:p/>
          <a:p>
            <a:r>
              <a:t>Connect it to minute three explicitly — A/V ∝ 1/L was an abstraction then and is</a:t>
            </a:r>
          </a:p>
          <a:p>
            <a:r>
              <a:t>a scrapped wafer now.</a:t>
            </a:r>
          </a:p>
          <a:p/>
          <a:p>
            <a:r>
              <a:t>Then the grey line, because it is the part students never expect: stiction is a</a:t>
            </a:r>
          </a:p>
          <a:p>
            <a:r>
              <a:t>failure mode in the field, not only a yield problem in the fab. That is why it is</a:t>
            </a:r>
          </a:p>
          <a:p>
            <a:r>
              <a:t>in a course about drift and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1:00–1:02. Walk the cross-section left to right, then the list, then the</a:t>
            </a:r>
          </a:p>
          <a:p>
            <a:r>
              <a:t>amber line. Do not linger on the drawing.</a:t>
            </a:r>
          </a:p>
          <a:p/>
          <a:p>
            <a:r>
              <a:t>Kill misconception M5 explicitly: "Packaging is not a box you put the sensor in</a:t>
            </a:r>
          </a:p>
          <a:p>
            <a:r>
              <a:t>afterwards. The cavity pressure sets the damping, so it sets the bandwidth. The</a:t>
            </a:r>
          </a:p>
          <a:p>
            <a:r>
              <a:t>adhesive puts a preload on the die. The getter maintains the damping for ten</a:t>
            </a:r>
          </a:p>
          <a:p>
            <a:r>
              <a:t>years. These are specifications, not protection."</a:t>
            </a:r>
          </a:p>
          <a:p/>
          <a:p>
            <a:r>
              <a:t>The one number to say aloud: the gap is one to two micrometres, so a dust speck</a:t>
            </a:r>
          </a:p>
          <a:p>
            <a:r>
              <a:t>is not dirt, it is a mechanical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1:02–1:04. THE MOST IMPORTANT TABLE IN THE LECTURE. Do not rush it.</a:t>
            </a:r>
          </a:p>
          <a:p/>
          <a:p>
            <a:r>
              <a:t>Somebody objected at minute fourteen that you can calibrate an offset out. Name</a:t>
            </a:r>
          </a:p>
          <a:p>
            <a:r>
              <a:t>them — by the objection, not the person — and agree: "You were right. This is</a:t>
            </a:r>
          </a:p>
          <a:p>
            <a:r>
              <a:t>that answer."</a:t>
            </a:r>
          </a:p>
          <a:p/>
          <a:p>
            <a:r>
              <a:t>Say the collision explicitly: "Two weeks ago ten milli-g ended a design. Today</a:t>
            </a:r>
          </a:p>
          <a:p>
            <a:r>
              <a:t>ten milli-g is an inconvenience you fix with one measurement. Same magnitude,</a:t>
            </a:r>
          </a:p>
          <a:p>
            <a:r>
              <a:t>opposite verdict, because one of them holds still and the other does not."</a:t>
            </a:r>
          </a:p>
          <a:p/>
          <a:p>
            <a:r>
              <a:t>If you leave this unremarked, half the room will merge the two on the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1:04–1:06. Quick vote, sixty seconds, short discussion. Target 45–65 %</a:t>
            </a:r>
          </a:p>
          <a:p>
            <a:r>
              <a:t>for C — this is a confidence check on outcome L4.5, not a discriminator, so a</a:t>
            </a:r>
          </a:p>
          <a:p>
            <a:r>
              <a:t>high score is a good sign rather than a wasted vote.</a:t>
            </a:r>
          </a:p>
          <a:p/>
          <a:p>
            <a:r>
              <a:t>A is the student who has not noticed that noise density is published and the</a:t>
            </a:r>
          </a:p>
          <a:p>
            <a:r>
              <a:t>bandwidth is their own choice. One line: "you compute it, you do not measure it."</a:t>
            </a:r>
          </a:p>
          <a:p/>
          <a:p>
            <a:r>
              <a:t>D is the student over-generalising Lecture 2. Worth a sentence: preferring the</a:t>
            </a:r>
          </a:p>
          <a:p>
            <a:r>
              <a:t>total error band was right then, and it does not make it measurable-only now.</a:t>
            </a:r>
          </a:p>
          <a:p/>
          <a:p>
            <a:r>
              <a:t>B should be rejected by nearly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1:06–1:08. Reveal, then the bridge, and say it immediately because it is</a:t>
            </a:r>
          </a:p>
          <a:p>
            <a:r>
              <a:t>an assessment announcement.</a:t>
            </a:r>
          </a:p>
          <a:p/>
          <a:p>
            <a:r>
              <a:t>"This is project deliverable 2 and it is Laboratory 3. Your sensor-selection</a:t>
            </a:r>
          </a:p>
          <a:p>
            <a:r>
              <a:t>matrix has a required section headed 'specifications we must measure ourselves',</a:t>
            </a:r>
          </a:p>
          <a:p>
            <a:r>
              <a:t>and that list starts today. If it is empty, you have not read your datasheet's</a:t>
            </a:r>
          </a:p>
          <a:p>
            <a:r>
              <a:t>conditions column."</a:t>
            </a:r>
          </a:p>
          <a:p/>
          <a:p>
            <a:r>
              <a:t>Then the generalisation: the test for that list is not "is it important?" but "does</a:t>
            </a:r>
          </a:p>
          <a:p>
            <a:r>
              <a:t>it depend on something we build?" Screw torque, gasket, enclosure, board flex —</a:t>
            </a:r>
          </a:p>
          <a:p>
            <a:r>
              <a:t>all ours. Sensitivity at 25 °C —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1:08–1:10. NEVER CUT THIS SLIDE. It is what makes Laboratory 3 make sense.</a:t>
            </a:r>
          </a:p>
          <a:p/>
          <a:p>
            <a:r>
              <a:t>Build it downward, naming each link, and read the right-hand column aloud as you</a:t>
            </a:r>
          </a:p>
          <a:p>
            <a:r>
              <a:t>go: yes, partly, partly, no, no, no, no.</a:t>
            </a:r>
          </a:p>
          <a:p/>
          <a:p>
            <a:r>
              <a:t>Then stop on link seven and close the loop with week one: "In Lecture 1 a motor</a:t>
            </a:r>
          </a:p>
          <a:p>
            <a:r>
              <a:t>died because somebody measured its vibration through a five-millimetre rubber</a:t>
            </a:r>
          </a:p>
          <a:p>
            <a:r>
              <a:t>pad. That pad is the last link of this chain. The course's first story and its</a:t>
            </a:r>
          </a:p>
          <a:p>
            <a:r>
              <a:t>fourth lecture are the same diagram."</a:t>
            </a:r>
          </a:p>
          <a:p/>
          <a:p>
            <a:r>
              <a:t>The habit to install: the datasheet describes link one. You built links two to</a:t>
            </a:r>
          </a:p>
          <a:p>
            <a:r>
              <a:t>seven.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1:10–1:13. Show the minute-8 distribution beside this if you recorded it;</a:t>
            </a:r>
          </a:p>
          <a:p>
            <a:r>
              <a:t>the shift is the lecture's evidence that it worked.</a:t>
            </a:r>
          </a:p>
          <a:p/>
          <a:p>
            <a:r>
              <a:t>Dismantle A in one sentence: "they publish noise density, which is far more</a:t>
            </a:r>
          </a:p>
          <a:p>
            <a:r>
              <a:t>competitively sensitive than a mounting-stress figure."</a:t>
            </a:r>
          </a:p>
          <a:p/>
          <a:p>
            <a:r>
              <a:t>Dismantle C properly, because it is the useful one: application notes tell you</a:t>
            </a:r>
          </a:p>
          <a:p>
            <a:r>
              <a:t>how to MITIGATE mounting stress — symmetric pads, no vias under the part, keep it</a:t>
            </a:r>
          </a:p>
          <a:p>
            <a:r>
              <a:t>away from the board edge. They do not specify your assembly's number either. If</a:t>
            </a:r>
          </a:p>
          <a:p>
            <a:r>
              <a:t>somebody found an app note in the break, read its list aloud now.</a:t>
            </a:r>
          </a:p>
          <a:p/>
          <a:p>
            <a:r>
              <a:t>Close: the debt from Lecture 2 is paid — not with a number, with a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1:13–1:15. Build it with the class — ask for each row before revealing</a:t>
            </a:r>
          </a:p>
          <a:p>
            <a:r>
              <a:t>it. This deliberately mirrors Lecture 1's ledger slide, so say "you have seen</a:t>
            </a:r>
          </a:p>
          <a:p>
            <a:r>
              <a:t>this table's shape before" and let them recognise the form.</a:t>
            </a:r>
          </a:p>
          <a:p/>
          <a:p>
            <a:r>
              <a:t>Two rows to insist on. k ∝ L gains nothing and costs nothing, which surprises</a:t>
            </a:r>
          </a:p>
          <a:p>
            <a:r>
              <a:t>them and is worth ten seconds. And the bottom two rows are the new material:</a:t>
            </a:r>
          </a:p>
          <a:p>
            <a:r>
              <a:t>batch fabrication and packaging were not on Lecture 1's version, because in week</a:t>
            </a:r>
          </a:p>
          <a:p>
            <a:r>
              <a:t>one you had not met them.</a:t>
            </a:r>
          </a:p>
          <a:p/>
          <a:p>
            <a:r>
              <a:t>Then the amber line, which is the whole synthesis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1:15–1:16. Read it once. Then stop for three seconds. Do not elaborate.</a:t>
            </a:r>
          </a:p>
          <a:p/>
          <a:p>
            <a:r>
              <a:t>This is the answer to misconception M4 — smaller is better — and it is the</a:t>
            </a:r>
          </a:p>
          <a:p>
            <a:r>
              <a:t>sentence a student should be able to quote back in the capstone defence.</a:t>
            </a:r>
          </a:p>
          <a:p/>
          <a:p>
            <a:r>
              <a:t>If you want one optional line, use this one: "There is no version of this device</a:t>
            </a:r>
          </a:p>
          <a:p>
            <a:r>
              <a:t>that is small, quiet, cheap and unaffected by your board. If a datasheet appears</a:t>
            </a:r>
          </a:p>
          <a:p>
            <a:r>
              <a:t>to offer you all four, you have not read the conditions column."</a:t>
            </a:r>
          </a:p>
          <a:p/>
          <a:p>
            <a:r>
              <a:t>Then Module A closes. Change your posture; the next slide is a different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1:16–1:18. This is worth its ninety seconds — say the pattern out loud,</a:t>
            </a:r>
          </a:p>
          <a:p>
            <a:r>
              <a:t>pointing at each box.</a:t>
            </a:r>
          </a:p>
          <a:p/>
          <a:p>
            <a:r>
              <a:t>Why it matters: the single largest delivery risk in the semester plan is that</a:t>
            </a:r>
          </a:p>
          <a:p>
            <a:r>
              <a:t>Lectures 5 to 11 are experienced as a list of unrelated devices. Naming the</a:t>
            </a:r>
          </a:p>
          <a:p>
            <a:r>
              <a:t>pattern turns seven weeks into one method applied seven times.</a:t>
            </a:r>
          </a:p>
          <a:p/>
          <a:p>
            <a:r>
              <a:t>Then the project bridge in one sentence: deliverable 2's sensor-selection matrix</a:t>
            </a:r>
          </a:p>
          <a:p>
            <a:r>
              <a:t>uses exactly these eight headings, so today's "specifications we must measure</a:t>
            </a:r>
          </a:p>
          <a:p>
            <a:r>
              <a:t>ourselves" list is the last column of it.</a:t>
            </a:r>
          </a:p>
          <a:p/>
          <a:p>
            <a:r>
              <a:t>Do not add a summary slide. The exit ticket is the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1:18–1:20. End on time. Slips out before you start talking.</a:t>
            </a:r>
          </a:p>
          <a:p/>
          <a:p>
            <a:r>
              <a:t>Q1 tests outcome L4.5 individually — group work at minute 104 can hide a student</a:t>
            </a:r>
          </a:p>
          <a:p>
            <a:r>
              <a:t>who cannot do it. Accept any of: cross-axis after soldering, zero-g offset on</a:t>
            </a:r>
          </a:p>
          <a:p>
            <a:r>
              <a:t>their board, clamping offset, mounting repeatability.</a:t>
            </a:r>
          </a:p>
          <a:p/>
          <a:p>
            <a:r>
              <a:t>Q2 is the diagnostic: measurand → transduction → structure → output →</a:t>
            </a:r>
          </a:p>
          <a:p>
            <a:r>
              <a:t>specifications → interface → calibration → failure modes. If fewer than half get</a:t>
            </a:r>
          </a:p>
          <a:p>
            <a:r>
              <a:t>it, spend the first three minutes of Lecture 5 on it and do not feel behind.</a:t>
            </a:r>
          </a:p>
          <a:p/>
          <a:p>
            <a:r>
              <a:t>These slips are the input to Lecture 5's opening slide. Transcribe them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7C86"/>
                </a:solidFill>
                <a:latin typeface="Arial"/>
              </a:rPr>
              <a:t>MICROELECTROMECHANICAL SYSTEMS AND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MEMS structures, transduction,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fabrication and packaging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C6"/>
                </a:solidFill>
                <a:latin typeface="Arial"/>
              </a:rPr>
              <a:t>Lecture 4 of 16   ·   80 minutes   ·   Module A: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Two weeks ago a question had no answer. Today you learn why — and what to do instead.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Last week's muddiest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From Lecture 3's exit tickets — answered before we 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7048" y="205740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1752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7048" y="301752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97764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Courier New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7048" y="3977640"/>
            <a:ext cx="100584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21284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E4E2DE"/>
                </a:solidFill>
                <a:latin typeface="Arial"/>
              </a:rPr>
              <a:t>INSTRUCTOR: fill these three in from the Lecture 3 exit tickets before class.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21208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Refer to concepts, never to students. Ninety seconds total, then move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Retrieval, unaided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Lecture 1's scaling laws — say them before I show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031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0E7C86"/>
                </a:solidFill>
                <a:latin typeface="Courier New"/>
              </a:rPr>
              <a:t>k ∝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72384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stiffness falls,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but only linearly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D98324"/>
                </a:solidFill>
                <a:latin typeface="Courier New"/>
              </a:rPr>
              <a:t>m ∝ L³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3072384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mass collapses —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the cube is the killer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031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0E7C86"/>
                </a:solidFill>
                <a:latin typeface="Courier New"/>
              </a:rPr>
              <a:t>f₀ ∝ 1/L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3072384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resonance climbs: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this is why MEMS are fast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2103120"/>
            <a:ext cx="25603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D98324"/>
                </a:solidFill>
                <a:latin typeface="Courier New"/>
              </a:rPr>
              <a:t>A/V ∝ 1/L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3072384"/>
            <a:ext cx="24505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the world becomes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all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9768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F7F5F1"/>
                </a:solidFill>
                <a:latin typeface="Arial"/>
              </a:rPr>
              <a:t>Shrink a device and it gets faster and cheaper. It also gets lighter — and lighter means noisier.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0352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6B7680"/>
                </a:solidFill>
                <a:latin typeface="Arial"/>
              </a:rPr>
              <a:t>Today those four relations stop being physics and become manufacturing. Every one of them is a consequence of how the device was made.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Arial"/>
              </a:rPr>
              <a:t>THE DEBT FROM LECTURE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7F5F1"/>
                </a:solidFill>
                <a:latin typeface="Arial"/>
              </a:rPr>
              <a:t>“What is this device's</a:t>
            </a:r>
          </a:p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7F5F1"/>
                </a:solidFill>
                <a:latin typeface="Arial"/>
              </a:rPr>
              <a:t>cross-axis sensitivity after it</a:t>
            </a:r>
          </a:p>
          <a:p>
            <a:pPr algn="l">
              <a:lnSpc>
                <a:spcPct val="118000"/>
              </a:lnSpc>
            </a:pPr>
            <a:r>
              <a:rPr sz="3200" b="1" i="0">
                <a:solidFill>
                  <a:srgbClr val="F7F5F1"/>
                </a:solidFill>
                <a:latin typeface="Arial"/>
              </a:rPr>
              <a:t>has been soldered to my board?”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Lecture 2, slide 22. The answer was: it is not in the datasheet, and it cannot be. I left that unpaid on purpose. Today it gets paid.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Why no manufacturer can answer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Because the specification is not describing a component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Courier New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9616" y="2011680"/>
            <a:ext cx="1003371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0">
                <a:solidFill>
                  <a:srgbClr val="1A1F24"/>
                </a:solidFill>
                <a:latin typeface="Arial"/>
              </a:rPr>
              <a:t>A silicon structure a few micrometres thick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6148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Courier New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9616" y="2761488"/>
            <a:ext cx="1003371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0">
                <a:solidFill>
                  <a:srgbClr val="1A1F24"/>
                </a:solidFill>
                <a:latin typeface="Arial"/>
              </a:rPr>
              <a:t>Suspended over a sealed cavity, free to move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1129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Courier New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99616" y="3511296"/>
            <a:ext cx="1003371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0">
                <a:solidFill>
                  <a:srgbClr val="1A1F24"/>
                </a:solidFill>
                <a:latin typeface="Arial"/>
              </a:rPr>
              <a:t>Glued into a plastic box with an adhesive that cures and shrinks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6110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Courier New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9616" y="4261104"/>
            <a:ext cx="10033711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0">
                <a:solidFill>
                  <a:srgbClr val="1A1F24"/>
                </a:solidFill>
                <a:latin typeface="Arial"/>
              </a:rPr>
              <a:t>Soldered to a board that flexes when you tighten a screw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12064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The manufacturer owns line 1 and part of line 3. Lines 3 and 4 are yours — and they are where the error enters.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In Lecture 2 you were asked for a device's cross-axis sensitivity after it is soldered to your board, and the answer was that the number is not in the datasheet.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Why is it not there?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is proprietary — competitors would learn from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depends on your board and your assembly, so no manufacturer can specify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is in the application note, not the datasheet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is the same as the package-level figure, so printing it twice would be redundant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Commit now. I am not telling you the answer until the end of the lecture — by which point you will have drawn the reason yourselves.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packaging tax, in the datasheet you already 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ISM330DHCX · DS13012 Rev 6 · read the conditions column first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011680"/>
          <a:ext cx="10874955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739"/>
                <a:gridCol w="1087495"/>
                <a:gridCol w="1087495"/>
                <a:gridCol w="1087495"/>
                <a:gridCol w="4893731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Typ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Max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Unit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Zero-g level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±10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</a:rPr>
                        <a:t>±65</a:t>
                      </a:r>
                    </a:p>
                  </a:txBody>
                  <a:tcPr marL="91440" marR="91440" marT="27432" marB="27432" anchor="ctr">
                    <a:solidFill>
                      <a:srgbClr val="FAEC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25 °C, after soldering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Zero-g temp. coefficient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±0.1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±0.5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mg/°C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−40 to +85 °C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Arial"/>
                        </a:rPr>
                        <a:t>Cross-axis sensitivity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±0.5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</a:rPr>
                        <a:t>25 °C, package level, not board level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20624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Arial"/>
              </a:rPr>
              <a:t>“after soldering”  —  the manufacturer is telling you, in the specification itself, that your assembly is part of the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30368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Row 1 is an OFFSET: the output when the input is zero. Row 2 is DRIFT: how that offset moves.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>▸  Row 3 is the number Lecture 2 asked for — and its condition line admits it is not yours.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Against Lecture 2's 8.73 mg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number on the board since week 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1087495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2200" b="0" i="0">
                <a:solidFill>
                  <a:srgbClr val="1A1F24"/>
                </a:solidFill>
                <a:latin typeface="Courier New"/>
              </a:rPr>
              <a:t>a 0.5° tilt  =  sin(0.5°) × 1 g  =  </a:t>
            </a:r>
            <a:r>
              <a:rPr sz="2700" b="1" i="0">
                <a:solidFill>
                  <a:srgbClr val="0E7C86"/>
                </a:solidFill>
                <a:latin typeface="Courier New"/>
              </a:rPr>
              <a:t>8.73 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8716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1">
                <a:solidFill>
                  <a:srgbClr val="6B7680"/>
                </a:solidFill>
                <a:latin typeface="Arial"/>
              </a:rPr>
              <a:t>— the entire signal we are trying to measure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80360"/>
            <a:ext cx="5349240" cy="512064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Arial"/>
              </a:rPr>
              <a:t>TYP  ZERO-G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38144"/>
            <a:ext cx="5349240" cy="1097280"/>
          </a:xfrm>
          <a:prstGeom prst="rect">
            <a:avLst/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±10 mg   ÷   8.73 mg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26864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D98324"/>
                </a:solidFill>
                <a:latin typeface="Courier New"/>
              </a:rPr>
              <a:t>1.15×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880360"/>
            <a:ext cx="5349240" cy="512064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Arial"/>
              </a:rPr>
              <a:t>MAX  ZERO-G LEVEL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3438144"/>
            <a:ext cx="5349240" cy="1097280"/>
          </a:xfrm>
          <a:prstGeom prst="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±65 mg   ÷   8.73 mg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626864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C0392B"/>
                </a:solidFill>
                <a:latin typeface="Courier New"/>
              </a:rPr>
              <a:t>7.45×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44068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Even the TYPICAL offset exceeds the whole quantity we are trying to measure. The maximum is seven and a half times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Five structures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do all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Proof mass on a flexure. Cantilever beam. Diaphragm. Resonator. Comb.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Five shapes cover every device in Lectures 5 to 11. Learn the shapes, not the catalogue.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Structure 1, and you have seen it 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A capacitive MEMS accelerometer, in cross-section — Lecture 1's figure, unchanged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148840"/>
            <a:ext cx="5852160" cy="384048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FIXED 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4224528"/>
            <a:ext cx="5852160" cy="384048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FIXED 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999232"/>
            <a:ext cx="3657600" cy="786384"/>
          </a:xfrm>
          <a:prstGeom prst="rect">
            <a:avLst/>
          </a:prstGeom>
          <a:solidFill>
            <a:srgbClr val="DCEDE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PROOF MASS  m</a:t>
            </a:r>
          </a:p>
        </p:txBody>
      </p:sp>
      <p:sp>
        <p:nvSpPr>
          <p:cNvPr id="11" name="Freeform 10"/>
          <p:cNvSpPr/>
          <p:nvPr/>
        </p:nvSpPr>
        <p:spPr>
          <a:xfrm>
            <a:off x="3383280" y="3017520"/>
            <a:ext cx="640080" cy="768096"/>
          </a:xfrm>
          <a:custGeom>
            <a:avLst/>
            <a:gdLst/>
            <a:ahLst/>
            <a:cxnLst/>
            <a:rect l="l" t="t" r="r" b="b"/>
            <a:pathLst>
              <a:path w="640080" h="768096">
                <a:moveTo>
                  <a:pt x="0" y="0"/>
                </a:moveTo>
                <a:lnTo>
                  <a:pt x="640080" y="96012"/>
                </a:lnTo>
                <a:lnTo>
                  <a:pt x="0" y="192024"/>
                </a:lnTo>
                <a:lnTo>
                  <a:pt x="640080" y="288036"/>
                </a:lnTo>
                <a:lnTo>
                  <a:pt x="0" y="384048"/>
                </a:lnTo>
                <a:lnTo>
                  <a:pt x="640080" y="480060"/>
                </a:lnTo>
                <a:lnTo>
                  <a:pt x="0" y="576072"/>
                </a:lnTo>
                <a:lnTo>
                  <a:pt x="640080" y="672084"/>
                </a:lnTo>
                <a:lnTo>
                  <a:pt x="0" y="768096"/>
                </a:lnTo>
              </a:path>
            </a:pathLst>
          </a:custGeom>
          <a:noFill/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138160" y="3017520"/>
            <a:ext cx="640080" cy="768096"/>
          </a:xfrm>
          <a:custGeom>
            <a:avLst/>
            <a:gdLst/>
            <a:ahLst/>
            <a:cxnLst/>
            <a:rect l="l" t="t" r="r" b="b"/>
            <a:pathLst>
              <a:path w="640080" h="768096">
                <a:moveTo>
                  <a:pt x="0" y="0"/>
                </a:moveTo>
                <a:lnTo>
                  <a:pt x="640080" y="96012"/>
                </a:lnTo>
                <a:lnTo>
                  <a:pt x="0" y="192024"/>
                </a:lnTo>
                <a:lnTo>
                  <a:pt x="640080" y="288036"/>
                </a:lnTo>
                <a:lnTo>
                  <a:pt x="0" y="384048"/>
                </a:lnTo>
                <a:lnTo>
                  <a:pt x="640080" y="480060"/>
                </a:lnTo>
                <a:lnTo>
                  <a:pt x="0" y="576072"/>
                </a:lnTo>
                <a:lnTo>
                  <a:pt x="640080" y="672084"/>
                </a:lnTo>
                <a:lnTo>
                  <a:pt x="0" y="768096"/>
                </a:lnTo>
              </a:path>
            </a:pathLst>
          </a:custGeom>
          <a:noFill/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324612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0E7C86"/>
                </a:solidFill>
                <a:latin typeface="Arial"/>
              </a:rPr>
              <a:t>flexures, 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2461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Arial"/>
              </a:rPr>
              <a:t>flexures, 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8324"/>
                </a:solidFill>
                <a:latin typeface="Courier New"/>
              </a:rPr>
              <a:t>gap  d ≈ 1–2 µm</a:t>
            </a:r>
          </a:p>
        </p:txBody>
      </p:sp>
      <p:sp>
        <p:nvSpPr>
          <p:cNvPr id="16" name="Left Brace 15"/>
          <p:cNvSpPr/>
          <p:nvPr/>
        </p:nvSpPr>
        <p:spPr>
          <a:xfrm>
            <a:off x="8887968" y="2596896"/>
            <a:ext cx="164592" cy="329184"/>
          </a:xfrm>
          <a:prstGeom prst="leftBrace">
            <a:avLst/>
          </a:prstGeom>
          <a:noFill/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858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8324"/>
                </a:solidFill>
                <a:latin typeface="Courier New"/>
              </a:rPr>
              <a:t>gap  d</a:t>
            </a:r>
          </a:p>
        </p:txBody>
      </p:sp>
      <p:sp>
        <p:nvSpPr>
          <p:cNvPr id="18" name="Left Brace 17"/>
          <p:cNvSpPr/>
          <p:nvPr/>
        </p:nvSpPr>
        <p:spPr>
          <a:xfrm>
            <a:off x="8887968" y="3803904"/>
            <a:ext cx="164592" cy="329184"/>
          </a:xfrm>
          <a:prstGeom prst="leftBrace">
            <a:avLst/>
          </a:prstGeom>
          <a:noFill/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892040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1A1F24"/>
                </a:solidFill>
                <a:latin typeface="Arial"/>
              </a:rPr>
              <a:t>Acceleration moves the mass, one gap grows and the other shrinks, and the differential </a:t>
            </a:r>
            <a:r>
              <a:rPr sz="1800" b="1" i="0">
                <a:solidFill>
                  <a:srgbClr val="0E7C86"/>
                </a:solidFill>
                <a:latin typeface="Courier New"/>
              </a:rPr>
              <a:t>C = εA/d</a:t>
            </a:r>
            <a:r>
              <a:rPr sz="1800" b="0" i="0">
                <a:solidFill>
                  <a:srgbClr val="1A1F24"/>
                </a:solidFill>
                <a:latin typeface="Arial"/>
              </a:rPr>
              <a:t> is the signal.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 i="0">
                <a:solidFill>
                  <a:srgbClr val="6B7680"/>
                </a:solidFill>
                <a:latin typeface="Arial"/>
              </a:rPr>
              <a:t>In week one this was a drawing. Today it is a thing somebody etched, released, glued into a box and soldered down — and every one of those verbs changes </a:t>
            </a:r>
            <a:r>
              <a:rPr sz="1800" b="1" i="0">
                <a:solidFill>
                  <a:srgbClr val="D98324"/>
                </a:solidFill>
                <a:latin typeface="Courier New"/>
              </a:rPr>
              <a:t>d</a:t>
            </a:r>
            <a:r>
              <a:rPr sz="1800" b="0" i="0">
                <a:solidFill>
                  <a:srgbClr val="6B768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Proof mass on a flexure: the three relations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Everything an accelerometer datasheet says is a consequence of m, k and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349300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300" b="1">
                <a:solidFill>
                  <a:srgbClr val="0E7C86"/>
                </a:solidFill>
                <a:latin typeface="Courier New"/>
              </a:rPr>
              <a:t>F = 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62656"/>
            <a:ext cx="33467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the measurand becomes a force —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this is the only physics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6259" y="2011680"/>
            <a:ext cx="349300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300" b="1">
                <a:solidFill>
                  <a:srgbClr val="0E7C86"/>
                </a:solidFill>
                <a:latin typeface="Courier New"/>
              </a:rPr>
              <a:t>x = ma /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9411" y="2962656"/>
            <a:ext cx="33467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the force becomes a displacement —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the flexure sets the sensitivity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0" y="2011680"/>
            <a:ext cx="349300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300" b="1">
                <a:solidFill>
                  <a:srgbClr val="D98324"/>
                </a:solidFill>
                <a:latin typeface="Courier New"/>
              </a:rPr>
              <a:t>f₀ = (1/2π)√(k/m)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2" y="2962656"/>
            <a:ext cx="334670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and the same m and k set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>the usable bandwidth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77639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Arial"/>
              </a:rPr>
              <a:t>One structure, one measurand, two specifications you cannot choose independently: sensitivity and bandwidth share m and 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983480"/>
            <a:ext cx="1087495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6B7680"/>
                </a:solidFill>
                <a:latin typeface="Arial"/>
              </a:rPr>
              <a:t>This is why the datasheet has selectable full-scale ranges but not selectable sensitivity at a fixed range: the mass and the springs were fixed by a mask set, once, for the whole production run. Range is switched in the electronics. The mechanics are not negotiable.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Structures 2 and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Cantilever beam · diaphragm over a cavity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493776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CANTILEVER BEAM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578608"/>
            <a:ext cx="5056632" cy="475488"/>
          </a:xfrm>
          <a:prstGeom prst="rect">
            <a:avLst/>
          </a:prstGeom>
          <a:solidFill>
            <a:srgbClr val="F7F5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Courier New"/>
              </a:rPr>
              <a:t>k  ∝  E·w·t³ / L³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SENSES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3163824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Arial"/>
              </a:rPr>
              <a:t>force, and it is the flexure above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8444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IN THIS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547872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Arial"/>
              </a:rPr>
              <a:t>L8 — force and tactile sensors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794760"/>
            <a:ext cx="5056632" cy="40233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A1F24"/>
                </a:solidFill>
                <a:latin typeface="Arial"/>
              </a:rPr>
              <a:t>Note the cube on t: thickness is set by DEPOSITION, so a 5 % film error is a 16 % stiffness error.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920240"/>
            <a:ext cx="53492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920240"/>
            <a:ext cx="5349240" cy="493776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DIAPHRAGM OVER A CAVITY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2578608"/>
            <a:ext cx="5056632" cy="475488"/>
          </a:xfrm>
          <a:prstGeom prst="rect">
            <a:avLst/>
          </a:prstGeom>
          <a:solidFill>
            <a:srgbClr val="F7F5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Courier New"/>
              </a:rPr>
              <a:t>deflection  ∝  ΔP·a⁴ / (E·t³)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20040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SENSES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3163824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Arial"/>
              </a:rPr>
              <a:t>pressure, sound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58444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IN THIS COURSE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3547872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Arial"/>
              </a:rPr>
              <a:t>L8 pressure · L11 microphone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3952" y="3794760"/>
            <a:ext cx="5056632" cy="40233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A1F24"/>
                </a:solidFill>
                <a:latin typeface="Arial"/>
              </a:rPr>
              <a:t>No proof mass anywhere in this device. Remember that at the next poll.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177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Arial"/>
              </a:rPr>
              <a:t>The beam and the flexure are the same object. Structure 2 is not a new idea — it is structure 1 with the mass taken off the end.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77840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6B7680"/>
                </a:solidFill>
                <a:latin typeface="Arial"/>
              </a:rPr>
              <a:t>The diaphragm is the first structure that needs a SEALED CAVITY underneath it — which is why pressure sensors are packaging problems before they are electronics problems.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Structures 4 and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Resonator · comb — and the comb is the reason gyroscopes exist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493776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RESONATOR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578608"/>
            <a:ext cx="5056632" cy="475488"/>
          </a:xfrm>
          <a:prstGeom prst="rect">
            <a:avLst/>
          </a:prstGeom>
          <a:solidFill>
            <a:srgbClr val="F7F5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Courier New"/>
              </a:rPr>
              <a:t>f₀ shifts with mass, stress,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SENSES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3163824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Arial"/>
              </a:rPr>
              <a:t>mass, gas, temperature,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8444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IN THIS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547872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Arial"/>
              </a:rPr>
              <a:t>L9 gas sensing · timing references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3794760"/>
            <a:ext cx="5056632" cy="40233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A1F24"/>
                </a:solidFill>
                <a:latin typeface="Arial"/>
              </a:rPr>
              <a:t>You do not measure an amplitude here. You measure a FREQUENCY — which is the cheapest thing to measure well.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920240"/>
            <a:ext cx="534924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920240"/>
            <a:ext cx="5349240" cy="493776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COMB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2578608"/>
            <a:ext cx="5056632" cy="475488"/>
          </a:xfrm>
          <a:prstGeom prst="rect">
            <a:avLst/>
          </a:prstGeom>
          <a:solidFill>
            <a:srgbClr val="F7F5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Courier New"/>
              </a:rPr>
              <a:t>C = n·ε·A/d      F ∝ n·V²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20040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SENSES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3163824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Arial"/>
              </a:rPr>
              <a:t>displacement — and it applies force too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584448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IN THIS COURSE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3547872"/>
            <a:ext cx="35021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Arial"/>
              </a:rPr>
              <a:t>L5 · L6 · L10 MEMS mirror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3952" y="3794760"/>
            <a:ext cx="5056632" cy="402336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A1F24"/>
                </a:solidFill>
                <a:latin typeface="Arial"/>
              </a:rPr>
              <a:t>The only structure that both SENSES and DRIVES.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61772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A drive comb sustains a vibration. A sense comb reads the Coriolis deflection of that vibration. That is a gyroscope — and it is why one exists at all.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577840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6B7680"/>
                </a:solidFill>
                <a:latin typeface="Arial"/>
              </a:rPr>
              <a:t>n is the number of finger pairs. The gap d is set by lithography — so the smallest feature a fab can print sets the capacitance, and that sets the noise floor.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five structures, in one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This is the whole of Chunk 1 — it is in the handout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7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490"/>
                <a:gridCol w="3044988"/>
                <a:gridCol w="2609990"/>
                <a:gridCol w="2827489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Structure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Governing relation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Senses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In this course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Proof mass on a flexure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</a:rPr>
                        <a:t>x = ma/k,  f₀ = (1/2π)√(k/m)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acceleration, angular rate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L5 accelerometer, L6 gyroscope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Cantilever beam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</a:rPr>
                        <a:t>k ∝ E·w·t³/L³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force (it is the flexure above)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L8 force / tactile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Diaphragm over a cavity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</a:rPr>
                        <a:t>deflection ∝ ΔP·a⁴/(E·t³)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pressure, sound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L8 pressure, L11 microphone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Resonator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</a:rPr>
                        <a:t>f₀ shifts with mass, stress, 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mass, gas, temperature, time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L9 gas microheater, timing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F24"/>
                          </a:solidFill>
                          <a:latin typeface="Arial"/>
                        </a:rPr>
                        <a:t>Comb structure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</a:rPr>
                        <a:t>C = nεA/d,  F ∝ n·V²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displacement — sense AND drive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</a:rPr>
                        <a:t>L5, L6, L10 MEMS mirror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44068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Five, not a taxonomy. Five is what fits in working memory — and five is genuinely enough for seven lectures.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F24"/>
                </a:solidFill>
                <a:latin typeface="Arial"/>
              </a:rPr>
              <a:t>Four MEMS devices. Which one does NOT contain a proof mass?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854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3-axis accelerometer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620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809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900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vibrating-structure gyroscope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667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856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barometric pressure sensor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714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5902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994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MEMS microphone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Vote alone, hands up on my count. Then I am going to tell you something honest about this question.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2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F24"/>
                </a:solidFill>
                <a:latin typeface="Arial"/>
              </a:rPr>
              <a:t>Four MEMS devices. Which one does NOT contain a proof mass?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854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3-axis accelerometer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620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809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900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vibrating-structure gyroscope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667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7856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947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a barometric pressure sensor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714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5902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994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a MEMS microphone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If you voted D you were right about the physics and I asked a bad question — a microphone is a diaphragm too. Both C and D respond to pressure across a membrane, not to the inertia of a suspended block.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Why five shapes cover seven lectures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Every device in Module B, and the structure underneath 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7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495"/>
                <a:gridCol w="2827489"/>
                <a:gridCol w="3914985"/>
                <a:gridCol w="3044988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Lecture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Device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Structure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7F5F1"/>
                          </a:solidFill>
                          <a:latin typeface="Arial"/>
                        </a:rPr>
                        <a:t>Transduction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accelerometer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proof mass on a flexure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capacitive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L6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gyroscope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comb drive + proof mass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capacitive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magnetometer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none — nothing moves</a:t>
                      </a:r>
                    </a:p>
                  </a:txBody>
                  <a:tcPr marL="91440" marR="91440" marT="27432" marB="27432" anchor="ctr">
                    <a:solidFill>
                      <a:srgbClr val="E4E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electromagnetic</a:t>
                      </a:r>
                    </a:p>
                  </a:txBody>
                  <a:tcPr marL="91440" marR="91440" marT="27432" marB="27432" anchor="ctr">
                    <a:solidFill>
                      <a:srgbClr val="E4E2D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L8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pressure sensor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diaphragm over a cavity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piezoresistive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force / tactile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cantilever beam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piezoresistive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L9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gas sensor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resonator / microheater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thermal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L10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MEMS mirror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comb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electrostatic drive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50" b="1">
                          <a:solidFill>
                            <a:srgbClr val="1A1F24"/>
                          </a:solidFill>
                          <a:latin typeface="Courier New"/>
                        </a:rPr>
                        <a:t>L11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microphone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diaphragm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capacitive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577840"/>
            <a:ext cx="10874959" cy="713232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Eight devices. Five shapes. One of them needs no moving structure at all — and knowing which is worth as much as knowing the rest.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THE POINT OF CHUNK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7F5F1"/>
                </a:solidFill>
                <a:latin typeface="Arial"/>
              </a:rPr>
              <a:t>You are not about to learn</a:t>
            </a:r>
          </a:p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7F5F1"/>
                </a:solidFill>
                <a:latin typeface="Arial"/>
              </a:rPr>
              <a:t>eleven devices.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You are about to learn five structures and six transduction principles, and then watch them get recombined seven times. Module B is not a catalogue. It is one method, applied.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One structure, four different sensors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resonator, to show that the shape is the reusable part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03120"/>
            <a:ext cx="256032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Arial"/>
              </a:rPr>
              <a:t>MASS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432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a molecule lands on it;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f₀ drops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56032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Arial"/>
              </a:rPr>
              <a:t>GAS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7432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a coating adsorbs a species;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the mass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03120"/>
            <a:ext cx="2560320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Arial"/>
              </a:rPr>
              <a:t>TEMPERATURE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27432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Young's modulus changes;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f₀ tracks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2103120"/>
            <a:ext cx="2560320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Arial"/>
              </a:rPr>
              <a:t>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70264" y="27432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nothing changes;</a:t>
            </a:r>
          </a:p>
          <a:p>
            <a:pPr algn="ctr"/>
            <a:r>
              <a:rPr sz="1600" b="0">
                <a:solidFill>
                  <a:srgbClr val="1A1F24"/>
                </a:solidFill>
                <a:latin typeface="Arial"/>
              </a:rPr>
              <a:t>f₀ IS the output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0624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Same beam. Same equation. Four products — and one of them is a bug in the other three.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21208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6B7680"/>
                </a:solidFill>
                <a:latin typeface="Arial"/>
              </a:rPr>
              <a:t>Temperature shifts f₀ whether you asked it to or not: in a gas sensor that is an error term to compensate, and in a thermometer it is the whole product.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Six principles,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one question that sorts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Capacitive · piezoresistive · piezoelectric · thermal · electromagnetic · optical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The question: can it measure something that is not moving?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two that carry Module B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Both answer yes to the static 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CAPACITIVE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STATIC (DC) RESPONSE:  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small, high-impedance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MAIN WEAKNESS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needs on-chip electronics; stray capacitance everywhere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EXPLAINS THE DATASHEET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why the ISM330DHCX can measure tilt at 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PIEZORESISTIVE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STATIC (DC) RESPONSE:   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millivolts from a bridge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MAIN WEAKNESS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a strong temperature coefficient — the bridge drifts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EXPLAINS THE DATASHEET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why pressure sensors need temperature compensation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578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Capacitive measures a GAP. Piezoresistive measures a STRAIN. Both hold their reading when the world stops moving — and that is not a given.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one that answers 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Piezoelectric — self-generating, and blind to anything still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512064"/>
          </a:xfrm>
          <a:prstGeom prst="rect">
            <a:avLst/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PIEZOELECTRIC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STATIC (DC) RESPONSE:  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charge, self-generating — no supply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MAIN WEAKNESS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no DC response at all; the charge leaks 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EXPLAINS THE DATASHEET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why vibration sensors quote a LOW-frequency 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Arial"/>
              </a:rPr>
              <a:t>TILT  (the input) — stepped to 0.5° and held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273552"/>
            <a:ext cx="4754880" cy="1270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492240" y="2560320"/>
            <a:ext cx="4754880" cy="713232"/>
          </a:xfrm>
          <a:custGeom>
            <a:avLst/>
            <a:gdLst/>
            <a:ahLst/>
            <a:cxnLst/>
            <a:rect l="l" t="t" r="r" b="b"/>
            <a:pathLst>
              <a:path w="4754880" h="713232">
                <a:moveTo>
                  <a:pt x="0" y="713232"/>
                </a:moveTo>
                <a:lnTo>
                  <a:pt x="914400" y="713232"/>
                </a:lnTo>
                <a:lnTo>
                  <a:pt x="914400" y="0"/>
                </a:lnTo>
                <a:lnTo>
                  <a:pt x="4754880" y="0"/>
                </a:lnTo>
              </a:path>
            </a:pathLst>
          </a:custGeom>
          <a:noFill/>
          <a:ln w="285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651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Courier New"/>
              </a:rPr>
              <a:t>held for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03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Arial"/>
              </a:rPr>
              <a:t>PIEZOELECTRIC OUTPUT — decays with the amplifier's 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956048"/>
            <a:ext cx="4754880" cy="1270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492240" y="4242816"/>
            <a:ext cx="4754880" cy="713232"/>
          </a:xfrm>
          <a:custGeom>
            <a:avLst/>
            <a:gdLst/>
            <a:ahLst/>
            <a:cxnLst/>
            <a:rect l="l" t="t" r="r" b="b"/>
            <a:pathLst>
              <a:path w="4754880" h="713232">
                <a:moveTo>
                  <a:pt x="0" y="713232"/>
                </a:moveTo>
                <a:lnTo>
                  <a:pt x="914400" y="713232"/>
                </a:lnTo>
                <a:lnTo>
                  <a:pt x="914400" y="0"/>
                </a:lnTo>
                <a:lnTo>
                  <a:pt x="914400" y="0"/>
                </a:lnTo>
                <a:lnTo>
                  <a:pt x="978408" y="39292"/>
                </a:lnTo>
                <a:lnTo>
                  <a:pt x="1042416" y="76420"/>
                </a:lnTo>
                <a:lnTo>
                  <a:pt x="1106424" y="111503"/>
                </a:lnTo>
                <a:lnTo>
                  <a:pt x="1170432" y="144653"/>
                </a:lnTo>
                <a:lnTo>
                  <a:pt x="1234440" y="175976"/>
                </a:lnTo>
                <a:lnTo>
                  <a:pt x="1298448" y="205574"/>
                </a:lnTo>
                <a:lnTo>
                  <a:pt x="1362456" y="233541"/>
                </a:lnTo>
                <a:lnTo>
                  <a:pt x="1426464" y="259968"/>
                </a:lnTo>
                <a:lnTo>
                  <a:pt x="1490472" y="284939"/>
                </a:lnTo>
                <a:lnTo>
                  <a:pt x="1554480" y="308534"/>
                </a:lnTo>
                <a:lnTo>
                  <a:pt x="1618488" y="330829"/>
                </a:lnTo>
                <a:lnTo>
                  <a:pt x="1682496" y="351896"/>
                </a:lnTo>
                <a:lnTo>
                  <a:pt x="1746504" y="371802"/>
                </a:lnTo>
                <a:lnTo>
                  <a:pt x="1810512" y="390612"/>
                </a:lnTo>
                <a:lnTo>
                  <a:pt x="1874520" y="408385"/>
                </a:lnTo>
                <a:lnTo>
                  <a:pt x="1938528" y="425180"/>
                </a:lnTo>
                <a:lnTo>
                  <a:pt x="2002536" y="441049"/>
                </a:lnTo>
                <a:lnTo>
                  <a:pt x="2066544" y="456044"/>
                </a:lnTo>
                <a:lnTo>
                  <a:pt x="2130552" y="470212"/>
                </a:lnTo>
                <a:lnTo>
                  <a:pt x="2194560" y="483601"/>
                </a:lnTo>
                <a:lnTo>
                  <a:pt x="2258568" y="496251"/>
                </a:lnTo>
                <a:lnTo>
                  <a:pt x="2322576" y="508205"/>
                </a:lnTo>
                <a:lnTo>
                  <a:pt x="2386584" y="519500"/>
                </a:lnTo>
                <a:lnTo>
                  <a:pt x="2450592" y="530173"/>
                </a:lnTo>
                <a:lnTo>
                  <a:pt x="2514600" y="540258"/>
                </a:lnTo>
                <a:lnTo>
                  <a:pt x="2578608" y="549787"/>
                </a:lnTo>
                <a:lnTo>
                  <a:pt x="2642616" y="558791"/>
                </a:lnTo>
                <a:lnTo>
                  <a:pt x="2706624" y="567300"/>
                </a:lnTo>
                <a:lnTo>
                  <a:pt x="2770632" y="575339"/>
                </a:lnTo>
                <a:lnTo>
                  <a:pt x="2834640" y="582936"/>
                </a:lnTo>
                <a:lnTo>
                  <a:pt x="2898648" y="590114"/>
                </a:lnTo>
                <a:lnTo>
                  <a:pt x="2962656" y="596897"/>
                </a:lnTo>
                <a:lnTo>
                  <a:pt x="3026664" y="603306"/>
                </a:lnTo>
                <a:lnTo>
                  <a:pt x="3090672" y="609362"/>
                </a:lnTo>
                <a:lnTo>
                  <a:pt x="3154680" y="615084"/>
                </a:lnTo>
                <a:lnTo>
                  <a:pt x="3218688" y="620491"/>
                </a:lnTo>
                <a:lnTo>
                  <a:pt x="3282696" y="625600"/>
                </a:lnTo>
                <a:lnTo>
                  <a:pt x="3346704" y="630428"/>
                </a:lnTo>
                <a:lnTo>
                  <a:pt x="3410712" y="634989"/>
                </a:lnTo>
                <a:lnTo>
                  <a:pt x="3474720" y="639300"/>
                </a:lnTo>
                <a:lnTo>
                  <a:pt x="3538728" y="643373"/>
                </a:lnTo>
                <a:lnTo>
                  <a:pt x="3602736" y="647221"/>
                </a:lnTo>
                <a:lnTo>
                  <a:pt x="3666744" y="650858"/>
                </a:lnTo>
                <a:lnTo>
                  <a:pt x="3730752" y="654294"/>
                </a:lnTo>
                <a:lnTo>
                  <a:pt x="3794760" y="657541"/>
                </a:lnTo>
                <a:lnTo>
                  <a:pt x="3858768" y="660609"/>
                </a:lnTo>
                <a:lnTo>
                  <a:pt x="3922776" y="663508"/>
                </a:lnTo>
                <a:lnTo>
                  <a:pt x="3986784" y="666248"/>
                </a:lnTo>
                <a:lnTo>
                  <a:pt x="4050792" y="668836"/>
                </a:lnTo>
                <a:lnTo>
                  <a:pt x="4114800" y="671282"/>
                </a:lnTo>
                <a:lnTo>
                  <a:pt x="4178808" y="673593"/>
                </a:lnTo>
                <a:lnTo>
                  <a:pt x="4242816" y="675777"/>
                </a:lnTo>
                <a:lnTo>
                  <a:pt x="4306824" y="677840"/>
                </a:lnTo>
                <a:lnTo>
                  <a:pt x="4370832" y="679790"/>
                </a:lnTo>
                <a:lnTo>
                  <a:pt x="4434840" y="681632"/>
                </a:lnTo>
                <a:lnTo>
                  <a:pt x="4498848" y="683373"/>
                </a:lnTo>
                <a:lnTo>
                  <a:pt x="4562856" y="685018"/>
                </a:lnTo>
                <a:lnTo>
                  <a:pt x="4626864" y="686572"/>
                </a:lnTo>
                <a:lnTo>
                  <a:pt x="4690872" y="688041"/>
                </a:lnTo>
                <a:lnTo>
                  <a:pt x="4754880" y="689429"/>
                </a:lnTo>
              </a:path>
            </a:pathLst>
          </a:custGeom>
          <a:noFill/>
          <a:ln w="285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4590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ourier New"/>
              </a:rPr>
              <a:t>→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578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A piezoelectric element responds to a CHANGE in strain. Hold it still and the output goes to zero — not badly, but exactly to zero.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Thermal and electromagnetic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Honestly brief — you meet both again in Module B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THERMAL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STATIC (DC) RESPONSE:   YES, SLOWLY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microvolts, or a resistance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MAIN WEAKNESS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slow; and it heats itself, so it measures its own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EXPLAINS THE DATASHEET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the warm-up time on a gas sensor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ELECTROMAGNETIC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STATIC (DC) RESPONSE:   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large, low-impedance — the easy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MAIN WEAKNESS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hard to shrink, and it responds to every magnet nearby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EXPLAINS THE DATASHEET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the hard- and soft-iron terms in Lecture 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578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50" b="1">
                <a:solidFill>
                  <a:srgbClr val="1A1F24"/>
                </a:solidFill>
                <a:latin typeface="Arial"/>
              </a:rPr>
              <a:t>Thermal is the only principle whose own operation disturbs the measurand. Electromagnetic is the only one that fights the scaling laws instead of using them.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Optical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last principle, and the one that costs the most package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349240" cy="3127248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5349240" cy="512064"/>
          </a:xfrm>
          <a:prstGeom prst="rect">
            <a:avLst/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OPTICAL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596896"/>
            <a:ext cx="5056632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7F5F1"/>
                </a:solidFill>
                <a:latin typeface="Arial"/>
              </a:rPr>
              <a:t>STATIC (DC) RESPONSE:   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can be very large — sometimes no amplifier at 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03904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MAIN WEAKNESS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23360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needs a window, and the window sees ambient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40740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7680"/>
                </a:solidFill>
                <a:latin typeface="Arial"/>
              </a:rPr>
              <a:t>EXPLAINS THE DATASHEET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626864"/>
            <a:ext cx="505663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F24"/>
                </a:solidFill>
                <a:latin typeface="Arial"/>
              </a:rPr>
              <a:t>the cover-window design in Lecture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96596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Arial"/>
              </a:rPr>
              <a:t>THE THREE BRIEF ONES COME BACK 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377440"/>
            <a:ext cx="74980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L7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39572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electromagnetic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65176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7680"/>
                </a:solidFill>
                <a:latin typeface="Arial"/>
              </a:rPr>
              <a:t>magnetometers, and why they need calibrating in situ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3127248"/>
            <a:ext cx="74980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L9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145536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thermal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0156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7680"/>
                </a:solidFill>
                <a:latin typeface="Arial"/>
              </a:rPr>
              <a:t>gas sensing, self-heating and warm-up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877056"/>
            <a:ext cx="749808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Courier New"/>
              </a:rPr>
              <a:t>L10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895344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E7C86"/>
                </a:solidFill>
                <a:latin typeface="Arial"/>
              </a:rPr>
              <a:t>optical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15137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7680"/>
                </a:solidFill>
                <a:latin typeface="Arial"/>
              </a:rPr>
              <a:t>MEMS mirrors, and the window you must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7648" y="4663440"/>
            <a:ext cx="5349240" cy="38404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Three principles, one slide each. That is proportionate.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2578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Optical is the only principle where the PACKAGE is part of the transduction: no window, no measurement.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 piezoelectric accelerometer — representative industrial vibration type — is mounted on the solar-tracker frame from Lecture 2 to measure its tilt. The frame is tilted to 0.5° and held there.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Thirty seconds later, the reported tilt 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0.5°, correctly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0.5° but very noisy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depends on the amplifier's 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Vote. Then in pairs: one of you argues it reads 0.5°, the other argues it reads zero — then decide. Two minutes.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3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A piezoelectric accelerometer — representative industrial vibration type — is mounted on the solar-tracker frame from Lecture 2 to measure its tilt. The frame is tilted to 0.5° and held there.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Thirty seconds later, the reported tilt 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0.5°, correctly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0°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0.5° but very noisy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depends on the amplifier's 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Zero. Charge appears when the strain CHANGES; held still, it leaks away through the amplifier's input impedance in a few seconds. A piezoelectric accelerometer has no DC response. It cannot measure tilt — not badly, at all.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Six principles, sorted by one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Can it measure something that is standing still?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7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242"/>
                <a:gridCol w="1631243"/>
                <a:gridCol w="3044988"/>
                <a:gridCol w="413248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Static (DC)?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Main weakness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Capacitive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small, high-impedance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needs on-chip electronics; stray 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Piezoresistive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mV from a bridge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strong temperature coefficient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Piezoelectric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C0392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charge, self-generating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no DC response; the charge leaks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Thermal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Arial"/>
                        </a:rPr>
                        <a:t>yes, slowly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µV or resistance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slow; self-heating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Electromagnetic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large, low-impedance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hard to shrink; magnetically susceptible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A1F24"/>
                          </a:solidFill>
                          <a:latin typeface="Arial"/>
                        </a:rPr>
                        <a:t>Optical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can be very large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</a:rPr>
                        <a:t>needs a window; ambient light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39496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One “no” in the whole column — and it belongs to the principle that looks most impressive on a front page.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And what each one explains in a datasheet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reason this chunk exists: every principle is a specification's cause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741"/>
                <a:gridCol w="1739993"/>
                <a:gridCol w="685122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Principle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Static (DC)?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The datasheet line it explains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Capacitive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why the ISM330DHCX can measure tilt at all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Piezoresistive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why pressure sensors need temperature compensation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Piezoelectric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C0392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why vibration sensors quote a low-frequency limit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Thermal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Arial"/>
                        </a:rPr>
                        <a:t>yes, slowly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the warm-up time on a gas sensor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Electromagnetic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the hard- and soft-iron terms in Lecture 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Arial"/>
                        </a:rPr>
                        <a:t>Optical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0E7C86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the cover-window design in Lecture 10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39496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Arial"/>
              </a:rPr>
              <a:t>A specification is never arbitrary. Somewhere behind every line is a structure, a principle, or a process step.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CHUNK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How it is made,</a:t>
            </a:r>
          </a:p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Arial"/>
              </a:rPr>
              <a:t>and what that costs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Four process steps. One consequence each. That is the whole treatment.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This is not a fabrication course — fabrication is here because it explains the datasheet.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Four steps, in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One consequence each — and that is the entire treatment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LITHOGRAPHY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432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minimum feature size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→ the comb gap d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→ the capacitance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→ the noise floor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185416"/>
            <a:ext cx="320040" cy="201168"/>
          </a:xfrm>
          <a:prstGeom prst="rightArrow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965960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DEPOSITION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27432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film thickness, and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RESIDUAL STRESS —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the structure is curved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before you use 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9592" y="2185416"/>
            <a:ext cx="320040" cy="201168"/>
          </a:xfrm>
          <a:prstGeom prst="rightArrow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965960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ETCHING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7432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isotropic or anisotropic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decides which shapes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are possible at all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50224" y="2185416"/>
            <a:ext cx="320040" cy="201168"/>
          </a:xfrm>
          <a:prstGeom prst="rightArrow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70264" y="1965960"/>
            <a:ext cx="2395728" cy="64008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274320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the sacrificial layer goes,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the structure is free —</a:t>
            </a:r>
          </a:p>
          <a:p>
            <a:pPr algn="ctr">
              <a:lnSpc>
                <a:spcPct val="135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and can STICK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Arial"/>
              </a:rPr>
              <a:t>PAIRS · 3 MINUTES · cards on your desk: put the four steps in order, then match each one to its consequence.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175504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F7F5F1"/>
                </a:solidFill>
                <a:latin typeface="Arial"/>
              </a:rPr>
              <a:t>Then one question: which of the four is the reason a MEMS accelerometer is noisier than a bench instrument?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Bulk or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Two ways to build the same shape, and the trade-off is mass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BULK MICROMACHINING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920240"/>
            <a:ext cx="5349240" cy="566928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Arial"/>
              </a:rPr>
              <a:t>SURFACE MICROMACHINING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70048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▸  etches INTO the wafer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670048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▸  builds UP from thin films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45536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▸  thick structures, large proof masses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3145536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8324"/>
                </a:solidFill>
                <a:latin typeface="Arial"/>
              </a:rPr>
              <a:t>▸  micrometres thick, small masses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21024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▸  low noise floor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621024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8324"/>
                </a:solidFill>
                <a:latin typeface="Arial"/>
              </a:rPr>
              <a:t>▸  higher noise floor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096512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D98324"/>
                </a:solidFill>
                <a:latin typeface="Arial"/>
              </a:rPr>
              <a:t>▸  big die, expensive, hard to integrate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096512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▸  cheap, small, on the same die as the electronics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57200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▸  pressure sensors, high-grade inertial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72000"/>
            <a:ext cx="5257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6B7680"/>
                </a:solidFill>
                <a:latin typeface="Arial"/>
              </a:rPr>
              <a:t>▸  consumer IMUs — the part in your kit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138928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The trade-off is MASS — and by Lecture 1's m ∝ L³ you could already predict which one is quieter.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25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B7680"/>
                </a:solidFill>
                <a:latin typeface="Arial"/>
              </a:rPr>
              <a:t>Your kit's part is not the quietest accelerometer buildable — only the quietest that fits beside its own ADC.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Release: the step that makes it a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The sacrificial layer — and what happens when the beam comes down instead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Arial"/>
              </a:rPr>
              <a:t>1 · AS DEPOSITED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310128"/>
            <a:ext cx="3200400" cy="457200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6B7680"/>
                </a:solidFill>
                <a:latin typeface="Arial"/>
              </a:rPr>
              <a:t>SUBSTRATE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990088"/>
            <a:ext cx="3200400" cy="320040"/>
          </a:xfrm>
          <a:prstGeom prst="rect">
            <a:avLst/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1A1F24"/>
                </a:solidFill>
                <a:latin typeface="Arial"/>
              </a:rPr>
              <a:t>SACRIFICIAL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788920"/>
            <a:ext cx="3200400" cy="201168"/>
          </a:xfrm>
          <a:prstGeom prst="rect">
            <a:avLst/>
          </a:prstGeom>
          <a:solidFill>
            <a:srgbClr val="DCEDE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1363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structural film on top of a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sacrificial layer — nothing moves yet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92024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Arial"/>
              </a:rPr>
              <a:t>2 · RELEASED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3310128"/>
            <a:ext cx="3200400" cy="457200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6B7680"/>
                </a:solidFill>
                <a:latin typeface="Arial"/>
              </a:rPr>
              <a:t>SUBSTRATE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2788920"/>
            <a:ext cx="3200400" cy="201168"/>
          </a:xfrm>
          <a:prstGeom prst="rect">
            <a:avLst/>
          </a:prstGeom>
          <a:solidFill>
            <a:srgbClr val="DCEDE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01752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Arial"/>
              </a:rPr>
              <a:t>free to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91363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the sacrificial layer is etched away.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The beam is free. This is the machine.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3493008" cy="512064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7F5F1"/>
                </a:solidFill>
                <a:latin typeface="Arial"/>
              </a:rPr>
              <a:t>3 · STUCK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3310128"/>
            <a:ext cx="3200400" cy="457200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6B7680"/>
                </a:solidFill>
                <a:latin typeface="Arial"/>
              </a:rPr>
              <a:t>SUBSTRATE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3108960"/>
            <a:ext cx="3200400" cy="201168"/>
          </a:xfrm>
          <a:prstGeom prst="rect">
            <a:avLst/>
          </a:prstGeom>
          <a:solidFill>
            <a:srgbClr val="F7DFD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285292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Arial"/>
              </a:rPr>
              <a:t>welded shut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391363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surface forces pull it down and it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1A1F24"/>
                </a:solidFill>
                <a:latin typeface="Arial"/>
              </a:rPr>
              <a:t>stays down. The device is dead.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07492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Stiction is Lecture 1's A/V ∝ 1/L arriving as a yield problem: at this scale surface forces beat the restoring force of the spring.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6188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B7680"/>
                </a:solidFill>
                <a:latin typeface="Arial"/>
              </a:rPr>
              <a:t>Stiction is also a field failure: condensation, shock or electrostatics can bring a beam down later.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package is not protection. It is physics.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Cavity · die attach · wire bond · seal · getter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5486400" cy="237744"/>
          </a:xfrm>
          <a:prstGeom prst="rect">
            <a:avLst/>
          </a:prstGeom>
          <a:solidFill>
            <a:srgbClr val="6B7680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F7F5F1"/>
                </a:solidFill>
                <a:latin typeface="Arial"/>
              </a:rPr>
              <a:t>LID  ·  HERMETIC SEAL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40864"/>
            <a:ext cx="5486400" cy="2103120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606040"/>
            <a:ext cx="484632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6B76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697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Arial"/>
              </a:rPr>
              <a:t>CAVITY — sealed, often at reduced pressure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154680"/>
            <a:ext cx="2011680" cy="475488"/>
          </a:xfrm>
          <a:prstGeom prst="rect">
            <a:avLst/>
          </a:prstGeom>
          <a:solidFill>
            <a:srgbClr val="DCEDE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MEMS DIE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630168"/>
            <a:ext cx="2011680" cy="201168"/>
          </a:xfrm>
          <a:prstGeom prst="rect">
            <a:avLst/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DIE ATTACH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584448"/>
            <a:ext cx="868680" cy="256032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50" b="1">
                <a:solidFill>
                  <a:srgbClr val="1A1F24"/>
                </a:solidFill>
                <a:latin typeface="Arial"/>
              </a:rPr>
              <a:t>GETTER</a:t>
            </a:r>
          </a:p>
        </p:txBody>
      </p:sp>
      <p:sp>
        <p:nvSpPr>
          <p:cNvPr id="15" name="Freeform 14"/>
          <p:cNvSpPr/>
          <p:nvPr/>
        </p:nvSpPr>
        <p:spPr>
          <a:xfrm>
            <a:off x="1737360" y="2788920"/>
            <a:ext cx="1051560" cy="365760"/>
          </a:xfrm>
          <a:custGeom>
            <a:avLst/>
            <a:gdLst/>
            <a:ahLst/>
            <a:cxnLst/>
            <a:rect l="l" t="t" r="r" b="b"/>
            <a:pathLst>
              <a:path w="1051560" h="365760">
                <a:moveTo>
                  <a:pt x="1051560" y="365760"/>
                </a:moveTo>
                <a:lnTo>
                  <a:pt x="525780" y="0"/>
                </a:lnTo>
                <a:lnTo>
                  <a:pt x="0" y="338328"/>
                </a:lnTo>
              </a:path>
            </a:pathLst>
          </a:custGeom>
          <a:noFill/>
          <a:ln w="1905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709160" y="2788920"/>
            <a:ext cx="1051560" cy="365760"/>
          </a:xfrm>
          <a:custGeom>
            <a:avLst/>
            <a:gdLst/>
            <a:ahLst/>
            <a:cxnLst/>
            <a:rect l="l" t="t" r="r" b="b"/>
            <a:pathLst>
              <a:path w="1051560" h="365760">
                <a:moveTo>
                  <a:pt x="0" y="365760"/>
                </a:moveTo>
                <a:lnTo>
                  <a:pt x="525780" y="0"/>
                </a:lnTo>
                <a:lnTo>
                  <a:pt x="1051560" y="338328"/>
                </a:lnTo>
              </a:path>
            </a:pathLst>
          </a:custGeom>
          <a:noFill/>
          <a:ln w="19050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4871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wire bonds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4443984"/>
            <a:ext cx="777240" cy="164592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4443984"/>
            <a:ext cx="777240" cy="164592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4443984"/>
            <a:ext cx="777240" cy="164592"/>
          </a:xfrm>
          <a:prstGeom prst="rect">
            <a:avLst/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608576"/>
            <a:ext cx="5486400" cy="274320"/>
          </a:xfrm>
          <a:prstGeom prst="rect">
            <a:avLst/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A1F24"/>
                </a:solidFill>
                <a:latin typeface="Arial"/>
              </a:rPr>
              <a:t>PCB — YOUR 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0116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B7680"/>
                </a:solidFill>
                <a:latin typeface="Arial"/>
              </a:rPr>
              <a:t>WHAT EACH PART IS ACTUALLY FOR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2304288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7F5F1"/>
                </a:solidFill>
                <a:latin typeface="Arial"/>
              </a:rPr>
              <a:t>CAVITY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295144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a void at a controlled pressure —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and that pressure sets the damping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2862072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A1F24"/>
                </a:solidFill>
                <a:latin typeface="Arial"/>
              </a:rPr>
              <a:t>DIE ATTACH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852928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an adhesive that cures, shrinks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and stresses the die on day 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419856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A1F24"/>
                </a:solidFill>
                <a:latin typeface="Arial"/>
              </a:rPr>
              <a:t>WIRE BOND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410712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a mechanical link to a moving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object: a spring, and a stress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3977640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7F5F1"/>
                </a:solidFill>
                <a:latin typeface="Arial"/>
              </a:rPr>
              <a:t>SEAL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968496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keeps dust out of a 1–2 µm gap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where one speck is fatal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4535424"/>
            <a:ext cx="1481328" cy="47548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7F5F1"/>
                </a:solidFill>
                <a:latin typeface="Arial"/>
              </a:rPr>
              <a:t>GETTER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526280"/>
            <a:ext cx="3200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absorbs gas that leaks in, so the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F24"/>
                </a:solidFill>
                <a:latin typeface="Arial"/>
              </a:rPr>
              <a:t>damping stays as designed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120640"/>
            <a:ext cx="10874959" cy="786384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Two of the five put the die under stress before you ever power it up. That stress is the “after soldering” in the conditions column.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9893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6B7680"/>
                </a:solidFill>
                <a:latin typeface="Arial"/>
              </a:rPr>
              <a:t>Nothing on this slide is optional, and nothing on it is specified for your board.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Two tens of a milli-g, and they are not the same 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Name this collision out loud — it is a guaranteed exam misconception otherwise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990"/>
                <a:gridCol w="4132484"/>
                <a:gridCol w="4132484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Lecture 2's 10 mg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Lecture 4's 10 mg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offset DRIFT over temperature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zero-g OFFSET after soldering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Where it comes from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the temperature coefficient of the structure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die attach, package and solder stress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The arithmetic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±0.5 mg/°C × 20 °C = 10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±10 mg typ, ±65 mg max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Against the 8.73 mg signal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1.15×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1.15× typ,  7.45× max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Can you fix it?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C0392B"/>
                          </a:solidFill>
                          <a:latin typeface="Arial"/>
                        </a:rPr>
                        <a:t>NO — it moves after you calibrate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0E7C86"/>
                          </a:solidFill>
                          <a:latin typeface="Arial"/>
                        </a:rPr>
                        <a:t>YES — one-point calibration on your board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1A1F24"/>
                          </a:solidFill>
                          <a:latin typeface="Arial"/>
                        </a:rPr>
                        <a:t>Cost of the fix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1A1F24"/>
                          </a:solidFill>
                          <a:latin typeface="Arial"/>
                        </a:rPr>
                        <a:t>one measurement, once, per unit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175504"/>
            <a:ext cx="10874959" cy="694944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Arial"/>
              </a:rPr>
              <a:t>Fabrication and packaging hand you a LARGE but REMOVABLE error. The temperature coefficient hands you a SMALL-LOOKING but IRREMOVABLE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6B7680"/>
                </a:solidFill>
                <a:latin typeface="Arial"/>
              </a:rPr>
              <a:t>That both land on ten is a coincidence. The DIFFERENCE between them is the thesis of Module 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POLL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You are specifying a pressure sensor for the capstone project. Four numbers matter. Which one must you measure on your own assembly, because no datasheet can give it to you?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noise density at your chosen bandwidth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sensitivity at 25 °C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zero-offset shift caused by your enclosure clamping the sensor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total error band over the operating temperature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Arial"/>
              </a:rPr>
              <a:t>Transfer question. Different measurand, same distinction you have been building for the last two chunks.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4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You are specifying a pressure sensor for the capstone project. Four numbers matter. Which one must you measure on your own assembly, because no datasheet can give it to you?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noise density at your chosen bandwidth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sensitivity at 25 °C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the zero-offset shift caused by your enclosure clamping the sensor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the total error band over the operating temperature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A, B and D are all in the datasheet — D is the very figure Lecture 2 taught you to prefer. C depends on your enclosure, your screw torque and your gasket, and it exists nowhere but on your own bench.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stress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Seven links, and only the first is specified by anyone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THE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1728" y="173736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WHAT IT CONTRIBUTES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0808" y="1737360"/>
            <a:ext cx="2779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7680"/>
                </a:solidFill>
                <a:latin typeface="Arial"/>
              </a:rPr>
              <a:t>SPECIFIED BY ANYONE?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938528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Arial"/>
              </a:rPr>
              <a:t>DIE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029968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Arial"/>
              </a:rPr>
              <a:t>the transduction itself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50808" y="1938528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7F5F1"/>
                </a:solidFill>
                <a:latin typeface="Arial"/>
              </a:rPr>
              <a:t>yes — the datasheet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487168" y="2386584"/>
            <a:ext cx="182880" cy="1097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00884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Arial"/>
              </a:rPr>
              <a:t>DIE ATTACH ADHESIVE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592324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Arial"/>
              </a:rPr>
              <a:t>offset shift, hysteresis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50808" y="2500884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partly — “after soldering”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487168" y="2948940"/>
            <a:ext cx="182880" cy="109728"/>
          </a:xfrm>
          <a:prstGeom prst="downArrow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063240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Arial"/>
              </a:rPr>
              <a:t>PACKAGE 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15468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Arial"/>
              </a:rPr>
              <a:t>the temperature coefficient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0808" y="3063240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Arial"/>
              </a:rPr>
              <a:t>partly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487168" y="3511296"/>
            <a:ext cx="182880" cy="109728"/>
          </a:xfrm>
          <a:prstGeom prst="downArrow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625596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Arial"/>
              </a:rPr>
              <a:t>SOLDER JOINTS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3717036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Arial"/>
              </a:rPr>
              <a:t>asymmetric stress → cross-axis error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50808" y="3625596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7F5F1"/>
                </a:solidFill>
                <a:latin typeface="Arial"/>
              </a:rPr>
              <a:t>NO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487168" y="4073652"/>
            <a:ext cx="182880" cy="109728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187952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Arial"/>
              </a:rPr>
              <a:t>PCB FLEX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279392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Arial"/>
              </a:rPr>
              <a:t>offset and cross-axis, load-dependent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50808" y="4187952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7F5F1"/>
                </a:solidFill>
                <a:latin typeface="Arial"/>
              </a:rPr>
              <a:t>NO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2487168" y="4636008"/>
            <a:ext cx="182880" cy="109728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750308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Arial"/>
              </a:rPr>
              <a:t>MOUNTING SCREW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841748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Arial"/>
              </a:rPr>
              <a:t>offset that changes when it is retightened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0808" y="4750308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7F5F1"/>
                </a:solidFill>
                <a:latin typeface="Arial"/>
              </a:rPr>
              <a:t>NO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2487168" y="5198364"/>
            <a:ext cx="182880" cy="109728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312664"/>
            <a:ext cx="38404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A1F24"/>
                </a:solidFill>
                <a:latin typeface="Arial"/>
              </a:rPr>
              <a:t>5 mm RUBBER PAD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5404104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1A1F24"/>
                </a:solidFill>
                <a:latin typeface="Arial"/>
              </a:rPr>
              <a:t>Lecture 1's war story, in one part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50808" y="5312664"/>
            <a:ext cx="2779776" cy="43891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7F5F1"/>
                </a:solidFill>
                <a:latin typeface="Arial"/>
              </a:rPr>
              <a:t>NO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870448"/>
            <a:ext cx="10874959" cy="41148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50" b="1">
                <a:solidFill>
                  <a:srgbClr val="F7F5F1"/>
                </a:solidFill>
                <a:latin typeface="Arial"/>
              </a:rPr>
              <a:t>Lecture 1's story ended on the seventh link. Lecture 4 ends on the same picture.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Arial"/>
              </a:rPr>
              <a:t>POLL 1   ·  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In Lecture 2 you were asked for a device's cross-axis sensitivity after it is soldered to your board, and the answer was that the number is not in the datasheet.</a:t>
            </a:r>
          </a:p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Arial"/>
              </a:rPr>
              <a:t>Why is it not there?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is proprietary — competitors would learn from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Arial"/>
              </a:rPr>
              <a:t>It depends on your board and your assembly, so no manufacturer can specify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is in the application note, not the datasheet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Arial"/>
              </a:rPr>
              <a:t>It is the same as the package-level figure, so printing it twice would be redundant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Arial"/>
              </a:rPr>
              <a:t>Not secrecy, and not an application note. The chain you just drew has seven links and the manufacturer owns one of them. The number cannot exist — but the METHOD does: measure it on your own assembly.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The honest ledger of going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Built with you — I ask for each row before I show it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9990"/>
                <a:gridCol w="3697486"/>
                <a:gridCol w="456748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Shrinking the device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buys you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7F5F1"/>
                          </a:solidFill>
                          <a:latin typeface="Arial"/>
                        </a:rPr>
                        <a:t>costs you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m ∝ L³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C0392B"/>
                          </a:solidFill>
                          <a:latin typeface="Arial"/>
                        </a:rPr>
                        <a:t>less mass → a higher noise floor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k ∝ 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f₀ ∝ 1/L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0E7C86"/>
                          </a:solidFill>
                          <a:latin typeface="Arial"/>
                        </a:rPr>
                        <a:t>higher bandwidth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resonance moves into your signal band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area / volume ∝ 1/L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fast thermal response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C0392B"/>
                          </a:solidFill>
                          <a:latin typeface="Arial"/>
                        </a:rPr>
                        <a:t>surface forces dominate → stiction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batch fabrication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0E7C86"/>
                          </a:solidFill>
                          <a:latin typeface="Arial"/>
                        </a:rPr>
                        <a:t>unit cost, integration with electronics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tolerances you cannot control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Courier New"/>
                        </a:rPr>
                        <a:t>packaging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protection, handling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C0392B"/>
                          </a:solidFill>
                          <a:latin typeface="Arial"/>
                        </a:rPr>
                        <a:t>stress you cannot specify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39496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Arial"/>
              </a:rPr>
              <a:t>The datasheet quantifies the middle column. The last two rows of the right-hand column are yours to measure.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Arial"/>
              </a:rPr>
              <a:t>WHAT THIS LECTURE EXISTS TO 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Micro-scale is a trade,</a:t>
            </a:r>
          </a:p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7F5F1"/>
                </a:solidFill>
                <a:latin typeface="Arial"/>
              </a:rPr>
              <a:t>not an improvement.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Arial"/>
              </a:rPr>
              <a:t>Everything you gained, you gained by giving something up. The datasheet quantifies the gains — and the last two rows of that ledger are yours to measure, on your own board, with your own screwdriver.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Module A ends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Four lectures. One method. Now watch it get applied seven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3852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You can now draw the chain, turn a request into a specification, read a datasheet against a requirement, and explain why a device behaves differently on your own 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98324"/>
                </a:solidFill>
                <a:latin typeface="Arial"/>
              </a:rPr>
              <a:t>LECTURES 5–11 ARE SEVEN INSTANCES OF ONE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82112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MEASURAND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95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5536" y="3364992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3182112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TRANSDUCTION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2095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1888" y="3364992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91072" y="3182112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2095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78240" y="3364992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07424" y="3182112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32095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78224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SPECIFICATIONS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056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145536" y="4261104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74720" y="4078224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1056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61888" y="4261104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1072" y="4078224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CALIBRATION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41056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778240" y="4261104"/>
            <a:ext cx="27432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07424" y="4078224"/>
            <a:ext cx="2432304" cy="56692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1A1F24"/>
                </a:solidFill>
                <a:latin typeface="Arial"/>
              </a:rPr>
              <a:t>FAILURE MODES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10565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8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0268712" y="3785615"/>
            <a:ext cx="182880" cy="237744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507492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Arial"/>
              </a:rPr>
              <a:t>Seven devices, one method. If you can state that pattern, the next seven weeks are one idea applied seven times rather than a list to memorise.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E7C86"/>
                </a:solidFill>
                <a:latin typeface="Arial"/>
              </a:rPr>
              <a:t>NEXT:  Lecture 5 — the accelerometer in full: structure 1 and principle 1, down to a register value.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Arial"/>
              </a:rPr>
              <a:t>MEMS &amp; Sensors  ·  Lecture 4  ·  Structures, transduction, fabrication and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Arial"/>
              </a:rPr>
              <a:t>Exit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Arial"/>
              </a:rPr>
              <a:t>Two questions · ninety seconds · handed in at the door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Arial"/>
              </a:rPr>
              <a:t>1  ·  YOUR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3464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Name one specification of the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sensor in your capstone project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that you will have to measure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yourself — and say which stress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path makes it necessary.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96596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Arial"/>
              </a:rPr>
              <a:t>2  ·  THE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834640"/>
            <a:ext cx="5074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Module A is over.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In one sentence: what is the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pattern that Lectures 5–11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A1F24"/>
                </a:solidFill>
                <a:latin typeface="Arial"/>
              </a:rPr>
              <a:t>will repeat?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12080"/>
            <a:ext cx="10874959" cy="77724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Arial"/>
              </a:rPr>
              <a:t>Question 2 is the one I am grading myself on. If fewer than half of you can state the pattern, Lecture 5 opens with it and I am not behind.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053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B7680"/>
                </a:solidFill>
                <a:latin typeface="Arial"/>
              </a:rPr>
              <a:t>Reading: reader chapter 4 — structures and fabrication. Its failure section is the mounting-screw 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