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00:00–00:01.</a:t>
            </a:r>
          </a:p>
          <a:p/>
          <a:p>
            <a:r>
              <a:t>BEFORE THE BELL: the muddiest points from Lecture 2's exit tickets typed into the</a:t>
            </a:r>
          </a:p>
          <a:p>
            <a:r>
              <a:t>next slide, the ISM330DHCX datasheet open at the accelerometer noise table, and</a:t>
            </a:r>
          </a:p>
          <a:p>
            <a:r>
              <a:t>three board colours if you have them — teal, amber, red.</a:t>
            </a:r>
          </a:p>
          <a:p/>
          <a:p>
            <a:r>
              <a:t>Do not preview the lecture. Say one sentence and move: "Last week you chose a</a:t>
            </a:r>
          </a:p>
          <a:p>
            <a:r>
              <a:t>part and defended it with arithmetic. This week the part is on the bench, it is</a:t>
            </a:r>
          </a:p>
          <a:p>
            <a:r>
              <a:t>filling a file with numbers, and I am going to ask you how much of that file is</a:t>
            </a:r>
          </a:p>
          <a:p>
            <a:r>
              <a:t>true." Then the muddiest points.</a:t>
            </a:r>
          </a:p>
          <a:p/>
          <a:p>
            <a:r>
              <a:t>No microcontrollers today. If students brought them, ask them to put them away —</a:t>
            </a:r>
          </a:p>
          <a:p>
            <a:r>
              <a:t>this is the lecture before the bench,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00:01–00:02. TEMPLATE SLIDE — fill it in before class.</a:t>
            </a:r>
          </a:p>
          <a:p/>
          <a:p>
            <a:r>
              <a:t>Twenty-five seconds each, no more. Name the concept, never the student.</a:t>
            </a:r>
          </a:p>
          <a:p/>
          <a:p>
            <a:r>
              <a:t>Two answers are worth preparing in advance because they recur: "typ versus max"</a:t>
            </a:r>
          </a:p>
          <a:p>
            <a:r>
              <a:t>and "why bandwidth appears in a noise calculation at all". Both come back today,</a:t>
            </a:r>
          </a:p>
          <a:p>
            <a:r>
              <a:t>the second one at minute 56, so if they are on the list say "we settle that</a:t>
            </a:r>
          </a:p>
          <a:p>
            <a:r>
              <a:t>properly in an hour" and move.</a:t>
            </a:r>
          </a:p>
          <a:p/>
          <a:p>
            <a:r>
              <a:t>If Lecture 2's tickets showed the ODR-is-not-bandwidth confusion, do NOT fix it</a:t>
            </a:r>
          </a:p>
          <a:p>
            <a:r>
              <a:t>here. It is today's Poll 3 and you want the misconception alive at minute 44.</a:t>
            </a:r>
          </a:p>
          <a:p/>
          <a:p>
            <a:r>
              <a:t>If you received no useful tickets, delete this slide rather than improvising.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00:02–00:05. RETRIEVAL PRACTICE, not review. Ask before you show.</a:t>
            </a:r>
          </a:p>
          <a:p/>
          <a:p>
            <a:r>
              <a:t>"Sheets down. Name the seven stages, in order." One student per stage, take them</a:t>
            </a:r>
          </a:p>
          <a:p>
            <a:r>
              <a:t>from the room. It costs ninety seconds and beats re-explaining the diagram.</a:t>
            </a:r>
          </a:p>
          <a:p/>
          <a:p>
            <a:r>
              <a:t>Then narrow: "Lecture 2 lived in box 3 — choosing the device. Today we live in</a:t>
            </a:r>
          </a:p>
          <a:p>
            <a:r>
              <a:t>five, six and seven: sampling, codes to units, and the timestamp. That is the</a:t>
            </a:r>
          </a:p>
          <a:p>
            <a:r>
              <a:t>part everyone assumes is bookkeeping."</a:t>
            </a:r>
          </a:p>
          <a:p/>
          <a:p>
            <a:r>
              <a:t>If the room is slow on stages 5–7, that is your diagnostic for the whole hour:</a:t>
            </a:r>
          </a:p>
          <a:p>
            <a:r>
              <a:t>slow down at minutes 34–50 and protect Poll 3 by cutting slide 35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00:05–00:07. This is the hook. Deliver it flat, like a fact.</a:t>
            </a:r>
          </a:p>
          <a:p/>
          <a:p>
            <a:r>
              <a:t>Read the configuration line aloud, then: "This file is perfect. Monotonic</a:t>
            </a:r>
          </a:p>
          <a:p>
            <a:r>
              <a:t>timestamps, no gaps, no outliers, magnitudes that look like an accelerometer on</a:t>
            </a:r>
          </a:p>
          <a:p>
            <a:r>
              <a:t>a bench. And three numbers in it are lies."</a:t>
            </a:r>
          </a:p>
          <a:p/>
          <a:p>
            <a:r>
              <a:t>Point at each card in turn and name it — twelve point four, twelve hertz, twelve</a:t>
            </a:r>
          </a:p>
          <a:p>
            <a:r>
              <a:t>point one seconds — but do NOT explain any of them yet. Each one is a chunk of</a:t>
            </a:r>
          </a:p>
          <a:p>
            <a:r>
              <a:t>the lecture.</a:t>
            </a:r>
          </a:p>
          <a:p/>
          <a:p>
            <a:r>
              <a:t>Then the sentence that carries the eighty minutes: "Acquisition does not fail</a:t>
            </a:r>
          </a:p>
          <a:p>
            <a:r>
              <a:t>loudly. It fails by handing you a file full of plausible numbers." Straight into</a:t>
            </a:r>
          </a:p>
          <a:p>
            <a:r>
              <a:t>the poll — before anyone has time to get 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00:07–00:11. Baseline. DO NOT REVEAL — the answer lands at minute 66.</a:t>
            </a:r>
          </a:p>
          <a:p/>
          <a:p>
            <a:r>
              <a:t>Hands on a count, all at once. Expect 55–70 % on A: that is misconception M1 and</a:t>
            </a:r>
          </a:p>
          <a:p>
            <a:r>
              <a:t>it is the reason this lecture exists. Expect 5–15 % on D, which is the only</a:t>
            </a:r>
          </a:p>
          <a:p>
            <a:r>
              <a:t>defensible vote right now — you have not given them a noise density.</a:t>
            </a:r>
          </a:p>
          <a:p/>
          <a:p>
            <a:r>
              <a:t>WRITE THE DISTRIBUTION ON THE BOARD and leave it there all hour. You re-show it</a:t>
            </a:r>
          </a:p>
          <a:p>
            <a:r>
              <a:t>at minute 66 and the shift is your evidence the lecture worked.</a:t>
            </a:r>
          </a:p>
          <a:p/>
          <a:p>
            <a:r>
              <a:t>If someone picks B, praise it and then use it: "you found the term that does not</a:t>
            </a:r>
          </a:p>
          <a:p>
            <a:r>
              <a:t>matter — which one does?" If someone picks C, ask HOW; if they cannot say, it</a:t>
            </a:r>
          </a:p>
          <a:p>
            <a:r>
              <a:t>was a guess, and say so kindly.</a:t>
            </a:r>
          </a:p>
          <a:p/>
          <a:p>
            <a:r>
              <a:t>Then set the agenda and move. Do not argue with A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00:11–00:13. Derive it live; it takes twenty seconds and models the habit.</a:t>
            </a:r>
          </a:p>
          <a:p/>
          <a:p>
            <a:r>
              <a:t>"Full scale is plus or minus two g, so four thousand milli-g of span. Sixteen</a:t>
            </a:r>
          </a:p>
          <a:p>
            <a:r>
              <a:t>bits is sixty-five thousand five hundred and thirty-six codes. Four thousand</a:t>
            </a:r>
          </a:p>
          <a:p>
            <a:r>
              <a:t>over sixty-five five three six is zero point zero six one."</a:t>
            </a:r>
          </a:p>
          <a:p/>
          <a:p>
            <a:r>
              <a:t>Then hold the line: "Notice I have not lied to you and neither has ST. This</a:t>
            </a:r>
          </a:p>
          <a:p>
            <a:r>
              <a:t>number is correct. It is the size of one step of the number." Pause there — the</a:t>
            </a:r>
          </a:p>
          <a:p>
            <a:r>
              <a:t>next slide is where the trouble is, and the pause is what makes it land.</a:t>
            </a:r>
          </a:p>
          <a:p/>
          <a:p>
            <a:r>
              <a:t>If a student asks whether it should be 65 535, say yes, that convention exists,</a:t>
            </a:r>
          </a:p>
          <a:p>
            <a:r>
              <a:t>and it changes nothing at the fourth decimal place. Do not spend two minutes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00:13–00:14. WRITE THE BOARD LINE NOW and leave it up all hour.</a:t>
            </a:r>
          </a:p>
          <a:p/>
          <a:p>
            <a:r>
              <a:t>Board work item 1 from the plan is `0.061 mg/LSB · noise 0.72 mg · 11.8 LSB ·</a:t>
            </a:r>
          </a:p>
          <a:p>
            <a:r>
              <a:t>3.6 bits`. Write ONLY the first term and the question now. Writing 0.72 mg on</a:t>
            </a:r>
          </a:p>
          <a:p>
            <a:r>
              <a:t>the board at minute 14 hands the class Poll 1's withheld answer, which the</a:t>
            </a:r>
          </a:p>
          <a:p>
            <a:r>
              <a:t>activity sheet explicitly forbids. Complete the line at minute 56–60, term by</a:t>
            </a:r>
          </a:p>
          <a:p>
            <a:r>
              <a:t>term, as the class derives each one. Same board, same place, finished in public.</a:t>
            </a:r>
          </a:p>
          <a:p/>
          <a:p>
            <a:r>
              <a:t>Say the three "is not" lines quickly — thirty seconds total. They are a frame,</a:t>
            </a:r>
          </a:p>
          <a:p>
            <a:r>
              <a:t>not content. The one to stress is the first: "the smallest step of the number</a:t>
            </a:r>
          </a:p>
          <a:p>
            <a:r>
              <a:t>and the smallest change you can see are two different quantities, and today they</a:t>
            </a:r>
          </a:p>
          <a:p>
            <a:r>
              <a:t>differ by a factor of twelve."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00:14–00:15. Section marker, fifteen seconds. Do not read the sub-lines.</a:t>
            </a:r>
          </a:p>
          <a:p/>
          <a:p>
            <a:r>
              <a:t>Say only: "Before we can talk about samples, two pieces of vocabulary — what</a:t>
            </a:r>
          </a:p>
          <a:p>
            <a:r>
              <a:t>comes out of a sensor, and what the converter measures it against. The second</a:t>
            </a:r>
          </a:p>
          <a:p>
            <a:r>
              <a:t>one decides whether an entire class of measurement works, and it is free."</a:t>
            </a:r>
          </a:p>
          <a:p/>
          <a:p>
            <a:r>
              <a:t>This chunk is the one to compress if the muddiest points overran: slides 9 and</a:t>
            </a:r>
          </a:p>
          <a:p>
            <a:r>
              <a:t>10 are vocabulary and can be delivered in three minutes between you, but do NOT</a:t>
            </a:r>
          </a:p>
          <a:p>
            <a:r>
              <a:t>compress slide 11 or the poll. The ratiometric result is the only thing in</a:t>
            </a:r>
          </a:p>
          <a:p>
            <a:r>
              <a:t>chunk 1 that students consistently get wrong on the midterm, and it is also the</a:t>
            </a:r>
          </a:p>
          <a:p>
            <a:r>
              <a:t>only place in the course where a measurement problem is solved by moving one</a:t>
            </a:r>
          </a:p>
          <a:p>
            <a:r>
              <a:t>wire rather than by buying a better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00:15–00:18. Reference slide — do not read all four columns aloud.</a:t>
            </a:r>
          </a:p>
          <a:p/>
          <a:p>
            <a:r>
              <a:t>Spend your time on two things. The 4–20 mA live zero: "the zero of the scale is</a:t>
            </a:r>
          </a:p>
          <a:p>
            <a:r>
              <a:t>four milliamps, so a broken wire reads zero and is distinguishable from a</a:t>
            </a:r>
          </a:p>
          <a:p>
            <a:r>
              <a:t>genuine zero. That is designed-in fault detection, and it is why a convention</a:t>
            </a:r>
          </a:p>
          <a:p>
            <a:r>
              <a:t>from the 1950s has outlived the technology that prompted it." It comes back in</a:t>
            </a:r>
          </a:p>
          <a:p>
            <a:r>
              <a:t>Poll 4.</a:t>
            </a:r>
          </a:p>
          <a:p/>
          <a:p>
            <a:r>
              <a:t>Then the amber box, which is the actual content of the slide. Ask the room:</a:t>
            </a:r>
          </a:p>
          <a:p>
            <a:r>
              <a:t>"Does a digital output make life easier?" Take the yes, then complicate it. The</a:t>
            </a:r>
          </a:p>
          <a:p>
            <a:r>
              <a:t>two new problems it names are chunk 3 of this lecture.</a:t>
            </a:r>
          </a:p>
          <a:p/>
          <a:p>
            <a:r>
              <a:t>Instrumentation amplifiers get one line and a forward reference. Resist.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00:18–00:20. Put the formula on the board as well as the screen.</a:t>
            </a:r>
          </a:p>
          <a:p/>
          <a:p>
            <a:r>
              <a:t>Read it out with the emphasis in the right place: "count equals V-in OVER V-ref,</a:t>
            </a:r>
          </a:p>
          <a:p>
            <a:r>
              <a:t>times two to the N. The input alone appears nowhere in that expression."</a:t>
            </a:r>
          </a:p>
          <a:p/>
          <a:p>
            <a:r>
              <a:t>Then the line, deadpan: "An ADC has no idea what a volt is. It is a ratio meter</a:t>
            </a:r>
          </a:p>
          <a:p>
            <a:r>
              <a:t>with a reputation." Let that sit.</a:t>
            </a:r>
          </a:p>
          <a:p/>
          <a:p>
            <a:r>
              <a:t>The bottom rule is the one to memorise, and the next slide is the two cases it</a:t>
            </a:r>
          </a:p>
          <a:p>
            <a:r>
              <a:t>covers. Say explicitly that mixing one stable thing with one unstable thing is</a:t>
            </a:r>
          </a:p>
          <a:p>
            <a:r>
              <a:t>the only combination that fails — and that it is the one that looks most</a:t>
            </a:r>
          </a:p>
          <a:p>
            <a:r>
              <a:t>sophisticated on a schematic, which is why it gets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00:20–00:23. Draw both on the board while you talk; it is four lines.</a:t>
            </a:r>
          </a:p>
          <a:p/>
          <a:p>
            <a:r>
              <a:t>Left panel first, slowly, because it is counter-intuitive: "the bridge output</a:t>
            </a:r>
          </a:p>
          <a:p>
            <a:r>
              <a:t>falls by three per cent because its excitation fell. The counts rise by three</a:t>
            </a:r>
          </a:p>
          <a:p>
            <a:r>
              <a:t>per cent because the reference fell. The quantity the code computes was a ratio</a:t>
            </a:r>
          </a:p>
          <a:p>
            <a:r>
              <a:t>all along, so the two cancel exactly."</a:t>
            </a:r>
          </a:p>
          <a:p/>
          <a:p>
            <a:r>
              <a:t>Then the right panel: "now give the ADC a precision reference and leave the</a:t>
            </a:r>
          </a:p>
          <a:p>
            <a:r>
              <a:t>bridge on the rail. Same parts, same price. The sag no longer cancels."</a:t>
            </a:r>
          </a:p>
          <a:p/>
          <a:p>
            <a:r>
              <a:t>DO NOT say which one the poll is about. Go straight into the vote — the whole</a:t>
            </a:r>
          </a:p>
          <a:p>
            <a:r>
              <a:t>value of Poll 2 is that the room disagrees about the sign of an error that does</a:t>
            </a:r>
          </a:p>
          <a:p>
            <a:r>
              <a:t>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00:23–00:25. Silent vote on a count, then ninety seconds of argument.</a:t>
            </a:r>
          </a:p>
          <a:p/>
          <a:p>
            <a:r>
              <a:t>A and B will take the majority and split roughly evenly — that is what makes</a:t>
            </a:r>
          </a:p>
          <a:p>
            <a:r>
              <a:t>this a good vote. The room is disagreeing about the SIGN of an error that is not</a:t>
            </a:r>
          </a:p>
          <a:p>
            <a:r>
              <a:t>there. Say that out loud after the revote, not before.</a:t>
            </a:r>
          </a:p>
          <a:p/>
          <a:p>
            <a:r>
              <a:t>Do not referee the discussion. Walk, listen for the phrase "but the reference</a:t>
            </a:r>
          </a:p>
          <a:p>
            <a:r>
              <a:t>moved too", and if you hear it, ask that pair to say it to the room.</a:t>
            </a:r>
          </a:p>
          <a:p/>
          <a:p>
            <a:r>
              <a:t>D is the student conflating sensitivity with reference error. It is a useful</a:t>
            </a:r>
          </a:p>
          <a:p>
            <a:r>
              <a:t>answer: the gauge factor sets millivolts per microstrain and cancels out of the</a:t>
            </a:r>
          </a:p>
          <a:p>
            <a:r>
              <a:t>ratio entirely.</a:t>
            </a:r>
          </a:p>
          <a:p/>
          <a:p>
            <a:r>
              <a:t>Target 30–45 % correct after peer discussion. Record both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00:25–00:26. Reveal, then the follow-up that makes it stick — ask it</a:t>
            </a:r>
          </a:p>
          <a:p>
            <a:r>
              <a:t>immediately, hands only:</a:t>
            </a:r>
          </a:p>
          <a:p/>
          <a:p>
            <a:r>
              <a:t>"Now the same bridge, but the ADC reference is a precision 2.5 V part and the</a:t>
            </a:r>
          </a:p>
          <a:p>
            <a:r>
              <a:t>bridge still runs from the rail. What happens?"</a:t>
            </a:r>
          </a:p>
          <a:p/>
          <a:p>
            <a:r>
              <a:t>Three per cent error, straight through, uncalibratable, because the two no</a:t>
            </a:r>
          </a:p>
          <a:p>
            <a:r>
              <a:t>longer track. Same hardware cost. One wire's difference.</a:t>
            </a:r>
          </a:p>
          <a:p/>
          <a:p>
            <a:r>
              <a:t>Then name the misconception you just caught (M6): a ratiometric error cannot be</a:t>
            </a:r>
          </a:p>
          <a:p>
            <a:r>
              <a:t>calibrated out, because either it cancels by construction or it does not cancel</a:t>
            </a:r>
          </a:p>
          <a:p>
            <a:r>
              <a:t>at all. There is no middle case where calibration helps.</a:t>
            </a:r>
          </a:p>
          <a:p/>
          <a:p>
            <a:r>
              <a:t>Ninety seconds. Then quantisation.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00:26–00:28. Trace the staircase with your hand while you talk.</a:t>
            </a:r>
          </a:p>
          <a:p/>
          <a:p>
            <a:r>
              <a:t>"Here is the true value, rising smoothly. Here is what the code says — the</a:t>
            </a:r>
          </a:p>
          <a:p>
            <a:r>
              <a:t>nearest step. The vertical gap between them is the quantisation error, and</a:t>
            </a:r>
          </a:p>
          <a:p>
            <a:r>
              <a:t>notice that it never goes away: it is present in every sample, forever."</a:t>
            </a:r>
          </a:p>
          <a:p/>
          <a:p>
            <a:r>
              <a:t>Ask: "What is the biggest that gap can be?" Half an LSB. "And on average?" That</a:t>
            </a:r>
          </a:p>
          <a:p>
            <a:r>
              <a:t>is the next slide, and it is one line of arithmetic.</a:t>
            </a:r>
          </a:p>
          <a:p/>
          <a:p>
            <a:r>
              <a:t>Keep this short. Quantisation is the error students expect to be important, and</a:t>
            </a:r>
          </a:p>
          <a:p>
            <a:r>
              <a:t>the point of chunk 1 is to price it honestly so that chunk 3 can dismiss it with</a:t>
            </a:r>
          </a:p>
          <a:p>
            <a:r>
              <a:t>evidence rather than assertion.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00:28–00:30. One line of arithmetic, then two warnings.</a:t>
            </a:r>
          </a:p>
          <a:p/>
          <a:p>
            <a:r>
              <a:t>Do the division on the board: 0.061 over 3.464. Eighteen microg. Say the units</a:t>
            </a:r>
          </a:p>
          <a:p>
            <a:r>
              <a:t>out loud — unit cancellation, not the statistics, is what actually blocks</a:t>
            </a:r>
          </a:p>
          <a:p>
            <a:r>
              <a:t>students in this area.</a:t>
            </a:r>
          </a:p>
          <a:p/>
          <a:p>
            <a:r>
              <a:t>If someone asks where √12 comes from: it is the standard deviation of a uniform</a:t>
            </a:r>
          </a:p>
          <a:p>
            <a:r>
              <a:t>distribution one LSB wide. Offer the derivation at the end of class, not now.</a:t>
            </a:r>
          </a:p>
          <a:p/>
          <a:p>
            <a:r>
              <a:t>The amber box is a deliberate cliff-hanger and it protects Poll 1. Do NOT say</a:t>
            </a:r>
          </a:p>
          <a:p>
            <a:r>
              <a:t>"forty times smaller" yet, and do not say 0.72 mg — that is the withheld answer</a:t>
            </a:r>
          </a:p>
          <a:p>
            <a:r>
              <a:t>and you give it away with one careless comparison. "One of those two terms</a:t>
            </a:r>
          </a:p>
          <a:p>
            <a:r>
              <a:t>decides nothing" is as far as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00:30–00:32. The picture does the work; say four sentences over it.</a:t>
            </a:r>
          </a:p>
          <a:p/>
          <a:p>
            <a:r>
              <a:t>"Same measurement, same noise floor — the amber band. On the left, sixteen bits:</a:t>
            </a:r>
          </a:p>
          <a:p>
            <a:r>
              <a:t>the teal lines are the code steps. On the right, twenty bits: four more bits,</a:t>
            </a:r>
          </a:p>
          <a:p>
            <a:r>
              <a:t>sixteen times finer steps, and precisely the same amount of information."</a:t>
            </a:r>
          </a:p>
          <a:p/>
          <a:p>
            <a:r>
              <a:t>Then the callback, because it is the connective tissue of Module A: "Lecture 2</a:t>
            </a:r>
          </a:p>
          <a:p>
            <a:r>
              <a:t>called this reading the headline. Same trap, new quantity."</a:t>
            </a:r>
          </a:p>
          <a:p/>
          <a:p>
            <a:r>
              <a:t>Ask the room to predict, not to recall: "so what would you need to know to say</a:t>
            </a:r>
          </a:p>
          <a:p>
            <a:r>
              <a:t>how many of the sixteen are worth having?" You want two words back — noise, and</a:t>
            </a:r>
          </a:p>
          <a:p>
            <a:r>
              <a:t>bandwidth. If you get them, chunk 3 is already half taught.</a:t>
            </a:r>
          </a:p>
          <a:p/>
          <a:p>
            <a:r>
              <a:t>Then stand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00:32–00:34. A real state change: everyone on their feet, paper turned</a:t>
            </a:r>
          </a:p>
          <a:p>
            <a:r>
              <a:t>over, sixty seconds, silence. This is the deliberate attention reset before the</a:t>
            </a:r>
          </a:p>
          <a:p>
            <a:r>
              <a:t>hardest chunk of the lecture, and standing is the part that does the work.</a:t>
            </a:r>
          </a:p>
          <a:p/>
          <a:p>
            <a:r>
              <a:t>Do not collect these. Walk two rows and look at three sheets so students know</a:t>
            </a:r>
          </a:p>
          <a:p>
            <a:r>
              <a:t>they are seen — that is the whole enforcement mechanism.</a:t>
            </a:r>
          </a:p>
          <a:p/>
          <a:p>
            <a:r>
              <a:t>Then take two answers aloud, thirty seconds: sampling loses frequencies above</a:t>
            </a:r>
          </a:p>
          <a:p>
            <a:r>
              <a:t>Nyquist; codes to units loses the sign and the scale factor; the timestamp loses</a:t>
            </a:r>
          </a:p>
          <a:p>
            <a:r>
              <a:t>when it happened. Say them back in those words, because those three sentences</a:t>
            </a:r>
          </a:p>
          <a:p>
            <a:r>
              <a:t>are chunks 2 and 3.</a:t>
            </a:r>
          </a:p>
          <a:p/>
          <a:p>
            <a:r>
              <a:t>THIS IS A DESIGNATED CUT if you are five minutes late. Cut it and slide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00:34–00:35. Section marker. Fifteen seconds, and say it as a warning.</a:t>
            </a:r>
          </a:p>
          <a:p/>
          <a:p>
            <a:r>
              <a:t>"This is the part of the course that costs people afternoons. If anything today</a:t>
            </a:r>
          </a:p>
          <a:p>
            <a:r>
              <a:t>is going to be on the midterm in a form you did not expect, it is the next</a:t>
            </a:r>
          </a:p>
          <a:p>
            <a:r>
              <a:t>twenty minutes."</a:t>
            </a:r>
          </a:p>
          <a:p/>
          <a:p>
            <a:r>
              <a:t>Then straight into Nyquist — but as a design rule, not as a theorem. The framing</a:t>
            </a:r>
          </a:p>
          <a:p>
            <a:r>
              <a:t>matters: Lecture 1 met aliasing as a mystery to be solved. Here it is a bit in a</a:t>
            </a:r>
          </a:p>
          <a:p>
            <a:r>
              <a:t>register that ships at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00:35–00:37. They saw this figure in Lecture 1. Use it as retrieval, not</a:t>
            </a:r>
          </a:p>
          <a:p>
            <a:r>
              <a:t>as new material — ask before you explain.</a:t>
            </a:r>
          </a:p>
          <a:p/>
          <a:p>
            <a:r>
              <a:t>"Somebody tell me what the red dots are." Then: "and the dashed line?" Ninety</a:t>
            </a:r>
          </a:p>
          <a:p>
            <a:r>
              <a:t>seconds, from the room.</a:t>
            </a:r>
          </a:p>
          <a:p/>
          <a:p>
            <a:r>
              <a:t>The one sentence to add today is the box on the right. Say it twice: "the</a:t>
            </a:r>
          </a:p>
          <a:p>
            <a:r>
              <a:t>theorem tells you when reconstruction is possible. The design rule is the</a:t>
            </a:r>
          </a:p>
          <a:p>
            <a:r>
              <a:t>contrapositive — you must guarantee nothing above your f-max reaches the</a:t>
            </a:r>
          </a:p>
          <a:p>
            <a:r>
              <a:t>sampler. That guarantee is a component, not a configuration."</a:t>
            </a:r>
          </a:p>
          <a:p/>
          <a:p>
            <a:r>
              <a:t>If the room reconstructs the figure quickly, go faster here; you will want the</a:t>
            </a:r>
          </a:p>
          <a:p>
            <a:r>
              <a:t>time at minute 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00:37–00:40. Do the arithmetic on the board, not from the slide.</a:t>
            </a:r>
          </a:p>
          <a:p/>
          <a:p>
            <a:r>
              <a:t>"Fifteen times a hundred and four is one thousand five hundred and sixty. One</a:t>
            </a:r>
          </a:p>
          <a:p>
            <a:r>
              <a:t>thousand five hundred and twenty minus that is minus forty. Take the modulus.</a:t>
            </a:r>
          </a:p>
          <a:p>
            <a:r>
              <a:t>Forty hertz." Make them do the multiplication with you.</a:t>
            </a:r>
          </a:p>
          <a:p/>
          <a:p>
            <a:r>
              <a:t>Then point at the number line: "the teal sliver is the whole band you told your</a:t>
            </a:r>
          </a:p>
          <a:p>
            <a:r>
              <a:t>report you were measuring. Everything to the right of it still arrives at the</a:t>
            </a:r>
          </a:p>
          <a:p>
            <a:r>
              <a:t>sampler, and everything to the right of it lands somewhere inside the sliver."</a:t>
            </a:r>
          </a:p>
          <a:p/>
          <a:p>
            <a:r>
              <a:t>Do NOT do the 300 Hz case here — that is Poll 3 in four minutes and it is the</a:t>
            </a:r>
          </a:p>
          <a:p>
            <a:r>
              <a:t>hardest vote of the lecture. If a student volunteers it, thank them, write the</a:t>
            </a:r>
          </a:p>
          <a:p>
            <a:r>
              <a:t>number on a corner of the board face-down, and say "hold that".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00:40–00:42. THE SLIDE THE LECTURE IS BUILT AROUND. Slow down.</a:t>
            </a:r>
          </a:p>
          <a:p/>
          <a:p>
            <a:r>
              <a:t>Walk the teal row left to right, then the red row, and stop on the last red box.</a:t>
            </a:r>
          </a:p>
          <a:p/>
          <a:p>
            <a:r>
              <a:t>The argument is arithmetic, not engineering, and you must say it that way:</a:t>
            </a:r>
          </a:p>
          <a:p>
            <a:r>
              <a:t>"these are not two similar signals that a clever algorithm might tease apart.</a:t>
            </a:r>
          </a:p>
          <a:p>
            <a:r>
              <a:t>They are the same numbers. There is nothing to separate."</a:t>
            </a:r>
          </a:p>
          <a:p/>
          <a:p>
            <a:r>
              <a:t>Then the claim that makes it matter, and it is worth writing on the board: this</a:t>
            </a:r>
          </a:p>
          <a:p>
            <a:r>
              <a:t>is the ONLY ordering constraint in the whole measurement chain with that</a:t>
            </a:r>
          </a:p>
          <a:p>
            <a:r>
              <a:t>property. Invite counter-examples — a student who tries and fails to find one</a:t>
            </a:r>
          </a:p>
          <a:p>
            <a:r>
              <a:t>has learned it better than one who was told.</a:t>
            </a:r>
          </a:p>
          <a:p/>
          <a:p>
            <a:r>
              <a:t>This refutes M3, and M3 comes back on the exit ticket. Plant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00:42–00:44. This is the slide that turns Lecture 1's story into today's</a:t>
            </a:r>
          </a:p>
          <a:p>
            <a:r>
              <a:t>engineering. Say that transition explicitly.</a:t>
            </a:r>
          </a:p>
          <a:p/>
          <a:p>
            <a:r>
              <a:t>"In week one, aliasing was something that happened to somebody else's motor.</a:t>
            </a:r>
          </a:p>
          <a:p>
            <a:r>
              <a:t>Here is the difference between a lecture and a laboratory: a bit, at address</a:t>
            </a:r>
          </a:p>
          <a:p>
            <a:r>
              <a:t>0x10, position one, and it is zero when the part powers up."</a:t>
            </a:r>
          </a:p>
          <a:p/>
          <a:p>
            <a:r>
              <a:t>Have them find it in the datasheet — Table 41, sixty seconds, pairs. Then read</a:t>
            </a:r>
          </a:p>
          <a:p>
            <a:r>
              <a:t>the paragraph in the middle of the slide out loud, slowly, in the second person.</a:t>
            </a:r>
          </a:p>
          <a:p>
            <a:r>
              <a:t>Every step of it is correct except the conclusion, and that is what makes it a</a:t>
            </a:r>
          </a:p>
          <a:p>
            <a:r>
              <a:t>trap worth teaching.</a:t>
            </a:r>
          </a:p>
          <a:p/>
          <a:p>
            <a:r>
              <a:t>Do not resolve it. Vote immediately — the class now has everything Poll 3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00:44–00:47. THE HARDEST VOTE OF THE LECTURE. Protect this segment; it</a:t>
            </a:r>
          </a:p>
          <a:p>
            <a:r>
              <a:t>is one of the two things Laboratory 2 depends on.</a:t>
            </a:r>
          </a:p>
          <a:p/>
          <a:p>
            <a:r>
              <a:t>Protocol, in this order: vote → two minutes in pairs → revote → THEN the</a:t>
            </a:r>
          </a:p>
          <a:p>
            <a:r>
              <a:t>arithmetic. Do not do the arithmetic before the revote. The revote is the</a:t>
            </a:r>
          </a:p>
          <a:p>
            <a:r>
              <a:t>measurement.</a:t>
            </a:r>
          </a:p>
          <a:p/>
          <a:p>
            <a:r>
              <a:t>Expect 40–55 % on A: that is M2, and "above the sample rate" feels like "outside</a:t>
            </a:r>
          </a:p>
          <a:p>
            <a:r>
              <a:t>the window". Target 20–35 % correct on the first vote, 50–65 % on the second.</a:t>
            </a:r>
          </a:p>
          <a:p/>
          <a:p>
            <a:r>
              <a:t>B is the student who assumes a filter is always present — name that as a</a:t>
            </a:r>
          </a:p>
          <a:p>
            <a:r>
              <a:t>reasonable design instinct and a fatal assumption. D is the student reaching for</a:t>
            </a:r>
          </a:p>
          <a:p>
            <a:r>
              <a:t>"noise floor": distinguish them, noise is broadband and averages down, an alias</a:t>
            </a:r>
          </a:p>
          <a:p>
            <a:r>
              <a:t>is a tone and averaging makes it cleaner.</a:t>
            </a:r>
          </a:p>
          <a:p/>
          <a:p>
            <a:r>
              <a:t>IF THE FIRST VOTE IS UNDER 15 %: stop. Redraw Lecture 1's figure and revote.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00:47–00:48. Reveal, then do the sum with the room, out loud.</a:t>
            </a:r>
          </a:p>
          <a:p/>
          <a:p>
            <a:r>
              <a:t>"Three times a hundred and four is three hundred and twelve. Three hundred minus</a:t>
            </a:r>
          </a:p>
          <a:p>
            <a:r>
              <a:t>three hundred and twelve is minus twelve. Twelve hertz."</a:t>
            </a:r>
          </a:p>
          <a:p/>
          <a:p>
            <a:r>
              <a:t>WRITE |300 − 3 × 104| = 12 Hz ON THE BOARD — board work item 2 — and leave it up.</a:t>
            </a:r>
          </a:p>
          <a:p/>
          <a:p>
            <a:r>
              <a:t>Then the refutation of A, which is the answer most of the room gave: "the pump</a:t>
            </a:r>
          </a:p>
          <a:p>
            <a:r>
              <a:t>is absolutely sampled. Nothing filtered it out, because nothing was there to</a:t>
            </a:r>
          </a:p>
          <a:p>
            <a:r>
              <a:t>filter it out. The samples are correct. What is wrong is the frequency you will</a:t>
            </a:r>
          </a:p>
          <a:p>
            <a:r>
              <a:t>assign to them."</a:t>
            </a:r>
          </a:p>
          <a:p/>
          <a:p>
            <a:r>
              <a:t>Finish on the word that matters: irreversible. It is the first of three today,</a:t>
            </a:r>
          </a:p>
          <a:p>
            <a:r>
              <a:t>and it is the one they will meet again on the 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00:48–00:49. BOARD WORK ITEM 3: write ODR ≠ BW ≠ f_cut in your own</a:t>
            </a:r>
          </a:p>
          <a:p>
            <a:r>
              <a:t>handwriting, now, and say why you are writing it: this is the sentence most</a:t>
            </a:r>
          </a:p>
          <a:p>
            <a:r>
              <a:t>students get wrong on the midterm, and you would rather they copied it than</a:t>
            </a:r>
          </a:p>
          <a:p>
            <a:r>
              <a:t>inferred it.</a:t>
            </a:r>
          </a:p>
          <a:p/>
          <a:p>
            <a:r>
              <a:t>Go across the last column, because that column is the whole lesson: their part,</a:t>
            </a:r>
          </a:p>
          <a:p>
            <a:r>
              <a:t>today, has an ODR of 104, a claimed bandwidth of 52, and no anti-alias cut-off</a:t>
            </a:r>
          </a:p>
          <a:p>
            <a:r>
              <a:t>at all.</a:t>
            </a:r>
          </a:p>
          <a:p/>
          <a:p>
            <a:r>
              <a:t>One question, hands: "which of the three, set wrongly, gives an error you cannot</a:t>
            </a:r>
          </a:p>
          <a:p>
            <a:r>
              <a:t>undo?" The third. That is learning outcome L3.2 and it is on the exit ticket.</a:t>
            </a:r>
          </a:p>
          <a:p/>
          <a:p>
            <a:r>
              <a:t>IF POLL 3's FIRST VOTE WAS OVER 60 %: skip straight here from the reveal and</a:t>
            </a:r>
          </a:p>
          <a:p>
            <a:r>
              <a:t>give the minutes to the timestamp segment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00:49–00:50. This is the kicker, and it is the refutation of M2 for the</a:t>
            </a:r>
          </a:p>
          <a:p>
            <a:r>
              <a:t>students who still have it after Poll 3.</a:t>
            </a:r>
          </a:p>
          <a:p/>
          <a:p>
            <a:r>
              <a:t>Take the last row slowly. "Round numbers are more dangerous than awkward ones.</a:t>
            </a:r>
          </a:p>
          <a:p>
            <a:r>
              <a:t>At a hundred hertz exactly, three hundred folds to zero — and a constant offset</a:t>
            </a:r>
          </a:p>
          <a:p>
            <a:r>
              <a:t>is the single most calibratable-looking thing in the world."</a:t>
            </a:r>
          </a:p>
          <a:p/>
          <a:p>
            <a:r>
              <a:t>Then the sentence that makes the room uncomfortable, which is the point: "they</a:t>
            </a:r>
          </a:p>
          <a:p>
            <a:r>
              <a:t>will calibrate it out, and it will work, and their report will be excellent, and</a:t>
            </a:r>
          </a:p>
          <a:p>
            <a:r>
              <a:t>the whole thing will be wrong the moment the pump changes speed."</a:t>
            </a:r>
          </a:p>
          <a:p/>
          <a:p>
            <a:r>
              <a:t>Land the teal line and move — chunk 3 starts in sixty seconds and it is the</a:t>
            </a:r>
          </a:p>
          <a:p>
            <a:r>
              <a:t>longest chunk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00:50–00:51. Section marker.</a:t>
            </a:r>
          </a:p>
          <a:p/>
          <a:p>
            <a:r>
              <a:t>Say the framing once: "everything so far was about what reached the converter.</a:t>
            </a:r>
          </a:p>
          <a:p>
            <a:r>
              <a:t>The next twenty minutes are about what happens to a number after it exists — and</a:t>
            </a:r>
          </a:p>
          <a:p>
            <a:r>
              <a:t>the danger changes character. These errors do not look like errors. They look</a:t>
            </a:r>
          </a:p>
          <a:p>
            <a:r>
              <a:t>like data."</a:t>
            </a:r>
          </a:p>
          <a:p/>
          <a:p>
            <a:r>
              <a:t>Then the worked conversion, which you do WITH the class, on the board, asking</a:t>
            </a:r>
          </a:p>
          <a:p>
            <a:r>
              <a:t>for each step before you write it. Do not show a finished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00:51–00:54. Do this on the board with the class. Do NOT project a</a:t>
            </a:r>
          </a:p>
          <a:p>
            <a:r>
              <a:t>finished derivation and read it — ask for each step first.</a:t>
            </a:r>
          </a:p>
          <a:p/>
          <a:p>
            <a:r>
              <a:t>"Two bytes. Which one is the high byte?" Take the wrong answer if it comes; it</a:t>
            </a:r>
          </a:p>
          <a:p>
            <a:r>
              <a:t>is step one of the next slide.</a:t>
            </a:r>
          </a:p>
          <a:p/>
          <a:p>
            <a:r>
              <a:t>"Bit fifteen is set. What does that mean?" If nobody says two's complement,</a:t>
            </a:r>
          </a:p>
          <a:p>
            <a:r>
              <a:t>write 0xFF2C in binary and wait.</a:t>
            </a:r>
          </a:p>
          <a:p/>
          <a:p>
            <a:r>
              <a:t>The subtraction is the step students skip in code without noticing, because C</a:t>
            </a:r>
          </a:p>
          <a:p>
            <a:r>
              <a:t>will happily do the wrong thing with the wrong type. Say that: "int16_t, not</a:t>
            </a:r>
          </a:p>
          <a:p>
            <a:r>
              <a:t>uint16_t, and not int. The type declaration IS the sign convention."</a:t>
            </a:r>
          </a:p>
          <a:p/>
          <a:p>
            <a:r>
              <a:t>End on the plausibility statement: minus 12.9 milli-g is a device at rest,</a:t>
            </a:r>
          </a:p>
          <a:p>
            <a:r>
              <a:t>slightly tilted. The answer being boring is the evidence it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00:54–00:56. Row two is misconception M7 and it deserves thirty seconds:</a:t>
            </a:r>
          </a:p>
          <a:p>
            <a:r>
              <a:t>signed data is not a formatting detail. A missed sign bit does not produce a</a:t>
            </a:r>
          </a:p>
          <a:p>
            <a:r>
              <a:t>small error; it produces a stationary device reporting four g.</a:t>
            </a:r>
          </a:p>
          <a:p/>
          <a:p>
            <a:r>
              <a:t>Row one is the more dangerous of the two, and say why: plus 703 milli-g is not</a:t>
            </a:r>
          </a:p>
          <a:p>
            <a:r>
              <a:t>absurd. Nobody notices. It survives into the report.</a:t>
            </a:r>
          </a:p>
          <a:p/>
          <a:p>
            <a:r>
              <a:t>Row three is the one that catches the CONSCIENTIOUS student — the one who writes</a:t>
            </a:r>
          </a:p>
          <a:p>
            <a:r>
              <a:t>0x00 to CTRL3_C to start from a clean state. Say that out loud; it is worth</a:t>
            </a:r>
          </a:p>
          <a:p>
            <a:r>
              <a:t>knowing that carefulness has failure modes too.</a:t>
            </a:r>
          </a:p>
          <a:p/>
          <a:p>
            <a:r>
              <a:t>Then the teal box, which is the habit to install: it is the only check in the</a:t>
            </a:r>
          </a:p>
          <a:p>
            <a:r>
              <a:t>whole chain that tests everything at once, against a physical constant they</a:t>
            </a:r>
          </a:p>
          <a:p>
            <a:r>
              <a:t>cannot misconfigure.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00:56–00:58. Do all nine lines on the board, out loud, with the class.</a:t>
            </a:r>
          </a:p>
          <a:p>
            <a:r>
              <a:t>This is where board work item 1 finally gets finished — write noise 0.72 mg,</a:t>
            </a:r>
          </a:p>
          <a:p>
            <a:r>
              <a:t>11.8 LSB and 3.6 bits onto the line you started at minute 14.</a:t>
            </a:r>
          </a:p>
          <a:p/>
          <a:p>
            <a:r>
              <a:t>Make them supply the bandwidth line. "Noise density times root what?" If anyone</a:t>
            </a:r>
          </a:p>
          <a:p>
            <a:r>
              <a:t>says root ODR, stop and fix it there: that was Lecture 2's Poll 3 and it is the</a:t>
            </a:r>
          </a:p>
          <a:p>
            <a:r>
              <a:t>same error in a new costume.</a:t>
            </a:r>
          </a:p>
          <a:p/>
          <a:p>
            <a:r>
              <a:t>Say the sentence at the bottom exactly as written, then the second one from the</a:t>
            </a:r>
          </a:p>
          <a:p>
            <a:r>
              <a:t>activity sheet: "you did not buy a 16-bit measurement. You bought a 16-bit</a:t>
            </a:r>
          </a:p>
          <a:p>
            <a:r>
              <a:t>number wrapped around a 12.4-bit measurement — and the datasheet was not lying</a:t>
            </a:r>
          </a:p>
          <a:p>
            <a:r>
              <a:t>to you. It printed the noise density on the same page."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00:58–01:00. Silence first, then read the two lines once. Do not</a:t>
            </a:r>
          </a:p>
          <a:p>
            <a:r>
              <a:t>elaborate on them; the table did the work.</a:t>
            </a:r>
          </a:p>
          <a:p/>
          <a:p>
            <a:r>
              <a:t>Then the typ column, and connect it back explicitly — this is the connective</a:t>
            </a:r>
          </a:p>
          <a:p>
            <a:r>
              <a:t>tissue of Module A and it is worth saying in those words: "last week the two</a:t>
            </a:r>
          </a:p>
          <a:p>
            <a:r>
              <a:t>columns straddled a pass/fail line. This week they move the effective resolution</a:t>
            </a:r>
          </a:p>
          <a:p>
            <a:r>
              <a:t>by nearly a bit. Same lesson, different quantity: a number without its</a:t>
            </a:r>
          </a:p>
          <a:p>
            <a:r>
              <a:t>conditions is not a number."</a:t>
            </a:r>
          </a:p>
          <a:p/>
          <a:p>
            <a:r>
              <a:t>Ask which column they would design with. You want the same answer as Lecture 2:</a:t>
            </a:r>
          </a:p>
          <a:p>
            <a:r>
              <a:t>max if you are guaranteeing the specification, typ only if you can measure every</a:t>
            </a:r>
          </a:p>
          <a:p>
            <a:r>
              <a:t>unit — and never typ presented as a guarantee.</a:t>
            </a:r>
          </a:p>
          <a:p/>
          <a:p>
            <a:r>
              <a:t>Sixty seconds. Then the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01:00–01:02. Start by asking, not telling: "you called HAL_Delay(10).</a:t>
            </a:r>
          </a:p>
          <a:p>
            <a:r>
              <a:t>What is your sample rate?" Everybody says a hundred hertz. Wait, then: "what</a:t>
            </a:r>
          </a:p>
          <a:p>
            <a:r>
              <a:t>else does the loop do?"</a:t>
            </a:r>
          </a:p>
          <a:p/>
          <a:p>
            <a:r>
              <a:t>The bar is to scale on purpose. Point at the amber sliver: "that is the whole</a:t>
            </a:r>
          </a:p>
          <a:p>
            <a:r>
              <a:t>error. Two per cent. It looks like nothing." Then the sentence that sets up the</a:t>
            </a:r>
          </a:p>
          <a:p>
            <a:r>
              <a:t>next slide: "it looks like nothing because you are looking at one iteration."</a:t>
            </a:r>
          </a:p>
          <a:p/>
          <a:p>
            <a:r>
              <a:t>The phrase to leave them with is on the dark bar: a delay is a minimum, never a</a:t>
            </a:r>
          </a:p>
          <a:p>
            <a:r>
              <a:t>period. HAL_Delay guarantees at least ten milliseconds and promises nothing</a:t>
            </a:r>
          </a:p>
          <a:p>
            <a:r>
              <a:t>about the loop.</a:t>
            </a:r>
          </a:p>
          <a:p/>
          <a:p>
            <a:r>
              <a:t>If someone asks about interrupt latency and jitter — yes, and it makes the real</a:t>
            </a:r>
          </a:p>
          <a:p>
            <a:r>
              <a:t>case worse, not better. Two slides from now, that is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01:02–01:03. Read the last two rows and then stop talking for a moment.</a:t>
            </a:r>
          </a:p>
          <a:p/>
          <a:p>
            <a:r>
              <a:t>The 20.41 Hz row is the one that will show up in somebody's project: a two per</a:t>
            </a:r>
          </a:p>
          <a:p>
            <a:r>
              <a:t>cent frequency error is enough to misidentify a machine order or a resonance,</a:t>
            </a:r>
          </a:p>
          <a:p>
            <a:r>
              <a:t>and it is far too small to look like a bug.</a:t>
            </a:r>
          </a:p>
          <a:p/>
          <a:p>
            <a:r>
              <a:t>The 12.1 s row is the one that matters. Ask the question that makes it real:</a:t>
            </a:r>
          </a:p>
          <a:p>
            <a:r>
              <a:t>"what were you going to do with this log?" Correlate it — against a second</a:t>
            </a:r>
          </a:p>
          <a:p>
            <a:r>
              <a:t>sensor, an operator's note, a video, another team's file. Twelve seconds of</a:t>
            </a:r>
          </a:p>
          <a:p>
            <a:r>
              <a:t>drift makes every one of those correlations meaningless.</a:t>
            </a:r>
          </a:p>
          <a:p/>
          <a:p>
            <a:r>
              <a:t>Then the bottom box, and lean on the last sentence. Bounding an error and</a:t>
            </a:r>
          </a:p>
          <a:p>
            <a:r>
              <a:t>inverting it are different operations, and only one of them saves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01:03–01:04. This is the single most transferable minute of the lecture.</a:t>
            </a:r>
          </a:p>
          <a:p>
            <a:r>
              <a:t>Say so.</a:t>
            </a:r>
          </a:p>
          <a:p/>
          <a:p>
            <a:r>
              <a:t>The table is a reference; read only the third row aloud, both columns. Unbounded</a:t>
            </a:r>
          </a:p>
          <a:p>
            <a:r>
              <a:t>against bounded is the whole argument, and it costs one interrupt handler.</a:t>
            </a:r>
          </a:p>
          <a:p/>
          <a:p>
            <a:r>
              <a:t>Then the teal line, which is the sentence to carry out of the room: the sensor</a:t>
            </a:r>
          </a:p>
          <a:p>
            <a:r>
              <a:t>knows when it sampled — ask it rather than guessing.</a:t>
            </a:r>
          </a:p>
          <a:p/>
          <a:p>
            <a:r>
              <a:t>Two objections you should welcome. "The interrupt has latency too": yes, and it</a:t>
            </a:r>
          </a:p>
          <a:p>
            <a:r>
              <a:t>is bounded and small, which is the entire point. "This is more work": about</a:t>
            </a:r>
          </a:p>
          <a:p>
            <a:r>
              <a:t>fifteen lines, once, and they will write them in Laboratory 2 in week four.</a:t>
            </a:r>
          </a:p>
          <a:p/>
          <a:p>
            <a:r>
              <a:t>NEVER CUT THIS SEGMENT, even running late. Cut slide 35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01:04–01:06. THIS SLIDE IS A DESIGNATED CUT if you are running late.</a:t>
            </a:r>
          </a:p>
          <a:p/>
          <a:p>
            <a:r>
              <a:t>If you keep it, spend the time on WHO_AM_I, because they did it in Laboratory 1</a:t>
            </a:r>
          </a:p>
          <a:p>
            <a:r>
              <a:t>and it is retrieval: one byte proves four things. Mention the coincidence that</a:t>
            </a:r>
          </a:p>
          <a:p>
            <a:r>
              <a:t>0x6B is both the expected value and one of the part's two I²C addresses — it has</a:t>
            </a:r>
          </a:p>
          <a:p>
            <a:r>
              <a:t>confused a great many people and it will confuse some of them.</a:t>
            </a:r>
          </a:p>
          <a:p/>
          <a:p>
            <a:r>
              <a:t>FIFO overrun is the one with today's flavour: a silently dropped sample is not</a:t>
            </a:r>
          </a:p>
          <a:p>
            <a:r>
              <a:t>missing data, it is a timing error wearing data's clothes. That is the same</a:t>
            </a:r>
          </a:p>
          <a:p>
            <a:r>
              <a:t>lesson as the last three slides in a fourth costume.</a:t>
            </a:r>
          </a:p>
          <a:p/>
          <a:p>
            <a:r>
              <a:t>Do not turn this into a checklist to memorise. The point is the last line: these</a:t>
            </a:r>
          </a:p>
          <a:p>
            <a:r>
              <a:t>turn "strange data" into "the sensor was never responding".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01:06–01:08. Put the minute-7 distribution on the board beside this. The</a:t>
            </a:r>
          </a:p>
          <a:p>
            <a:r>
              <a:t>shift is the lecture's evidence that it worked, and the class should see it.</a:t>
            </a:r>
          </a:p>
          <a:p/>
          <a:p>
            <a:r>
              <a:t>Say both halves, because this is a professional habit rather than a trick:</a:t>
            </a:r>
          </a:p>
          <a:p/>
          <a:p>
            <a:r>
              <a:t>"If you chose D at minute seven you were right, and for the best possible</a:t>
            </a:r>
          </a:p>
          <a:p>
            <a:r>
              <a:t>reason: you knew you could not decide. If you chose A you did what most</a:t>
            </a:r>
          </a:p>
          <a:p>
            <a:r>
              <a:t>engineers do, which is read the headline. If you chose B you knew a real formula</a:t>
            </a:r>
          </a:p>
          <a:p>
            <a:r>
              <a:t>and stopped one term too early. And if you now choose C, you can defend it with</a:t>
            </a:r>
          </a:p>
          <a:p>
            <a:r>
              <a:t>arithmetic — which is the only defence that survives a design review."</a:t>
            </a:r>
          </a:p>
          <a:p/>
          <a:p>
            <a:r>
              <a:t>Then point at the board line you started at minute 14 and finished at minute 56.</a:t>
            </a:r>
          </a:p>
          <a:p>
            <a:r>
              <a:t>It is the whole lecture in one row of chalk.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01:08–01:11. TRANSFER ITEM — deliberately a new measurand, so it tests</a:t>
            </a:r>
          </a:p>
          <a:p>
            <a:r>
              <a:t>the principle rather than memory of the accelerometer case. Sixty seconds to</a:t>
            </a:r>
          </a:p>
          <a:p>
            <a:r>
              <a:t>vote, then discussion.</a:t>
            </a:r>
          </a:p>
          <a:p/>
          <a:p>
            <a:r>
              <a:t>Correct is A: a constant offset is a systematic error against a known reference</a:t>
            </a:r>
          </a:p>
          <a:p>
            <a:r>
              <a:t>— the tank was empty on Tuesday, the level was surveyed on Friday — so it is</a:t>
            </a:r>
          </a:p>
          <a:p>
            <a:r>
              <a:t>removable after the fact.</a:t>
            </a:r>
          </a:p>
          <a:p/>
          <a:p>
            <a:r>
              <a:t>B is the tempting one, because it LOOKS like a linear correction. It is not: the</a:t>
            </a:r>
          </a:p>
          <a:p>
            <a:r>
              <a:t>loop period depended on branch timing that varied with the data. Bound it; you</a:t>
            </a:r>
          </a:p>
          <a:p>
            <a:r>
              <a:t>cannot invert it. C is the student who has forgotten Poll 3 twenty minutes</a:t>
            </a:r>
          </a:p>
          <a:p>
            <a:r>
              <a:t>later, which is worth catching now rather than in the midterm. D is the student</a:t>
            </a:r>
          </a:p>
          <a:p>
            <a:r>
              <a:t>who thinks averaging recovers resolution — it recovers some, for a stationary</a:t>
            </a:r>
          </a:p>
          <a:p>
            <a:r>
              <a:t>signal, at the cost of bandwidth.</a:t>
            </a:r>
          </a:p>
          <a:p/>
          <a:p>
            <a:r>
              <a:t>Do not reveal here. The next slide is the answer, in general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01:11–01:13. THIS IS THE ARTEFACT THEY KEEP. Say that: "photograph this</a:t>
            </a:r>
          </a:p>
          <a:p>
            <a:r>
              <a:t>one. You will use it in every remaining laboratory of this course."</a:t>
            </a:r>
          </a:p>
          <a:p/>
          <a:p>
            <a:r>
              <a:t>Resolve Poll 4 from the first row and move on quickly — A, the offset, and the</a:t>
            </a:r>
          </a:p>
          <a:p>
            <a:r>
              <a:t>other three are all in the bottom half of this table.</a:t>
            </a:r>
          </a:p>
          <a:p/>
          <a:p>
            <a:r>
              <a:t>Two rows deserve a sentence each. Temperature drift is recoverable if and only</a:t>
            </a:r>
          </a:p>
          <a:p>
            <a:r>
              <a:t>if you logged the temperature; almost every sensor in this course has a</a:t>
            </a:r>
          </a:p>
          <a:p>
            <a:r>
              <a:t>temperature output, most people ignore it, and it costs one column in the file.</a:t>
            </a:r>
          </a:p>
          <a:p>
            <a:r>
              <a:t>Log it. And quantisation: "no" and "negligible" in the same row is not a</a:t>
            </a:r>
          </a:p>
          <a:p>
            <a:r>
              <a:t>contradiction — it cannot be undone and it never mattered.</a:t>
            </a:r>
          </a:p>
          <a:p/>
          <a:p>
            <a:r>
              <a:t>Then the pattern at the bottom, which is the one law of the subject with no</a:t>
            </a:r>
          </a:p>
          <a:p>
            <a:r>
              <a:t>exceptions: no processing creates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01:13–01:15. Go back to the hook explicitly — put slide 4 up beside this</a:t>
            </a:r>
          </a:p>
          <a:p>
            <a:r>
              <a:t>one if your tooling allows, or just say it.</a:t>
            </a:r>
          </a:p>
          <a:p/>
          <a:p>
            <a:r>
              <a:t>"At minute five these were three assertions. You have now derived all three, and</a:t>
            </a:r>
          </a:p>
          <a:p>
            <a:r>
              <a:t>each one came from a document you already had."</a:t>
            </a:r>
          </a:p>
          <a:p/>
          <a:p>
            <a:r>
              <a:t>Point at the colours, because the semantic is the course's, not this lecture's:</a:t>
            </a:r>
          </a:p>
          <a:p>
            <a:r>
              <a:t>teal is what you own, red is what you lost. Twelve point four bits is a number</a:t>
            </a:r>
          </a:p>
          <a:p>
            <a:r>
              <a:t>you can write in a report and defend. The other two are damage.</a:t>
            </a:r>
          </a:p>
          <a:p/>
          <a:p>
            <a:r>
              <a:t>Ask one question and take two answers: "which of the three would you check</a:t>
            </a:r>
          </a:p>
          <a:p>
            <a:r>
              <a:t>first, on a system you inherited?" Any defended answer is a good answer; the</a:t>
            </a:r>
          </a:p>
          <a:p>
            <a:r>
              <a:t>habit is checking before trusting.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01:15–01:17. Read the four questions only — not the grey lines. Sixty</a:t>
            </a:r>
          </a:p>
          <a:p>
            <a:r>
              <a:t>seconds.</a:t>
            </a:r>
          </a:p>
          <a:p/>
          <a:p>
            <a:r>
              <a:t>Then make the demand concrete, because as a list it sounds like advice: "all</a:t>
            </a:r>
          </a:p>
          <a:p>
            <a:r>
              <a:t>four are answerable before you write firmware. Not after the run. Before. If you</a:t>
            </a:r>
          </a:p>
          <a:p>
            <a:r>
              <a:t>cannot answer them at the design stage, the run will not tell you."</a:t>
            </a:r>
          </a:p>
          <a:p/>
          <a:p>
            <a:r>
              <a:t>The last line is the sentence to end the content on, so deliver it and stop. Let</a:t>
            </a:r>
          </a:p>
          <a:p>
            <a:r>
              <a:t>it sit for two seconds before you move to the laboratory bridge.</a:t>
            </a:r>
          </a:p>
          <a:p/>
          <a:p>
            <a:r>
              <a:t>If you are behind, this is the slide to compress — but not to cut. It is the</a:t>
            </a:r>
          </a:p>
          <a:p>
            <a:r>
              <a:t>lecture's answer to its own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01:17–01:18. Be concrete about the pre-lab; vagueness here costs bench</a:t>
            </a:r>
          </a:p>
          <a:p>
            <a:r>
              <a:t>time in week four.</a:t>
            </a:r>
          </a:p>
          <a:p/>
          <a:p>
            <a:r>
              <a:t>"Two ODR settings, the nine-line calculation, on paper, before you walk in. If</a:t>
            </a:r>
          </a:p>
          <a:p>
            <a:r>
              <a:t>you arrive without it you will spend the first forty minutes deriving instead of</a:t>
            </a:r>
          </a:p>
          <a:p>
            <a:r>
              <a:t>measuring, and the demonstrators will not do it for you."</a:t>
            </a:r>
          </a:p>
          <a:p/>
          <a:p>
            <a:r>
              <a:t>The question in the teal box has a one-line answer — LPF2_XL_EN — and asking for</a:t>
            </a:r>
          </a:p>
          <a:p>
            <a:r>
              <a:t>it as homework means the whole room arrives having found bit 1 of CTRL1_XL in</a:t>
            </a:r>
          </a:p>
          <a:p>
            <a:r>
              <a:t>the datasheet themselves.</a:t>
            </a:r>
          </a:p>
          <a:p/>
          <a:p>
            <a:r>
              <a:t>Then the forward link: Lecture 4 explains where the noise density and the drift</a:t>
            </a:r>
          </a:p>
          <a:p>
            <a:r>
              <a:t>came from in the first place. Same datasheet, one level further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01:18–01:20. End on time. Hand the slips out while slide 41 is still up.</a:t>
            </a:r>
          </a:p>
          <a:p/>
          <a:p>
            <a:r>
              <a:t>Q1 key: sampling faster does not remove an alias, it moves it — the filter has</a:t>
            </a:r>
          </a:p>
          <a:p>
            <a:r>
              <a:t>to be in front of the converter, and no software step recovers what the sampler</a:t>
            </a:r>
          </a:p>
          <a:p>
            <a:r>
              <a:t>already merged. Accept any sentence containing that idea.</a:t>
            </a:r>
          </a:p>
          <a:p/>
          <a:p>
            <a:r>
              <a:t>Q2 is the diagnostic and the reason this ticket exists. Expect roughly a third</a:t>
            </a:r>
          </a:p>
          <a:p>
            <a:r>
              <a:t>to name aliasing, a third the timestamp, and a third to name something that is</a:t>
            </a:r>
          </a:p>
          <a:p>
            <a:r>
              <a:t>in fact calibratable. That last third is precisely the signal you want, and it</a:t>
            </a:r>
          </a:p>
          <a:p>
            <a:r>
              <a:t>is the opening slide of Lecture 4.</a:t>
            </a:r>
          </a:p>
          <a:p/>
          <a:p>
            <a:r>
              <a:t>READ THEM. This is outcome L3.5 and the spine of Lectures 12–15. If most of the</a:t>
            </a:r>
          </a:p>
          <a:p>
            <a:r>
              <a:t>room names a calibratable error, the synthesis table needs ten minutes of</a:t>
            </a:r>
          </a:p>
          <a:p>
            <a:r>
              <a:t>Lecture 4's opening, not a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Arial"/>
              </a:rPr>
              <a:t>MICROELECTROMECHANICAL SYSTEMS AND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From physical quantity to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trustworthy samples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Arial"/>
              </a:rPr>
              <a:t>Lecture 3 of 16   ·   80 minutes   ·   Module A: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One log file, and three numbers that decide how much of it is true.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Last week's muddiest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Your questions, answered before we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205740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301752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77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048" y="397764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E4E2DE"/>
                </a:solidFill>
                <a:latin typeface="Arial"/>
              </a:rPr>
              <a:t>INSTRUCTOR: fill these three in from Lecture 2's exit tickets before class.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Refer to concepts, never to students. Ninety seconds total, then move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Where are we today?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Retrieval: the chain from Lecture 1 — today we live in boxes 5, 6 and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8324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8324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LOG,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8324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Stages 1–4 hand you a conditioned signal. Everything after that is arithmetic on numbers — and three of its errors cannot be undone.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One log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Ten minutes of data. 60 000 rows. No gaps, no outliers, plausible magnitudes.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Courier New"/>
              </a:rPr>
              <a:t>ISM330DHCX  ·  ±2 g  ·  16-bit  ·  ODR = 104 Hz  ·  0.061 mg/LSB  ·  HAL_Delay(10) polling loop  · 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87168"/>
            <a:ext cx="3438144" cy="2331720"/>
          </a:xfrm>
          <a:prstGeom prst="rect">
            <a:avLst/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24912"/>
            <a:ext cx="34381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0E7C86"/>
                </a:solidFill>
                <a:latin typeface="Courier New"/>
              </a:rPr>
              <a:t>12.4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75888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E7C86"/>
                </a:solidFill>
                <a:latin typeface="Arial"/>
              </a:rPr>
              <a:t>BITS OF SIXTEEN THAT CARRY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42816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You bought a 16-bit number.</a:t>
            </a:r>
          </a:p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You own rather less than that.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487168"/>
            <a:ext cx="3438144" cy="233172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724912"/>
            <a:ext cx="34381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C0392B"/>
                </a:solidFill>
                <a:latin typeface="Courier New"/>
              </a:rPr>
              <a:t>12 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675888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A SIGNAL IN YOUR DATA THAT DOES NOT EXIST IN THE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242816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It is not noise. It is a tone,</a:t>
            </a:r>
          </a:p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and it looks entirely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2487168"/>
            <a:ext cx="3438144" cy="233172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724912"/>
            <a:ext cx="34381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C0392B"/>
                </a:solidFill>
                <a:latin typeface="Courier New"/>
              </a:rPr>
              <a:t>12.1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8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HOW WRONG YOUR TIMESTAMPS ARE BY THE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42816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Every event in the last part of</a:t>
            </a:r>
          </a:p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log is stamped too early.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138928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Every one of these three was computable before a line of firmware was written.</a:t>
            </a:r>
          </a:p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Two of the three cannot be repaired afterwards at any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Your accelerometer is 16-bit, configured for ±2 g, so its datasheet resolution is 0.061 mg/LSB. You configure ODR = 104 Hz and log the output.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What is the smallest change in acceleration your log can actually distinguish?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0.061 mg — that is what the datasheet says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0.018 mg — the quantisation noise, LSB/√12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0.72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cannot be determined from what you have been told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Commit to one. The answer is withheld until the end of the lecture — and by then you will have computed it yourselves.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number everyone trusts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Where 0.061 mg/LSB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600" b="0" i="0">
                <a:solidFill>
                  <a:srgbClr val="1A1F24"/>
                </a:solidFill>
                <a:latin typeface="Courier New"/>
              </a:rPr>
              <a:t>4000 mg  ÷  65 536 codes  =  </a:t>
            </a:r>
            <a:r>
              <a:rPr sz="3200" b="1" i="0">
                <a:solidFill>
                  <a:srgbClr val="0E7C86"/>
                </a:solidFill>
                <a:latin typeface="Courier New"/>
              </a:rPr>
              <a:t>0.061 mg / LSB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4612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7F5F1"/>
                </a:solidFill>
                <a:latin typeface="Arial"/>
              </a:rPr>
              <a:t>One count of the register is 0.061 mg. That much is simply true.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2628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±2 g is 4000 mg of span. Sixteen bits is 65 536 codes. Divide one by the other and you get the size of one step of the number — which is exactly what the datasheet prints, on the same page as everything else we will use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…and three things it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384048" cy="384048"/>
          </a:xfrm>
          <a:prstGeom prst="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75104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It is not the smallest change you can distinguish.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432304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That is set by the noise — and the noise depends on a bandwidth nobody has chosen yet.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08960"/>
            <a:ext cx="384048" cy="384048"/>
          </a:xfrm>
          <a:prstGeom prst="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072384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It is not an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529584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Offset, scale error and drift are separate numbers on separate rows. Lecture 2 spent an hour on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206240"/>
            <a:ext cx="384048" cy="384048"/>
          </a:xfrm>
          <a:prstGeom prst="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169664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It is not a property of the sensor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626864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Change the full scale and it moves. Change the bandwidth and the measurement changes while it stays 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394960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381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Arial"/>
              </a:rPr>
              <a:t>ON THE BOARD, NOW, AND NOT ERASED:</a:t>
            </a:r>
          </a:p>
          <a:p>
            <a:pPr algn="ctr"/>
            <a:r>
              <a:rPr sz="2200" b="1">
                <a:solidFill>
                  <a:srgbClr val="F7F5F1"/>
                </a:solidFill>
                <a:latin typeface="Arial"/>
              </a:rPr>
              <a:t>you bought 16 bits — how many of them do you own?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The output and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the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What actually comes out of a sensor — and what the converter compares it against.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One wire's difference between a measurement that survives a sagging rail and one that does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comes out of a sensor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Three analog forms — and one where the conversion already happened, where you cannot see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VOLTAGE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33472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Tens of µV per °C from a thermocouple; a few mV from a bridge.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Small enough that the wire is part of the measurement.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92024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CURRENT  ·  4–20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633472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Unchanged by cable resistance, so distance does not matter.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4 mA is a live zero: a broken wire reads 0 mA, and is detectable.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2024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2633472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Four elements in a diamond, excited by a voltage; the output follows the imbalance.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Strain gauges, pressure sensors, load cells.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192024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DIGITAL  ·  I²C / SPI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633472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The ADC is inside the package. You receive a number, not a voltage.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F24"/>
                </a:solidFill>
                <a:latin typeface="Arial"/>
              </a:rPr>
              <a:t>Almost every MEMS sensor here — and today's case.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80560"/>
            <a:ext cx="10874959" cy="512064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50" b="1">
                <a:solidFill>
                  <a:srgbClr val="6B7680"/>
                </a:solidFill>
                <a:latin typeface="Arial"/>
              </a:rPr>
              <a:t>VOCABULARY ONLY TODAY:   instrumentation amplifier   ·   common-mode range   ·   grounding and shielding   →   Lecture 12 in full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102352"/>
            <a:ext cx="10874959" cy="9601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A digital output does not remove the analog problems — it moves them inside the package, where you can neither see nor change them.</a:t>
            </a:r>
          </a:p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And it adds two of its own: the byte order of the result, and when the conversion happened.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an ADC actually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Not a voltage — a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700" b="0" i="0">
                <a:solidFill>
                  <a:srgbClr val="1A1F24"/>
                </a:solidFill>
                <a:latin typeface="Courier New"/>
              </a:rPr>
              <a:t>count  =  </a:t>
            </a:r>
            <a:r>
              <a:rPr sz="3000" b="1" i="0">
                <a:solidFill>
                  <a:srgbClr val="0E7C86"/>
                </a:solidFill>
                <a:latin typeface="Courier New"/>
              </a:rPr>
              <a:t>V_in / V_ref</a:t>
            </a:r>
            <a:r>
              <a:rPr sz="2700" b="1" i="0">
                <a:solidFill>
                  <a:srgbClr val="1A1F24"/>
                </a:solidFill>
                <a:latin typeface="Courier New"/>
              </a:rPr>
              <a:t>  ×  2^N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99232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7F5F1"/>
                </a:solidFill>
                <a:latin typeface="Arial"/>
              </a:rPr>
              <a:t>An ADC has no idea what a volt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480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It is a ratio, not a voltage.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4114800"/>
            <a:ext cx="6943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count depends on the input compared with the reference. Read the formula again for what it says.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84632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8324"/>
                </a:solidFill>
                <a:latin typeface="Arial"/>
              </a:rPr>
              <a:t>▸  Every V_ref error is a gain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846320"/>
            <a:ext cx="6943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Not on one reading — on every reading, in the same direction, for as long as the reference is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596128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50" b="1">
                <a:solidFill>
                  <a:srgbClr val="1A1F24"/>
                </a:solidFill>
                <a:latin typeface="Arial"/>
              </a:rPr>
              <a:t>The rule: excite the sensor and reference the converter from the same thing, or from two things that are both stable.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Two wirings, one sagging 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 3.3 V rail sags to 3.2 V under load. Representative bridge figures, not a named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534924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5349240" cy="60350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50" b="1">
                <a:solidFill>
                  <a:srgbClr val="F7F5F1"/>
                </a:solidFill>
                <a:latin typeface="Arial"/>
              </a:rPr>
              <a:t>RATIOMETRIC  —  bridge and ADC reference from the SAME 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60903"/>
            <a:ext cx="49469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bridge output      ↓ 3 %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ADC counts         ↑ 3 %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─────────────────────────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reported strain    0 %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86783"/>
            <a:ext cx="49469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The code computes a ratio, and both terms moved together, so the ratio never changed. This is free — if you wired it deliberately.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874519"/>
            <a:ext cx="534924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874519"/>
            <a:ext cx="5349240" cy="603504"/>
          </a:xfrm>
          <a:prstGeom prst="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50" b="1">
                <a:solidFill>
                  <a:srgbClr val="F7F5F1"/>
                </a:solidFill>
                <a:latin typeface="Arial"/>
              </a:rPr>
              <a:t>ABSOLUTE  —  precision 2.5 V reference, bridge still on the 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660903"/>
            <a:ext cx="49469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bridge output      ↓ 3 %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ADC counts         unchanged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─────────────────────────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1A1F24"/>
                </a:solidFill>
                <a:latin typeface="Courier New"/>
              </a:rPr>
              <a:t>reported strain    3 %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986783"/>
            <a:ext cx="49469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Nothing cancels. And it is not a constant — it varies with whatever else the board is doing, so no calibration removes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13248"/>
            <a:ext cx="10874959" cy="713232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7F5F1"/>
                </a:solidFill>
                <a:latin typeface="Arial"/>
              </a:rPr>
              <a:t>Same components. Same cost. One wire's difference.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strain-gauge bridge is excited from the microcontroller's 3.3 V rail. The ADC that reads it uses the same 3.3 V rail as its reference. Under load, the rail sags to 3.2 V.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The reported strain: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reads about 3 %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reads about 3 %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does not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changes by an amount that depends on the gauge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 alone first. Then find someone who voted differently and make them defend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2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strain-gauge bridge is excited from the microcontroller's 3.3 V rail. The ADC that reads it uses the same 3.3 V rail as its reference. Under load, the rail sags to 3.2 V.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The reported strain: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reads about 3 %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reads about 3 %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does not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changes by an amount that depends on the gauge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The bridge output is proportional to its excitation; the counts are proportional to 1/reference. Both scale with the same rail, so the ratio the code computes never moved.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converter has a finite number of codes, so it must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1A1F24"/>
                </a:solidFill>
                <a:latin typeface="Courier New"/>
              </a:rPr>
              <a:t>LSB  =  full scale / 2^N  =  4000 mg / 65 536  =  </a:t>
            </a:r>
            <a:r>
              <a:rPr sz="2600" b="1" i="0">
                <a:solidFill>
                  <a:srgbClr val="0E7C86"/>
                </a:solidFill>
                <a:latin typeface="Courier New"/>
              </a:rPr>
              <a:t>0.061 mg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4846320"/>
            <a:ext cx="626364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69848" y="3108960"/>
            <a:ext cx="5943600" cy="1737360"/>
          </a:xfrm>
          <a:custGeom>
            <a:avLst/>
            <a:gdLst/>
            <a:ahLst/>
            <a:cxnLst/>
            <a:rect l="l" t="t" r="r" b="b"/>
            <a:pathLst>
              <a:path w="5943600" h="1737360">
                <a:moveTo>
                  <a:pt x="0" y="1737360"/>
                </a:moveTo>
                <a:lnTo>
                  <a:pt x="5943600" y="0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069848" y="3326130"/>
            <a:ext cx="5943600" cy="1520190"/>
          </a:xfrm>
          <a:custGeom>
            <a:avLst/>
            <a:gdLst/>
            <a:ahLst/>
            <a:cxnLst/>
            <a:rect l="l" t="t" r="r" b="b"/>
            <a:pathLst>
              <a:path w="5943600" h="1520190">
                <a:moveTo>
                  <a:pt x="0" y="1520190"/>
                </a:moveTo>
                <a:lnTo>
                  <a:pt x="742950" y="1520190"/>
                </a:lnTo>
                <a:lnTo>
                  <a:pt x="742950" y="1303020"/>
                </a:lnTo>
                <a:lnTo>
                  <a:pt x="742950" y="1303020"/>
                </a:lnTo>
                <a:lnTo>
                  <a:pt x="1485900" y="1303020"/>
                </a:lnTo>
                <a:lnTo>
                  <a:pt x="1485900" y="1085850"/>
                </a:lnTo>
                <a:lnTo>
                  <a:pt x="1485900" y="1085850"/>
                </a:lnTo>
                <a:lnTo>
                  <a:pt x="2228850" y="1085850"/>
                </a:lnTo>
                <a:lnTo>
                  <a:pt x="2228850" y="868680"/>
                </a:lnTo>
                <a:lnTo>
                  <a:pt x="2228850" y="868680"/>
                </a:lnTo>
                <a:lnTo>
                  <a:pt x="2971800" y="868680"/>
                </a:lnTo>
                <a:lnTo>
                  <a:pt x="2971800" y="651510"/>
                </a:lnTo>
                <a:lnTo>
                  <a:pt x="2971800" y="651510"/>
                </a:lnTo>
                <a:lnTo>
                  <a:pt x="3714750" y="651510"/>
                </a:lnTo>
                <a:lnTo>
                  <a:pt x="3714750" y="434340"/>
                </a:lnTo>
                <a:lnTo>
                  <a:pt x="3714750" y="434340"/>
                </a:lnTo>
                <a:lnTo>
                  <a:pt x="4457700" y="434340"/>
                </a:lnTo>
                <a:lnTo>
                  <a:pt x="4457700" y="217170"/>
                </a:lnTo>
                <a:lnTo>
                  <a:pt x="4457700" y="217170"/>
                </a:lnTo>
                <a:lnTo>
                  <a:pt x="5200650" y="217170"/>
                </a:lnTo>
                <a:lnTo>
                  <a:pt x="5200650" y="0"/>
                </a:lnTo>
                <a:lnTo>
                  <a:pt x="5200650" y="0"/>
                </a:lnTo>
                <a:lnTo>
                  <a:pt x="5943600" y="0"/>
                </a:lnTo>
              </a:path>
            </a:pathLst>
          </a:custGeom>
          <a:noFill/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the true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9743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Courier New"/>
              </a:rPr>
              <a:t>what the code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49743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6B7680"/>
                </a:solidFill>
                <a:latin typeface="Courier New"/>
              </a:rPr>
              <a:t>input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8803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A1F24"/>
                </a:solidFill>
                <a:latin typeface="Arial"/>
              </a:rPr>
              <a:t>Between two codes there is nothing.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3703320"/>
            <a:ext cx="4023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The converter reports the nearest step and throws the difference away. The error is uniformly distributed over one LSB, and it is there in every single sample.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It is also the only error in this lecture that is perfectly predictable before you switch anything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quantisation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Rounding injects a known, computable amount of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500" b="0" i="0">
                <a:solidFill>
                  <a:srgbClr val="1A1F24"/>
                </a:solidFill>
                <a:latin typeface="Courier New"/>
              </a:rPr>
              <a:t>σ_q  =  LSB / √12  =  0.061 / 3.464  =  </a:t>
            </a:r>
            <a:r>
              <a:rPr sz="3000" b="1" i="0">
                <a:solidFill>
                  <a:srgbClr val="0E7C86"/>
                </a:solidFill>
                <a:latin typeface="Courier New"/>
              </a:rPr>
              <a:t>0.018 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632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B7680"/>
                </a:solidFill>
                <a:latin typeface="Arial"/>
              </a:rPr>
              <a:t>√12 is the standard deviation of a uniform distribution of unit width. Worth knowing where it comes from once; not worth deriving twice.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794760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Note what this is NOT: it is the resolution of the number, not the resolution of the measurement.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37760"/>
            <a:ext cx="10874959" cy="10058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Hold on to 0.018 mg.</a:t>
            </a:r>
          </a:p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Later we put it beside the sensor's own noise — and one of those two terms decides nothing at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Why more bits is not more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D98324"/>
                </a:solidFill>
                <a:latin typeface="Arial"/>
              </a:rPr>
              <a:t>the noise floor of the measurement  —  identical in 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514600"/>
            <a:ext cx="4892040" cy="1600200"/>
          </a:xfrm>
          <a:prstGeom prst="rect">
            <a:avLst/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27813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30480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3147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35814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38481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A1F24"/>
                </a:solidFill>
                <a:latin typeface="Arial"/>
              </a:rPr>
              <a:t>16-BIT CONVERTER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3542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E7C86"/>
                </a:solidFill>
                <a:latin typeface="Courier New"/>
              </a:rPr>
              <a:t>one step = 0.061 mg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514600"/>
            <a:ext cx="4892040" cy="1600200"/>
          </a:xfrm>
          <a:prstGeom prst="rect">
            <a:avLst/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258127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264795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71462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27813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284797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291465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298132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30480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311467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318135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7648" y="324802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3147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338137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344805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27648" y="351472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35814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27648" y="364807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27648" y="371475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27648" y="378142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7648" y="384810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27648" y="391477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3981450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7648" y="4048125"/>
            <a:ext cx="4892040" cy="95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4242816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A1F24"/>
                </a:solidFill>
                <a:latin typeface="Arial"/>
              </a:rPr>
              <a:t>20-BIT CONVERTER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53542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E7C86"/>
                </a:solidFill>
                <a:latin typeface="Courier New"/>
              </a:rPr>
              <a:t>one step = sixteen times finer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84632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Adding bits divides the step. It does not divide the noise.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Bits below the noise floor are extra digits, not extra information.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89788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Whether the last bits buy you anything depends on a number that is not on the front page — the noise density — and on a choice that is entirely yours: the bandwidth.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STAND UP  ·  60 SECONDS  ·  NO TALKING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Draw the last three boxes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of the chain from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B8C0C6"/>
                </a:solidFill>
                <a:latin typeface="Arial"/>
              </a:rPr>
              <a:t>Under each one, write the single thing that can be lost there.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17720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Arial"/>
              </a:rPr>
              <a:t>SAMPLING          →          CODES TO UNITS          →          TIMESTAMP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Turn your paper over first. Nothing to hand 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Output data rate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is not bandwidth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The hardest idea in Module A.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One register bit decides whether your data contains a signal that never existed.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Nyquist, as a design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Lecture 1 met this as a discovery. Today it is a register setting.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3611880"/>
            <a:ext cx="740664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95528" y="2743200"/>
            <a:ext cx="7406640" cy="1737360"/>
          </a:xfrm>
          <a:custGeom>
            <a:avLst/>
            <a:gdLst/>
            <a:ahLst/>
            <a:cxnLst/>
            <a:rect l="l" t="t" r="r" b="b"/>
            <a:pathLst>
              <a:path w="7406640" h="1737360">
                <a:moveTo>
                  <a:pt x="0" y="868680"/>
                </a:moveTo>
                <a:lnTo>
                  <a:pt x="18516" y="613253"/>
                </a:lnTo>
                <a:lnTo>
                  <a:pt x="37033" y="380409"/>
                </a:lnTo>
                <a:lnTo>
                  <a:pt x="55549" y="190735"/>
                </a:lnTo>
                <a:lnTo>
                  <a:pt x="74066" y="61001"/>
                </a:lnTo>
                <a:lnTo>
                  <a:pt x="92583" y="2677"/>
                </a:lnTo>
                <a:lnTo>
                  <a:pt x="111099" y="20920"/>
                </a:lnTo>
                <a:lnTo>
                  <a:pt x="129616" y="114117"/>
                </a:lnTo>
                <a:lnTo>
                  <a:pt x="148132" y="274027"/>
                </a:lnTo>
                <a:lnTo>
                  <a:pt x="166649" y="486513"/>
                </a:lnTo>
                <a:lnTo>
                  <a:pt x="185166" y="732788"/>
                </a:lnTo>
                <a:lnTo>
                  <a:pt x="203682" y="991078"/>
                </a:lnTo>
                <a:lnTo>
                  <a:pt x="222199" y="1238545"/>
                </a:lnTo>
                <a:lnTo>
                  <a:pt x="240715" y="1453312"/>
                </a:lnTo>
                <a:lnTo>
                  <a:pt x="259232" y="1616389"/>
                </a:lnTo>
                <a:lnTo>
                  <a:pt x="277749" y="1713358"/>
                </a:lnTo>
                <a:lnTo>
                  <a:pt x="296265" y="1735645"/>
                </a:lnTo>
                <a:lnTo>
                  <a:pt x="314782" y="1681281"/>
                </a:lnTo>
                <a:lnTo>
                  <a:pt x="333298" y="1555071"/>
                </a:lnTo>
                <a:lnTo>
                  <a:pt x="351815" y="1368175"/>
                </a:lnTo>
                <a:lnTo>
                  <a:pt x="370332" y="1137116"/>
                </a:lnTo>
                <a:lnTo>
                  <a:pt x="388848" y="882324"/>
                </a:lnTo>
                <a:lnTo>
                  <a:pt x="407365" y="626326"/>
                </a:lnTo>
                <a:lnTo>
                  <a:pt x="425881" y="391754"/>
                </a:lnTo>
                <a:lnTo>
                  <a:pt x="444398" y="199350"/>
                </a:lnTo>
                <a:lnTo>
                  <a:pt x="462915" y="66124"/>
                </a:lnTo>
                <a:lnTo>
                  <a:pt x="481431" y="3855"/>
                </a:lnTo>
                <a:lnTo>
                  <a:pt x="499948" y="18048"/>
                </a:lnTo>
                <a:lnTo>
                  <a:pt x="518464" y="107449"/>
                </a:lnTo>
                <a:lnTo>
                  <a:pt x="536981" y="264154"/>
                </a:lnTo>
                <a:lnTo>
                  <a:pt x="555498" y="474307"/>
                </a:lnTo>
                <a:lnTo>
                  <a:pt x="574014" y="719328"/>
                </a:lnTo>
                <a:lnTo>
                  <a:pt x="592531" y="977554"/>
                </a:lnTo>
                <a:lnTo>
                  <a:pt x="611047" y="1226154"/>
                </a:lnTo>
                <a:lnTo>
                  <a:pt x="629564" y="1443148"/>
                </a:lnTo>
                <a:lnTo>
                  <a:pt x="648081" y="1609351"/>
                </a:lnTo>
                <a:lnTo>
                  <a:pt x="666597" y="1710068"/>
                </a:lnTo>
                <a:lnTo>
                  <a:pt x="685114" y="1736395"/>
                </a:lnTo>
                <a:lnTo>
                  <a:pt x="703630" y="1686004"/>
                </a:lnTo>
                <a:lnTo>
                  <a:pt x="722147" y="1563350"/>
                </a:lnTo>
                <a:lnTo>
                  <a:pt x="740664" y="1379277"/>
                </a:lnTo>
                <a:lnTo>
                  <a:pt x="759180" y="1150060"/>
                </a:lnTo>
                <a:lnTo>
                  <a:pt x="777697" y="895965"/>
                </a:lnTo>
                <a:lnTo>
                  <a:pt x="796213" y="639458"/>
                </a:lnTo>
                <a:lnTo>
                  <a:pt x="814730" y="403217"/>
                </a:lnTo>
                <a:lnTo>
                  <a:pt x="833247" y="208130"/>
                </a:lnTo>
                <a:lnTo>
                  <a:pt x="851763" y="71444"/>
                </a:lnTo>
                <a:lnTo>
                  <a:pt x="870280" y="5245"/>
                </a:lnTo>
                <a:lnTo>
                  <a:pt x="888796" y="15386"/>
                </a:lnTo>
                <a:lnTo>
                  <a:pt x="907313" y="100970"/>
                </a:lnTo>
                <a:lnTo>
                  <a:pt x="925830" y="254430"/>
                </a:lnTo>
                <a:lnTo>
                  <a:pt x="944346" y="462198"/>
                </a:lnTo>
                <a:lnTo>
                  <a:pt x="962863" y="705905"/>
                </a:lnTo>
                <a:lnTo>
                  <a:pt x="981379" y="964004"/>
                </a:lnTo>
                <a:lnTo>
                  <a:pt x="999896" y="1213674"/>
                </a:lnTo>
                <a:lnTo>
                  <a:pt x="1018413" y="1432842"/>
                </a:lnTo>
                <a:lnTo>
                  <a:pt x="1036929" y="1602130"/>
                </a:lnTo>
                <a:lnTo>
                  <a:pt x="1055446" y="1706571"/>
                </a:lnTo>
                <a:lnTo>
                  <a:pt x="1073962" y="1736931"/>
                </a:lnTo>
                <a:lnTo>
                  <a:pt x="1092479" y="1690525"/>
                </a:lnTo>
                <a:lnTo>
                  <a:pt x="1110996" y="1571456"/>
                </a:lnTo>
                <a:lnTo>
                  <a:pt x="1129512" y="1390253"/>
                </a:lnTo>
                <a:lnTo>
                  <a:pt x="1148029" y="1162934"/>
                </a:lnTo>
                <a:lnTo>
                  <a:pt x="1166545" y="909600"/>
                </a:lnTo>
                <a:lnTo>
                  <a:pt x="1185062" y="652648"/>
                </a:lnTo>
                <a:lnTo>
                  <a:pt x="1203579" y="414795"/>
                </a:lnTo>
                <a:lnTo>
                  <a:pt x="1222095" y="217073"/>
                </a:lnTo>
                <a:lnTo>
                  <a:pt x="1240612" y="76962"/>
                </a:lnTo>
                <a:lnTo>
                  <a:pt x="1259128" y="6849"/>
                </a:lnTo>
                <a:lnTo>
                  <a:pt x="1277645" y="12935"/>
                </a:lnTo>
                <a:lnTo>
                  <a:pt x="1296162" y="94680"/>
                </a:lnTo>
                <a:lnTo>
                  <a:pt x="1314678" y="244858"/>
                </a:lnTo>
                <a:lnTo>
                  <a:pt x="1333195" y="450190"/>
                </a:lnTo>
                <a:lnTo>
                  <a:pt x="1351711" y="692522"/>
                </a:lnTo>
                <a:lnTo>
                  <a:pt x="1370228" y="950430"/>
                </a:lnTo>
                <a:lnTo>
                  <a:pt x="1388745" y="1201109"/>
                </a:lnTo>
                <a:lnTo>
                  <a:pt x="1407261" y="1422397"/>
                </a:lnTo>
                <a:lnTo>
                  <a:pt x="1425778" y="1594729"/>
                </a:lnTo>
                <a:lnTo>
                  <a:pt x="1444294" y="1702867"/>
                </a:lnTo>
                <a:lnTo>
                  <a:pt x="1462811" y="1737252"/>
                </a:lnTo>
                <a:lnTo>
                  <a:pt x="1481328" y="1694843"/>
                </a:lnTo>
                <a:lnTo>
                  <a:pt x="1499844" y="1579390"/>
                </a:lnTo>
                <a:lnTo>
                  <a:pt x="1518361" y="1401100"/>
                </a:lnTo>
                <a:lnTo>
                  <a:pt x="1536877" y="1175736"/>
                </a:lnTo>
                <a:lnTo>
                  <a:pt x="1555394" y="923224"/>
                </a:lnTo>
                <a:lnTo>
                  <a:pt x="1573911" y="665890"/>
                </a:lnTo>
                <a:lnTo>
                  <a:pt x="1592427" y="426485"/>
                </a:lnTo>
                <a:lnTo>
                  <a:pt x="1610944" y="226177"/>
                </a:lnTo>
                <a:lnTo>
                  <a:pt x="1629460" y="82674"/>
                </a:lnTo>
                <a:lnTo>
                  <a:pt x="1647977" y="8666"/>
                </a:lnTo>
                <a:lnTo>
                  <a:pt x="1666494" y="10694"/>
                </a:lnTo>
                <a:lnTo>
                  <a:pt x="1685010" y="88581"/>
                </a:lnTo>
                <a:lnTo>
                  <a:pt x="1703527" y="235439"/>
                </a:lnTo>
                <a:lnTo>
                  <a:pt x="1722043" y="438284"/>
                </a:lnTo>
                <a:lnTo>
                  <a:pt x="1740560" y="679183"/>
                </a:lnTo>
                <a:lnTo>
                  <a:pt x="1759077" y="936835"/>
                </a:lnTo>
                <a:lnTo>
                  <a:pt x="1777593" y="1188462"/>
                </a:lnTo>
                <a:lnTo>
                  <a:pt x="1796110" y="1411815"/>
                </a:lnTo>
                <a:lnTo>
                  <a:pt x="1814626" y="1587148"/>
                </a:lnTo>
                <a:lnTo>
                  <a:pt x="1833143" y="1698958"/>
                </a:lnTo>
                <a:lnTo>
                  <a:pt x="1851660" y="1737360"/>
                </a:lnTo>
                <a:lnTo>
                  <a:pt x="1870176" y="1698958"/>
                </a:lnTo>
                <a:lnTo>
                  <a:pt x="1888693" y="1587148"/>
                </a:lnTo>
                <a:lnTo>
                  <a:pt x="1907209" y="1411815"/>
                </a:lnTo>
                <a:lnTo>
                  <a:pt x="1925726" y="1188462"/>
                </a:lnTo>
                <a:lnTo>
                  <a:pt x="1944243" y="936835"/>
                </a:lnTo>
                <a:lnTo>
                  <a:pt x="1962759" y="679183"/>
                </a:lnTo>
                <a:lnTo>
                  <a:pt x="1981276" y="438284"/>
                </a:lnTo>
                <a:lnTo>
                  <a:pt x="1999792" y="235439"/>
                </a:lnTo>
                <a:lnTo>
                  <a:pt x="2018309" y="88581"/>
                </a:lnTo>
                <a:lnTo>
                  <a:pt x="2036826" y="10694"/>
                </a:lnTo>
                <a:lnTo>
                  <a:pt x="2055342" y="8666"/>
                </a:lnTo>
                <a:lnTo>
                  <a:pt x="2073859" y="82674"/>
                </a:lnTo>
                <a:lnTo>
                  <a:pt x="2092375" y="226177"/>
                </a:lnTo>
                <a:lnTo>
                  <a:pt x="2110892" y="426485"/>
                </a:lnTo>
                <a:lnTo>
                  <a:pt x="2129409" y="665890"/>
                </a:lnTo>
                <a:lnTo>
                  <a:pt x="2147925" y="923224"/>
                </a:lnTo>
                <a:lnTo>
                  <a:pt x="2166442" y="1175736"/>
                </a:lnTo>
                <a:lnTo>
                  <a:pt x="2184958" y="1401100"/>
                </a:lnTo>
                <a:lnTo>
                  <a:pt x="2203475" y="1579390"/>
                </a:lnTo>
                <a:lnTo>
                  <a:pt x="2221992" y="1694843"/>
                </a:lnTo>
                <a:lnTo>
                  <a:pt x="2240508" y="1737252"/>
                </a:lnTo>
                <a:lnTo>
                  <a:pt x="2259025" y="1702867"/>
                </a:lnTo>
                <a:lnTo>
                  <a:pt x="2277541" y="1594729"/>
                </a:lnTo>
                <a:lnTo>
                  <a:pt x="2296058" y="1422397"/>
                </a:lnTo>
                <a:lnTo>
                  <a:pt x="2314575" y="1201109"/>
                </a:lnTo>
                <a:lnTo>
                  <a:pt x="2333091" y="950430"/>
                </a:lnTo>
                <a:lnTo>
                  <a:pt x="2351608" y="692522"/>
                </a:lnTo>
                <a:lnTo>
                  <a:pt x="2370124" y="450190"/>
                </a:lnTo>
                <a:lnTo>
                  <a:pt x="2388641" y="244858"/>
                </a:lnTo>
                <a:lnTo>
                  <a:pt x="2407158" y="94680"/>
                </a:lnTo>
                <a:lnTo>
                  <a:pt x="2425674" y="12935"/>
                </a:lnTo>
                <a:lnTo>
                  <a:pt x="2444191" y="6849"/>
                </a:lnTo>
                <a:lnTo>
                  <a:pt x="2462707" y="76962"/>
                </a:lnTo>
                <a:lnTo>
                  <a:pt x="2481224" y="217073"/>
                </a:lnTo>
                <a:lnTo>
                  <a:pt x="2499741" y="414795"/>
                </a:lnTo>
                <a:lnTo>
                  <a:pt x="2518257" y="652648"/>
                </a:lnTo>
                <a:lnTo>
                  <a:pt x="2536774" y="909600"/>
                </a:lnTo>
                <a:lnTo>
                  <a:pt x="2555290" y="1162934"/>
                </a:lnTo>
                <a:lnTo>
                  <a:pt x="2573807" y="1390253"/>
                </a:lnTo>
                <a:lnTo>
                  <a:pt x="2592324" y="1571456"/>
                </a:lnTo>
                <a:lnTo>
                  <a:pt x="2610840" y="1690525"/>
                </a:lnTo>
                <a:lnTo>
                  <a:pt x="2629357" y="1736931"/>
                </a:lnTo>
                <a:lnTo>
                  <a:pt x="2647873" y="1706571"/>
                </a:lnTo>
                <a:lnTo>
                  <a:pt x="2666390" y="1602130"/>
                </a:lnTo>
                <a:lnTo>
                  <a:pt x="2684907" y="1432842"/>
                </a:lnTo>
                <a:lnTo>
                  <a:pt x="2703423" y="1213674"/>
                </a:lnTo>
                <a:lnTo>
                  <a:pt x="2721940" y="964004"/>
                </a:lnTo>
                <a:lnTo>
                  <a:pt x="2740456" y="705905"/>
                </a:lnTo>
                <a:lnTo>
                  <a:pt x="2758973" y="462198"/>
                </a:lnTo>
                <a:lnTo>
                  <a:pt x="2777490" y="254430"/>
                </a:lnTo>
                <a:lnTo>
                  <a:pt x="2796006" y="100970"/>
                </a:lnTo>
                <a:lnTo>
                  <a:pt x="2814523" y="15386"/>
                </a:lnTo>
                <a:lnTo>
                  <a:pt x="2833039" y="5245"/>
                </a:lnTo>
                <a:lnTo>
                  <a:pt x="2851556" y="71444"/>
                </a:lnTo>
                <a:lnTo>
                  <a:pt x="2870073" y="208130"/>
                </a:lnTo>
                <a:lnTo>
                  <a:pt x="2888589" y="403217"/>
                </a:lnTo>
                <a:lnTo>
                  <a:pt x="2907106" y="639458"/>
                </a:lnTo>
                <a:lnTo>
                  <a:pt x="2925622" y="895965"/>
                </a:lnTo>
                <a:lnTo>
                  <a:pt x="2944139" y="1150060"/>
                </a:lnTo>
                <a:lnTo>
                  <a:pt x="2962656" y="1379277"/>
                </a:lnTo>
                <a:lnTo>
                  <a:pt x="2981172" y="1563350"/>
                </a:lnTo>
                <a:lnTo>
                  <a:pt x="2999689" y="1686004"/>
                </a:lnTo>
                <a:lnTo>
                  <a:pt x="3018205" y="1736395"/>
                </a:lnTo>
                <a:lnTo>
                  <a:pt x="3036722" y="1710068"/>
                </a:lnTo>
                <a:lnTo>
                  <a:pt x="3055239" y="1609351"/>
                </a:lnTo>
                <a:lnTo>
                  <a:pt x="3073755" y="1443148"/>
                </a:lnTo>
                <a:lnTo>
                  <a:pt x="3092272" y="1226154"/>
                </a:lnTo>
                <a:lnTo>
                  <a:pt x="3110788" y="977554"/>
                </a:lnTo>
                <a:lnTo>
                  <a:pt x="3129305" y="719328"/>
                </a:lnTo>
                <a:lnTo>
                  <a:pt x="3147822" y="474307"/>
                </a:lnTo>
                <a:lnTo>
                  <a:pt x="3166338" y="264154"/>
                </a:lnTo>
                <a:lnTo>
                  <a:pt x="3184855" y="107449"/>
                </a:lnTo>
                <a:lnTo>
                  <a:pt x="3203371" y="18048"/>
                </a:lnTo>
                <a:lnTo>
                  <a:pt x="3221888" y="3855"/>
                </a:lnTo>
                <a:lnTo>
                  <a:pt x="3240405" y="66124"/>
                </a:lnTo>
                <a:lnTo>
                  <a:pt x="3258921" y="199350"/>
                </a:lnTo>
                <a:lnTo>
                  <a:pt x="3277438" y="391754"/>
                </a:lnTo>
                <a:lnTo>
                  <a:pt x="3295954" y="626326"/>
                </a:lnTo>
                <a:lnTo>
                  <a:pt x="3314471" y="882324"/>
                </a:lnTo>
                <a:lnTo>
                  <a:pt x="3332988" y="1137116"/>
                </a:lnTo>
                <a:lnTo>
                  <a:pt x="3351504" y="1368175"/>
                </a:lnTo>
                <a:lnTo>
                  <a:pt x="3370021" y="1555071"/>
                </a:lnTo>
                <a:lnTo>
                  <a:pt x="3388537" y="1681281"/>
                </a:lnTo>
                <a:lnTo>
                  <a:pt x="3407054" y="1735645"/>
                </a:lnTo>
                <a:lnTo>
                  <a:pt x="3425571" y="1713358"/>
                </a:lnTo>
                <a:lnTo>
                  <a:pt x="3444087" y="1616389"/>
                </a:lnTo>
                <a:lnTo>
                  <a:pt x="3462604" y="1453312"/>
                </a:lnTo>
                <a:lnTo>
                  <a:pt x="3481120" y="1238545"/>
                </a:lnTo>
                <a:lnTo>
                  <a:pt x="3499637" y="991078"/>
                </a:lnTo>
                <a:lnTo>
                  <a:pt x="3518154" y="732788"/>
                </a:lnTo>
                <a:lnTo>
                  <a:pt x="3536670" y="486513"/>
                </a:lnTo>
                <a:lnTo>
                  <a:pt x="3555187" y="274027"/>
                </a:lnTo>
                <a:lnTo>
                  <a:pt x="3573703" y="114117"/>
                </a:lnTo>
                <a:lnTo>
                  <a:pt x="3592220" y="20920"/>
                </a:lnTo>
                <a:lnTo>
                  <a:pt x="3610737" y="2677"/>
                </a:lnTo>
                <a:lnTo>
                  <a:pt x="3629253" y="61001"/>
                </a:lnTo>
                <a:lnTo>
                  <a:pt x="3647770" y="190735"/>
                </a:lnTo>
                <a:lnTo>
                  <a:pt x="3666286" y="380409"/>
                </a:lnTo>
                <a:lnTo>
                  <a:pt x="3684803" y="613253"/>
                </a:lnTo>
                <a:lnTo>
                  <a:pt x="3703320" y="868679"/>
                </a:lnTo>
                <a:lnTo>
                  <a:pt x="3721836" y="1124106"/>
                </a:lnTo>
                <a:lnTo>
                  <a:pt x="3740353" y="1356950"/>
                </a:lnTo>
                <a:lnTo>
                  <a:pt x="3758869" y="1546624"/>
                </a:lnTo>
                <a:lnTo>
                  <a:pt x="3777386" y="1676358"/>
                </a:lnTo>
                <a:lnTo>
                  <a:pt x="3795903" y="1734682"/>
                </a:lnTo>
                <a:lnTo>
                  <a:pt x="3814419" y="1716439"/>
                </a:lnTo>
                <a:lnTo>
                  <a:pt x="3832936" y="1623242"/>
                </a:lnTo>
                <a:lnTo>
                  <a:pt x="3851452" y="1463332"/>
                </a:lnTo>
                <a:lnTo>
                  <a:pt x="3869969" y="1250846"/>
                </a:lnTo>
                <a:lnTo>
                  <a:pt x="3888486" y="1004571"/>
                </a:lnTo>
                <a:lnTo>
                  <a:pt x="3907002" y="746281"/>
                </a:lnTo>
                <a:lnTo>
                  <a:pt x="3925519" y="498814"/>
                </a:lnTo>
                <a:lnTo>
                  <a:pt x="3944035" y="284047"/>
                </a:lnTo>
                <a:lnTo>
                  <a:pt x="3962552" y="120970"/>
                </a:lnTo>
                <a:lnTo>
                  <a:pt x="3981069" y="24001"/>
                </a:lnTo>
                <a:lnTo>
                  <a:pt x="3999585" y="1714"/>
                </a:lnTo>
                <a:lnTo>
                  <a:pt x="4018102" y="56078"/>
                </a:lnTo>
                <a:lnTo>
                  <a:pt x="4036618" y="182288"/>
                </a:lnTo>
                <a:lnTo>
                  <a:pt x="4055135" y="369184"/>
                </a:lnTo>
                <a:lnTo>
                  <a:pt x="4073652" y="600243"/>
                </a:lnTo>
                <a:lnTo>
                  <a:pt x="4092168" y="855035"/>
                </a:lnTo>
                <a:lnTo>
                  <a:pt x="4110685" y="1111033"/>
                </a:lnTo>
                <a:lnTo>
                  <a:pt x="4129201" y="1345605"/>
                </a:lnTo>
                <a:lnTo>
                  <a:pt x="4147718" y="1538009"/>
                </a:lnTo>
                <a:lnTo>
                  <a:pt x="4166235" y="1671235"/>
                </a:lnTo>
                <a:lnTo>
                  <a:pt x="4184751" y="1733504"/>
                </a:lnTo>
                <a:lnTo>
                  <a:pt x="4203268" y="1719311"/>
                </a:lnTo>
                <a:lnTo>
                  <a:pt x="4221784" y="1629910"/>
                </a:lnTo>
                <a:lnTo>
                  <a:pt x="4240301" y="1473205"/>
                </a:lnTo>
                <a:lnTo>
                  <a:pt x="4258818" y="1263052"/>
                </a:lnTo>
                <a:lnTo>
                  <a:pt x="4277334" y="1018031"/>
                </a:lnTo>
                <a:lnTo>
                  <a:pt x="4295851" y="759805"/>
                </a:lnTo>
                <a:lnTo>
                  <a:pt x="4314367" y="511205"/>
                </a:lnTo>
                <a:lnTo>
                  <a:pt x="4332884" y="294211"/>
                </a:lnTo>
                <a:lnTo>
                  <a:pt x="4351401" y="128008"/>
                </a:lnTo>
                <a:lnTo>
                  <a:pt x="4369917" y="27291"/>
                </a:lnTo>
                <a:lnTo>
                  <a:pt x="4388434" y="964"/>
                </a:lnTo>
                <a:lnTo>
                  <a:pt x="4406950" y="51355"/>
                </a:lnTo>
                <a:lnTo>
                  <a:pt x="4425467" y="174009"/>
                </a:lnTo>
                <a:lnTo>
                  <a:pt x="4443984" y="358082"/>
                </a:lnTo>
                <a:lnTo>
                  <a:pt x="4462500" y="587299"/>
                </a:lnTo>
                <a:lnTo>
                  <a:pt x="4481017" y="841394"/>
                </a:lnTo>
                <a:lnTo>
                  <a:pt x="4499533" y="1097901"/>
                </a:lnTo>
                <a:lnTo>
                  <a:pt x="4518050" y="1334142"/>
                </a:lnTo>
                <a:lnTo>
                  <a:pt x="4536567" y="1529229"/>
                </a:lnTo>
                <a:lnTo>
                  <a:pt x="4555083" y="1665915"/>
                </a:lnTo>
                <a:lnTo>
                  <a:pt x="4573600" y="1732114"/>
                </a:lnTo>
                <a:lnTo>
                  <a:pt x="4592116" y="1721973"/>
                </a:lnTo>
                <a:lnTo>
                  <a:pt x="4610633" y="1636389"/>
                </a:lnTo>
                <a:lnTo>
                  <a:pt x="4629150" y="1482929"/>
                </a:lnTo>
                <a:lnTo>
                  <a:pt x="4647666" y="1275161"/>
                </a:lnTo>
                <a:lnTo>
                  <a:pt x="4666183" y="1031454"/>
                </a:lnTo>
                <a:lnTo>
                  <a:pt x="4684699" y="773355"/>
                </a:lnTo>
                <a:lnTo>
                  <a:pt x="4703216" y="523685"/>
                </a:lnTo>
                <a:lnTo>
                  <a:pt x="4721733" y="304517"/>
                </a:lnTo>
                <a:lnTo>
                  <a:pt x="4740249" y="135229"/>
                </a:lnTo>
                <a:lnTo>
                  <a:pt x="4758766" y="30788"/>
                </a:lnTo>
                <a:lnTo>
                  <a:pt x="4777282" y="428"/>
                </a:lnTo>
                <a:lnTo>
                  <a:pt x="4795799" y="46834"/>
                </a:lnTo>
                <a:lnTo>
                  <a:pt x="4814316" y="165903"/>
                </a:lnTo>
                <a:lnTo>
                  <a:pt x="4832832" y="347106"/>
                </a:lnTo>
                <a:lnTo>
                  <a:pt x="4851349" y="574425"/>
                </a:lnTo>
                <a:lnTo>
                  <a:pt x="4869865" y="827759"/>
                </a:lnTo>
                <a:lnTo>
                  <a:pt x="4888382" y="1084711"/>
                </a:lnTo>
                <a:lnTo>
                  <a:pt x="4906899" y="1322564"/>
                </a:lnTo>
                <a:lnTo>
                  <a:pt x="4925415" y="1520286"/>
                </a:lnTo>
                <a:lnTo>
                  <a:pt x="4943932" y="1660397"/>
                </a:lnTo>
                <a:lnTo>
                  <a:pt x="4962448" y="1730510"/>
                </a:lnTo>
                <a:lnTo>
                  <a:pt x="4980965" y="1724424"/>
                </a:lnTo>
                <a:lnTo>
                  <a:pt x="4999482" y="1642679"/>
                </a:lnTo>
                <a:lnTo>
                  <a:pt x="5017998" y="1492501"/>
                </a:lnTo>
                <a:lnTo>
                  <a:pt x="5036515" y="1287169"/>
                </a:lnTo>
                <a:lnTo>
                  <a:pt x="5055031" y="1044837"/>
                </a:lnTo>
                <a:lnTo>
                  <a:pt x="5073548" y="786929"/>
                </a:lnTo>
                <a:lnTo>
                  <a:pt x="5092065" y="536250"/>
                </a:lnTo>
                <a:lnTo>
                  <a:pt x="5110581" y="314962"/>
                </a:lnTo>
                <a:lnTo>
                  <a:pt x="5129098" y="142630"/>
                </a:lnTo>
                <a:lnTo>
                  <a:pt x="5147614" y="34492"/>
                </a:lnTo>
                <a:lnTo>
                  <a:pt x="5166131" y="107"/>
                </a:lnTo>
                <a:lnTo>
                  <a:pt x="5184648" y="42516"/>
                </a:lnTo>
                <a:lnTo>
                  <a:pt x="5203164" y="157969"/>
                </a:lnTo>
                <a:lnTo>
                  <a:pt x="5221681" y="336259"/>
                </a:lnTo>
                <a:lnTo>
                  <a:pt x="5240197" y="561623"/>
                </a:lnTo>
                <a:lnTo>
                  <a:pt x="5258714" y="814135"/>
                </a:lnTo>
                <a:lnTo>
                  <a:pt x="5277231" y="1071469"/>
                </a:lnTo>
                <a:lnTo>
                  <a:pt x="5295747" y="1310874"/>
                </a:lnTo>
                <a:lnTo>
                  <a:pt x="5314264" y="1511182"/>
                </a:lnTo>
                <a:lnTo>
                  <a:pt x="5332780" y="1654685"/>
                </a:lnTo>
                <a:lnTo>
                  <a:pt x="5351297" y="1728693"/>
                </a:lnTo>
                <a:lnTo>
                  <a:pt x="5369814" y="1726665"/>
                </a:lnTo>
                <a:lnTo>
                  <a:pt x="5388330" y="1648778"/>
                </a:lnTo>
                <a:lnTo>
                  <a:pt x="5406847" y="1501920"/>
                </a:lnTo>
                <a:lnTo>
                  <a:pt x="5425363" y="1299075"/>
                </a:lnTo>
                <a:lnTo>
                  <a:pt x="5443880" y="1058176"/>
                </a:lnTo>
                <a:lnTo>
                  <a:pt x="5462397" y="800524"/>
                </a:lnTo>
                <a:lnTo>
                  <a:pt x="5480913" y="548897"/>
                </a:lnTo>
                <a:lnTo>
                  <a:pt x="5499430" y="325544"/>
                </a:lnTo>
                <a:lnTo>
                  <a:pt x="5517946" y="150211"/>
                </a:lnTo>
                <a:lnTo>
                  <a:pt x="5536463" y="38401"/>
                </a:lnTo>
                <a:lnTo>
                  <a:pt x="5554980" y="0"/>
                </a:lnTo>
                <a:lnTo>
                  <a:pt x="5573496" y="38401"/>
                </a:lnTo>
                <a:lnTo>
                  <a:pt x="5592013" y="150211"/>
                </a:lnTo>
                <a:lnTo>
                  <a:pt x="5610529" y="325544"/>
                </a:lnTo>
                <a:lnTo>
                  <a:pt x="5629046" y="548897"/>
                </a:lnTo>
                <a:lnTo>
                  <a:pt x="5647563" y="800524"/>
                </a:lnTo>
                <a:lnTo>
                  <a:pt x="5666079" y="1058176"/>
                </a:lnTo>
                <a:lnTo>
                  <a:pt x="5684596" y="1299075"/>
                </a:lnTo>
                <a:lnTo>
                  <a:pt x="5703112" y="1501920"/>
                </a:lnTo>
                <a:lnTo>
                  <a:pt x="5721629" y="1648778"/>
                </a:lnTo>
                <a:lnTo>
                  <a:pt x="5740146" y="1726665"/>
                </a:lnTo>
                <a:lnTo>
                  <a:pt x="5758662" y="1728693"/>
                </a:lnTo>
                <a:lnTo>
                  <a:pt x="5777179" y="1654685"/>
                </a:lnTo>
                <a:lnTo>
                  <a:pt x="5795695" y="1511182"/>
                </a:lnTo>
                <a:lnTo>
                  <a:pt x="5814212" y="1310874"/>
                </a:lnTo>
                <a:lnTo>
                  <a:pt x="5832729" y="1071469"/>
                </a:lnTo>
                <a:lnTo>
                  <a:pt x="5851245" y="814135"/>
                </a:lnTo>
                <a:lnTo>
                  <a:pt x="5869762" y="561623"/>
                </a:lnTo>
                <a:lnTo>
                  <a:pt x="5888278" y="336259"/>
                </a:lnTo>
                <a:lnTo>
                  <a:pt x="5906795" y="157969"/>
                </a:lnTo>
                <a:lnTo>
                  <a:pt x="5925312" y="42516"/>
                </a:lnTo>
                <a:lnTo>
                  <a:pt x="5943828" y="107"/>
                </a:lnTo>
                <a:lnTo>
                  <a:pt x="5962345" y="34492"/>
                </a:lnTo>
                <a:lnTo>
                  <a:pt x="5980861" y="142630"/>
                </a:lnTo>
                <a:lnTo>
                  <a:pt x="5999378" y="314962"/>
                </a:lnTo>
                <a:lnTo>
                  <a:pt x="6017895" y="536250"/>
                </a:lnTo>
                <a:lnTo>
                  <a:pt x="6036411" y="786929"/>
                </a:lnTo>
                <a:lnTo>
                  <a:pt x="6054928" y="1044837"/>
                </a:lnTo>
                <a:lnTo>
                  <a:pt x="6073444" y="1287169"/>
                </a:lnTo>
                <a:lnTo>
                  <a:pt x="6091961" y="1492501"/>
                </a:lnTo>
                <a:lnTo>
                  <a:pt x="6110478" y="1642679"/>
                </a:lnTo>
                <a:lnTo>
                  <a:pt x="6128994" y="1724424"/>
                </a:lnTo>
                <a:lnTo>
                  <a:pt x="6147511" y="1730510"/>
                </a:lnTo>
                <a:lnTo>
                  <a:pt x="6166027" y="1660397"/>
                </a:lnTo>
                <a:lnTo>
                  <a:pt x="6184544" y="1520286"/>
                </a:lnTo>
                <a:lnTo>
                  <a:pt x="6203061" y="1322564"/>
                </a:lnTo>
                <a:lnTo>
                  <a:pt x="6221577" y="1084711"/>
                </a:lnTo>
                <a:lnTo>
                  <a:pt x="6240094" y="827759"/>
                </a:lnTo>
                <a:lnTo>
                  <a:pt x="6258610" y="574425"/>
                </a:lnTo>
                <a:lnTo>
                  <a:pt x="6277127" y="347106"/>
                </a:lnTo>
                <a:lnTo>
                  <a:pt x="6295644" y="165903"/>
                </a:lnTo>
                <a:lnTo>
                  <a:pt x="6314160" y="46834"/>
                </a:lnTo>
                <a:lnTo>
                  <a:pt x="6332677" y="428"/>
                </a:lnTo>
                <a:lnTo>
                  <a:pt x="6351193" y="30788"/>
                </a:lnTo>
                <a:lnTo>
                  <a:pt x="6369710" y="135229"/>
                </a:lnTo>
                <a:lnTo>
                  <a:pt x="6388227" y="304517"/>
                </a:lnTo>
                <a:lnTo>
                  <a:pt x="6406743" y="523685"/>
                </a:lnTo>
                <a:lnTo>
                  <a:pt x="6425260" y="773355"/>
                </a:lnTo>
                <a:lnTo>
                  <a:pt x="6443776" y="1031454"/>
                </a:lnTo>
                <a:lnTo>
                  <a:pt x="6462293" y="1275161"/>
                </a:lnTo>
                <a:lnTo>
                  <a:pt x="6480810" y="1482929"/>
                </a:lnTo>
                <a:lnTo>
                  <a:pt x="6499326" y="1636389"/>
                </a:lnTo>
                <a:lnTo>
                  <a:pt x="6517843" y="1721973"/>
                </a:lnTo>
                <a:lnTo>
                  <a:pt x="6536359" y="1732114"/>
                </a:lnTo>
                <a:lnTo>
                  <a:pt x="6554876" y="1665915"/>
                </a:lnTo>
                <a:lnTo>
                  <a:pt x="6573393" y="1529229"/>
                </a:lnTo>
                <a:lnTo>
                  <a:pt x="6591909" y="1334142"/>
                </a:lnTo>
                <a:lnTo>
                  <a:pt x="6610426" y="1097901"/>
                </a:lnTo>
                <a:lnTo>
                  <a:pt x="6628942" y="841394"/>
                </a:lnTo>
                <a:lnTo>
                  <a:pt x="6647459" y="587299"/>
                </a:lnTo>
                <a:lnTo>
                  <a:pt x="6665976" y="358082"/>
                </a:lnTo>
                <a:lnTo>
                  <a:pt x="6684492" y="174009"/>
                </a:lnTo>
                <a:lnTo>
                  <a:pt x="6703009" y="51355"/>
                </a:lnTo>
                <a:lnTo>
                  <a:pt x="6721525" y="964"/>
                </a:lnTo>
                <a:lnTo>
                  <a:pt x="6740042" y="27291"/>
                </a:lnTo>
                <a:lnTo>
                  <a:pt x="6758559" y="128008"/>
                </a:lnTo>
                <a:lnTo>
                  <a:pt x="6777075" y="294211"/>
                </a:lnTo>
                <a:lnTo>
                  <a:pt x="6795592" y="511205"/>
                </a:lnTo>
                <a:lnTo>
                  <a:pt x="6814108" y="759805"/>
                </a:lnTo>
                <a:lnTo>
                  <a:pt x="6832625" y="1018031"/>
                </a:lnTo>
                <a:lnTo>
                  <a:pt x="6851142" y="1263052"/>
                </a:lnTo>
                <a:lnTo>
                  <a:pt x="6869658" y="1473205"/>
                </a:lnTo>
                <a:lnTo>
                  <a:pt x="6888175" y="1629910"/>
                </a:lnTo>
                <a:lnTo>
                  <a:pt x="6906691" y="1719311"/>
                </a:lnTo>
                <a:lnTo>
                  <a:pt x="6925208" y="1733504"/>
                </a:lnTo>
                <a:lnTo>
                  <a:pt x="6943725" y="1671235"/>
                </a:lnTo>
                <a:lnTo>
                  <a:pt x="6962241" y="1538009"/>
                </a:lnTo>
                <a:lnTo>
                  <a:pt x="6980758" y="1345605"/>
                </a:lnTo>
                <a:lnTo>
                  <a:pt x="6999274" y="1111033"/>
                </a:lnTo>
                <a:lnTo>
                  <a:pt x="7017791" y="855035"/>
                </a:lnTo>
                <a:lnTo>
                  <a:pt x="7036308" y="600243"/>
                </a:lnTo>
                <a:lnTo>
                  <a:pt x="7054824" y="369184"/>
                </a:lnTo>
                <a:lnTo>
                  <a:pt x="7073341" y="182288"/>
                </a:lnTo>
                <a:lnTo>
                  <a:pt x="7091857" y="56078"/>
                </a:lnTo>
                <a:lnTo>
                  <a:pt x="7110374" y="1714"/>
                </a:lnTo>
                <a:lnTo>
                  <a:pt x="7128891" y="24001"/>
                </a:lnTo>
                <a:lnTo>
                  <a:pt x="7147407" y="120970"/>
                </a:lnTo>
                <a:lnTo>
                  <a:pt x="7165924" y="284047"/>
                </a:lnTo>
                <a:lnTo>
                  <a:pt x="7184440" y="498814"/>
                </a:lnTo>
                <a:lnTo>
                  <a:pt x="7202957" y="746281"/>
                </a:lnTo>
                <a:lnTo>
                  <a:pt x="7221474" y="1004571"/>
                </a:lnTo>
                <a:lnTo>
                  <a:pt x="7239990" y="1250846"/>
                </a:lnTo>
                <a:lnTo>
                  <a:pt x="7258507" y="1463332"/>
                </a:lnTo>
                <a:lnTo>
                  <a:pt x="7277023" y="1623242"/>
                </a:lnTo>
                <a:lnTo>
                  <a:pt x="7295540" y="1716439"/>
                </a:lnTo>
                <a:lnTo>
                  <a:pt x="7314057" y="1734682"/>
                </a:lnTo>
                <a:lnTo>
                  <a:pt x="7332573" y="1676358"/>
                </a:lnTo>
                <a:lnTo>
                  <a:pt x="7351090" y="1546624"/>
                </a:lnTo>
                <a:lnTo>
                  <a:pt x="7369606" y="1356950"/>
                </a:lnTo>
                <a:lnTo>
                  <a:pt x="7388123" y="1124106"/>
                </a:lnTo>
                <a:lnTo>
                  <a:pt x="7406640" y="868680"/>
                </a:lnTo>
              </a:path>
            </a:pathLst>
          </a:custGeom>
          <a:noFill/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95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the real signal  ·  19 cycles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" y="356158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383002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85900" y="4072185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56232" y="426436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26564" y="438775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96896" y="443026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7228" y="438775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37560" y="426436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7892" y="4072185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78224" y="383002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48556" y="3561587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18888" y="329315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89220" y="3050990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59552" y="285881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29884" y="273542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269290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0548" y="273542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0" y="285881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11212" y="3050990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81544" y="329315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1876" y="356158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5528" y="2743200"/>
            <a:ext cx="7406640" cy="1737360"/>
          </a:xfrm>
          <a:custGeom>
            <a:avLst/>
            <a:gdLst/>
            <a:ahLst/>
            <a:cxnLst/>
            <a:rect l="l" t="t" r="r" b="b"/>
            <a:pathLst>
              <a:path w="7406640" h="1737360">
                <a:moveTo>
                  <a:pt x="0" y="868680"/>
                </a:moveTo>
                <a:lnTo>
                  <a:pt x="18516" y="882324"/>
                </a:lnTo>
                <a:lnTo>
                  <a:pt x="37033" y="895965"/>
                </a:lnTo>
                <a:lnTo>
                  <a:pt x="55549" y="909600"/>
                </a:lnTo>
                <a:lnTo>
                  <a:pt x="74066" y="923224"/>
                </a:lnTo>
                <a:lnTo>
                  <a:pt x="92583" y="936835"/>
                </a:lnTo>
                <a:lnTo>
                  <a:pt x="111099" y="950430"/>
                </a:lnTo>
                <a:lnTo>
                  <a:pt x="129616" y="964004"/>
                </a:lnTo>
                <a:lnTo>
                  <a:pt x="148132" y="977554"/>
                </a:lnTo>
                <a:lnTo>
                  <a:pt x="166649" y="991078"/>
                </a:lnTo>
                <a:lnTo>
                  <a:pt x="185166" y="1004571"/>
                </a:lnTo>
                <a:lnTo>
                  <a:pt x="203682" y="1018031"/>
                </a:lnTo>
                <a:lnTo>
                  <a:pt x="222199" y="1031454"/>
                </a:lnTo>
                <a:lnTo>
                  <a:pt x="240715" y="1044837"/>
                </a:lnTo>
                <a:lnTo>
                  <a:pt x="259232" y="1058176"/>
                </a:lnTo>
                <a:lnTo>
                  <a:pt x="277749" y="1071469"/>
                </a:lnTo>
                <a:lnTo>
                  <a:pt x="296265" y="1084711"/>
                </a:lnTo>
                <a:lnTo>
                  <a:pt x="314782" y="1097901"/>
                </a:lnTo>
                <a:lnTo>
                  <a:pt x="333298" y="1111033"/>
                </a:lnTo>
                <a:lnTo>
                  <a:pt x="351815" y="1124106"/>
                </a:lnTo>
                <a:lnTo>
                  <a:pt x="370332" y="1137116"/>
                </a:lnTo>
                <a:lnTo>
                  <a:pt x="388848" y="1150060"/>
                </a:lnTo>
                <a:lnTo>
                  <a:pt x="407365" y="1162934"/>
                </a:lnTo>
                <a:lnTo>
                  <a:pt x="425881" y="1175736"/>
                </a:lnTo>
                <a:lnTo>
                  <a:pt x="444398" y="1188462"/>
                </a:lnTo>
                <a:lnTo>
                  <a:pt x="462915" y="1201109"/>
                </a:lnTo>
                <a:lnTo>
                  <a:pt x="481431" y="1213674"/>
                </a:lnTo>
                <a:lnTo>
                  <a:pt x="499948" y="1226154"/>
                </a:lnTo>
                <a:lnTo>
                  <a:pt x="518464" y="1238545"/>
                </a:lnTo>
                <a:lnTo>
                  <a:pt x="536981" y="1250846"/>
                </a:lnTo>
                <a:lnTo>
                  <a:pt x="555498" y="1263052"/>
                </a:lnTo>
                <a:lnTo>
                  <a:pt x="574014" y="1275161"/>
                </a:lnTo>
                <a:lnTo>
                  <a:pt x="592531" y="1287169"/>
                </a:lnTo>
                <a:lnTo>
                  <a:pt x="611047" y="1299075"/>
                </a:lnTo>
                <a:lnTo>
                  <a:pt x="629564" y="1310874"/>
                </a:lnTo>
                <a:lnTo>
                  <a:pt x="648081" y="1322564"/>
                </a:lnTo>
                <a:lnTo>
                  <a:pt x="666597" y="1334142"/>
                </a:lnTo>
                <a:lnTo>
                  <a:pt x="685114" y="1345605"/>
                </a:lnTo>
                <a:lnTo>
                  <a:pt x="703630" y="1356950"/>
                </a:lnTo>
                <a:lnTo>
                  <a:pt x="722147" y="1368175"/>
                </a:lnTo>
                <a:lnTo>
                  <a:pt x="740664" y="1379277"/>
                </a:lnTo>
                <a:lnTo>
                  <a:pt x="759180" y="1390253"/>
                </a:lnTo>
                <a:lnTo>
                  <a:pt x="777697" y="1401100"/>
                </a:lnTo>
                <a:lnTo>
                  <a:pt x="796213" y="1411815"/>
                </a:lnTo>
                <a:lnTo>
                  <a:pt x="814730" y="1422397"/>
                </a:lnTo>
                <a:lnTo>
                  <a:pt x="833247" y="1432842"/>
                </a:lnTo>
                <a:lnTo>
                  <a:pt x="851763" y="1443148"/>
                </a:lnTo>
                <a:lnTo>
                  <a:pt x="870280" y="1453312"/>
                </a:lnTo>
                <a:lnTo>
                  <a:pt x="888796" y="1463332"/>
                </a:lnTo>
                <a:lnTo>
                  <a:pt x="907313" y="1473205"/>
                </a:lnTo>
                <a:lnTo>
                  <a:pt x="925830" y="1482929"/>
                </a:lnTo>
                <a:lnTo>
                  <a:pt x="944346" y="1492501"/>
                </a:lnTo>
                <a:lnTo>
                  <a:pt x="962863" y="1501920"/>
                </a:lnTo>
                <a:lnTo>
                  <a:pt x="981379" y="1511182"/>
                </a:lnTo>
                <a:lnTo>
                  <a:pt x="999896" y="1520286"/>
                </a:lnTo>
                <a:lnTo>
                  <a:pt x="1018413" y="1529229"/>
                </a:lnTo>
                <a:lnTo>
                  <a:pt x="1036929" y="1538009"/>
                </a:lnTo>
                <a:lnTo>
                  <a:pt x="1055446" y="1546624"/>
                </a:lnTo>
                <a:lnTo>
                  <a:pt x="1073962" y="1555071"/>
                </a:lnTo>
                <a:lnTo>
                  <a:pt x="1092479" y="1563350"/>
                </a:lnTo>
                <a:lnTo>
                  <a:pt x="1110996" y="1571456"/>
                </a:lnTo>
                <a:lnTo>
                  <a:pt x="1129512" y="1579390"/>
                </a:lnTo>
                <a:lnTo>
                  <a:pt x="1148029" y="1587148"/>
                </a:lnTo>
                <a:lnTo>
                  <a:pt x="1166545" y="1594729"/>
                </a:lnTo>
                <a:lnTo>
                  <a:pt x="1185062" y="1602130"/>
                </a:lnTo>
                <a:lnTo>
                  <a:pt x="1203579" y="1609351"/>
                </a:lnTo>
                <a:lnTo>
                  <a:pt x="1222095" y="1616389"/>
                </a:lnTo>
                <a:lnTo>
                  <a:pt x="1240612" y="1623242"/>
                </a:lnTo>
                <a:lnTo>
                  <a:pt x="1259128" y="1629910"/>
                </a:lnTo>
                <a:lnTo>
                  <a:pt x="1277645" y="1636389"/>
                </a:lnTo>
                <a:lnTo>
                  <a:pt x="1296162" y="1642679"/>
                </a:lnTo>
                <a:lnTo>
                  <a:pt x="1314678" y="1648778"/>
                </a:lnTo>
                <a:lnTo>
                  <a:pt x="1333195" y="1654685"/>
                </a:lnTo>
                <a:lnTo>
                  <a:pt x="1351711" y="1660397"/>
                </a:lnTo>
                <a:lnTo>
                  <a:pt x="1370228" y="1665915"/>
                </a:lnTo>
                <a:lnTo>
                  <a:pt x="1388745" y="1671235"/>
                </a:lnTo>
                <a:lnTo>
                  <a:pt x="1407261" y="1676358"/>
                </a:lnTo>
                <a:lnTo>
                  <a:pt x="1425778" y="1681281"/>
                </a:lnTo>
                <a:lnTo>
                  <a:pt x="1444294" y="1686004"/>
                </a:lnTo>
                <a:lnTo>
                  <a:pt x="1462811" y="1690525"/>
                </a:lnTo>
                <a:lnTo>
                  <a:pt x="1481328" y="1694843"/>
                </a:lnTo>
                <a:lnTo>
                  <a:pt x="1499844" y="1698958"/>
                </a:lnTo>
                <a:lnTo>
                  <a:pt x="1518361" y="1702867"/>
                </a:lnTo>
                <a:lnTo>
                  <a:pt x="1536877" y="1706571"/>
                </a:lnTo>
                <a:lnTo>
                  <a:pt x="1555394" y="1710068"/>
                </a:lnTo>
                <a:lnTo>
                  <a:pt x="1573911" y="1713358"/>
                </a:lnTo>
                <a:lnTo>
                  <a:pt x="1592427" y="1716439"/>
                </a:lnTo>
                <a:lnTo>
                  <a:pt x="1610944" y="1719311"/>
                </a:lnTo>
                <a:lnTo>
                  <a:pt x="1629460" y="1721973"/>
                </a:lnTo>
                <a:lnTo>
                  <a:pt x="1647977" y="1724424"/>
                </a:lnTo>
                <a:lnTo>
                  <a:pt x="1666494" y="1726665"/>
                </a:lnTo>
                <a:lnTo>
                  <a:pt x="1685010" y="1728693"/>
                </a:lnTo>
                <a:lnTo>
                  <a:pt x="1703527" y="1730510"/>
                </a:lnTo>
                <a:lnTo>
                  <a:pt x="1722043" y="1732114"/>
                </a:lnTo>
                <a:lnTo>
                  <a:pt x="1740560" y="1733504"/>
                </a:lnTo>
                <a:lnTo>
                  <a:pt x="1759077" y="1734682"/>
                </a:lnTo>
                <a:lnTo>
                  <a:pt x="1777593" y="1735645"/>
                </a:lnTo>
                <a:lnTo>
                  <a:pt x="1796110" y="1736395"/>
                </a:lnTo>
                <a:lnTo>
                  <a:pt x="1814626" y="1736931"/>
                </a:lnTo>
                <a:lnTo>
                  <a:pt x="1833143" y="1737252"/>
                </a:lnTo>
                <a:lnTo>
                  <a:pt x="1851660" y="1737360"/>
                </a:lnTo>
                <a:lnTo>
                  <a:pt x="1870176" y="1737252"/>
                </a:lnTo>
                <a:lnTo>
                  <a:pt x="1888693" y="1736931"/>
                </a:lnTo>
                <a:lnTo>
                  <a:pt x="1907209" y="1736395"/>
                </a:lnTo>
                <a:lnTo>
                  <a:pt x="1925726" y="1735645"/>
                </a:lnTo>
                <a:lnTo>
                  <a:pt x="1944243" y="1734682"/>
                </a:lnTo>
                <a:lnTo>
                  <a:pt x="1962759" y="1733504"/>
                </a:lnTo>
                <a:lnTo>
                  <a:pt x="1981276" y="1732114"/>
                </a:lnTo>
                <a:lnTo>
                  <a:pt x="1999792" y="1730510"/>
                </a:lnTo>
                <a:lnTo>
                  <a:pt x="2018309" y="1728693"/>
                </a:lnTo>
                <a:lnTo>
                  <a:pt x="2036826" y="1726665"/>
                </a:lnTo>
                <a:lnTo>
                  <a:pt x="2055342" y="1724424"/>
                </a:lnTo>
                <a:lnTo>
                  <a:pt x="2073859" y="1721973"/>
                </a:lnTo>
                <a:lnTo>
                  <a:pt x="2092375" y="1719311"/>
                </a:lnTo>
                <a:lnTo>
                  <a:pt x="2110892" y="1716439"/>
                </a:lnTo>
                <a:lnTo>
                  <a:pt x="2129409" y="1713358"/>
                </a:lnTo>
                <a:lnTo>
                  <a:pt x="2147925" y="1710068"/>
                </a:lnTo>
                <a:lnTo>
                  <a:pt x="2166442" y="1706571"/>
                </a:lnTo>
                <a:lnTo>
                  <a:pt x="2184958" y="1702867"/>
                </a:lnTo>
                <a:lnTo>
                  <a:pt x="2203475" y="1698958"/>
                </a:lnTo>
                <a:lnTo>
                  <a:pt x="2221992" y="1694843"/>
                </a:lnTo>
                <a:lnTo>
                  <a:pt x="2240508" y="1690525"/>
                </a:lnTo>
                <a:lnTo>
                  <a:pt x="2259025" y="1686004"/>
                </a:lnTo>
                <a:lnTo>
                  <a:pt x="2277541" y="1681281"/>
                </a:lnTo>
                <a:lnTo>
                  <a:pt x="2296058" y="1676358"/>
                </a:lnTo>
                <a:lnTo>
                  <a:pt x="2314575" y="1671235"/>
                </a:lnTo>
                <a:lnTo>
                  <a:pt x="2333091" y="1665915"/>
                </a:lnTo>
                <a:lnTo>
                  <a:pt x="2351608" y="1660397"/>
                </a:lnTo>
                <a:lnTo>
                  <a:pt x="2370124" y="1654685"/>
                </a:lnTo>
                <a:lnTo>
                  <a:pt x="2388641" y="1648778"/>
                </a:lnTo>
                <a:lnTo>
                  <a:pt x="2407158" y="1642679"/>
                </a:lnTo>
                <a:lnTo>
                  <a:pt x="2425674" y="1636389"/>
                </a:lnTo>
                <a:lnTo>
                  <a:pt x="2444191" y="1629910"/>
                </a:lnTo>
                <a:lnTo>
                  <a:pt x="2462707" y="1623242"/>
                </a:lnTo>
                <a:lnTo>
                  <a:pt x="2481224" y="1616389"/>
                </a:lnTo>
                <a:lnTo>
                  <a:pt x="2499741" y="1609351"/>
                </a:lnTo>
                <a:lnTo>
                  <a:pt x="2518257" y="1602130"/>
                </a:lnTo>
                <a:lnTo>
                  <a:pt x="2536774" y="1594729"/>
                </a:lnTo>
                <a:lnTo>
                  <a:pt x="2555290" y="1587148"/>
                </a:lnTo>
                <a:lnTo>
                  <a:pt x="2573807" y="1579390"/>
                </a:lnTo>
                <a:lnTo>
                  <a:pt x="2592324" y="1571456"/>
                </a:lnTo>
                <a:lnTo>
                  <a:pt x="2610840" y="1563350"/>
                </a:lnTo>
                <a:lnTo>
                  <a:pt x="2629357" y="1555071"/>
                </a:lnTo>
                <a:lnTo>
                  <a:pt x="2647873" y="1546624"/>
                </a:lnTo>
                <a:lnTo>
                  <a:pt x="2666390" y="1538009"/>
                </a:lnTo>
                <a:lnTo>
                  <a:pt x="2684907" y="1529229"/>
                </a:lnTo>
                <a:lnTo>
                  <a:pt x="2703423" y="1520286"/>
                </a:lnTo>
                <a:lnTo>
                  <a:pt x="2721940" y="1511182"/>
                </a:lnTo>
                <a:lnTo>
                  <a:pt x="2740456" y="1501920"/>
                </a:lnTo>
                <a:lnTo>
                  <a:pt x="2758973" y="1492501"/>
                </a:lnTo>
                <a:lnTo>
                  <a:pt x="2777490" y="1482929"/>
                </a:lnTo>
                <a:lnTo>
                  <a:pt x="2796006" y="1473205"/>
                </a:lnTo>
                <a:lnTo>
                  <a:pt x="2814523" y="1463332"/>
                </a:lnTo>
                <a:lnTo>
                  <a:pt x="2833039" y="1453312"/>
                </a:lnTo>
                <a:lnTo>
                  <a:pt x="2851556" y="1443148"/>
                </a:lnTo>
                <a:lnTo>
                  <a:pt x="2870073" y="1432842"/>
                </a:lnTo>
                <a:lnTo>
                  <a:pt x="2888589" y="1422397"/>
                </a:lnTo>
                <a:lnTo>
                  <a:pt x="2907106" y="1411815"/>
                </a:lnTo>
                <a:lnTo>
                  <a:pt x="2925622" y="1401100"/>
                </a:lnTo>
                <a:lnTo>
                  <a:pt x="2944139" y="1390253"/>
                </a:lnTo>
                <a:lnTo>
                  <a:pt x="2962656" y="1379277"/>
                </a:lnTo>
                <a:lnTo>
                  <a:pt x="2981172" y="1368175"/>
                </a:lnTo>
                <a:lnTo>
                  <a:pt x="2999689" y="1356950"/>
                </a:lnTo>
                <a:lnTo>
                  <a:pt x="3018205" y="1345605"/>
                </a:lnTo>
                <a:lnTo>
                  <a:pt x="3036722" y="1334142"/>
                </a:lnTo>
                <a:lnTo>
                  <a:pt x="3055239" y="1322564"/>
                </a:lnTo>
                <a:lnTo>
                  <a:pt x="3073755" y="1310874"/>
                </a:lnTo>
                <a:lnTo>
                  <a:pt x="3092272" y="1299075"/>
                </a:lnTo>
                <a:lnTo>
                  <a:pt x="3110788" y="1287169"/>
                </a:lnTo>
                <a:lnTo>
                  <a:pt x="3129305" y="1275161"/>
                </a:lnTo>
                <a:lnTo>
                  <a:pt x="3147822" y="1263052"/>
                </a:lnTo>
                <a:lnTo>
                  <a:pt x="3166338" y="1250846"/>
                </a:lnTo>
                <a:lnTo>
                  <a:pt x="3184855" y="1238545"/>
                </a:lnTo>
                <a:lnTo>
                  <a:pt x="3203371" y="1226154"/>
                </a:lnTo>
                <a:lnTo>
                  <a:pt x="3221888" y="1213674"/>
                </a:lnTo>
                <a:lnTo>
                  <a:pt x="3240405" y="1201109"/>
                </a:lnTo>
                <a:lnTo>
                  <a:pt x="3258921" y="1188462"/>
                </a:lnTo>
                <a:lnTo>
                  <a:pt x="3277438" y="1175736"/>
                </a:lnTo>
                <a:lnTo>
                  <a:pt x="3295954" y="1162934"/>
                </a:lnTo>
                <a:lnTo>
                  <a:pt x="3314471" y="1150060"/>
                </a:lnTo>
                <a:lnTo>
                  <a:pt x="3332988" y="1137116"/>
                </a:lnTo>
                <a:lnTo>
                  <a:pt x="3351504" y="1124106"/>
                </a:lnTo>
                <a:lnTo>
                  <a:pt x="3370021" y="1111033"/>
                </a:lnTo>
                <a:lnTo>
                  <a:pt x="3388537" y="1097901"/>
                </a:lnTo>
                <a:lnTo>
                  <a:pt x="3407054" y="1084711"/>
                </a:lnTo>
                <a:lnTo>
                  <a:pt x="3425571" y="1071469"/>
                </a:lnTo>
                <a:lnTo>
                  <a:pt x="3444087" y="1058176"/>
                </a:lnTo>
                <a:lnTo>
                  <a:pt x="3462604" y="1044837"/>
                </a:lnTo>
                <a:lnTo>
                  <a:pt x="3481120" y="1031454"/>
                </a:lnTo>
                <a:lnTo>
                  <a:pt x="3499637" y="1018031"/>
                </a:lnTo>
                <a:lnTo>
                  <a:pt x="3518154" y="1004571"/>
                </a:lnTo>
                <a:lnTo>
                  <a:pt x="3536670" y="991078"/>
                </a:lnTo>
                <a:lnTo>
                  <a:pt x="3555187" y="977554"/>
                </a:lnTo>
                <a:lnTo>
                  <a:pt x="3573703" y="964004"/>
                </a:lnTo>
                <a:lnTo>
                  <a:pt x="3592220" y="950430"/>
                </a:lnTo>
                <a:lnTo>
                  <a:pt x="3610737" y="936835"/>
                </a:lnTo>
                <a:lnTo>
                  <a:pt x="3629253" y="923224"/>
                </a:lnTo>
                <a:lnTo>
                  <a:pt x="3647770" y="909600"/>
                </a:lnTo>
                <a:lnTo>
                  <a:pt x="3666286" y="895965"/>
                </a:lnTo>
                <a:lnTo>
                  <a:pt x="3684803" y="882324"/>
                </a:lnTo>
                <a:lnTo>
                  <a:pt x="3703320" y="868680"/>
                </a:lnTo>
                <a:lnTo>
                  <a:pt x="3721836" y="855035"/>
                </a:lnTo>
                <a:lnTo>
                  <a:pt x="3740353" y="841394"/>
                </a:lnTo>
                <a:lnTo>
                  <a:pt x="3758869" y="827759"/>
                </a:lnTo>
                <a:lnTo>
                  <a:pt x="3777386" y="814135"/>
                </a:lnTo>
                <a:lnTo>
                  <a:pt x="3795903" y="800524"/>
                </a:lnTo>
                <a:lnTo>
                  <a:pt x="3814419" y="786929"/>
                </a:lnTo>
                <a:lnTo>
                  <a:pt x="3832936" y="773355"/>
                </a:lnTo>
                <a:lnTo>
                  <a:pt x="3851452" y="759805"/>
                </a:lnTo>
                <a:lnTo>
                  <a:pt x="3869969" y="746281"/>
                </a:lnTo>
                <a:lnTo>
                  <a:pt x="3888486" y="732788"/>
                </a:lnTo>
                <a:lnTo>
                  <a:pt x="3907002" y="719328"/>
                </a:lnTo>
                <a:lnTo>
                  <a:pt x="3925519" y="705905"/>
                </a:lnTo>
                <a:lnTo>
                  <a:pt x="3944035" y="692522"/>
                </a:lnTo>
                <a:lnTo>
                  <a:pt x="3962552" y="679183"/>
                </a:lnTo>
                <a:lnTo>
                  <a:pt x="3981069" y="665890"/>
                </a:lnTo>
                <a:lnTo>
                  <a:pt x="3999585" y="652648"/>
                </a:lnTo>
                <a:lnTo>
                  <a:pt x="4018102" y="639458"/>
                </a:lnTo>
                <a:lnTo>
                  <a:pt x="4036618" y="626326"/>
                </a:lnTo>
                <a:lnTo>
                  <a:pt x="4055135" y="613253"/>
                </a:lnTo>
                <a:lnTo>
                  <a:pt x="4073652" y="600243"/>
                </a:lnTo>
                <a:lnTo>
                  <a:pt x="4092168" y="587299"/>
                </a:lnTo>
                <a:lnTo>
                  <a:pt x="4110685" y="574425"/>
                </a:lnTo>
                <a:lnTo>
                  <a:pt x="4129201" y="561623"/>
                </a:lnTo>
                <a:lnTo>
                  <a:pt x="4147718" y="548897"/>
                </a:lnTo>
                <a:lnTo>
                  <a:pt x="4166235" y="536250"/>
                </a:lnTo>
                <a:lnTo>
                  <a:pt x="4184751" y="523685"/>
                </a:lnTo>
                <a:lnTo>
                  <a:pt x="4203268" y="511205"/>
                </a:lnTo>
                <a:lnTo>
                  <a:pt x="4221784" y="498814"/>
                </a:lnTo>
                <a:lnTo>
                  <a:pt x="4240301" y="486513"/>
                </a:lnTo>
                <a:lnTo>
                  <a:pt x="4258818" y="474307"/>
                </a:lnTo>
                <a:lnTo>
                  <a:pt x="4277334" y="462198"/>
                </a:lnTo>
                <a:lnTo>
                  <a:pt x="4295851" y="450190"/>
                </a:lnTo>
                <a:lnTo>
                  <a:pt x="4314367" y="438284"/>
                </a:lnTo>
                <a:lnTo>
                  <a:pt x="4332884" y="426485"/>
                </a:lnTo>
                <a:lnTo>
                  <a:pt x="4351401" y="414795"/>
                </a:lnTo>
                <a:lnTo>
                  <a:pt x="4369917" y="403217"/>
                </a:lnTo>
                <a:lnTo>
                  <a:pt x="4388434" y="391754"/>
                </a:lnTo>
                <a:lnTo>
                  <a:pt x="4406950" y="380409"/>
                </a:lnTo>
                <a:lnTo>
                  <a:pt x="4425467" y="369184"/>
                </a:lnTo>
                <a:lnTo>
                  <a:pt x="4443984" y="358082"/>
                </a:lnTo>
                <a:lnTo>
                  <a:pt x="4462500" y="347106"/>
                </a:lnTo>
                <a:lnTo>
                  <a:pt x="4481017" y="336259"/>
                </a:lnTo>
                <a:lnTo>
                  <a:pt x="4499533" y="325544"/>
                </a:lnTo>
                <a:lnTo>
                  <a:pt x="4518050" y="314962"/>
                </a:lnTo>
                <a:lnTo>
                  <a:pt x="4536567" y="304517"/>
                </a:lnTo>
                <a:lnTo>
                  <a:pt x="4555083" y="294211"/>
                </a:lnTo>
                <a:lnTo>
                  <a:pt x="4573600" y="284047"/>
                </a:lnTo>
                <a:lnTo>
                  <a:pt x="4592116" y="274027"/>
                </a:lnTo>
                <a:lnTo>
                  <a:pt x="4610633" y="264154"/>
                </a:lnTo>
                <a:lnTo>
                  <a:pt x="4629150" y="254430"/>
                </a:lnTo>
                <a:lnTo>
                  <a:pt x="4647666" y="244858"/>
                </a:lnTo>
                <a:lnTo>
                  <a:pt x="4666183" y="235439"/>
                </a:lnTo>
                <a:lnTo>
                  <a:pt x="4684699" y="226177"/>
                </a:lnTo>
                <a:lnTo>
                  <a:pt x="4703216" y="217073"/>
                </a:lnTo>
                <a:lnTo>
                  <a:pt x="4721733" y="208130"/>
                </a:lnTo>
                <a:lnTo>
                  <a:pt x="4740249" y="199350"/>
                </a:lnTo>
                <a:lnTo>
                  <a:pt x="4758766" y="190735"/>
                </a:lnTo>
                <a:lnTo>
                  <a:pt x="4777282" y="182288"/>
                </a:lnTo>
                <a:lnTo>
                  <a:pt x="4795799" y="174009"/>
                </a:lnTo>
                <a:lnTo>
                  <a:pt x="4814316" y="165903"/>
                </a:lnTo>
                <a:lnTo>
                  <a:pt x="4832832" y="157969"/>
                </a:lnTo>
                <a:lnTo>
                  <a:pt x="4851349" y="150211"/>
                </a:lnTo>
                <a:lnTo>
                  <a:pt x="4869865" y="142630"/>
                </a:lnTo>
                <a:lnTo>
                  <a:pt x="4888382" y="135229"/>
                </a:lnTo>
                <a:lnTo>
                  <a:pt x="4906899" y="128008"/>
                </a:lnTo>
                <a:lnTo>
                  <a:pt x="4925415" y="120970"/>
                </a:lnTo>
                <a:lnTo>
                  <a:pt x="4943932" y="114117"/>
                </a:lnTo>
                <a:lnTo>
                  <a:pt x="4962448" y="107449"/>
                </a:lnTo>
                <a:lnTo>
                  <a:pt x="4980965" y="100970"/>
                </a:lnTo>
                <a:lnTo>
                  <a:pt x="4999482" y="94680"/>
                </a:lnTo>
                <a:lnTo>
                  <a:pt x="5017998" y="88581"/>
                </a:lnTo>
                <a:lnTo>
                  <a:pt x="5036515" y="82674"/>
                </a:lnTo>
                <a:lnTo>
                  <a:pt x="5055031" y="76962"/>
                </a:lnTo>
                <a:lnTo>
                  <a:pt x="5073548" y="71444"/>
                </a:lnTo>
                <a:lnTo>
                  <a:pt x="5092065" y="66124"/>
                </a:lnTo>
                <a:lnTo>
                  <a:pt x="5110581" y="61001"/>
                </a:lnTo>
                <a:lnTo>
                  <a:pt x="5129098" y="56078"/>
                </a:lnTo>
                <a:lnTo>
                  <a:pt x="5147614" y="51355"/>
                </a:lnTo>
                <a:lnTo>
                  <a:pt x="5166131" y="46834"/>
                </a:lnTo>
                <a:lnTo>
                  <a:pt x="5184648" y="42516"/>
                </a:lnTo>
                <a:lnTo>
                  <a:pt x="5203164" y="38401"/>
                </a:lnTo>
                <a:lnTo>
                  <a:pt x="5221681" y="34492"/>
                </a:lnTo>
                <a:lnTo>
                  <a:pt x="5240197" y="30788"/>
                </a:lnTo>
                <a:lnTo>
                  <a:pt x="5258714" y="27291"/>
                </a:lnTo>
                <a:lnTo>
                  <a:pt x="5277231" y="24001"/>
                </a:lnTo>
                <a:lnTo>
                  <a:pt x="5295747" y="20920"/>
                </a:lnTo>
                <a:lnTo>
                  <a:pt x="5314264" y="18048"/>
                </a:lnTo>
                <a:lnTo>
                  <a:pt x="5332780" y="15386"/>
                </a:lnTo>
                <a:lnTo>
                  <a:pt x="5351297" y="12935"/>
                </a:lnTo>
                <a:lnTo>
                  <a:pt x="5369814" y="10694"/>
                </a:lnTo>
                <a:lnTo>
                  <a:pt x="5388330" y="8666"/>
                </a:lnTo>
                <a:lnTo>
                  <a:pt x="5406847" y="6849"/>
                </a:lnTo>
                <a:lnTo>
                  <a:pt x="5425363" y="5245"/>
                </a:lnTo>
                <a:lnTo>
                  <a:pt x="5443880" y="3855"/>
                </a:lnTo>
                <a:lnTo>
                  <a:pt x="5462397" y="2677"/>
                </a:lnTo>
                <a:lnTo>
                  <a:pt x="5480913" y="1714"/>
                </a:lnTo>
                <a:lnTo>
                  <a:pt x="5499430" y="964"/>
                </a:lnTo>
                <a:lnTo>
                  <a:pt x="5517946" y="428"/>
                </a:lnTo>
                <a:lnTo>
                  <a:pt x="5536463" y="107"/>
                </a:lnTo>
                <a:lnTo>
                  <a:pt x="5554980" y="0"/>
                </a:lnTo>
                <a:lnTo>
                  <a:pt x="5573496" y="107"/>
                </a:lnTo>
                <a:lnTo>
                  <a:pt x="5592013" y="428"/>
                </a:lnTo>
                <a:lnTo>
                  <a:pt x="5610529" y="964"/>
                </a:lnTo>
                <a:lnTo>
                  <a:pt x="5629046" y="1714"/>
                </a:lnTo>
                <a:lnTo>
                  <a:pt x="5647563" y="2677"/>
                </a:lnTo>
                <a:lnTo>
                  <a:pt x="5666079" y="3855"/>
                </a:lnTo>
                <a:lnTo>
                  <a:pt x="5684596" y="5245"/>
                </a:lnTo>
                <a:lnTo>
                  <a:pt x="5703112" y="6849"/>
                </a:lnTo>
                <a:lnTo>
                  <a:pt x="5721629" y="8666"/>
                </a:lnTo>
                <a:lnTo>
                  <a:pt x="5740146" y="10694"/>
                </a:lnTo>
                <a:lnTo>
                  <a:pt x="5758662" y="12935"/>
                </a:lnTo>
                <a:lnTo>
                  <a:pt x="5777179" y="15386"/>
                </a:lnTo>
                <a:lnTo>
                  <a:pt x="5795695" y="18048"/>
                </a:lnTo>
                <a:lnTo>
                  <a:pt x="5814212" y="20920"/>
                </a:lnTo>
                <a:lnTo>
                  <a:pt x="5832729" y="24001"/>
                </a:lnTo>
                <a:lnTo>
                  <a:pt x="5851245" y="27291"/>
                </a:lnTo>
                <a:lnTo>
                  <a:pt x="5869762" y="30788"/>
                </a:lnTo>
                <a:lnTo>
                  <a:pt x="5888278" y="34492"/>
                </a:lnTo>
                <a:lnTo>
                  <a:pt x="5906795" y="38401"/>
                </a:lnTo>
                <a:lnTo>
                  <a:pt x="5925312" y="42516"/>
                </a:lnTo>
                <a:lnTo>
                  <a:pt x="5943828" y="46834"/>
                </a:lnTo>
                <a:lnTo>
                  <a:pt x="5962345" y="51355"/>
                </a:lnTo>
                <a:lnTo>
                  <a:pt x="5980861" y="56078"/>
                </a:lnTo>
                <a:lnTo>
                  <a:pt x="5999378" y="61001"/>
                </a:lnTo>
                <a:lnTo>
                  <a:pt x="6017895" y="66124"/>
                </a:lnTo>
                <a:lnTo>
                  <a:pt x="6036411" y="71444"/>
                </a:lnTo>
                <a:lnTo>
                  <a:pt x="6054928" y="76962"/>
                </a:lnTo>
                <a:lnTo>
                  <a:pt x="6073444" y="82674"/>
                </a:lnTo>
                <a:lnTo>
                  <a:pt x="6091961" y="88581"/>
                </a:lnTo>
                <a:lnTo>
                  <a:pt x="6110478" y="94680"/>
                </a:lnTo>
                <a:lnTo>
                  <a:pt x="6128994" y="100970"/>
                </a:lnTo>
                <a:lnTo>
                  <a:pt x="6147511" y="107449"/>
                </a:lnTo>
                <a:lnTo>
                  <a:pt x="6166027" y="114117"/>
                </a:lnTo>
                <a:lnTo>
                  <a:pt x="6184544" y="120970"/>
                </a:lnTo>
                <a:lnTo>
                  <a:pt x="6203061" y="128008"/>
                </a:lnTo>
                <a:lnTo>
                  <a:pt x="6221577" y="135229"/>
                </a:lnTo>
                <a:lnTo>
                  <a:pt x="6240094" y="142630"/>
                </a:lnTo>
                <a:lnTo>
                  <a:pt x="6258610" y="150211"/>
                </a:lnTo>
                <a:lnTo>
                  <a:pt x="6277127" y="157969"/>
                </a:lnTo>
                <a:lnTo>
                  <a:pt x="6295644" y="165903"/>
                </a:lnTo>
                <a:lnTo>
                  <a:pt x="6314160" y="174009"/>
                </a:lnTo>
                <a:lnTo>
                  <a:pt x="6332677" y="182288"/>
                </a:lnTo>
                <a:lnTo>
                  <a:pt x="6351193" y="190735"/>
                </a:lnTo>
                <a:lnTo>
                  <a:pt x="6369710" y="199350"/>
                </a:lnTo>
                <a:lnTo>
                  <a:pt x="6388227" y="208130"/>
                </a:lnTo>
                <a:lnTo>
                  <a:pt x="6406743" y="217073"/>
                </a:lnTo>
                <a:lnTo>
                  <a:pt x="6425260" y="226177"/>
                </a:lnTo>
                <a:lnTo>
                  <a:pt x="6443776" y="235439"/>
                </a:lnTo>
                <a:lnTo>
                  <a:pt x="6462293" y="244858"/>
                </a:lnTo>
                <a:lnTo>
                  <a:pt x="6480810" y="254430"/>
                </a:lnTo>
                <a:lnTo>
                  <a:pt x="6499326" y="264154"/>
                </a:lnTo>
                <a:lnTo>
                  <a:pt x="6517843" y="274027"/>
                </a:lnTo>
                <a:lnTo>
                  <a:pt x="6536359" y="284047"/>
                </a:lnTo>
                <a:lnTo>
                  <a:pt x="6554876" y="294211"/>
                </a:lnTo>
                <a:lnTo>
                  <a:pt x="6573393" y="304517"/>
                </a:lnTo>
                <a:lnTo>
                  <a:pt x="6591909" y="314962"/>
                </a:lnTo>
                <a:lnTo>
                  <a:pt x="6610426" y="325544"/>
                </a:lnTo>
                <a:lnTo>
                  <a:pt x="6628942" y="336259"/>
                </a:lnTo>
                <a:lnTo>
                  <a:pt x="6647459" y="347106"/>
                </a:lnTo>
                <a:lnTo>
                  <a:pt x="6665976" y="358082"/>
                </a:lnTo>
                <a:lnTo>
                  <a:pt x="6684492" y="369184"/>
                </a:lnTo>
                <a:lnTo>
                  <a:pt x="6703009" y="380409"/>
                </a:lnTo>
                <a:lnTo>
                  <a:pt x="6721525" y="391754"/>
                </a:lnTo>
                <a:lnTo>
                  <a:pt x="6740042" y="403217"/>
                </a:lnTo>
                <a:lnTo>
                  <a:pt x="6758559" y="414795"/>
                </a:lnTo>
                <a:lnTo>
                  <a:pt x="6777075" y="426485"/>
                </a:lnTo>
                <a:lnTo>
                  <a:pt x="6795592" y="438284"/>
                </a:lnTo>
                <a:lnTo>
                  <a:pt x="6814108" y="450190"/>
                </a:lnTo>
                <a:lnTo>
                  <a:pt x="6832625" y="462198"/>
                </a:lnTo>
                <a:lnTo>
                  <a:pt x="6851142" y="474307"/>
                </a:lnTo>
                <a:lnTo>
                  <a:pt x="6869658" y="486513"/>
                </a:lnTo>
                <a:lnTo>
                  <a:pt x="6888175" y="498814"/>
                </a:lnTo>
                <a:lnTo>
                  <a:pt x="6906691" y="511205"/>
                </a:lnTo>
                <a:lnTo>
                  <a:pt x="6925208" y="523685"/>
                </a:lnTo>
                <a:lnTo>
                  <a:pt x="6943725" y="536250"/>
                </a:lnTo>
                <a:lnTo>
                  <a:pt x="6962241" y="548897"/>
                </a:lnTo>
                <a:lnTo>
                  <a:pt x="6980758" y="561623"/>
                </a:lnTo>
                <a:lnTo>
                  <a:pt x="6999274" y="574425"/>
                </a:lnTo>
                <a:lnTo>
                  <a:pt x="7017791" y="587299"/>
                </a:lnTo>
                <a:lnTo>
                  <a:pt x="7036308" y="600243"/>
                </a:lnTo>
                <a:lnTo>
                  <a:pt x="7054824" y="613253"/>
                </a:lnTo>
                <a:lnTo>
                  <a:pt x="7073341" y="626326"/>
                </a:lnTo>
                <a:lnTo>
                  <a:pt x="7091857" y="639458"/>
                </a:lnTo>
                <a:lnTo>
                  <a:pt x="7110374" y="652648"/>
                </a:lnTo>
                <a:lnTo>
                  <a:pt x="7128891" y="665890"/>
                </a:lnTo>
                <a:lnTo>
                  <a:pt x="7147407" y="679183"/>
                </a:lnTo>
                <a:lnTo>
                  <a:pt x="7165924" y="692522"/>
                </a:lnTo>
                <a:lnTo>
                  <a:pt x="7184440" y="705905"/>
                </a:lnTo>
                <a:lnTo>
                  <a:pt x="7202957" y="719328"/>
                </a:lnTo>
                <a:lnTo>
                  <a:pt x="7221474" y="732788"/>
                </a:lnTo>
                <a:lnTo>
                  <a:pt x="7239990" y="746281"/>
                </a:lnTo>
                <a:lnTo>
                  <a:pt x="7258507" y="759805"/>
                </a:lnTo>
                <a:lnTo>
                  <a:pt x="7277023" y="773355"/>
                </a:lnTo>
                <a:lnTo>
                  <a:pt x="7295540" y="786929"/>
                </a:lnTo>
                <a:lnTo>
                  <a:pt x="7314057" y="800524"/>
                </a:lnTo>
                <a:lnTo>
                  <a:pt x="7332573" y="814135"/>
                </a:lnTo>
                <a:lnTo>
                  <a:pt x="7351090" y="827759"/>
                </a:lnTo>
                <a:lnTo>
                  <a:pt x="7369606" y="841394"/>
                </a:lnTo>
                <a:lnTo>
                  <a:pt x="7388123" y="855035"/>
                </a:lnTo>
                <a:lnTo>
                  <a:pt x="7406640" y="868679"/>
                </a:lnTo>
              </a:path>
            </a:pathLst>
          </a:custGeom>
          <a:noFill/>
          <a:ln w="3810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663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urier New"/>
              </a:rPr>
              <a:t>what the samples reconstruct  ·  1 cycle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13647" y="2148840"/>
            <a:ext cx="29260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Courier New"/>
              </a:rPr>
              <a:t>f_s  &gt;  2 × f_max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7" y="301752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The theorem is not the design rule.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The design rule is its contrapositive: you must guarantee that nothing above f_max ever reaches the sampler.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That is a filter. It is not a sample 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The samples are entirely correct. Their interpretation is not.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Where a tone lands after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 is whichever integer multiple of the sample rate lies nearest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920240"/>
            <a:ext cx="55778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1A1F24"/>
                </a:solidFill>
                <a:latin typeface="Courier New"/>
              </a:rPr>
              <a:t>f_alias  =  | f  −  N × f_s 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2880360"/>
            <a:ext cx="8321040" cy="65836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Courier New"/>
              </a:rPr>
              <a:t>Lecture 1's bearing tone, at today's ODR:   | 1520 − 15 × 104 |  =  | 1520 − 1560 |  =  40 Hz</a:t>
            </a:r>
          </a:p>
        </p:txBody>
      </p:sp>
      <p:sp>
        <p:nvSpPr>
          <p:cNvPr id="10" name="Left Arrow 9"/>
          <p:cNvSpPr/>
          <p:nvPr/>
        </p:nvSpPr>
        <p:spPr>
          <a:xfrm>
            <a:off x="1184148" y="4041648"/>
            <a:ext cx="9299448" cy="237744"/>
          </a:xfrm>
          <a:prstGeom prst="leftArrow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39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ourier New"/>
              </a:rPr>
              <a:t>folds back into the band you are keeping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4709160"/>
            <a:ext cx="10058400" cy="1270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4590288"/>
            <a:ext cx="326440" cy="23774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10419588" y="4640580"/>
            <a:ext cx="137160" cy="137160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855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680"/>
                </a:solidFill>
                <a:latin typeface="Courier New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554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86"/>
                </a:solidFill>
                <a:latin typeface="Courier New"/>
              </a:rPr>
              <a:t>52 Hz — the band you believe you are measuring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8554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urier New"/>
              </a:rPr>
              <a:t>1520 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32120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The sample rate alone tells you nothing about what is in your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one ordering that cannot be repaired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Arial"/>
              </a:rPr>
              <a:t>CORRECT  —  the filter sits before the sampler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2128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ANTI-ALIAS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FILTER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16936" y="2478024"/>
            <a:ext cx="374904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53328" y="22128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SAMPLER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/ ADC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14416" y="2478024"/>
            <a:ext cx="374904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50808" y="22128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DIGITAL FILTER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(optional)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11896" y="2478024"/>
            <a:ext cx="374904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9067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680"/>
                </a:solidFill>
                <a:latin typeface="Arial"/>
              </a:rPr>
              <a:t>Out-of-band energy is removed while it is still separable from the signal. Everything downstream is then a choice, not a repair.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75887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Arial"/>
              </a:rPr>
              <a:t>WRONG  —  “we will filter it in software afterwards”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416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40416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SAMPLER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/ ADC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916936" y="4306824"/>
            <a:ext cx="374904" cy="201168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53328" y="40416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DIGITAL FILTER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(too late)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14416" y="4306824"/>
            <a:ext cx="374904" cy="201168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50808" y="404164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300 Hz IS NOW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12 Hz, FOREVER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311896" y="4306824"/>
            <a:ext cx="374904" cy="201168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01184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By the time the data exists, a 300 Hz component and a genuine 12 Hz component are the same sequence of numbers. Not similar — identical. Nothing separates two things that are the same.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42432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Everything else in the chain — a wrong gain, a missed sign, a unit muddle — can be fixed on a laptop a week later. This one cannot.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bit that decides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ISM330DHCX  ·  CTRL1_XL (0x10)  ·  reset value 0x00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7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ODR_XL3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ODR_XL2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872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ODR_XL1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888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ODR_XL0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FS1_XL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920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FS0_XL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59368" y="2103120"/>
            <a:ext cx="1280160" cy="731520"/>
          </a:xfrm>
          <a:prstGeom prst="rect">
            <a:avLst/>
          </a:prstGeom>
          <a:solidFill>
            <a:srgbClr val="F7DFDC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A1F24"/>
                </a:solidFill>
                <a:latin typeface="Courier New"/>
              </a:rPr>
              <a:t>LPF2_XL_EN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18288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0"/>
                </a:solidFill>
                <a:latin typeface="Courier New"/>
              </a:rPr>
              <a:t>bit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39528" y="2103120"/>
            <a:ext cx="12801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Courier New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2926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7C86"/>
                </a:solidFill>
                <a:latin typeface="Arial"/>
              </a:rPr>
              <a:t>output data rate  ·  0100 = 104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2926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7C86"/>
                </a:solidFill>
                <a:latin typeface="Arial"/>
              </a:rPr>
              <a:t>full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the filter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383280"/>
            <a:ext cx="10874959" cy="74980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F7F5F1"/>
                </a:solidFill>
                <a:latin typeface="Arial"/>
              </a:rPr>
              <a:t>LPF2_XL_EN = 0 after reset.  Your part ships with no anti-alias filter.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224528"/>
            <a:ext cx="1087495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0">
                <a:solidFill>
                  <a:srgbClr val="1A1F24"/>
                </a:solidFill>
                <a:latin typeface="Arial"/>
              </a:rPr>
              <a:t>So the natural sequence of events is this. You set ODR = 104 Hz. You reason, correctly, that the Nyquist limit is 52 Hz. You write “52 Hz measurement bandwidth” in the report.</a:t>
            </a:r>
          </a:p>
          <a:p>
            <a:pPr algn="l">
              <a:lnSpc>
                <a:spcPct val="135000"/>
              </a:lnSpc>
            </a:pPr>
            <a:r>
              <a:rPr sz="1650" b="0" i="0">
                <a:solidFill>
                  <a:srgbClr val="1A1F24"/>
                </a:solidFill>
                <a:latin typeface="Arial"/>
              </a:rPr>
              <a:t>Meanwhile the device is sampling a far wider analog band with no filter at all, and everything above 52 Hz folds back into your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687568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0x40 gives ±2 g at 104 Hz — and leaves bit 1 clear. In Laboratory 2 you set it yourself.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 configure the accelerometer for ODR = 104 Hz and leave CTRL1_XL bit LPF2_XL_EN at its reset value of 0. A pump on the same frame vibrates at 300 Hz.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What appears in your logged data?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nothing — 300 Hz is above the sample rate, so it is not sampled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300 Hz component, attenuated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12 Hz component, indistinguishable from real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broadband noise, raising the noise floor slightly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Vote. Then two minutes in pairs: find someone who voted differently and make them defend it. Then we vote again — and only then do we do the arithmetic.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3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 configure the accelerometer for ODR = 104 Hz and leave CTRL1_XL bit LPF2_XL_EN at its reset value of 0. A pump on the same frame vibrates at 300 Hz.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What appears in your logged data?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nothing — 300 Hz is above the sample rate, so it is not sampled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300 Hz component, attenuated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a 12 Hz component, indistinguishable from real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broadband noise, raising the noise floor slightly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| 300 − 3 × 104 |  =  | 300 − 312 |  =  12 Hz.  Squarely inside the band a tilt or vibration measurement cares about, slow enough to look like real mechanical behaviour, and permanent.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Three numbers,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sentence most often got wrong on the midterm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990"/>
                <a:gridCol w="3153738"/>
                <a:gridCol w="2501240"/>
                <a:gridCol w="260999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What it decides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Who sets it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On your part, today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ODR — output data 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how often a new number appears at the output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you, by register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104 Hz  ·  CTRL1_XL bits 7:4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Measurement bandwidth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the highest frequency reported faithfully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you — often by a different register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52 Hz  ·  only if LPF2 is 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Anti-alias cut-off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what reaches the sampler at all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the analog path — sometimes nobody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none  ·  LPF2_XL_EN = 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852928" y="4663440"/>
            <a:ext cx="6492240" cy="74980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381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7F5F1"/>
                </a:solidFill>
                <a:latin typeface="Courier New"/>
              </a:rPr>
              <a:t>ODR   ≠   BW   ≠   f_cut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212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A1F24"/>
                </a:solidFill>
                <a:latin typeface="Arial"/>
              </a:rPr>
              <a:t>Set the ODR wrongly and you get more numbers, or fewer, and you waste bus and power.</a:t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A1F24"/>
                </a:solidFill>
                <a:latin typeface="Arial"/>
              </a:rPr>
              <a:t>Set the cut-off wrongly and the data is wrong for ever.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Sampling faster does not fix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Same pump, three configurations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65960"/>
          <a:ext cx="10874957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4985"/>
                <a:gridCol w="1739993"/>
                <a:gridCol w="1739993"/>
                <a:gridCol w="347998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Interfering tone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Sampled at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Appears at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300 Hz — a pump on the same frame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104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12 Hz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inside your band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1520 Hz — Lecture 1's bearing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104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40 Hz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inside your band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300 Hz — the same pump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100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0 Hz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it looks like an offset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434840"/>
            <a:ext cx="10874959" cy="109728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50" b="1">
                <a:solidFill>
                  <a:srgbClr val="1A1F24"/>
                </a:solidFill>
                <a:latin typeface="Arial"/>
              </a:rPr>
              <a:t>At 100 Hz the pump becomes a DC offset. Somebody will spend a productive week calibrating it out — and will succeed, at that one pump speed.</a:t>
            </a:r>
          </a:p>
          <a:p>
            <a:pPr algn="ctr"/>
            <a:r>
              <a:rPr sz="1750" b="1">
                <a:solidFill>
                  <a:srgbClr val="1A1F24"/>
                </a:solidFill>
                <a:latin typeface="Arial"/>
              </a:rPr>
              <a:t>Succeeding is worse than failing: the calibration is then wrong at every other speed, and the sensor gets the blame.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650992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Raising the sample rate moves the alias. It does not remove it. Choose the band first, then the rate.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Codes to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trustworthy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Four conversions between the die and the CSV file.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Each one has a way of going wrong that produces a perfectly plausible answer.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One register read, all the way to 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Ask the class for each step before you write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6949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00" b="1">
                <a:solidFill>
                  <a:srgbClr val="1A1F24"/>
                </a:solidFill>
                <a:latin typeface="Courier New"/>
              </a:rPr>
              <a:t>OUTX_L_A (0x28) = 0x2C        OUTX_H_A (0x29) = 0xFF</a:t>
            </a:r>
          </a:p>
        </p:txBody>
      </p:sp>
      <p:sp>
        <p:nvSpPr>
          <p:cNvPr id="9" name="Down Arrow 8"/>
          <p:cNvSpPr/>
          <p:nvPr/>
        </p:nvSpPr>
        <p:spPr>
          <a:xfrm>
            <a:off x="1572768" y="2523744"/>
            <a:ext cx="201168" cy="274320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2560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6B7680"/>
                </a:solidFill>
                <a:latin typeface="Arial"/>
              </a:rPr>
              <a:t>little-endian: the low byte is at the lower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34640"/>
            <a:ext cx="6949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00" b="1">
                <a:solidFill>
                  <a:srgbClr val="1A1F24"/>
                </a:solidFill>
                <a:latin typeface="Courier New"/>
              </a:rPr>
              <a:t>raw  =  0xFF2C  =  65 324   as unsigned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72768" y="3438144"/>
            <a:ext cx="201168" cy="274320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5688" y="3474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6B7680"/>
                </a:solidFill>
                <a:latin typeface="Arial"/>
              </a:rPr>
              <a:t>16-bit two's complement: bit 15 is set, so it is negative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49040"/>
            <a:ext cx="6949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00" b="1">
                <a:solidFill>
                  <a:srgbClr val="1A1F24"/>
                </a:solidFill>
                <a:latin typeface="Courier New"/>
              </a:rPr>
              <a:t>65 324  −  65 536  =  −212 counts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572768" y="4352544"/>
            <a:ext cx="201168" cy="274320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75688" y="4389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6B7680"/>
                </a:solidFill>
                <a:latin typeface="Arial"/>
              </a:rPr>
              <a:t>× sensitivity, ±2 g → 0.061 mg/LSB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69494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00" b="1">
                <a:solidFill>
                  <a:srgbClr val="1A1F24"/>
                </a:solidFill>
                <a:latin typeface="Courier New"/>
              </a:rPr>
              <a:t>−212  ×  0.061 mg  =  −12.9 mg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572768" y="5266944"/>
            <a:ext cx="201168" cy="274320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5303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6B7680"/>
                </a:solidFill>
                <a:latin typeface="Arial"/>
              </a:rPr>
              <a:t>→ SI, × 9.80665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77840"/>
            <a:ext cx="69494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00" b="1">
                <a:solidFill>
                  <a:srgbClr val="F7F5F1"/>
                </a:solidFill>
                <a:latin typeface="Courier New"/>
              </a:rPr>
              <a:t>−0.0129 g  ×  9.80665  =  −0.127 m/s²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1920240"/>
            <a:ext cx="3502152" cy="210312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/>
            <a:r>
              <a:rPr sz="1700" b="1">
                <a:solidFill>
                  <a:srgbClr val="1A1F24"/>
                </a:solidFill>
                <a:latin typeface="Arial"/>
              </a:rPr>
              <a:t>Four steps.</a:t>
            </a:r>
          </a:p>
          <a:p>
            <a:pPr algn="l"/>
            <a:r>
              <a:rPr sz="1700" b="1">
                <a:solidFill>
                  <a:srgbClr val="1A1F24"/>
                </a:solidFill>
                <a:latin typeface="Arial"/>
              </a:rPr>
              <a:t/>
            </a:r>
          </a:p>
          <a:p>
            <a:pPr algn="l"/>
            <a:r>
              <a:rPr sz="1700" b="1">
                <a:solidFill>
                  <a:srgbClr val="1A1F24"/>
                </a:solidFill>
                <a:latin typeface="Arial"/>
              </a:rPr>
              <a:t>Four ways to get an answer that looks entirely reasonable.</a:t>
            </a:r>
          </a:p>
          <a:p>
            <a:pPr algn="l"/>
            <a:r>
              <a:rPr sz="1700" b="1">
                <a:solidFill>
                  <a:srgbClr val="1A1F24"/>
                </a:solidFill>
                <a:latin typeface="Arial"/>
              </a:rPr>
              <a:t/>
            </a:r>
          </a:p>
          <a:p>
            <a:pPr algn="l"/>
            <a:r>
              <a:rPr sz="1700" b="1">
                <a:solidFill>
                  <a:srgbClr val="1A1F24"/>
                </a:solidFill>
                <a:latin typeface="Arial"/>
              </a:rPr>
              <a:t>All four turn up in real laboratory submissions.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4206240"/>
            <a:ext cx="3502152" cy="123444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The device is very nearly at rest, tilted slightly, on this axis.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Four ways to a plausible wrong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All four appear in real laboratory submissions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2487"/>
                <a:gridCol w="2609990"/>
                <a:gridCol w="5002481"/>
              </a:tblGrid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The mistake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What you get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Why it is dangerous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Byte order — high byte read first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0x2CFF = 11 519 = +703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a wrong answer of a believable magnitude, which is the dangerous kind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Sign ignored — word read as unsigned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65 324 = +3985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a device at rest reporting nearly 4 g; at least this one announces itself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IF_INC — CTRL3_C written 0x00 “to start clean”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six copies of one byte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CTRL3_C resets to 0x04, so auto-increment was already on. You turned it off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Units left implicit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mg, g and m/s² in one file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put the unit in the column header, once, and never in the prose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44068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The plausibility check that tests the whole chain at once: at rest, one axis reads about 9.81 m/s², and the vector sum of all three is 1 g in any orientation.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bits you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Every figure below is already in the datasheet you have open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74519"/>
          <a:ext cx="108749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7482"/>
                <a:gridCol w="3262487"/>
                <a:gridCol w="304498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Arithmetic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full scale, ±2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4000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codes, 16-bit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2^16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65 536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4000 / 65 536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0.061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quantisation noise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0.061 / √12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0.018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bandwidth, ODR 104 Hz, LPF2 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104 /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52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sensor noise, 100 µg/√Hz (max)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100 × √52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0.721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noise, in 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0.721 / 0.061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11.8 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bits that are noise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log₂ 11.8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3.6 bits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EFFECTIVE BITS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16 − 3.6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12.4 bits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66928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F24"/>
                </a:solidFill>
                <a:latin typeface="Arial"/>
              </a:rPr>
              <a:t>The quantisation noise is forty times smaller than the sensor noise. Every argument about the last bit of an ADC is, in this system, an argument about nothing.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THE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You bought 16 bits.</a:t>
            </a:r>
          </a:p>
          <a:p>
            <a:pPr algn="l">
              <a:lnSpc>
                <a:spcPct val="118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You own 12.4.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With the datasheet's typ noise density of 60 µg/√Hz the same arithmetic gives 0.433 mg and 13.2 effective bits. The part's own two printed columns move the answer by 0.8 bits — Lecture 2's lesson, restated in a new quantity.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clock you did not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HAL_Delay(10) is not a 100 Hz sample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2240280"/>
            <a:ext cx="9679035" cy="65836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HAL_Delay(10)   ·   10.000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57443" y="2240280"/>
            <a:ext cx="196484" cy="65836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19293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D98324"/>
                </a:solidFill>
                <a:latin typeface="Courier New"/>
              </a:rPr>
              <a:t>I²C read  ·  202 µs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90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680"/>
                </a:solidFill>
                <a:latin typeface="Arial"/>
              </a:rPr>
              <a:t>one loop iteration  —  drawn to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37560"/>
            <a:ext cx="5349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Courier New"/>
              </a:rPr>
              <a:t>six bytes over I²C at 400 kHz</a:t>
            </a:r>
          </a:p>
          <a:p>
            <a:pPr algn="ctr"/>
            <a:r>
              <a:rPr sz="1700" b="1">
                <a:solidFill>
                  <a:srgbClr val="1A1F24"/>
                </a:solidFill>
                <a:latin typeface="Courier New"/>
              </a:rPr>
              <a:t>81 bit-times  ÷  400 kHz  =  202 µs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337560"/>
            <a:ext cx="5349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Courier New"/>
              </a:rPr>
              <a:t>10.000 + 0.202  =  10.203 ms</a:t>
            </a:r>
          </a:p>
          <a:p>
            <a:pPr algn="ctr"/>
            <a:r>
              <a:rPr sz="1700" b="1">
                <a:solidFill>
                  <a:srgbClr val="1A1F24"/>
                </a:solidFill>
                <a:latin typeface="Courier New"/>
              </a:rPr>
              <a:t>→  98.0 Hz,  not 100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805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Two per cent. Always in the same direction. Every single iteration.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6636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Nothing is broken. Nothing reports an error. The loop simply takes longer than you told it to —</a:t>
            </a:r>
          </a:p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and a delay is a minimum, never a period.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203 microseconds does to ten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20240"/>
          <a:ext cx="1087495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981"/>
                <a:gridCol w="3044988"/>
                <a:gridCol w="304498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You believe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Reality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Sample interval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10.000 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10.203 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Sample rate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98.0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A real 20 Hz tone is reported at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20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20.41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After 60 000 samples the log says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600.0 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612.1 s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Every event is stamped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when it happened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12.1 s too early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120640"/>
            <a:ext cx="10874959" cy="96012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50" b="1">
                <a:solidFill>
                  <a:srgbClr val="1A1F24"/>
                </a:solidFill>
                <a:latin typeface="Arial"/>
              </a:rPr>
              <a:t>Worse than a constant scaling error: the loop period depends on which branches ran, whether an interrupt arrived, and what the bus was doing.</a:t>
            </a:r>
          </a:p>
          <a:p>
            <a:pPr algn="ctr"/>
            <a:r>
              <a:rPr sz="1850" b="1">
                <a:solidFill>
                  <a:srgbClr val="1A1F24"/>
                </a:solidFill>
                <a:latin typeface="Arial"/>
              </a:rPr>
              <a:t>You can bound this error. You cannot invert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fix, which is 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Let the sensor decide when the sample happened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/>
                <a:gridCol w="3914985"/>
                <a:gridCol w="391498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Polling with a delay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Data-ready interrupt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Sets the interval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your software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the sensor's own timebase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Interval error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loop-dependent, unbounded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specified in the datasheet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Cumulative time error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grows without limit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bounded by the timebase tolerance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CPU cost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high — busy waiting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Effort to implement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slightly less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slightly more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80060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F7F5F1"/>
                </a:solidFill>
                <a:latin typeface="Arial"/>
              </a:rPr>
              <a:t>The sensor knows when it sampled. Ask it, rather than guessing.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8756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680"/>
                </a:solidFill>
                <a:latin typeface="Arial"/>
              </a:rPr>
              <a:t>Timestamp from a hardware timer, not a loop counter: the error becomes a published tolerance instead of your software's mood. Laboratory 2 asks for a timing plot for exactly this reason.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Knowing that the data is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Four cheap checks, each catching a failure that otherwise looks like bad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WHO_AM_I  (0x0F)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70048"/>
            <a:ext cx="2423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Read it and compare it with 0x6B.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One transaction proves the address, the bus, the pull-ups and the supply, all at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96596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SELF-TEST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670048"/>
            <a:ext cx="2423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Deflect the proof mass electrostatically by a known amount.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The only check here that tests the mechanics rather than the electronics.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6596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FIFO OVERRUN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2670048"/>
            <a:ext cx="2423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If the buffer overflowed, samples were lost and the rest are not evenly spaced.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A dropped sample is a timing error disguised as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1965960"/>
            <a:ext cx="26060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BUS ERROR &amp;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670048"/>
            <a:ext cx="2423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I²C can hang with a slave holding the data line low.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A design that cannot recover stops logging one day and gives no reason.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12080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All four are omitted from most first attempts. All four turn “the data looks strange” into “the sensor was never responding”.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1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Your accelerometer is 16-bit, configured for ±2 g, so its datasheet resolution is 0.061 mg/LSB. You configure ODR = 104 Hz and log the output.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What is the smallest change in acceleration your log can actually distinguish?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0.061 mg — that is what the datasheet says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0.018 mg — the quantisation noise, LSB/√12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0.72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cannot be determined from what you have been told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0.72 mg — nearly twelve times the LSB. Your first answer should have been D: you had not been given the noise density. The right answer now is C, and you computed it yourselves.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water-level logger reads a 4–20 mA pressure loop through a 100 Ω sense resistor and a 12-bit ADC, polling in a while() loop with a 50 ms delay. It runs for a week.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Afterwards you discover all four of the following. Which one can you still fix?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reported level is 40 mm high across the whole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timestamps drift, ending 90 s behind real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9.7 Hz component from the pump has folded into the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last two ADC bits were always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241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Different measurand, different interface, different failure — the same question underneath. Vote, then hold your answer: the next slide is the answer to this one.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Calibratable, or gone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table to keep — and Poll 4's answer is its first row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74519"/>
          <a:ext cx="10874958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/>
                <a:gridCol w="2609990"/>
                <a:gridCol w="521998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Removable afterwards?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How, or why not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one-point calibration against a known reference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Scale factor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two-point calibration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Byte order, sign, units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reinterpret the file — the bits are all there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Temperature drift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only if you logged the temperature. So log it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Random noise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averaging reduces it by √N, and costs you bandwidth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Quantisation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NO — but negligible here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0.018 mg against 0.721 mg of noise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Aliasing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the alias and the signal are the same numbers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A lost or wrong timestamp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the timing information was never recorded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53212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Everything above is a transformation of data that is still there. Everything below is missing information.</a:t>
            </a:r>
          </a:p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No amount of processing creates information.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Three numbers, one log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All three were computable before a line of firmware was written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3438144" cy="2514600"/>
          </a:xfrm>
          <a:prstGeom prst="rect">
            <a:avLst/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9424"/>
            <a:ext cx="34381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0E7C86"/>
                </a:solidFill>
                <a:latin typeface="Courier New"/>
              </a:rPr>
              <a:t>12.4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0040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E7C86"/>
                </a:solidFill>
                <a:latin typeface="Arial"/>
              </a:rPr>
              <a:t>BITS THAT CARRY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16 − log₂(0.721 / 0.061), from the</a:t>
            </a:r>
          </a:p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noise density and your bandwidth.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011680"/>
            <a:ext cx="3438144" cy="251460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249424"/>
            <a:ext cx="34381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C0392B"/>
                </a:solidFill>
                <a:latin typeface="Courier New"/>
              </a:rPr>
              <a:t>12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20040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A SIGNAL THAT DOES NOT EXIST IN THE 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767328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| 300 − 3 × 104 |. One register</a:t>
            </a:r>
          </a:p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bit, left at its reset value of 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011680"/>
            <a:ext cx="3438144" cy="251460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49424"/>
            <a:ext cx="34381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0" b="1" i="0">
                <a:solidFill>
                  <a:srgbClr val="C0392B"/>
                </a:solidFill>
                <a:latin typeface="Courier New"/>
              </a:rPr>
              <a:t>12.1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OF TIMESTAMP ERROR AFTER TEN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67328"/>
            <a:ext cx="31455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60 000 × 0.203 ms. One I²C read</a:t>
            </a:r>
          </a:p>
          <a:p>
            <a:pPr algn="ctr">
              <a:lnSpc>
                <a:spcPct val="128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loop never accounted for.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92040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One of the three you can state and live with. Two of them cannot be repaired afterwards at any price —</a:t>
            </a:r>
          </a:p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and neither of those two announces itself anywhere in the file.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same three numbers you were shown at the start. You now know where every one of them came from.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four claims a trustworthy sample makes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856231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276855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A value in SI units — with the sensitivity, the sign convention and the byte order you assumed, stated.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2071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843783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How much of it is information?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3264407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The effective resolution, from the noise density and YOUR bandwidth. 12.4 bits, not 16.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49623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831335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Which band does it represent?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251959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The measurement bandwidth, and evidence that a filter sat below it, before the sampler. Not the ODR.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37175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818887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When did it happen?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5239511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A timestamp whose error you can state, from a source you can name.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23560"/>
            <a:ext cx="10874959" cy="621792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Arial"/>
              </a:rPr>
              <a:t>A log file that cannot answer these four is not data. It is a plausible file.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7F5F1"/>
                </a:solidFill>
                <a:latin typeface="Arial"/>
              </a:rPr>
              <a:t>Week 4: Laboratory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0E7C86"/>
                </a:solidFill>
                <a:latin typeface="Arial"/>
              </a:rPr>
              <a:t>Sampling, aliasing and the ADC — with the register bits in your hands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87168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PRE-LAB, before you arrive: compute the effective bits for TWO ODR settings, exactly as we did today.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The bench time is for measuring, not for deriving — and you will be asked for a timing 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40480"/>
            <a:ext cx="10874959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Bring one answer with you: which bit do you set so that 52 Hz actually means 52 Hz?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70916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001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Arial"/>
              </a:rPr>
              <a:t>AND THEN LECTURE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6752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F7F5F1"/>
                </a:solidFill>
                <a:latin typeface="Arial"/>
              </a:rPr>
              <a:t>MEMS structures, transduction, fabrication and packaging — why the numbers in the datasheet are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F7F5F1"/>
                </a:solidFill>
                <a:latin typeface="Arial"/>
              </a:rPr>
              <a:t>the numbers they are, and where drift comes from before anybody switches anything 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3  ·  From physical quantity to trustworthy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Exit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Ninety seconds · on paper · handed in at the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1  ·  JUDGEMENT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3464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A colleague says: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“we will sample at 1 kHz and filter it down in software afterwards.”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In one sentence, what is wrong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with that plan?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2  · 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83464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Name one error in your Laboratory 1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data that you now believe was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IRREVERSIBLE.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One line. No explanation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3492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Question 2 is the one that matters. It is the input to Lecture 4's opening slide, so it will actually be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