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08df8fbf1a4a1b" /><Relationship Type="http://schemas.openxmlformats.org/officeDocument/2006/relationships/extended-properties" Target="/docProps/app.xml" Id="R3b2f5f2ff8204632" /><Relationship Type="http://schemas.openxmlformats.org/officeDocument/2006/relationships/officeDocument" Target="/ppt/presentation.xml" Id="R2e198e5dfc914c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90b6f114834685"/>
  </p:sldMasterIdLst>
  <p:notesMasterIdLst>
    <p:notesMasterId xmlns:r="http://schemas.openxmlformats.org/officeDocument/2006/relationships" r:id="R1ff6bec2c46344b4"/>
  </p:notesMasterIdLst>
  <p:sldIdLst>
    <p:sldId xmlns:r="http://schemas.openxmlformats.org/officeDocument/2006/relationships" id="256" r:id="Ra8bcde4c07a9403b"/>
    <p:sldId xmlns:r="http://schemas.openxmlformats.org/officeDocument/2006/relationships" id="257" r:id="R13cbd6daefca4152"/>
    <p:sldId xmlns:r="http://schemas.openxmlformats.org/officeDocument/2006/relationships" id="258" r:id="Rb58dbe0bdd69432b"/>
    <p:sldId xmlns:r="http://schemas.openxmlformats.org/officeDocument/2006/relationships" id="259" r:id="R797d46035b2e4aba"/>
    <p:sldId xmlns:r="http://schemas.openxmlformats.org/officeDocument/2006/relationships" id="260" r:id="Rfeeb7b11143447eb"/>
    <p:sldId xmlns:r="http://schemas.openxmlformats.org/officeDocument/2006/relationships" id="261" r:id="R595f3cc9d8524ca8"/>
    <p:sldId xmlns:r="http://schemas.openxmlformats.org/officeDocument/2006/relationships" id="262" r:id="R38be2ebc2b2c48e7"/>
    <p:sldId xmlns:r="http://schemas.openxmlformats.org/officeDocument/2006/relationships" id="263" r:id="Rb66dcffc59964292"/>
    <p:sldId xmlns:r="http://schemas.openxmlformats.org/officeDocument/2006/relationships" id="264" r:id="R3c8ebeb8f0f24058"/>
    <p:sldId xmlns:r="http://schemas.openxmlformats.org/officeDocument/2006/relationships" id="265" r:id="R1c7f0ce50c6f488c"/>
    <p:sldId xmlns:r="http://schemas.openxmlformats.org/officeDocument/2006/relationships" id="266" r:id="Rdcb3ab250cf84c5e"/>
    <p:sldId xmlns:r="http://schemas.openxmlformats.org/officeDocument/2006/relationships" id="267" r:id="Re53fc34d44d94243"/>
    <p:sldId xmlns:r="http://schemas.openxmlformats.org/officeDocument/2006/relationships" id="268" r:id="R26548403954543b6"/>
    <p:sldId xmlns:r="http://schemas.openxmlformats.org/officeDocument/2006/relationships" id="269" r:id="Re3822eb025a745bd"/>
    <p:sldId xmlns:r="http://schemas.openxmlformats.org/officeDocument/2006/relationships" id="270" r:id="Re0b41a17c42649e7"/>
    <p:sldId xmlns:r="http://schemas.openxmlformats.org/officeDocument/2006/relationships" id="271" r:id="R8ef2c2e93ed94747"/>
    <p:sldId xmlns:r="http://schemas.openxmlformats.org/officeDocument/2006/relationships" id="272" r:id="Rba6c50b76c69432c"/>
    <p:sldId xmlns:r="http://schemas.openxmlformats.org/officeDocument/2006/relationships" id="273" r:id="Rf53fa2c80bc843c5"/>
    <p:sldId xmlns:r="http://schemas.openxmlformats.org/officeDocument/2006/relationships" id="274" r:id="Rd8f55c4225b84296"/>
    <p:sldId xmlns:r="http://schemas.openxmlformats.org/officeDocument/2006/relationships" id="275" r:id="R570017853e5a4a5b"/>
    <p:sldId xmlns:r="http://schemas.openxmlformats.org/officeDocument/2006/relationships" id="276" r:id="Rfce9c675de3a4240"/>
    <p:sldId xmlns:r="http://schemas.openxmlformats.org/officeDocument/2006/relationships" id="277" r:id="R010b0a96c55e4b9d"/>
    <p:sldId xmlns:r="http://schemas.openxmlformats.org/officeDocument/2006/relationships" id="278" r:id="R9d887f81d522420e"/>
    <p:sldId xmlns:r="http://schemas.openxmlformats.org/officeDocument/2006/relationships" id="279" r:id="Ra783e2344f3f4381"/>
    <p:sldId xmlns:r="http://schemas.openxmlformats.org/officeDocument/2006/relationships" id="280" r:id="Ra86f932a14a94bf7"/>
    <p:sldId xmlns:r="http://schemas.openxmlformats.org/officeDocument/2006/relationships" id="281" r:id="Rde1b3af58d5e4a06"/>
    <p:sldId xmlns:r="http://schemas.openxmlformats.org/officeDocument/2006/relationships" id="282" r:id="R46ba5dac3d1f41c5"/>
    <p:sldId xmlns:r="http://schemas.openxmlformats.org/officeDocument/2006/relationships" id="283" r:id="R850c0bdcb79744dd"/>
    <p:sldId xmlns:r="http://schemas.openxmlformats.org/officeDocument/2006/relationships" id="284" r:id="R91f36e8e516d4394"/>
    <p:sldId xmlns:r="http://schemas.openxmlformats.org/officeDocument/2006/relationships" id="285" r:id="R9c15c24f2a98476e"/>
    <p:sldId xmlns:r="http://schemas.openxmlformats.org/officeDocument/2006/relationships" id="286" r:id="R0d9c4e8547854110"/>
    <p:sldId xmlns:r="http://schemas.openxmlformats.org/officeDocument/2006/relationships" id="287" r:id="R14b94026ddde4b1e"/>
    <p:sldId xmlns:r="http://schemas.openxmlformats.org/officeDocument/2006/relationships" id="288" r:id="R70a37bff6a774144"/>
    <p:sldId xmlns:r="http://schemas.openxmlformats.org/officeDocument/2006/relationships" id="289" r:id="Rf08bcc0c44d84cf8"/>
    <p:sldId xmlns:r="http://schemas.openxmlformats.org/officeDocument/2006/relationships" id="290" r:id="R0fc3c3a102604d78"/>
    <p:sldId xmlns:r="http://schemas.openxmlformats.org/officeDocument/2006/relationships" id="291" r:id="Rc794816071544246"/>
    <p:sldId xmlns:r="http://schemas.openxmlformats.org/officeDocument/2006/relationships" id="292" r:id="Rd6015cfd64f0461d"/>
    <p:sldId xmlns:r="http://schemas.openxmlformats.org/officeDocument/2006/relationships" id="293" r:id="Rb376c5d6a1c74a86"/>
    <p:sldId xmlns:r="http://schemas.openxmlformats.org/officeDocument/2006/relationships" id="294" r:id="R706a7d93b5d641c2"/>
    <p:sldId xmlns:r="http://schemas.openxmlformats.org/officeDocument/2006/relationships" id="295" r:id="Rb09c4a728dfb478f"/>
    <p:sldId xmlns:r="http://schemas.openxmlformats.org/officeDocument/2006/relationships" id="296" r:id="Rfac2c02c08d84493"/>
    <p:sldId xmlns:r="http://schemas.openxmlformats.org/officeDocument/2006/relationships" id="297" r:id="Rf3032a0e904f4274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72fe30d94244b4" /><Relationship Type="http://schemas.openxmlformats.org/officeDocument/2006/relationships/slideMaster" Target="/ppt/slideMasters/slideMaster1.xml" Id="Re090b6f114834685" /><Relationship Type="http://schemas.openxmlformats.org/officeDocument/2006/relationships/notesMaster" Target="/ppt/notesMasters/notesMaster1.xml" Id="R1ff6bec2c46344b4" /><Relationship Type="http://schemas.openxmlformats.org/officeDocument/2006/relationships/presProps" Target="/ppt/presProps.xml" Id="Rb0c61ba7ea3740ff" /><Relationship Type="http://schemas.openxmlformats.org/officeDocument/2006/relationships/viewProps" Target="/ppt/viewProps.xml" Id="Rc47d933bafdc49ea" /><Relationship Type="http://schemas.openxmlformats.org/officeDocument/2006/relationships/tableStyles" Target="/ppt/tableStyles.xml" Id="Ra1f6741bac32486c" /><Relationship Type="http://schemas.openxmlformats.org/officeDocument/2006/relationships/slide" Target="/ppt/slides/slide1.xml" Id="Ra8bcde4c07a9403b" /><Relationship Type="http://schemas.openxmlformats.org/officeDocument/2006/relationships/slide" Target="/ppt/slides/slide2.xml" Id="R13cbd6daefca4152" /><Relationship Type="http://schemas.openxmlformats.org/officeDocument/2006/relationships/slide" Target="/ppt/slides/slide3.xml" Id="Rb58dbe0bdd69432b" /><Relationship Type="http://schemas.openxmlformats.org/officeDocument/2006/relationships/slide" Target="/ppt/slides/slide4.xml" Id="R797d46035b2e4aba" /><Relationship Type="http://schemas.openxmlformats.org/officeDocument/2006/relationships/slide" Target="/ppt/slides/slide5.xml" Id="Rfeeb7b11143447eb" /><Relationship Type="http://schemas.openxmlformats.org/officeDocument/2006/relationships/slide" Target="/ppt/slides/slide6.xml" Id="R595f3cc9d8524ca8" /><Relationship Type="http://schemas.openxmlformats.org/officeDocument/2006/relationships/slide" Target="/ppt/slides/slide7.xml" Id="R38be2ebc2b2c48e7" /><Relationship Type="http://schemas.openxmlformats.org/officeDocument/2006/relationships/slide" Target="/ppt/slides/slide8.xml" Id="Rb66dcffc59964292" /><Relationship Type="http://schemas.openxmlformats.org/officeDocument/2006/relationships/slide" Target="/ppt/slides/slide9.xml" Id="R3c8ebeb8f0f24058" /><Relationship Type="http://schemas.openxmlformats.org/officeDocument/2006/relationships/slide" Target="/ppt/slides/slide10.xml" Id="R1c7f0ce50c6f488c" /><Relationship Type="http://schemas.openxmlformats.org/officeDocument/2006/relationships/slide" Target="/ppt/slides/slide11.xml" Id="Rdcb3ab250cf84c5e" /><Relationship Type="http://schemas.openxmlformats.org/officeDocument/2006/relationships/slide" Target="/ppt/slides/slide12.xml" Id="Re53fc34d44d94243" /><Relationship Type="http://schemas.openxmlformats.org/officeDocument/2006/relationships/slide" Target="/ppt/slides/slide13.xml" Id="R26548403954543b6" /><Relationship Type="http://schemas.openxmlformats.org/officeDocument/2006/relationships/slide" Target="/ppt/slides/slide14.xml" Id="Re3822eb025a745bd" /><Relationship Type="http://schemas.openxmlformats.org/officeDocument/2006/relationships/slide" Target="/ppt/slides/slide15.xml" Id="Re0b41a17c42649e7" /><Relationship Type="http://schemas.openxmlformats.org/officeDocument/2006/relationships/slide" Target="/ppt/slides/slide16.xml" Id="R8ef2c2e93ed94747" /><Relationship Type="http://schemas.openxmlformats.org/officeDocument/2006/relationships/slide" Target="/ppt/slides/slide17.xml" Id="Rba6c50b76c69432c" /><Relationship Type="http://schemas.openxmlformats.org/officeDocument/2006/relationships/slide" Target="/ppt/slides/slide18.xml" Id="Rf53fa2c80bc843c5" /><Relationship Type="http://schemas.openxmlformats.org/officeDocument/2006/relationships/slide" Target="/ppt/slides/slide19.xml" Id="Rd8f55c4225b84296" /><Relationship Type="http://schemas.openxmlformats.org/officeDocument/2006/relationships/slide" Target="/ppt/slides/slide20.xml" Id="R570017853e5a4a5b" /><Relationship Type="http://schemas.openxmlformats.org/officeDocument/2006/relationships/slide" Target="/ppt/slides/slide21.xml" Id="Rfce9c675de3a4240" /><Relationship Type="http://schemas.openxmlformats.org/officeDocument/2006/relationships/slide" Target="/ppt/slides/slide22.xml" Id="R010b0a96c55e4b9d" /><Relationship Type="http://schemas.openxmlformats.org/officeDocument/2006/relationships/slide" Target="/ppt/slides/slide23.xml" Id="R9d887f81d522420e" /><Relationship Type="http://schemas.openxmlformats.org/officeDocument/2006/relationships/slide" Target="/ppt/slides/slide24.xml" Id="Ra783e2344f3f4381" /><Relationship Type="http://schemas.openxmlformats.org/officeDocument/2006/relationships/slide" Target="/ppt/slides/slide25.xml" Id="Ra86f932a14a94bf7" /><Relationship Type="http://schemas.openxmlformats.org/officeDocument/2006/relationships/slide" Target="/ppt/slides/slide26.xml" Id="Rde1b3af58d5e4a06" /><Relationship Type="http://schemas.openxmlformats.org/officeDocument/2006/relationships/slide" Target="/ppt/slides/slide27.xml" Id="R46ba5dac3d1f41c5" /><Relationship Type="http://schemas.openxmlformats.org/officeDocument/2006/relationships/slide" Target="/ppt/slides/slide28.xml" Id="R850c0bdcb79744dd" /><Relationship Type="http://schemas.openxmlformats.org/officeDocument/2006/relationships/slide" Target="/ppt/slides/slide29.xml" Id="R91f36e8e516d4394" /><Relationship Type="http://schemas.openxmlformats.org/officeDocument/2006/relationships/slide" Target="/ppt/slides/slide30.xml" Id="R9c15c24f2a98476e" /><Relationship Type="http://schemas.openxmlformats.org/officeDocument/2006/relationships/slide" Target="/ppt/slides/slide31.xml" Id="R0d9c4e8547854110" /><Relationship Type="http://schemas.openxmlformats.org/officeDocument/2006/relationships/slide" Target="/ppt/slides/slide32.xml" Id="R14b94026ddde4b1e" /><Relationship Type="http://schemas.openxmlformats.org/officeDocument/2006/relationships/slide" Target="/ppt/slides/slide33.xml" Id="R70a37bff6a774144" /><Relationship Type="http://schemas.openxmlformats.org/officeDocument/2006/relationships/slide" Target="/ppt/slides/slide34.xml" Id="Rf08bcc0c44d84cf8" /><Relationship Type="http://schemas.openxmlformats.org/officeDocument/2006/relationships/slide" Target="/ppt/slides/slide35.xml" Id="R0fc3c3a102604d78" /><Relationship Type="http://schemas.openxmlformats.org/officeDocument/2006/relationships/slide" Target="/ppt/slides/slide36.xml" Id="Rc794816071544246" /><Relationship Type="http://schemas.openxmlformats.org/officeDocument/2006/relationships/slide" Target="/ppt/slides/slide37.xml" Id="Rd6015cfd64f0461d" /><Relationship Type="http://schemas.openxmlformats.org/officeDocument/2006/relationships/slide" Target="/ppt/slides/slide38.xml" Id="Rb376c5d6a1c74a86" /><Relationship Type="http://schemas.openxmlformats.org/officeDocument/2006/relationships/slide" Target="/ppt/slides/slide39.xml" Id="R706a7d93b5d641c2" /><Relationship Type="http://schemas.openxmlformats.org/officeDocument/2006/relationships/slide" Target="/ppt/slides/slide40.xml" Id="Rb09c4a728dfb478f" /><Relationship Type="http://schemas.openxmlformats.org/officeDocument/2006/relationships/slide" Target="/ppt/slides/slide41.xml" Id="Rfac2c02c08d84493" /><Relationship Type="http://schemas.openxmlformats.org/officeDocument/2006/relationships/slide" Target="/ppt/slides/slide42.xml" Id="Rf3032a0e904f42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689dd4cbb144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1233b5c8464ca2" /><Relationship Type="http://schemas.openxmlformats.org/officeDocument/2006/relationships/notesMaster" Target="/ppt/notesMasters/notesMaster1.xml" Id="R3a90d57af85546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128c7b78694536" /><Relationship Type="http://schemas.openxmlformats.org/officeDocument/2006/relationships/notesMaster" Target="/ppt/notesMasters/notesMaster1.xml" Id="Rdae4a6a2d96945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12b89c6bac4fa5" /><Relationship Type="http://schemas.openxmlformats.org/officeDocument/2006/relationships/notesMaster" Target="/ppt/notesMasters/notesMaster1.xml" Id="Re596dddc6fc843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e6e337e5414ebe" /><Relationship Type="http://schemas.openxmlformats.org/officeDocument/2006/relationships/notesMaster" Target="/ppt/notesMasters/notesMaster1.xml" Id="Rae7f80c454d845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598dba20b94cc3" /><Relationship Type="http://schemas.openxmlformats.org/officeDocument/2006/relationships/notesMaster" Target="/ppt/notesMasters/notesMaster1.xml" Id="R556dff66186440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dee76588644196" /><Relationship Type="http://schemas.openxmlformats.org/officeDocument/2006/relationships/notesMaster" Target="/ppt/notesMasters/notesMaster1.xml" Id="R3ff2c68bca2b4b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cf026a6ab546be" /><Relationship Type="http://schemas.openxmlformats.org/officeDocument/2006/relationships/notesMaster" Target="/ppt/notesMasters/notesMaster1.xml" Id="Rc38e652b1f5945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d0e11c998f48b1" /><Relationship Type="http://schemas.openxmlformats.org/officeDocument/2006/relationships/notesMaster" Target="/ppt/notesMasters/notesMaster1.xml" Id="R57e92ca03d7246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ac8f5e0b554c0b" /><Relationship Type="http://schemas.openxmlformats.org/officeDocument/2006/relationships/notesMaster" Target="/ppt/notesMasters/notesMaster1.xml" Id="R356720c67b0946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fbbafe5b244e6d" /><Relationship Type="http://schemas.openxmlformats.org/officeDocument/2006/relationships/notesMaster" Target="/ppt/notesMasters/notesMaster1.xml" Id="R6446479057f54b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7a9bf8dd284af8" /><Relationship Type="http://schemas.openxmlformats.org/officeDocument/2006/relationships/notesMaster" Target="/ppt/notesMasters/notesMaster1.xml" Id="Rdab017fad5844b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6596411e2141b8" /><Relationship Type="http://schemas.openxmlformats.org/officeDocument/2006/relationships/notesMaster" Target="/ppt/notesMasters/notesMaster1.xml" Id="Raba4f0457afe4e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9d592f20e14ce4" /><Relationship Type="http://schemas.openxmlformats.org/officeDocument/2006/relationships/notesMaster" Target="/ppt/notesMasters/notesMaster1.xml" Id="R275b889e190a48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346fbd373041f8" /><Relationship Type="http://schemas.openxmlformats.org/officeDocument/2006/relationships/notesMaster" Target="/ppt/notesMasters/notesMaster1.xml" Id="R31c42c9bc7d74d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cbb589508644a1" /><Relationship Type="http://schemas.openxmlformats.org/officeDocument/2006/relationships/notesMaster" Target="/ppt/notesMasters/notesMaster1.xml" Id="Ra0904c4f916647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6a2328133342bf" /><Relationship Type="http://schemas.openxmlformats.org/officeDocument/2006/relationships/notesMaster" Target="/ppt/notesMasters/notesMaster1.xml" Id="R6547776865524e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cdd01692ed444c3" /><Relationship Type="http://schemas.openxmlformats.org/officeDocument/2006/relationships/notesMaster" Target="/ppt/notesMasters/notesMaster1.xml" Id="Rc1513e65a0ae42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a2cfbc9e2a4b04" /><Relationship Type="http://schemas.openxmlformats.org/officeDocument/2006/relationships/notesMaster" Target="/ppt/notesMasters/notesMaster1.xml" Id="R083b8b06956847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154ec9a7594238" /><Relationship Type="http://schemas.openxmlformats.org/officeDocument/2006/relationships/notesMaster" Target="/ppt/notesMasters/notesMaster1.xml" Id="R3744a0c2ed64470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371c7ef322b4cb3" /><Relationship Type="http://schemas.openxmlformats.org/officeDocument/2006/relationships/notesMaster" Target="/ppt/notesMasters/notesMaster1.xml" Id="Rd9f9c711084d403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964f8417d074ac0" /><Relationship Type="http://schemas.openxmlformats.org/officeDocument/2006/relationships/notesMaster" Target="/ppt/notesMasters/notesMaster1.xml" Id="R9d2c2f1dda68443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53ae03eb49145bf" /><Relationship Type="http://schemas.openxmlformats.org/officeDocument/2006/relationships/notesMaster" Target="/ppt/notesMasters/notesMaster1.xml" Id="R3e035814b5374e3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a3ef857b6f744b9" /><Relationship Type="http://schemas.openxmlformats.org/officeDocument/2006/relationships/notesMaster" Target="/ppt/notesMasters/notesMaster1.xml" Id="R4c3dc94393034ab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6939e39b9784508" /><Relationship Type="http://schemas.openxmlformats.org/officeDocument/2006/relationships/notesMaster" Target="/ppt/notesMasters/notesMaster1.xml" Id="R097ae10e67ed4d0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841aa6a9a724dcf" /><Relationship Type="http://schemas.openxmlformats.org/officeDocument/2006/relationships/notesMaster" Target="/ppt/notesMasters/notesMaster1.xml" Id="R958ff23790114e2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9a90f1d23c14565" /><Relationship Type="http://schemas.openxmlformats.org/officeDocument/2006/relationships/notesMaster" Target="/ppt/notesMasters/notesMaster1.xml" Id="R147925a39552480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d81e30e2a7f4299" /><Relationship Type="http://schemas.openxmlformats.org/officeDocument/2006/relationships/notesMaster" Target="/ppt/notesMasters/notesMaster1.xml" Id="Rd46baccaef584b6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1212018c2c04922" /><Relationship Type="http://schemas.openxmlformats.org/officeDocument/2006/relationships/notesMaster" Target="/ppt/notesMasters/notesMaster1.xml" Id="Rdf6e593b6a8e4e3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180da02cce64bf5" /><Relationship Type="http://schemas.openxmlformats.org/officeDocument/2006/relationships/notesMaster" Target="/ppt/notesMasters/notesMaster1.xml" Id="Rb4669eaf90c242c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71a2a4ac2ac468b" /><Relationship Type="http://schemas.openxmlformats.org/officeDocument/2006/relationships/notesMaster" Target="/ppt/notesMasters/notesMaster1.xml" Id="Rc62c99adbccf486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1bcd56f72564131" /><Relationship Type="http://schemas.openxmlformats.org/officeDocument/2006/relationships/notesMaster" Target="/ppt/notesMasters/notesMaster1.xml" Id="R01f702b58b264df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4a14690e2f64009" /><Relationship Type="http://schemas.openxmlformats.org/officeDocument/2006/relationships/notesMaster" Target="/ppt/notesMasters/notesMaster1.xml" Id="Rc3b92d7e739b43c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55d301925664f4c" /><Relationship Type="http://schemas.openxmlformats.org/officeDocument/2006/relationships/notesMaster" Target="/ppt/notesMasters/notesMaster1.xml" Id="Rd79a23c2724a48e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19c925a5bca41f2" /><Relationship Type="http://schemas.openxmlformats.org/officeDocument/2006/relationships/notesMaster" Target="/ppt/notesMasters/notesMaster1.xml" Id="R60924ba35553468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2593c25f9d349d0" /><Relationship Type="http://schemas.openxmlformats.org/officeDocument/2006/relationships/notesMaster" Target="/ppt/notesMasters/notesMaster1.xml" Id="Rbfaceb74174c4d4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0a111b032394ce5" /><Relationship Type="http://schemas.openxmlformats.org/officeDocument/2006/relationships/notesMaster" Target="/ppt/notesMasters/notesMaster1.xml" Id="R0d69d45a52ce4cc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2217bfbaaec4c7f" /><Relationship Type="http://schemas.openxmlformats.org/officeDocument/2006/relationships/notesMaster" Target="/ppt/notesMasters/notesMaster1.xml" Id="R467161d3d72d400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89a4ea4115f4a44" /><Relationship Type="http://schemas.openxmlformats.org/officeDocument/2006/relationships/notesMaster" Target="/ppt/notesMasters/notesMaster1.xml" Id="Rd3da2cdf78764ea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34abf54c7eb4635" /><Relationship Type="http://schemas.openxmlformats.org/officeDocument/2006/relationships/notesMaster" Target="/ppt/notesMasters/notesMaster1.xml" Id="R19e59489aeb245e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c3029e4ed954b19" /><Relationship Type="http://schemas.openxmlformats.org/officeDocument/2006/relationships/notesMaster" Target="/ppt/notesMasters/notesMaster1.xml" Id="R11d3de2e4b784d8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45c9b3c91b44376" /><Relationship Type="http://schemas.openxmlformats.org/officeDocument/2006/relationships/notesMaster" Target="/ppt/notesMasters/notesMaster1.xml" Id="R5d48c42fed034c8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35adf84f1f149c3" /><Relationship Type="http://schemas.openxmlformats.org/officeDocument/2006/relationships/notesMaster" Target="/ppt/notesMasters/notesMaster1.xml" Id="R2a103f4c8beb45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00:00–00:01.</a:t>
            </a:r>
          </a:p>
          <a:p xmlns:a="http://schemas.openxmlformats.org/drawingml/2006/main"/>
          <a:p xmlns:a="http://schemas.openxmlformats.org/drawingml/2006/main">
            <a:r>
              <a:t>BEFORE THE BELL: the muddiest points from Lecture 2's exit tickets typed into the</a:t>
            </a:r>
          </a:p>
          <a:p xmlns:a="http://schemas.openxmlformats.org/drawingml/2006/main">
            <a:r>
              <a:t>next slide, the ISM330DHCX datasheet open at the accelerometer noise table, and</a:t>
            </a:r>
          </a:p>
          <a:p xmlns:a="http://schemas.openxmlformats.org/drawingml/2006/main">
            <a:r>
              <a:t>three board colours if you have them — teal, amber, red.</a:t>
            </a:r>
          </a:p>
          <a:p xmlns:a="http://schemas.openxmlformats.org/drawingml/2006/main"/>
          <a:p xmlns:a="http://schemas.openxmlformats.org/drawingml/2006/main">
            <a:r>
              <a:t>Do not preview the lecture. Say one sentence and move: "Last week you chose a</a:t>
            </a:r>
          </a:p>
          <a:p xmlns:a="http://schemas.openxmlformats.org/drawingml/2006/main">
            <a:r>
              <a:t>part and defended it with arithmetic. This week the part is on the bench, it is</a:t>
            </a:r>
          </a:p>
          <a:p xmlns:a="http://schemas.openxmlformats.org/drawingml/2006/main">
            <a:r>
              <a:t>filling a file with numbers, and I am going to ask you how much of that file is</a:t>
            </a:r>
          </a:p>
          <a:p xmlns:a="http://schemas.openxmlformats.org/drawingml/2006/main">
            <a:r>
              <a:t>true." Then the muddiest points.</a:t>
            </a:r>
          </a:p>
          <a:p xmlns:a="http://schemas.openxmlformats.org/drawingml/2006/main"/>
          <a:p xmlns:a="http://schemas.openxmlformats.org/drawingml/2006/main">
            <a:r>
              <a:t>No microcontrollers today. If students brought them, ask them to put them away —</a:t>
            </a:r>
          </a:p>
          <a:p xmlns:a="http://schemas.openxmlformats.org/drawingml/2006/main">
            <a:r>
              <a:t>this is the lecture before the bench, deliberately.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00:01–00:02. TEMPLATE SLIDE — fill it in before class.</a:t>
            </a:r>
          </a:p>
          <a:p xmlns:a="http://schemas.openxmlformats.org/drawingml/2006/main"/>
          <a:p xmlns:a="http://schemas.openxmlformats.org/drawingml/2006/main">
            <a:r>
              <a:t>Twenty-five seconds each, no more. Name the concept, never the student.</a:t>
            </a:r>
          </a:p>
          <a:p xmlns:a="http://schemas.openxmlformats.org/drawingml/2006/main"/>
          <a:p xmlns:a="http://schemas.openxmlformats.org/drawingml/2006/main">
            <a:r>
              <a:t>Two answers are worth preparing in advance because they recur: "typ versus max"</a:t>
            </a:r>
          </a:p>
          <a:p xmlns:a="http://schemas.openxmlformats.org/drawingml/2006/main">
            <a:r>
              <a:t>and "why bandwidth appears in a noise calculation at all". Both come back today,</a:t>
            </a:r>
          </a:p>
          <a:p xmlns:a="http://schemas.openxmlformats.org/drawingml/2006/main">
            <a:r>
              <a:t>the second one at minute 56, so if they are on the list say "we settle that</a:t>
            </a:r>
          </a:p>
          <a:p xmlns:a="http://schemas.openxmlformats.org/drawingml/2006/main">
            <a:r>
              <a:t>properly in an hour" and move.</a:t>
            </a:r>
          </a:p>
          <a:p xmlns:a="http://schemas.openxmlformats.org/drawingml/2006/main"/>
          <a:p xmlns:a="http://schemas.openxmlformats.org/drawingml/2006/main">
            <a:r>
              <a:t>If Lecture 2's tickets showed the ODR-is-not-bandwidth confusion, do NOT fix it</a:t>
            </a:r>
          </a:p>
          <a:p xmlns:a="http://schemas.openxmlformats.org/drawingml/2006/main">
            <a:r>
              <a:t>here. It is today's Poll 3 and you want the misconception alive at minute 44.</a:t>
            </a:r>
          </a:p>
          <a:p xmlns:a="http://schemas.openxmlformats.org/drawingml/2006/main"/>
          <a:p xmlns:a="http://schemas.openxmlformats.org/drawingml/2006/main">
            <a:r>
              <a:t>If you received no useful tickets, delete this slide rather than improvising.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00:02–00:05. RETRIEVAL PRACTICE, not review. Ask before you show.</a:t>
            </a:r>
          </a:p>
          <a:p xmlns:a="http://schemas.openxmlformats.org/drawingml/2006/main"/>
          <a:p xmlns:a="http://schemas.openxmlformats.org/drawingml/2006/main">
            <a:r>
              <a:t>"Sheets down. Name the seven stages, in order." One student per stage, take them</a:t>
            </a:r>
          </a:p>
          <a:p xmlns:a="http://schemas.openxmlformats.org/drawingml/2006/main">
            <a:r>
              <a:t>from the room. It costs ninety seconds and beats re-explaining the diagram.</a:t>
            </a:r>
          </a:p>
          <a:p xmlns:a="http://schemas.openxmlformats.org/drawingml/2006/main"/>
          <a:p xmlns:a="http://schemas.openxmlformats.org/drawingml/2006/main">
            <a:r>
              <a:t>Then narrow: "Lecture 2 lived in box 3 — choosing the device. Today we live in</a:t>
            </a:r>
          </a:p>
          <a:p xmlns:a="http://schemas.openxmlformats.org/drawingml/2006/main">
            <a:r>
              <a:t>five, six and seven: sampling, codes to units, and the timestamp. That is the</a:t>
            </a:r>
          </a:p>
          <a:p xmlns:a="http://schemas.openxmlformats.org/drawingml/2006/main">
            <a:r>
              <a:t>part everyone assumes is bookkeeping."</a:t>
            </a:r>
          </a:p>
          <a:p xmlns:a="http://schemas.openxmlformats.org/drawingml/2006/main"/>
          <a:p xmlns:a="http://schemas.openxmlformats.org/drawingml/2006/main">
            <a:r>
              <a:t>If the room is slow on stages 5–7, that is your diagnostic for the whole hour:</a:t>
            </a:r>
          </a:p>
          <a:p xmlns:a="http://schemas.openxmlformats.org/drawingml/2006/main">
            <a:r>
              <a:t>slow down at minutes 34–50 and protect Poll 3 by cutting slide 35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00:05–00:07. This is the hook. Deliver it flat, like a fact.</a:t>
            </a:r>
          </a:p>
          <a:p xmlns:a="http://schemas.openxmlformats.org/drawingml/2006/main"/>
          <a:p xmlns:a="http://schemas.openxmlformats.org/drawingml/2006/main">
            <a:r>
              <a:t>Read the configuration line aloud, then: "This file is perfect. Monotonic</a:t>
            </a:r>
          </a:p>
          <a:p xmlns:a="http://schemas.openxmlformats.org/drawingml/2006/main">
            <a:r>
              <a:t>timestamps, no gaps, no outliers, magnitudes that look like an accelerometer on</a:t>
            </a:r>
          </a:p>
          <a:p xmlns:a="http://schemas.openxmlformats.org/drawingml/2006/main">
            <a:r>
              <a:t>a bench. And three numbers in it are lies."</a:t>
            </a:r>
          </a:p>
          <a:p xmlns:a="http://schemas.openxmlformats.org/drawingml/2006/main"/>
          <a:p xmlns:a="http://schemas.openxmlformats.org/drawingml/2006/main">
            <a:r>
              <a:t>Point at each card in turn and name it — twelve point four, twelve hertz, twelve</a:t>
            </a:r>
          </a:p>
          <a:p xmlns:a="http://schemas.openxmlformats.org/drawingml/2006/main">
            <a:r>
              <a:t>point one seconds — but do NOT explain any of them yet. Each one is a chunk of</a:t>
            </a:r>
          </a:p>
          <a:p xmlns:a="http://schemas.openxmlformats.org/drawingml/2006/main">
            <a:r>
              <a:t>the lecture.</a:t>
            </a:r>
          </a:p>
          <a:p xmlns:a="http://schemas.openxmlformats.org/drawingml/2006/main"/>
          <a:p xmlns:a="http://schemas.openxmlformats.org/drawingml/2006/main">
            <a:r>
              <a:t>Then the sentence that carries the eighty minutes: "Acquisition does not fail</a:t>
            </a:r>
          </a:p>
          <a:p xmlns:a="http://schemas.openxmlformats.org/drawingml/2006/main">
            <a:r>
              <a:t>loudly. It fails by handing you a file full of plausible numbers." Straight into</a:t>
            </a:r>
          </a:p>
          <a:p xmlns:a="http://schemas.openxmlformats.org/drawingml/2006/main">
            <a:r>
              <a:t>the poll — before anyone has time to get comfortable.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00:07–00:11. Baseline. DO NOT REVEAL — the answer lands at minute 66.</a:t>
            </a:r>
          </a:p>
          <a:p xmlns:a="http://schemas.openxmlformats.org/drawingml/2006/main"/>
          <a:p xmlns:a="http://schemas.openxmlformats.org/drawingml/2006/main">
            <a:r>
              <a:t>Hands on a count, all at once. Expect 55–70 % on A: that is misconception M1 and</a:t>
            </a:r>
          </a:p>
          <a:p xmlns:a="http://schemas.openxmlformats.org/drawingml/2006/main">
            <a:r>
              <a:t>it is the reason this lecture exists. Expect 5–15 % on D, which is the only</a:t>
            </a:r>
          </a:p>
          <a:p xmlns:a="http://schemas.openxmlformats.org/drawingml/2006/main">
            <a:r>
              <a:t>defensible vote right now — you have not given them a noise density.</a:t>
            </a:r>
          </a:p>
          <a:p xmlns:a="http://schemas.openxmlformats.org/drawingml/2006/main"/>
          <a:p xmlns:a="http://schemas.openxmlformats.org/drawingml/2006/main">
            <a:r>
              <a:t>WRITE THE DISTRIBUTION ON THE BOARD and leave it there all hour. You re-show it</a:t>
            </a:r>
          </a:p>
          <a:p xmlns:a="http://schemas.openxmlformats.org/drawingml/2006/main">
            <a:r>
              <a:t>at minute 66 and the shift is your evidence the lecture worked.</a:t>
            </a:r>
          </a:p>
          <a:p xmlns:a="http://schemas.openxmlformats.org/drawingml/2006/main"/>
          <a:p xmlns:a="http://schemas.openxmlformats.org/drawingml/2006/main">
            <a:r>
              <a:t>If someone picks B, praise it and then use it: "you found the term that does not</a:t>
            </a:r>
          </a:p>
          <a:p xmlns:a="http://schemas.openxmlformats.org/drawingml/2006/main">
            <a:r>
              <a:t>matter — which one does?" If someone picks C, ask HOW; if they cannot say, it</a:t>
            </a:r>
          </a:p>
          <a:p xmlns:a="http://schemas.openxmlformats.org/drawingml/2006/main">
            <a:r>
              <a:t>was a guess, and say so kindly.</a:t>
            </a:r>
          </a:p>
          <a:p xmlns:a="http://schemas.openxmlformats.org/drawingml/2006/main"/>
          <a:p xmlns:a="http://schemas.openxmlformats.org/drawingml/2006/main">
            <a:r>
              <a:t>Then set the agenda and move. Do not argue with A now.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00:11–00:13. Derive it live; it takes twenty seconds and models the habit.</a:t>
            </a:r>
          </a:p>
          <a:p xmlns:a="http://schemas.openxmlformats.org/drawingml/2006/main"/>
          <a:p xmlns:a="http://schemas.openxmlformats.org/drawingml/2006/main">
            <a:r>
              <a:t>"Full scale is plus or minus two g, so four thousand milli-g of span. Sixteen</a:t>
            </a:r>
          </a:p>
          <a:p xmlns:a="http://schemas.openxmlformats.org/drawingml/2006/main">
            <a:r>
              <a:t>bits is sixty-five thousand five hundred and thirty-six codes. Four thousand</a:t>
            </a:r>
          </a:p>
          <a:p xmlns:a="http://schemas.openxmlformats.org/drawingml/2006/main">
            <a:r>
              <a:t>over sixty-five five three six is zero point zero six one."</a:t>
            </a:r>
          </a:p>
          <a:p xmlns:a="http://schemas.openxmlformats.org/drawingml/2006/main"/>
          <a:p xmlns:a="http://schemas.openxmlformats.org/drawingml/2006/main">
            <a:r>
              <a:t>Then hold the line: "Notice I have not lied to you and neither has ST. This</a:t>
            </a:r>
          </a:p>
          <a:p xmlns:a="http://schemas.openxmlformats.org/drawingml/2006/main">
            <a:r>
              <a:t>number is correct. It is the size of one step of the number." Pause there — the</a:t>
            </a:r>
          </a:p>
          <a:p xmlns:a="http://schemas.openxmlformats.org/drawingml/2006/main">
            <a:r>
              <a:t>next slide is where the trouble is, and the pause is what makes it land.</a:t>
            </a:r>
          </a:p>
          <a:p xmlns:a="http://schemas.openxmlformats.org/drawingml/2006/main"/>
          <a:p xmlns:a="http://schemas.openxmlformats.org/drawingml/2006/main">
            <a:r>
              <a:t>If a student asks whether it should be 65 535, say yes, that convention exists,</a:t>
            </a:r>
          </a:p>
          <a:p xmlns:a="http://schemas.openxmlformats.org/drawingml/2006/main">
            <a:r>
              <a:t>and it changes nothing at the fourth decimal place. Do not spend two minutes on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00:13–00:14. WRITE THE BOARD LINE NOW and leave it up all hour.</a:t>
            </a:r>
          </a:p>
          <a:p xmlns:a="http://schemas.openxmlformats.org/drawingml/2006/main"/>
          <a:p xmlns:a="http://schemas.openxmlformats.org/drawingml/2006/main">
            <a:r>
              <a:t>Board work item 1 from the plan is `0.061 mg/LSB · noise 0.72 mg · 11.8 LSB ·</a:t>
            </a:r>
          </a:p>
          <a:p xmlns:a="http://schemas.openxmlformats.org/drawingml/2006/main">
            <a:r>
              <a:t>3.6 bits`. Write ONLY the first term and the question now. Writing 0.72 mg on</a:t>
            </a:r>
          </a:p>
          <a:p xmlns:a="http://schemas.openxmlformats.org/drawingml/2006/main">
            <a:r>
              <a:t>the board at minute 14 hands the class Poll 1's withheld answer, which the</a:t>
            </a:r>
          </a:p>
          <a:p xmlns:a="http://schemas.openxmlformats.org/drawingml/2006/main">
            <a:r>
              <a:t>activity sheet explicitly forbids. Complete the line at minute 56–60, term by</a:t>
            </a:r>
          </a:p>
          <a:p xmlns:a="http://schemas.openxmlformats.org/drawingml/2006/main">
            <a:r>
              <a:t>term, as the class derives each one. Same board, same place, finished in public.</a:t>
            </a:r>
          </a:p>
          <a:p xmlns:a="http://schemas.openxmlformats.org/drawingml/2006/main"/>
          <a:p xmlns:a="http://schemas.openxmlformats.org/drawingml/2006/main">
            <a:r>
              <a:t>Say the three "is not" lines quickly — thirty seconds total. They are a frame,</a:t>
            </a:r>
          </a:p>
          <a:p xmlns:a="http://schemas.openxmlformats.org/drawingml/2006/main">
            <a:r>
              <a:t>not content. The one to stress is the first: "the smallest step of the number</a:t>
            </a:r>
          </a:p>
          <a:p xmlns:a="http://schemas.openxmlformats.org/drawingml/2006/main">
            <a:r>
              <a:t>and the smallest change you can see are two different quantities, and today they</a:t>
            </a:r>
          </a:p>
          <a:p xmlns:a="http://schemas.openxmlformats.org/drawingml/2006/main">
            <a:r>
              <a:t>differ by a factor of twelve."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00:14–00:15. Section marker, fifteen seconds. Do not read the sub-lines.</a:t>
            </a:r>
          </a:p>
          <a:p xmlns:a="http://schemas.openxmlformats.org/drawingml/2006/main"/>
          <a:p xmlns:a="http://schemas.openxmlformats.org/drawingml/2006/main">
            <a:r>
              <a:t>Say only: "Before we can talk about samples, two pieces of vocabulary — what</a:t>
            </a:r>
          </a:p>
          <a:p xmlns:a="http://schemas.openxmlformats.org/drawingml/2006/main">
            <a:r>
              <a:t>comes out of a sensor, and what the converter measures it against. The second</a:t>
            </a:r>
          </a:p>
          <a:p xmlns:a="http://schemas.openxmlformats.org/drawingml/2006/main">
            <a:r>
              <a:t>one decides whether an entire class of measurement works, and it is free."</a:t>
            </a:r>
          </a:p>
          <a:p xmlns:a="http://schemas.openxmlformats.org/drawingml/2006/main"/>
          <a:p xmlns:a="http://schemas.openxmlformats.org/drawingml/2006/main">
            <a:r>
              <a:t>This chunk is the one to compress if the muddiest points overran: slides 9 and</a:t>
            </a:r>
          </a:p>
          <a:p xmlns:a="http://schemas.openxmlformats.org/drawingml/2006/main">
            <a:r>
              <a:t>10 are vocabulary and can be delivered in three minutes between you, but do NOT</a:t>
            </a:r>
          </a:p>
          <a:p xmlns:a="http://schemas.openxmlformats.org/drawingml/2006/main">
            <a:r>
              <a:t>compress slide 11 or the poll. The ratiometric result is the only thing in</a:t>
            </a:r>
          </a:p>
          <a:p xmlns:a="http://schemas.openxmlformats.org/drawingml/2006/main">
            <a:r>
              <a:t>chunk 1 that students consistently get wrong on the midterm, and it is also the</a:t>
            </a:r>
          </a:p>
          <a:p xmlns:a="http://schemas.openxmlformats.org/drawingml/2006/main">
            <a:r>
              <a:t>only place in the course where a measurement problem is solved by moving one</a:t>
            </a:r>
          </a:p>
          <a:p xmlns:a="http://schemas.openxmlformats.org/drawingml/2006/main">
            <a:r>
              <a:t>wire rather than by buying a better 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00:15–00:18. Reference slide — do not read all four columns aloud.</a:t>
            </a:r>
          </a:p>
          <a:p xmlns:a="http://schemas.openxmlformats.org/drawingml/2006/main"/>
          <a:p xmlns:a="http://schemas.openxmlformats.org/drawingml/2006/main">
            <a:r>
              <a:t>Spend your time on two things. The 4–20 mA live zero: "the zero of the scale is</a:t>
            </a:r>
          </a:p>
          <a:p xmlns:a="http://schemas.openxmlformats.org/drawingml/2006/main">
            <a:r>
              <a:t>four milliamps, so a broken wire reads zero and is distinguishable from a</a:t>
            </a:r>
          </a:p>
          <a:p xmlns:a="http://schemas.openxmlformats.org/drawingml/2006/main">
            <a:r>
              <a:t>genuine zero. That is designed-in fault detection, and it is why a convention</a:t>
            </a:r>
          </a:p>
          <a:p xmlns:a="http://schemas.openxmlformats.org/drawingml/2006/main">
            <a:r>
              <a:t>from the 1950s has outlived the technology that prompted it." It comes back in</a:t>
            </a:r>
          </a:p>
          <a:p xmlns:a="http://schemas.openxmlformats.org/drawingml/2006/main">
            <a:r>
              <a:t>Poll 4.</a:t>
            </a:r>
          </a:p>
          <a:p xmlns:a="http://schemas.openxmlformats.org/drawingml/2006/main"/>
          <a:p xmlns:a="http://schemas.openxmlformats.org/drawingml/2006/main">
            <a:r>
              <a:t>Then the amber box, which is the actual content of the slide. Ask the room:</a:t>
            </a:r>
          </a:p>
          <a:p xmlns:a="http://schemas.openxmlformats.org/drawingml/2006/main">
            <a:r>
              <a:t>"Does a digital output make life easier?" Take the yes, then complicate it. The</a:t>
            </a:r>
          </a:p>
          <a:p xmlns:a="http://schemas.openxmlformats.org/drawingml/2006/main">
            <a:r>
              <a:t>two new problems it names are chunk 3 of this lecture.</a:t>
            </a:r>
          </a:p>
          <a:p xmlns:a="http://schemas.openxmlformats.org/drawingml/2006/main"/>
          <a:p xmlns:a="http://schemas.openxmlformats.org/drawingml/2006/main">
            <a:r>
              <a:t>Instrumentation amplifiers get one line and a forward reference. Resist.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00:18–00:20. Put the formula on the board as well as the screen.</a:t>
            </a:r>
          </a:p>
          <a:p xmlns:a="http://schemas.openxmlformats.org/drawingml/2006/main"/>
          <a:p xmlns:a="http://schemas.openxmlformats.org/drawingml/2006/main">
            <a:r>
              <a:t>Read it out with the emphasis in the right place: "count equals V-in OVER V-ref,</a:t>
            </a:r>
          </a:p>
          <a:p xmlns:a="http://schemas.openxmlformats.org/drawingml/2006/main">
            <a:r>
              <a:t>times two to the N. The input alone appears nowhere in that expression."</a:t>
            </a:r>
          </a:p>
          <a:p xmlns:a="http://schemas.openxmlformats.org/drawingml/2006/main"/>
          <a:p xmlns:a="http://schemas.openxmlformats.org/drawingml/2006/main">
            <a:r>
              <a:t>Then the line, deadpan: "An ADC has no idea what a volt is. It is a ratio meter</a:t>
            </a:r>
          </a:p>
          <a:p xmlns:a="http://schemas.openxmlformats.org/drawingml/2006/main">
            <a:r>
              <a:t>with a reputation." Let that sit.</a:t>
            </a:r>
          </a:p>
          <a:p xmlns:a="http://schemas.openxmlformats.org/drawingml/2006/main"/>
          <a:p xmlns:a="http://schemas.openxmlformats.org/drawingml/2006/main">
            <a:r>
              <a:t>The bottom rule is the one to memorise, and the next slide is the two cases it</a:t>
            </a:r>
          </a:p>
          <a:p xmlns:a="http://schemas.openxmlformats.org/drawingml/2006/main">
            <a:r>
              <a:t>covers. Say explicitly that mixing one stable thing with one unstable thing is</a:t>
            </a:r>
          </a:p>
          <a:p xmlns:a="http://schemas.openxmlformats.org/drawingml/2006/main">
            <a:r>
              <a:t>the only combination that fails — and that it is the one that looks most</a:t>
            </a:r>
          </a:p>
          <a:p xmlns:a="http://schemas.openxmlformats.org/drawingml/2006/main">
            <a:r>
              <a:t>sophisticated on a schematic, which is why it gets built.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00:20–00:23. Draw both on the board while you talk; it is four lines.</a:t>
            </a:r>
          </a:p>
          <a:p xmlns:a="http://schemas.openxmlformats.org/drawingml/2006/main"/>
          <a:p xmlns:a="http://schemas.openxmlformats.org/drawingml/2006/main">
            <a:r>
              <a:t>Left panel first, slowly, because it is counter-intuitive: "the bridge output</a:t>
            </a:r>
          </a:p>
          <a:p xmlns:a="http://schemas.openxmlformats.org/drawingml/2006/main">
            <a:r>
              <a:t>falls by three per cent because its excitation fell. The counts rise by three</a:t>
            </a:r>
          </a:p>
          <a:p xmlns:a="http://schemas.openxmlformats.org/drawingml/2006/main">
            <a:r>
              <a:t>per cent because the reference fell. The quantity the code computes was a ratio</a:t>
            </a:r>
          </a:p>
          <a:p xmlns:a="http://schemas.openxmlformats.org/drawingml/2006/main">
            <a:r>
              <a:t>all along, so the two cancel exactly."</a:t>
            </a:r>
          </a:p>
          <a:p xmlns:a="http://schemas.openxmlformats.org/drawingml/2006/main"/>
          <a:p xmlns:a="http://schemas.openxmlformats.org/drawingml/2006/main">
            <a:r>
              <a:t>Then the right panel: "now give the ADC a precision reference and leave the</a:t>
            </a:r>
          </a:p>
          <a:p xmlns:a="http://schemas.openxmlformats.org/drawingml/2006/main">
            <a:r>
              <a:t>bridge on the rail. Same parts, same price. The sag no longer cancels."</a:t>
            </a:r>
          </a:p>
          <a:p xmlns:a="http://schemas.openxmlformats.org/drawingml/2006/main"/>
          <a:p xmlns:a="http://schemas.openxmlformats.org/drawingml/2006/main">
            <a:r>
              <a:t>DO NOT say which one the poll is about. Go straight into the vote — the whole</a:t>
            </a:r>
          </a:p>
          <a:p xmlns:a="http://schemas.openxmlformats.org/drawingml/2006/main">
            <a:r>
              <a:t>value of Poll 2 is that the room disagrees about the sign of an error that does</a:t>
            </a:r>
          </a:p>
          <a:p xmlns:a="http://schemas.openxmlformats.org/drawingml/2006/main">
            <a:r>
              <a:t>not exist.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00:23–00:25. Silent vote on a count, then ninety seconds of argument.</a:t>
            </a:r>
          </a:p>
          <a:p xmlns:a="http://schemas.openxmlformats.org/drawingml/2006/main"/>
          <a:p xmlns:a="http://schemas.openxmlformats.org/drawingml/2006/main">
            <a:r>
              <a:t>A and B will take the majority and split roughly evenly — that is what makes</a:t>
            </a:r>
          </a:p>
          <a:p xmlns:a="http://schemas.openxmlformats.org/drawingml/2006/main">
            <a:r>
              <a:t>this a good vote. The room is disagreeing about the SIGN of an error that is not</a:t>
            </a:r>
          </a:p>
          <a:p xmlns:a="http://schemas.openxmlformats.org/drawingml/2006/main">
            <a:r>
              <a:t>there. Say that out loud after the revote, not before.</a:t>
            </a:r>
          </a:p>
          <a:p xmlns:a="http://schemas.openxmlformats.org/drawingml/2006/main"/>
          <a:p xmlns:a="http://schemas.openxmlformats.org/drawingml/2006/main">
            <a:r>
              <a:t>Do not referee the discussion. Walk, listen for the phrase "but the reference</a:t>
            </a:r>
          </a:p>
          <a:p xmlns:a="http://schemas.openxmlformats.org/drawingml/2006/main">
            <a:r>
              <a:t>moved too", and if you hear it, ask that pair to say it to the room.</a:t>
            </a:r>
          </a:p>
          <a:p xmlns:a="http://schemas.openxmlformats.org/drawingml/2006/main"/>
          <a:p xmlns:a="http://schemas.openxmlformats.org/drawingml/2006/main">
            <a:r>
              <a:t>D is the student conflating sensitivity with reference error. It is a useful</a:t>
            </a:r>
          </a:p>
          <a:p xmlns:a="http://schemas.openxmlformats.org/drawingml/2006/main">
            <a:r>
              <a:t>answer: the gauge factor sets millivolts per microstrain and cancels out of the</a:t>
            </a:r>
          </a:p>
          <a:p xmlns:a="http://schemas.openxmlformats.org/drawingml/2006/main">
            <a:r>
              <a:t>ratio entirely.</a:t>
            </a:r>
          </a:p>
          <a:p xmlns:a="http://schemas.openxmlformats.org/drawingml/2006/main"/>
          <a:p xmlns:a="http://schemas.openxmlformats.org/drawingml/2006/main">
            <a:r>
              <a:t>Target 30–45 % correct after peer discussion. Record both numbers.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00:25–00:26. Reveal, then the follow-up that makes it stick — ask it</a:t>
            </a:r>
          </a:p>
          <a:p xmlns:a="http://schemas.openxmlformats.org/drawingml/2006/main">
            <a:r>
              <a:t>immediately, hands only:</a:t>
            </a:r>
          </a:p>
          <a:p xmlns:a="http://schemas.openxmlformats.org/drawingml/2006/main"/>
          <a:p xmlns:a="http://schemas.openxmlformats.org/drawingml/2006/main">
            <a:r>
              <a:t>"Now the same bridge, but the ADC reference is a precision 2.5 V part and the</a:t>
            </a:r>
          </a:p>
          <a:p xmlns:a="http://schemas.openxmlformats.org/drawingml/2006/main">
            <a:r>
              <a:t>bridge still runs from the rail. What happens?"</a:t>
            </a:r>
          </a:p>
          <a:p xmlns:a="http://schemas.openxmlformats.org/drawingml/2006/main"/>
          <a:p xmlns:a="http://schemas.openxmlformats.org/drawingml/2006/main">
            <a:r>
              <a:t>Three per cent error, straight through, uncalibratable, because the two no</a:t>
            </a:r>
          </a:p>
          <a:p xmlns:a="http://schemas.openxmlformats.org/drawingml/2006/main">
            <a:r>
              <a:t>longer track. Same hardware cost. One wire's difference.</a:t>
            </a:r>
          </a:p>
          <a:p xmlns:a="http://schemas.openxmlformats.org/drawingml/2006/main"/>
          <a:p xmlns:a="http://schemas.openxmlformats.org/drawingml/2006/main">
            <a:r>
              <a:t>Then name the misconception you just caught (M6): a ratiometric error cannot be</a:t>
            </a:r>
          </a:p>
          <a:p xmlns:a="http://schemas.openxmlformats.org/drawingml/2006/main">
            <a:r>
              <a:t>calibrated out, because either it cancels by construction or it does not cancel</a:t>
            </a:r>
          </a:p>
          <a:p xmlns:a="http://schemas.openxmlformats.org/drawingml/2006/main">
            <a:r>
              <a:t>at all. There is no middle case where calibration helps.</a:t>
            </a:r>
          </a:p>
          <a:p xmlns:a="http://schemas.openxmlformats.org/drawingml/2006/main"/>
          <a:p xmlns:a="http://schemas.openxmlformats.org/drawingml/2006/main">
            <a:r>
              <a:t>Ninety seconds. Then quantisation.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00:26–00:28. Trace the staircase with your hand while you talk.</a:t>
            </a:r>
          </a:p>
          <a:p xmlns:a="http://schemas.openxmlformats.org/drawingml/2006/main"/>
          <a:p xmlns:a="http://schemas.openxmlformats.org/drawingml/2006/main">
            <a:r>
              <a:t>"Here is the true value, rising smoothly. Here is what the code says — the</a:t>
            </a:r>
          </a:p>
          <a:p xmlns:a="http://schemas.openxmlformats.org/drawingml/2006/main">
            <a:r>
              <a:t>nearest step. The vertical gap between them is the quantisation error, and</a:t>
            </a:r>
          </a:p>
          <a:p xmlns:a="http://schemas.openxmlformats.org/drawingml/2006/main">
            <a:r>
              <a:t>notice that it never goes away: it is present in every sample, forever."</a:t>
            </a:r>
          </a:p>
          <a:p xmlns:a="http://schemas.openxmlformats.org/drawingml/2006/main"/>
          <a:p xmlns:a="http://schemas.openxmlformats.org/drawingml/2006/main">
            <a:r>
              <a:t>Ask: "What is the biggest that gap can be?" Half an LSB. "And on average?" That</a:t>
            </a:r>
          </a:p>
          <a:p xmlns:a="http://schemas.openxmlformats.org/drawingml/2006/main">
            <a:r>
              <a:t>is the next slide, and it is one line of arithmetic.</a:t>
            </a:r>
          </a:p>
          <a:p xmlns:a="http://schemas.openxmlformats.org/drawingml/2006/main"/>
          <a:p xmlns:a="http://schemas.openxmlformats.org/drawingml/2006/main">
            <a:r>
              <a:t>Keep this short. Quantisation is the error students expect to be important, and</a:t>
            </a:r>
          </a:p>
          <a:p xmlns:a="http://schemas.openxmlformats.org/drawingml/2006/main">
            <a:r>
              <a:t>the point of chunk 1 is to price it honestly so that chunk 3 can dismiss it with</a:t>
            </a:r>
          </a:p>
          <a:p xmlns:a="http://schemas.openxmlformats.org/drawingml/2006/main">
            <a:r>
              <a:t>evidence rather than assertion.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00:28–00:30. One line of arithmetic, then two warnings.</a:t>
            </a:r>
          </a:p>
          <a:p xmlns:a="http://schemas.openxmlformats.org/drawingml/2006/main"/>
          <a:p xmlns:a="http://schemas.openxmlformats.org/drawingml/2006/main">
            <a:r>
              <a:t>Do the division on the board: 0.061 over 3.464. Eighteen microg. Say the units</a:t>
            </a:r>
          </a:p>
          <a:p xmlns:a="http://schemas.openxmlformats.org/drawingml/2006/main">
            <a:r>
              <a:t>out loud — unit cancellation, not the statistics, is what actually blocks</a:t>
            </a:r>
          </a:p>
          <a:p xmlns:a="http://schemas.openxmlformats.org/drawingml/2006/main">
            <a:r>
              <a:t>students in this area.</a:t>
            </a:r>
          </a:p>
          <a:p xmlns:a="http://schemas.openxmlformats.org/drawingml/2006/main"/>
          <a:p xmlns:a="http://schemas.openxmlformats.org/drawingml/2006/main">
            <a:r>
              <a:t>If someone asks where √12 comes from: it is the standard deviation of a uniform</a:t>
            </a:r>
          </a:p>
          <a:p xmlns:a="http://schemas.openxmlformats.org/drawingml/2006/main">
            <a:r>
              <a:t>distribution one LSB wide. Offer the derivation at the end of class, not now.</a:t>
            </a:r>
          </a:p>
          <a:p xmlns:a="http://schemas.openxmlformats.org/drawingml/2006/main"/>
          <a:p xmlns:a="http://schemas.openxmlformats.org/drawingml/2006/main">
            <a:r>
              <a:t>The amber box is a deliberate cliff-hanger and it protects Poll 1. Do NOT say</a:t>
            </a:r>
          </a:p>
          <a:p xmlns:a="http://schemas.openxmlformats.org/drawingml/2006/main">
            <a:r>
              <a:t>"forty times smaller" yet, and do not say 0.72 mg — that is the withheld answer</a:t>
            </a:r>
          </a:p>
          <a:p xmlns:a="http://schemas.openxmlformats.org/drawingml/2006/main">
            <a:r>
              <a:t>and you give it away with one careless comparison. "One of those two terms</a:t>
            </a:r>
          </a:p>
          <a:p xmlns:a="http://schemas.openxmlformats.org/drawingml/2006/main">
            <a:r>
              <a:t>decides nothing" is as far as you 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00:30–00:32. The picture does the work; say four sentences over it.</a:t>
            </a:r>
          </a:p>
          <a:p xmlns:a="http://schemas.openxmlformats.org/drawingml/2006/main"/>
          <a:p xmlns:a="http://schemas.openxmlformats.org/drawingml/2006/main">
            <a:r>
              <a:t>"Same measurement, same noise floor — the amber band. On the left, sixteen bits:</a:t>
            </a:r>
          </a:p>
          <a:p xmlns:a="http://schemas.openxmlformats.org/drawingml/2006/main">
            <a:r>
              <a:t>the teal lines are the code steps. On the right, twenty bits: four more bits,</a:t>
            </a:r>
          </a:p>
          <a:p xmlns:a="http://schemas.openxmlformats.org/drawingml/2006/main">
            <a:r>
              <a:t>sixteen times finer steps, and precisely the same amount of information."</a:t>
            </a:r>
          </a:p>
          <a:p xmlns:a="http://schemas.openxmlformats.org/drawingml/2006/main"/>
          <a:p xmlns:a="http://schemas.openxmlformats.org/drawingml/2006/main">
            <a:r>
              <a:t>Then the callback, because it is the connective tissue of Module A: "Lecture 2</a:t>
            </a:r>
          </a:p>
          <a:p xmlns:a="http://schemas.openxmlformats.org/drawingml/2006/main">
            <a:r>
              <a:t>called this reading the headline. Same trap, new quantity."</a:t>
            </a:r>
          </a:p>
          <a:p xmlns:a="http://schemas.openxmlformats.org/drawingml/2006/main"/>
          <a:p xmlns:a="http://schemas.openxmlformats.org/drawingml/2006/main">
            <a:r>
              <a:t>Ask the room to predict, not to recall: "so what would you need to know to say</a:t>
            </a:r>
          </a:p>
          <a:p xmlns:a="http://schemas.openxmlformats.org/drawingml/2006/main">
            <a:r>
              <a:t>how many of the sixteen are worth having?" You want two words back — noise, and</a:t>
            </a:r>
          </a:p>
          <a:p xmlns:a="http://schemas.openxmlformats.org/drawingml/2006/main">
            <a:r>
              <a:t>bandwidth. If you get them, chunk 3 is already half taught.</a:t>
            </a:r>
          </a:p>
          <a:p xmlns:a="http://schemas.openxmlformats.org/drawingml/2006/main"/>
          <a:p xmlns:a="http://schemas.openxmlformats.org/drawingml/2006/main">
            <a:r>
              <a:t>Then stand them 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00:32–00:34. A real state change: everyone on their feet, paper turned</a:t>
            </a:r>
          </a:p>
          <a:p xmlns:a="http://schemas.openxmlformats.org/drawingml/2006/main">
            <a:r>
              <a:t>over, sixty seconds, silence. This is the deliberate attention reset before the</a:t>
            </a:r>
          </a:p>
          <a:p xmlns:a="http://schemas.openxmlformats.org/drawingml/2006/main">
            <a:r>
              <a:t>hardest chunk of the lecture, and standing is the part that does the work.</a:t>
            </a:r>
          </a:p>
          <a:p xmlns:a="http://schemas.openxmlformats.org/drawingml/2006/main"/>
          <a:p xmlns:a="http://schemas.openxmlformats.org/drawingml/2006/main">
            <a:r>
              <a:t>Do not collect these. Walk two rows and look at three sheets so students know</a:t>
            </a:r>
          </a:p>
          <a:p xmlns:a="http://schemas.openxmlformats.org/drawingml/2006/main">
            <a:r>
              <a:t>they are seen — that is the whole enforcement mechanism.</a:t>
            </a:r>
          </a:p>
          <a:p xmlns:a="http://schemas.openxmlformats.org/drawingml/2006/main"/>
          <a:p xmlns:a="http://schemas.openxmlformats.org/drawingml/2006/main">
            <a:r>
              <a:t>Then take two answers aloud, thirty seconds: sampling loses frequencies above</a:t>
            </a:r>
          </a:p>
          <a:p xmlns:a="http://schemas.openxmlformats.org/drawingml/2006/main">
            <a:r>
              <a:t>Nyquist; codes to units loses the sign and the scale factor; the timestamp loses</a:t>
            </a:r>
          </a:p>
          <a:p xmlns:a="http://schemas.openxmlformats.org/drawingml/2006/main">
            <a:r>
              <a:t>when it happened. Say them back in those words, because those three sentences</a:t>
            </a:r>
          </a:p>
          <a:p xmlns:a="http://schemas.openxmlformats.org/drawingml/2006/main">
            <a:r>
              <a:t>are chunks 2 and 3.</a:t>
            </a:r>
          </a:p>
          <a:p xmlns:a="http://schemas.openxmlformats.org/drawingml/2006/main"/>
          <a:p xmlns:a="http://schemas.openxmlformats.org/drawingml/2006/main">
            <a:r>
              <a:t>THIS IS A DESIGNATED CUT if you are five minutes late. Cut it and slide 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00:34–00:35. Section marker. Fifteen seconds, and say it as a warning.</a:t>
            </a:r>
          </a:p>
          <a:p xmlns:a="http://schemas.openxmlformats.org/drawingml/2006/main"/>
          <a:p xmlns:a="http://schemas.openxmlformats.org/drawingml/2006/main">
            <a:r>
              <a:t>"This is the part of the course that costs people afternoons. If anything today</a:t>
            </a:r>
          </a:p>
          <a:p xmlns:a="http://schemas.openxmlformats.org/drawingml/2006/main">
            <a:r>
              <a:t>is going to be on the midterm in a form you did not expect, it is the next</a:t>
            </a:r>
          </a:p>
          <a:p xmlns:a="http://schemas.openxmlformats.org/drawingml/2006/main">
            <a:r>
              <a:t>twenty minutes."</a:t>
            </a:r>
          </a:p>
          <a:p xmlns:a="http://schemas.openxmlformats.org/drawingml/2006/main"/>
          <a:p xmlns:a="http://schemas.openxmlformats.org/drawingml/2006/main">
            <a:r>
              <a:t>Then straight into Nyquist — but as a design rule, not as a theorem. The framing</a:t>
            </a:r>
          </a:p>
          <a:p xmlns:a="http://schemas.openxmlformats.org/drawingml/2006/main">
            <a:r>
              <a:t>matters: Lecture 1 met aliasing as a mystery to be solved. Here it is a bit in a</a:t>
            </a:r>
          </a:p>
          <a:p xmlns:a="http://schemas.openxmlformats.org/drawingml/2006/main">
            <a:r>
              <a:t>register that ships at zero.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00:35–00:37. They saw this figure in Lecture 1. Use it as retrieval, not</a:t>
            </a:r>
          </a:p>
          <a:p xmlns:a="http://schemas.openxmlformats.org/drawingml/2006/main">
            <a:r>
              <a:t>as new material — ask before you explain.</a:t>
            </a:r>
          </a:p>
          <a:p xmlns:a="http://schemas.openxmlformats.org/drawingml/2006/main"/>
          <a:p xmlns:a="http://schemas.openxmlformats.org/drawingml/2006/main">
            <a:r>
              <a:t>"Somebody tell me what the red dots are." Then: "and the dashed line?" Ninety</a:t>
            </a:r>
          </a:p>
          <a:p xmlns:a="http://schemas.openxmlformats.org/drawingml/2006/main">
            <a:r>
              <a:t>seconds, from the room.</a:t>
            </a:r>
          </a:p>
          <a:p xmlns:a="http://schemas.openxmlformats.org/drawingml/2006/main"/>
          <a:p xmlns:a="http://schemas.openxmlformats.org/drawingml/2006/main">
            <a:r>
              <a:t>The one sentence to add today is the box on the right. Say it twice: "the</a:t>
            </a:r>
          </a:p>
          <a:p xmlns:a="http://schemas.openxmlformats.org/drawingml/2006/main">
            <a:r>
              <a:t>theorem tells you when reconstruction is possible. The design rule is the</a:t>
            </a:r>
          </a:p>
          <a:p xmlns:a="http://schemas.openxmlformats.org/drawingml/2006/main">
            <a:r>
              <a:t>contrapositive — you must guarantee nothing above your f-max reaches the</a:t>
            </a:r>
          </a:p>
          <a:p xmlns:a="http://schemas.openxmlformats.org/drawingml/2006/main">
            <a:r>
              <a:t>sampler. That guarantee is a component, not a configuration."</a:t>
            </a:r>
          </a:p>
          <a:p xmlns:a="http://schemas.openxmlformats.org/drawingml/2006/main"/>
          <a:p xmlns:a="http://schemas.openxmlformats.org/drawingml/2006/main">
            <a:r>
              <a:t>If the room reconstructs the figure quickly, go faster here; you will want the</a:t>
            </a:r>
          </a:p>
          <a:p xmlns:a="http://schemas.openxmlformats.org/drawingml/2006/main">
            <a:r>
              <a:t>time at minute 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00:37–00:40. Do the arithmetic on the board, not from the slide.</a:t>
            </a:r>
          </a:p>
          <a:p xmlns:a="http://schemas.openxmlformats.org/drawingml/2006/main"/>
          <a:p xmlns:a="http://schemas.openxmlformats.org/drawingml/2006/main">
            <a:r>
              <a:t>"Fifteen times a hundred and four is one thousand five hundred and sixty. One</a:t>
            </a:r>
          </a:p>
          <a:p xmlns:a="http://schemas.openxmlformats.org/drawingml/2006/main">
            <a:r>
              <a:t>thousand five hundred and twenty minus that is minus forty. Take the modulus.</a:t>
            </a:r>
          </a:p>
          <a:p xmlns:a="http://schemas.openxmlformats.org/drawingml/2006/main">
            <a:r>
              <a:t>Forty hertz." Make them do the multiplication with you.</a:t>
            </a:r>
          </a:p>
          <a:p xmlns:a="http://schemas.openxmlformats.org/drawingml/2006/main"/>
          <a:p xmlns:a="http://schemas.openxmlformats.org/drawingml/2006/main">
            <a:r>
              <a:t>Then point at the number line: "the teal sliver is the whole band you told your</a:t>
            </a:r>
          </a:p>
          <a:p xmlns:a="http://schemas.openxmlformats.org/drawingml/2006/main">
            <a:r>
              <a:t>report you were measuring. Everything to the right of it still arrives at the</a:t>
            </a:r>
          </a:p>
          <a:p xmlns:a="http://schemas.openxmlformats.org/drawingml/2006/main">
            <a:r>
              <a:t>sampler, and everything to the right of it lands somewhere inside the sliver."</a:t>
            </a:r>
          </a:p>
          <a:p xmlns:a="http://schemas.openxmlformats.org/drawingml/2006/main"/>
          <a:p xmlns:a="http://schemas.openxmlformats.org/drawingml/2006/main">
            <a:r>
              <a:t>Do NOT do the 300 Hz case here — that is Poll 3 in four minutes and it is the</a:t>
            </a:r>
          </a:p>
          <a:p xmlns:a="http://schemas.openxmlformats.org/drawingml/2006/main">
            <a:r>
              <a:t>hardest vote of the lecture. If a student volunteers it, thank them, write the</a:t>
            </a:r>
          </a:p>
          <a:p xmlns:a="http://schemas.openxmlformats.org/drawingml/2006/main">
            <a:r>
              <a:t>number on a corner of the board face-down, and say "hold that".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00:40–00:42. THE SLIDE THE LECTURE IS BUILT AROUND. Slow down.</a:t>
            </a:r>
          </a:p>
          <a:p xmlns:a="http://schemas.openxmlformats.org/drawingml/2006/main"/>
          <a:p xmlns:a="http://schemas.openxmlformats.org/drawingml/2006/main">
            <a:r>
              <a:t>Walk the teal row left to right, then the red row, and stop on the last red box.</a:t>
            </a:r>
          </a:p>
          <a:p xmlns:a="http://schemas.openxmlformats.org/drawingml/2006/main"/>
          <a:p xmlns:a="http://schemas.openxmlformats.org/drawingml/2006/main">
            <a:r>
              <a:t>The argument is arithmetic, not engineering, and you must say it that way:</a:t>
            </a:r>
          </a:p>
          <a:p xmlns:a="http://schemas.openxmlformats.org/drawingml/2006/main">
            <a:r>
              <a:t>"these are not two similar signals that a clever algorithm might tease apart.</a:t>
            </a:r>
          </a:p>
          <a:p xmlns:a="http://schemas.openxmlformats.org/drawingml/2006/main">
            <a:r>
              <a:t>They are the same numbers. There is nothing to separate."</a:t>
            </a:r>
          </a:p>
          <a:p xmlns:a="http://schemas.openxmlformats.org/drawingml/2006/main"/>
          <a:p xmlns:a="http://schemas.openxmlformats.org/drawingml/2006/main">
            <a:r>
              <a:t>Then the claim that makes it matter, and it is worth writing on the board: this</a:t>
            </a:r>
          </a:p>
          <a:p xmlns:a="http://schemas.openxmlformats.org/drawingml/2006/main">
            <a:r>
              <a:t>is the ONLY ordering constraint in the whole measurement chain with that</a:t>
            </a:r>
          </a:p>
          <a:p xmlns:a="http://schemas.openxmlformats.org/drawingml/2006/main">
            <a:r>
              <a:t>property. Invite counter-examples — a student who tries and fails to find one</a:t>
            </a:r>
          </a:p>
          <a:p xmlns:a="http://schemas.openxmlformats.org/drawingml/2006/main">
            <a:r>
              <a:t>has learned it better than one who was told.</a:t>
            </a:r>
          </a:p>
          <a:p xmlns:a="http://schemas.openxmlformats.org/drawingml/2006/main"/>
          <a:p xmlns:a="http://schemas.openxmlformats.org/drawingml/2006/main">
            <a:r>
              <a:t>This refutes M3, and M3 comes back on the exit ticket. Plant it deliberately.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00:42–00:44. This is the slide that turns Lecture 1's story into today's</a:t>
            </a:r>
          </a:p>
          <a:p xmlns:a="http://schemas.openxmlformats.org/drawingml/2006/main">
            <a:r>
              <a:t>engineering. Say that transition explicitly.</a:t>
            </a:r>
          </a:p>
          <a:p xmlns:a="http://schemas.openxmlformats.org/drawingml/2006/main"/>
          <a:p xmlns:a="http://schemas.openxmlformats.org/drawingml/2006/main">
            <a:r>
              <a:t>"In week one, aliasing was something that happened to somebody else's motor.</a:t>
            </a:r>
          </a:p>
          <a:p xmlns:a="http://schemas.openxmlformats.org/drawingml/2006/main">
            <a:r>
              <a:t>Here is the difference between a lecture and a laboratory: a bit, at address</a:t>
            </a:r>
          </a:p>
          <a:p xmlns:a="http://schemas.openxmlformats.org/drawingml/2006/main">
            <a:r>
              <a:t>0x10, position one, and it is zero when the part powers up."</a:t>
            </a:r>
          </a:p>
          <a:p xmlns:a="http://schemas.openxmlformats.org/drawingml/2006/main"/>
          <a:p xmlns:a="http://schemas.openxmlformats.org/drawingml/2006/main">
            <a:r>
              <a:t>Have them find it in the datasheet — Table 41, sixty seconds, pairs. Then read</a:t>
            </a:r>
          </a:p>
          <a:p xmlns:a="http://schemas.openxmlformats.org/drawingml/2006/main">
            <a:r>
              <a:t>the paragraph in the middle of the slide out loud, slowly, in the second person.</a:t>
            </a:r>
          </a:p>
          <a:p xmlns:a="http://schemas.openxmlformats.org/drawingml/2006/main">
            <a:r>
              <a:t>Every step of it is correct except the conclusion, and that is what makes it a</a:t>
            </a:r>
          </a:p>
          <a:p xmlns:a="http://schemas.openxmlformats.org/drawingml/2006/main">
            <a:r>
              <a:t>trap worth teaching.</a:t>
            </a:r>
          </a:p>
          <a:p xmlns:a="http://schemas.openxmlformats.org/drawingml/2006/main"/>
          <a:p xmlns:a="http://schemas.openxmlformats.org/drawingml/2006/main">
            <a:r>
              <a:t>Do not resolve it. Vote immediately — the class now has everything Poll 3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00:44–00:47. THE HARDEST VOTE OF THE LECTURE. Protect this segment; it</a:t>
            </a:r>
          </a:p>
          <a:p xmlns:a="http://schemas.openxmlformats.org/drawingml/2006/main">
            <a:r>
              <a:t>is one of the two things Laboratory 2 depends on.</a:t>
            </a:r>
          </a:p>
          <a:p xmlns:a="http://schemas.openxmlformats.org/drawingml/2006/main"/>
          <a:p xmlns:a="http://schemas.openxmlformats.org/drawingml/2006/main">
            <a:r>
              <a:t>Protocol, in this order: vote → two minutes in pairs → revote → THEN the</a:t>
            </a:r>
          </a:p>
          <a:p xmlns:a="http://schemas.openxmlformats.org/drawingml/2006/main">
            <a:r>
              <a:t>arithmetic. Do not do the arithmetic before the revote. The revote is the</a:t>
            </a:r>
          </a:p>
          <a:p xmlns:a="http://schemas.openxmlformats.org/drawingml/2006/main">
            <a:r>
              <a:t>measurement.</a:t>
            </a:r>
          </a:p>
          <a:p xmlns:a="http://schemas.openxmlformats.org/drawingml/2006/main"/>
          <a:p xmlns:a="http://schemas.openxmlformats.org/drawingml/2006/main">
            <a:r>
              <a:t>Expect 40–55 % on A: that is M2, and "above the sample rate" feels like "outside</a:t>
            </a:r>
          </a:p>
          <a:p xmlns:a="http://schemas.openxmlformats.org/drawingml/2006/main">
            <a:r>
              <a:t>the window". Target 20–35 % correct on the first vote, 50–65 % on the second.</a:t>
            </a:r>
          </a:p>
          <a:p xmlns:a="http://schemas.openxmlformats.org/drawingml/2006/main"/>
          <a:p xmlns:a="http://schemas.openxmlformats.org/drawingml/2006/main">
            <a:r>
              <a:t>B is the student who assumes a filter is always present — name that as a</a:t>
            </a:r>
          </a:p>
          <a:p xmlns:a="http://schemas.openxmlformats.org/drawingml/2006/main">
            <a:r>
              <a:t>reasonable design instinct and a fatal assumption. D is the student reaching for</a:t>
            </a:r>
          </a:p>
          <a:p xmlns:a="http://schemas.openxmlformats.org/drawingml/2006/main">
            <a:r>
              <a:t>"noise floor": distinguish them, noise is broadband and averages down, an alias</a:t>
            </a:r>
          </a:p>
          <a:p xmlns:a="http://schemas.openxmlformats.org/drawingml/2006/main">
            <a:r>
              <a:t>is a tone and averaging makes it cleaner.</a:t>
            </a:r>
          </a:p>
          <a:p xmlns:a="http://schemas.openxmlformats.org/drawingml/2006/main"/>
          <a:p xmlns:a="http://schemas.openxmlformats.org/drawingml/2006/main">
            <a:r>
              <a:t>IF THE FIRST VOTE IS UNDER 15 %: stop. Redraw Lecture 1's figure and revote.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00:47–00:48. Reveal, then do the sum with the room, out loud.</a:t>
            </a:r>
          </a:p>
          <a:p xmlns:a="http://schemas.openxmlformats.org/drawingml/2006/main"/>
          <a:p xmlns:a="http://schemas.openxmlformats.org/drawingml/2006/main">
            <a:r>
              <a:t>"Three times a hundred and four is three hundred and twelve. Three hundred minus</a:t>
            </a:r>
          </a:p>
          <a:p xmlns:a="http://schemas.openxmlformats.org/drawingml/2006/main">
            <a:r>
              <a:t>three hundred and twelve is minus twelve. Twelve hertz."</a:t>
            </a:r>
          </a:p>
          <a:p xmlns:a="http://schemas.openxmlformats.org/drawingml/2006/main"/>
          <a:p xmlns:a="http://schemas.openxmlformats.org/drawingml/2006/main">
            <a:r>
              <a:t>WRITE |300 − 3 × 104| = 12 Hz ON THE BOARD — board work item 2 — and leave it up.</a:t>
            </a:r>
          </a:p>
          <a:p xmlns:a="http://schemas.openxmlformats.org/drawingml/2006/main"/>
          <a:p xmlns:a="http://schemas.openxmlformats.org/drawingml/2006/main">
            <a:r>
              <a:t>Then the refutation of A, which is the answer most of the room gave: "the pump</a:t>
            </a:r>
          </a:p>
          <a:p xmlns:a="http://schemas.openxmlformats.org/drawingml/2006/main">
            <a:r>
              <a:t>is absolutely sampled. Nothing filtered it out, because nothing was there to</a:t>
            </a:r>
          </a:p>
          <a:p xmlns:a="http://schemas.openxmlformats.org/drawingml/2006/main">
            <a:r>
              <a:t>filter it out. The samples are correct. What is wrong is the frequency you will</a:t>
            </a:r>
          </a:p>
          <a:p xmlns:a="http://schemas.openxmlformats.org/drawingml/2006/main">
            <a:r>
              <a:t>assign to them."</a:t>
            </a:r>
          </a:p>
          <a:p xmlns:a="http://schemas.openxmlformats.org/drawingml/2006/main"/>
          <a:p xmlns:a="http://schemas.openxmlformats.org/drawingml/2006/main">
            <a:r>
              <a:t>Finish on the word that matters: irreversible. It is the first of three today,</a:t>
            </a:r>
          </a:p>
          <a:p xmlns:a="http://schemas.openxmlformats.org/drawingml/2006/main">
            <a:r>
              <a:t>and it is the one they will meet again on the exit ticket.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00:48–00:49. BOARD WORK ITEM 3: write ODR ≠ BW ≠ f_cut in your own</a:t>
            </a:r>
          </a:p>
          <a:p xmlns:a="http://schemas.openxmlformats.org/drawingml/2006/main">
            <a:r>
              <a:t>handwriting, now, and say why you are writing it: this is the sentence most</a:t>
            </a:r>
          </a:p>
          <a:p xmlns:a="http://schemas.openxmlformats.org/drawingml/2006/main">
            <a:r>
              <a:t>students get wrong on the midterm, and you would rather they copied it than</a:t>
            </a:r>
          </a:p>
          <a:p xmlns:a="http://schemas.openxmlformats.org/drawingml/2006/main">
            <a:r>
              <a:t>inferred it.</a:t>
            </a:r>
          </a:p>
          <a:p xmlns:a="http://schemas.openxmlformats.org/drawingml/2006/main"/>
          <a:p xmlns:a="http://schemas.openxmlformats.org/drawingml/2006/main">
            <a:r>
              <a:t>Go across the last column, because that column is the whole lesson: their part,</a:t>
            </a:r>
          </a:p>
          <a:p xmlns:a="http://schemas.openxmlformats.org/drawingml/2006/main">
            <a:r>
              <a:t>today, has an ODR of 104, a claimed bandwidth of 52, and no anti-alias cut-off</a:t>
            </a:r>
          </a:p>
          <a:p xmlns:a="http://schemas.openxmlformats.org/drawingml/2006/main">
            <a:r>
              <a:t>at all.</a:t>
            </a:r>
          </a:p>
          <a:p xmlns:a="http://schemas.openxmlformats.org/drawingml/2006/main"/>
          <a:p xmlns:a="http://schemas.openxmlformats.org/drawingml/2006/main">
            <a:r>
              <a:t>One question, hands: "which of the three, set wrongly, gives an error you cannot</a:t>
            </a:r>
          </a:p>
          <a:p xmlns:a="http://schemas.openxmlformats.org/drawingml/2006/main">
            <a:r>
              <a:t>undo?" The third. That is learning outcome L3.2 and it is on the exit ticket.</a:t>
            </a:r>
          </a:p>
          <a:p xmlns:a="http://schemas.openxmlformats.org/drawingml/2006/main"/>
          <a:p xmlns:a="http://schemas.openxmlformats.org/drawingml/2006/main">
            <a:r>
              <a:t>IF POLL 3's FIRST VOTE WAS OVER 60 %: skip straight here from the reveal and</a:t>
            </a:r>
          </a:p>
          <a:p xmlns:a="http://schemas.openxmlformats.org/drawingml/2006/main">
            <a:r>
              <a:t>give the minutes to the timestamp segment instead.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00:49–00:50. This is the kicker, and it is the refutation of M2 for the</a:t>
            </a:r>
          </a:p>
          <a:p xmlns:a="http://schemas.openxmlformats.org/drawingml/2006/main">
            <a:r>
              <a:t>students who still have it after Poll 3.</a:t>
            </a:r>
          </a:p>
          <a:p xmlns:a="http://schemas.openxmlformats.org/drawingml/2006/main"/>
          <a:p xmlns:a="http://schemas.openxmlformats.org/drawingml/2006/main">
            <a:r>
              <a:t>Take the last row slowly. "Round numbers are more dangerous than awkward ones.</a:t>
            </a:r>
          </a:p>
          <a:p xmlns:a="http://schemas.openxmlformats.org/drawingml/2006/main">
            <a:r>
              <a:t>At a hundred hertz exactly, three hundred folds to zero — and a constant offset</a:t>
            </a:r>
          </a:p>
          <a:p xmlns:a="http://schemas.openxmlformats.org/drawingml/2006/main">
            <a:r>
              <a:t>is the single most calibratable-looking thing in the world."</a:t>
            </a:r>
          </a:p>
          <a:p xmlns:a="http://schemas.openxmlformats.org/drawingml/2006/main"/>
          <a:p xmlns:a="http://schemas.openxmlformats.org/drawingml/2006/main">
            <a:r>
              <a:t>Then the sentence that makes the room uncomfortable, which is the point: "they</a:t>
            </a:r>
          </a:p>
          <a:p xmlns:a="http://schemas.openxmlformats.org/drawingml/2006/main">
            <a:r>
              <a:t>will calibrate it out, and it will work, and their report will be excellent, and</a:t>
            </a:r>
          </a:p>
          <a:p xmlns:a="http://schemas.openxmlformats.org/drawingml/2006/main">
            <a:r>
              <a:t>the whole thing will be wrong the moment the pump changes speed."</a:t>
            </a:r>
          </a:p>
          <a:p xmlns:a="http://schemas.openxmlformats.org/drawingml/2006/main"/>
          <a:p xmlns:a="http://schemas.openxmlformats.org/drawingml/2006/main">
            <a:r>
              <a:t>Land the teal line and move — chunk 3 starts in sixty seconds and it is the</a:t>
            </a:r>
          </a:p>
          <a:p xmlns:a="http://schemas.openxmlformats.org/drawingml/2006/main">
            <a:r>
              <a:t>longest chunk of the lecture.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00:50–00:51. Section marker.</a:t>
            </a:r>
          </a:p>
          <a:p xmlns:a="http://schemas.openxmlformats.org/drawingml/2006/main"/>
          <a:p xmlns:a="http://schemas.openxmlformats.org/drawingml/2006/main">
            <a:r>
              <a:t>Say the framing once: "everything so far was about what reached the converter.</a:t>
            </a:r>
          </a:p>
          <a:p xmlns:a="http://schemas.openxmlformats.org/drawingml/2006/main">
            <a:r>
              <a:t>The next twenty minutes are about what happens to a number after it exists — and</a:t>
            </a:r>
          </a:p>
          <a:p xmlns:a="http://schemas.openxmlformats.org/drawingml/2006/main">
            <a:r>
              <a:t>the danger changes character. These errors do not look like errors. They look</a:t>
            </a:r>
          </a:p>
          <a:p xmlns:a="http://schemas.openxmlformats.org/drawingml/2006/main">
            <a:r>
              <a:t>like data."</a:t>
            </a:r>
          </a:p>
          <a:p xmlns:a="http://schemas.openxmlformats.org/drawingml/2006/main"/>
          <a:p xmlns:a="http://schemas.openxmlformats.org/drawingml/2006/main">
            <a:r>
              <a:t>Then the worked conversion, which you do WITH the class, on the board, asking</a:t>
            </a:r>
          </a:p>
          <a:p xmlns:a="http://schemas.openxmlformats.org/drawingml/2006/main">
            <a:r>
              <a:t>for each step before you write it. Do not show a finished derivation.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00:51–00:54. Do this on the board with the class. Do NOT project a</a:t>
            </a:r>
          </a:p>
          <a:p xmlns:a="http://schemas.openxmlformats.org/drawingml/2006/main">
            <a:r>
              <a:t>finished derivation and read it — ask for each step first.</a:t>
            </a:r>
          </a:p>
          <a:p xmlns:a="http://schemas.openxmlformats.org/drawingml/2006/main"/>
          <a:p xmlns:a="http://schemas.openxmlformats.org/drawingml/2006/main">
            <a:r>
              <a:t>"Two bytes. Which one is the high byte?" Take the wrong answer if it comes; it</a:t>
            </a:r>
          </a:p>
          <a:p xmlns:a="http://schemas.openxmlformats.org/drawingml/2006/main">
            <a:r>
              <a:t>is step one of the next slide.</a:t>
            </a:r>
          </a:p>
          <a:p xmlns:a="http://schemas.openxmlformats.org/drawingml/2006/main"/>
          <a:p xmlns:a="http://schemas.openxmlformats.org/drawingml/2006/main">
            <a:r>
              <a:t>"Bit fifteen is set. What does that mean?" If nobody says two's complement,</a:t>
            </a:r>
          </a:p>
          <a:p xmlns:a="http://schemas.openxmlformats.org/drawingml/2006/main">
            <a:r>
              <a:t>write 0xFF2C in binary and wait.</a:t>
            </a:r>
          </a:p>
          <a:p xmlns:a="http://schemas.openxmlformats.org/drawingml/2006/main"/>
          <a:p xmlns:a="http://schemas.openxmlformats.org/drawingml/2006/main">
            <a:r>
              <a:t>The subtraction is the step students skip in code without noticing, because C</a:t>
            </a:r>
          </a:p>
          <a:p xmlns:a="http://schemas.openxmlformats.org/drawingml/2006/main">
            <a:r>
              <a:t>will happily do the wrong thing with the wrong type. Say that: "int16_t, not</a:t>
            </a:r>
          </a:p>
          <a:p xmlns:a="http://schemas.openxmlformats.org/drawingml/2006/main">
            <a:r>
              <a:t>uint16_t, and not int. The type declaration IS the sign convention."</a:t>
            </a:r>
          </a:p>
          <a:p xmlns:a="http://schemas.openxmlformats.org/drawingml/2006/main"/>
          <a:p xmlns:a="http://schemas.openxmlformats.org/drawingml/2006/main">
            <a:r>
              <a:t>End on the plausibility statement: minus 12.9 milli-g is a device at rest,</a:t>
            </a:r>
          </a:p>
          <a:p xmlns:a="http://schemas.openxmlformats.org/drawingml/2006/main">
            <a:r>
              <a:t>slightly tilted. The answer being boring is the evidence it is right.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00:54–00:56. Row two is misconception M7 and it deserves thirty seconds:</a:t>
            </a:r>
          </a:p>
          <a:p xmlns:a="http://schemas.openxmlformats.org/drawingml/2006/main">
            <a:r>
              <a:t>signed data is not a formatting detail. A missed sign bit does not produce a</a:t>
            </a:r>
          </a:p>
          <a:p xmlns:a="http://schemas.openxmlformats.org/drawingml/2006/main">
            <a:r>
              <a:t>small error; it produces a stationary device reporting four g.</a:t>
            </a:r>
          </a:p>
          <a:p xmlns:a="http://schemas.openxmlformats.org/drawingml/2006/main"/>
          <a:p xmlns:a="http://schemas.openxmlformats.org/drawingml/2006/main">
            <a:r>
              <a:t>Row one is the more dangerous of the two, and say why: plus 703 milli-g is not</a:t>
            </a:r>
          </a:p>
          <a:p xmlns:a="http://schemas.openxmlformats.org/drawingml/2006/main">
            <a:r>
              <a:t>absurd. Nobody notices. It survives into the report.</a:t>
            </a:r>
          </a:p>
          <a:p xmlns:a="http://schemas.openxmlformats.org/drawingml/2006/main"/>
          <a:p xmlns:a="http://schemas.openxmlformats.org/drawingml/2006/main">
            <a:r>
              <a:t>Row three is the one that catches the CONSCIENTIOUS student — the one who writes</a:t>
            </a:r>
          </a:p>
          <a:p xmlns:a="http://schemas.openxmlformats.org/drawingml/2006/main">
            <a:r>
              <a:t>0x00 to CTRL3_C to start from a clean state. Say that out loud; it is worth</a:t>
            </a:r>
          </a:p>
          <a:p xmlns:a="http://schemas.openxmlformats.org/drawingml/2006/main">
            <a:r>
              <a:t>knowing that carefulness has failure modes too.</a:t>
            </a:r>
          </a:p>
          <a:p xmlns:a="http://schemas.openxmlformats.org/drawingml/2006/main"/>
          <a:p xmlns:a="http://schemas.openxmlformats.org/drawingml/2006/main">
            <a:r>
              <a:t>Then the teal box, which is the habit to install: it is the only check in the</a:t>
            </a:r>
          </a:p>
          <a:p xmlns:a="http://schemas.openxmlformats.org/drawingml/2006/main">
            <a:r>
              <a:t>whole chain that tests everything at once, against a physical constant they</a:t>
            </a:r>
          </a:p>
          <a:p xmlns:a="http://schemas.openxmlformats.org/drawingml/2006/main">
            <a:r>
              <a:t>cannot misconfigure.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00:56–00:58. Do all nine lines on the board, out loud, with the class.</a:t>
            </a:r>
          </a:p>
          <a:p xmlns:a="http://schemas.openxmlformats.org/drawingml/2006/main">
            <a:r>
              <a:t>This is where board work item 1 finally gets finished — write noise 0.72 mg,</a:t>
            </a:r>
          </a:p>
          <a:p xmlns:a="http://schemas.openxmlformats.org/drawingml/2006/main">
            <a:r>
              <a:t>11.8 LSB and 3.6 bits onto the line you started at minute 14.</a:t>
            </a:r>
          </a:p>
          <a:p xmlns:a="http://schemas.openxmlformats.org/drawingml/2006/main"/>
          <a:p xmlns:a="http://schemas.openxmlformats.org/drawingml/2006/main">
            <a:r>
              <a:t>Make them supply the bandwidth line. "Noise density times root what?" If anyone</a:t>
            </a:r>
          </a:p>
          <a:p xmlns:a="http://schemas.openxmlformats.org/drawingml/2006/main">
            <a:r>
              <a:t>says root ODR, stop and fix it there: that was Lecture 2's Poll 3 and it is the</a:t>
            </a:r>
          </a:p>
          <a:p xmlns:a="http://schemas.openxmlformats.org/drawingml/2006/main">
            <a:r>
              <a:t>same error in a new costume.</a:t>
            </a:r>
          </a:p>
          <a:p xmlns:a="http://schemas.openxmlformats.org/drawingml/2006/main"/>
          <a:p xmlns:a="http://schemas.openxmlformats.org/drawingml/2006/main">
            <a:r>
              <a:t>Say the sentence at the bottom exactly as written, then the second one from the</a:t>
            </a:r>
          </a:p>
          <a:p xmlns:a="http://schemas.openxmlformats.org/drawingml/2006/main">
            <a:r>
              <a:t>activity sheet: "you did not buy a 16-bit measurement. You bought a 16-bit</a:t>
            </a:r>
          </a:p>
          <a:p xmlns:a="http://schemas.openxmlformats.org/drawingml/2006/main">
            <a:r>
              <a:t>number wrapped around a 12.4-bit measurement — and the datasheet was not lying</a:t>
            </a:r>
          </a:p>
          <a:p xmlns:a="http://schemas.openxmlformats.org/drawingml/2006/main">
            <a:r>
              <a:t>to you. It printed the noise density on the same page."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00:58–01:00. Silence first, then read the two lines once. Do not</a:t>
            </a:r>
          </a:p>
          <a:p xmlns:a="http://schemas.openxmlformats.org/drawingml/2006/main">
            <a:r>
              <a:t>elaborate on them; the table did the work.</a:t>
            </a:r>
          </a:p>
          <a:p xmlns:a="http://schemas.openxmlformats.org/drawingml/2006/main"/>
          <a:p xmlns:a="http://schemas.openxmlformats.org/drawingml/2006/main">
            <a:r>
              <a:t>Then the typ column, and connect it back explicitly — this is the connective</a:t>
            </a:r>
          </a:p>
          <a:p xmlns:a="http://schemas.openxmlformats.org/drawingml/2006/main">
            <a:r>
              <a:t>tissue of Module A and it is worth saying in those words: "last week the two</a:t>
            </a:r>
          </a:p>
          <a:p xmlns:a="http://schemas.openxmlformats.org/drawingml/2006/main">
            <a:r>
              <a:t>columns straddled a pass/fail line. This week they move the effective resolution</a:t>
            </a:r>
          </a:p>
          <a:p xmlns:a="http://schemas.openxmlformats.org/drawingml/2006/main">
            <a:r>
              <a:t>by nearly a bit. Same lesson, different quantity: a number without its</a:t>
            </a:r>
          </a:p>
          <a:p xmlns:a="http://schemas.openxmlformats.org/drawingml/2006/main">
            <a:r>
              <a:t>conditions is not a number."</a:t>
            </a:r>
          </a:p>
          <a:p xmlns:a="http://schemas.openxmlformats.org/drawingml/2006/main"/>
          <a:p xmlns:a="http://schemas.openxmlformats.org/drawingml/2006/main">
            <a:r>
              <a:t>Ask which column they would design with. You want the same answer as Lecture 2:</a:t>
            </a:r>
          </a:p>
          <a:p xmlns:a="http://schemas.openxmlformats.org/drawingml/2006/main">
            <a:r>
              <a:t>max if you are guaranteeing the specification, typ only if you can measure every</a:t>
            </a:r>
          </a:p>
          <a:p xmlns:a="http://schemas.openxmlformats.org/drawingml/2006/main">
            <a:r>
              <a:t>unit — and never typ presented as a guarantee.</a:t>
            </a:r>
          </a:p>
          <a:p xmlns:a="http://schemas.openxmlformats.org/drawingml/2006/main"/>
          <a:p xmlns:a="http://schemas.openxmlformats.org/drawingml/2006/main">
            <a:r>
              <a:t>Sixty seconds. Then the clock.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01:00–01:02. Start by asking, not telling: "you called HAL_Delay(10).</a:t>
            </a:r>
          </a:p>
          <a:p xmlns:a="http://schemas.openxmlformats.org/drawingml/2006/main">
            <a:r>
              <a:t>What is your sample rate?" Everybody says a hundred hertz. Wait, then: "what</a:t>
            </a:r>
          </a:p>
          <a:p xmlns:a="http://schemas.openxmlformats.org/drawingml/2006/main">
            <a:r>
              <a:t>else does the loop do?"</a:t>
            </a:r>
          </a:p>
          <a:p xmlns:a="http://schemas.openxmlformats.org/drawingml/2006/main"/>
          <a:p xmlns:a="http://schemas.openxmlformats.org/drawingml/2006/main">
            <a:r>
              <a:t>The bar is to scale on purpose. Point at the amber sliver: "that is the whole</a:t>
            </a:r>
          </a:p>
          <a:p xmlns:a="http://schemas.openxmlformats.org/drawingml/2006/main">
            <a:r>
              <a:t>error. Two per cent. It looks like nothing." Then the sentence that sets up the</a:t>
            </a:r>
          </a:p>
          <a:p xmlns:a="http://schemas.openxmlformats.org/drawingml/2006/main">
            <a:r>
              <a:t>next slide: "it looks like nothing because you are looking at one iteration."</a:t>
            </a:r>
          </a:p>
          <a:p xmlns:a="http://schemas.openxmlformats.org/drawingml/2006/main"/>
          <a:p xmlns:a="http://schemas.openxmlformats.org/drawingml/2006/main">
            <a:r>
              <a:t>The phrase to leave them with is on the dark bar: a delay is a minimum, never a</a:t>
            </a:r>
          </a:p>
          <a:p xmlns:a="http://schemas.openxmlformats.org/drawingml/2006/main">
            <a:r>
              <a:t>period. HAL_Delay guarantees at least ten milliseconds and promises nothing</a:t>
            </a:r>
          </a:p>
          <a:p xmlns:a="http://schemas.openxmlformats.org/drawingml/2006/main">
            <a:r>
              <a:t>about the loop.</a:t>
            </a:r>
          </a:p>
          <a:p xmlns:a="http://schemas.openxmlformats.org/drawingml/2006/main"/>
          <a:p xmlns:a="http://schemas.openxmlformats.org/drawingml/2006/main">
            <a:r>
              <a:t>If someone asks about interrupt latency and jitter — yes, and it makes the real</a:t>
            </a:r>
          </a:p>
          <a:p xmlns:a="http://schemas.openxmlformats.org/drawingml/2006/main">
            <a:r>
              <a:t>case worse, not better. Two slides from now, that is the fix.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01:02–01:03. Read the last two rows and then stop talking for a moment.</a:t>
            </a:r>
          </a:p>
          <a:p xmlns:a="http://schemas.openxmlformats.org/drawingml/2006/main"/>
          <a:p xmlns:a="http://schemas.openxmlformats.org/drawingml/2006/main">
            <a:r>
              <a:t>The 20.41 Hz row is the one that will show up in somebody's project: a two per</a:t>
            </a:r>
          </a:p>
          <a:p xmlns:a="http://schemas.openxmlformats.org/drawingml/2006/main">
            <a:r>
              <a:t>cent frequency error is enough to misidentify a machine order or a resonance,</a:t>
            </a:r>
          </a:p>
          <a:p xmlns:a="http://schemas.openxmlformats.org/drawingml/2006/main">
            <a:r>
              <a:t>and it is far too small to look like a bug.</a:t>
            </a:r>
          </a:p>
          <a:p xmlns:a="http://schemas.openxmlformats.org/drawingml/2006/main"/>
          <a:p xmlns:a="http://schemas.openxmlformats.org/drawingml/2006/main">
            <a:r>
              <a:t>The 12.1 s row is the one that matters. Ask the question that makes it real:</a:t>
            </a:r>
          </a:p>
          <a:p xmlns:a="http://schemas.openxmlformats.org/drawingml/2006/main">
            <a:r>
              <a:t>"what were you going to do with this log?" Correlate it — against a second</a:t>
            </a:r>
          </a:p>
          <a:p xmlns:a="http://schemas.openxmlformats.org/drawingml/2006/main">
            <a:r>
              <a:t>sensor, an operator's note, a video, another team's file. Twelve seconds of</a:t>
            </a:r>
          </a:p>
          <a:p xmlns:a="http://schemas.openxmlformats.org/drawingml/2006/main">
            <a:r>
              <a:t>drift makes every one of those correlations meaningless.</a:t>
            </a:r>
          </a:p>
          <a:p xmlns:a="http://schemas.openxmlformats.org/drawingml/2006/main"/>
          <a:p xmlns:a="http://schemas.openxmlformats.org/drawingml/2006/main">
            <a:r>
              <a:t>Then the bottom box, and lean on the last sentence. Bounding an error and</a:t>
            </a:r>
          </a:p>
          <a:p xmlns:a="http://schemas.openxmlformats.org/drawingml/2006/main">
            <a:r>
              <a:t>inverting it are different operations, and only one of them saves the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01:03–01:04. This is the single most transferable minute of the lecture.</a:t>
            </a:r>
          </a:p>
          <a:p xmlns:a="http://schemas.openxmlformats.org/drawingml/2006/main">
            <a:r>
              <a:t>Say so.</a:t>
            </a:r>
          </a:p>
          <a:p xmlns:a="http://schemas.openxmlformats.org/drawingml/2006/main"/>
          <a:p xmlns:a="http://schemas.openxmlformats.org/drawingml/2006/main">
            <a:r>
              <a:t>The table is a reference; read only the third row aloud, both columns. Unbounded</a:t>
            </a:r>
          </a:p>
          <a:p xmlns:a="http://schemas.openxmlformats.org/drawingml/2006/main">
            <a:r>
              <a:t>against bounded is the whole argument, and it costs one interrupt handler.</a:t>
            </a:r>
          </a:p>
          <a:p xmlns:a="http://schemas.openxmlformats.org/drawingml/2006/main"/>
          <a:p xmlns:a="http://schemas.openxmlformats.org/drawingml/2006/main">
            <a:r>
              <a:t>Then the teal line, which is the sentence to carry out of the room: the sensor</a:t>
            </a:r>
          </a:p>
          <a:p xmlns:a="http://schemas.openxmlformats.org/drawingml/2006/main">
            <a:r>
              <a:t>knows when it sampled — ask it rather than guessing.</a:t>
            </a:r>
          </a:p>
          <a:p xmlns:a="http://schemas.openxmlformats.org/drawingml/2006/main"/>
          <a:p xmlns:a="http://schemas.openxmlformats.org/drawingml/2006/main">
            <a:r>
              <a:t>Two objections you should welcome. "The interrupt has latency too": yes, and it</a:t>
            </a:r>
          </a:p>
          <a:p xmlns:a="http://schemas.openxmlformats.org/drawingml/2006/main">
            <a:r>
              <a:t>is bounded and small, which is the entire point. "This is more work": about</a:t>
            </a:r>
          </a:p>
          <a:p xmlns:a="http://schemas.openxmlformats.org/drawingml/2006/main">
            <a:r>
              <a:t>fifteen lines, once, and they will write them in Laboratory 2 in week four.</a:t>
            </a:r>
          </a:p>
          <a:p xmlns:a="http://schemas.openxmlformats.org/drawingml/2006/main"/>
          <a:p xmlns:a="http://schemas.openxmlformats.org/drawingml/2006/main">
            <a:r>
              <a:t>NEVER CUT THIS SEGMENT, even running late. Cut slide 35 instead.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01:04–01:06. THIS SLIDE IS A DESIGNATED CUT if you are running late.</a:t>
            </a:r>
          </a:p>
          <a:p xmlns:a="http://schemas.openxmlformats.org/drawingml/2006/main"/>
          <a:p xmlns:a="http://schemas.openxmlformats.org/drawingml/2006/main">
            <a:r>
              <a:t>If you keep it, spend the time on WHO_AM_I, because they did it in Laboratory 1</a:t>
            </a:r>
          </a:p>
          <a:p xmlns:a="http://schemas.openxmlformats.org/drawingml/2006/main">
            <a:r>
              <a:t>and it is retrieval: one byte proves four things. Mention the coincidence that</a:t>
            </a:r>
          </a:p>
          <a:p xmlns:a="http://schemas.openxmlformats.org/drawingml/2006/main">
            <a:r>
              <a:t>0x6B is both the expected value and one of the part's two I²C addresses — it has</a:t>
            </a:r>
          </a:p>
          <a:p xmlns:a="http://schemas.openxmlformats.org/drawingml/2006/main">
            <a:r>
              <a:t>confused a great many people and it will confuse some of them.</a:t>
            </a:r>
          </a:p>
          <a:p xmlns:a="http://schemas.openxmlformats.org/drawingml/2006/main"/>
          <a:p xmlns:a="http://schemas.openxmlformats.org/drawingml/2006/main">
            <a:r>
              <a:t>FIFO overrun is the one with today's flavour: a silently dropped sample is not</a:t>
            </a:r>
          </a:p>
          <a:p xmlns:a="http://schemas.openxmlformats.org/drawingml/2006/main">
            <a:r>
              <a:t>missing data, it is a timing error wearing data's clothes. That is the same</a:t>
            </a:r>
          </a:p>
          <a:p xmlns:a="http://schemas.openxmlformats.org/drawingml/2006/main">
            <a:r>
              <a:t>lesson as the last three slides in a fourth costume.</a:t>
            </a:r>
          </a:p>
          <a:p xmlns:a="http://schemas.openxmlformats.org/drawingml/2006/main"/>
          <a:p xmlns:a="http://schemas.openxmlformats.org/drawingml/2006/main">
            <a:r>
              <a:t>Do not turn this into a checklist to memorise. The point is the last line: these</a:t>
            </a:r>
          </a:p>
          <a:p xmlns:a="http://schemas.openxmlformats.org/drawingml/2006/main">
            <a:r>
              <a:t>turn "strange data" into "the sensor was never responding".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01:06–01:08. Put the minute-7 distribution on the board beside this. The</a:t>
            </a:r>
          </a:p>
          <a:p xmlns:a="http://schemas.openxmlformats.org/drawingml/2006/main">
            <a:r>
              <a:t>shift is the lecture's evidence that it worked, and the class should see it.</a:t>
            </a:r>
          </a:p>
          <a:p xmlns:a="http://schemas.openxmlformats.org/drawingml/2006/main"/>
          <a:p xmlns:a="http://schemas.openxmlformats.org/drawingml/2006/main">
            <a:r>
              <a:t>Say both halves, because this is a professional habit rather than a trick:</a:t>
            </a:r>
          </a:p>
          <a:p xmlns:a="http://schemas.openxmlformats.org/drawingml/2006/main"/>
          <a:p xmlns:a="http://schemas.openxmlformats.org/drawingml/2006/main">
            <a:r>
              <a:t>"If you chose D at minute seven you were right, and for the best possible</a:t>
            </a:r>
          </a:p>
          <a:p xmlns:a="http://schemas.openxmlformats.org/drawingml/2006/main">
            <a:r>
              <a:t>reason: you knew you could not decide. If you chose A you did what most</a:t>
            </a:r>
          </a:p>
          <a:p xmlns:a="http://schemas.openxmlformats.org/drawingml/2006/main">
            <a:r>
              <a:t>engineers do, which is read the headline. If you chose B you knew a real formula</a:t>
            </a:r>
          </a:p>
          <a:p xmlns:a="http://schemas.openxmlformats.org/drawingml/2006/main">
            <a:r>
              <a:t>and stopped one term too early. And if you now choose C, you can defend it with</a:t>
            </a:r>
          </a:p>
          <a:p xmlns:a="http://schemas.openxmlformats.org/drawingml/2006/main">
            <a:r>
              <a:t>arithmetic — which is the only defence that survives a design review."</a:t>
            </a:r>
          </a:p>
          <a:p xmlns:a="http://schemas.openxmlformats.org/drawingml/2006/main"/>
          <a:p xmlns:a="http://schemas.openxmlformats.org/drawingml/2006/main">
            <a:r>
              <a:t>Then point at the board line you started at minute 14 and finished at minute 56.</a:t>
            </a:r>
          </a:p>
          <a:p xmlns:a="http://schemas.openxmlformats.org/drawingml/2006/main">
            <a:r>
              <a:t>It is the whole lecture in one row of chalk.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01:08–01:11. TRANSFER ITEM — deliberately a new measurand, so it tests</a:t>
            </a:r>
          </a:p>
          <a:p xmlns:a="http://schemas.openxmlformats.org/drawingml/2006/main">
            <a:r>
              <a:t>the principle rather than memory of the accelerometer case. Sixty seconds to</a:t>
            </a:r>
          </a:p>
          <a:p xmlns:a="http://schemas.openxmlformats.org/drawingml/2006/main">
            <a:r>
              <a:t>vote, then discussion.</a:t>
            </a:r>
          </a:p>
          <a:p xmlns:a="http://schemas.openxmlformats.org/drawingml/2006/main"/>
          <a:p xmlns:a="http://schemas.openxmlformats.org/drawingml/2006/main">
            <a:r>
              <a:t>Correct is A: a constant offset is a systematic error against a known reference</a:t>
            </a:r>
          </a:p>
          <a:p xmlns:a="http://schemas.openxmlformats.org/drawingml/2006/main">
            <a:r>
              <a:t>— the tank was empty on Tuesday, the level was surveyed on Friday — so it is</a:t>
            </a:r>
          </a:p>
          <a:p xmlns:a="http://schemas.openxmlformats.org/drawingml/2006/main">
            <a:r>
              <a:t>removable after the fact.</a:t>
            </a:r>
          </a:p>
          <a:p xmlns:a="http://schemas.openxmlformats.org/drawingml/2006/main"/>
          <a:p xmlns:a="http://schemas.openxmlformats.org/drawingml/2006/main">
            <a:r>
              <a:t>B is the tempting one, because it LOOKS like a linear correction. It is not: the</a:t>
            </a:r>
          </a:p>
          <a:p xmlns:a="http://schemas.openxmlformats.org/drawingml/2006/main">
            <a:r>
              <a:t>loop period depended on branch timing that varied with the data. Bound it; you</a:t>
            </a:r>
          </a:p>
          <a:p xmlns:a="http://schemas.openxmlformats.org/drawingml/2006/main">
            <a:r>
              <a:t>cannot invert it. C is the student who has forgotten Poll 3 twenty minutes</a:t>
            </a:r>
          </a:p>
          <a:p xmlns:a="http://schemas.openxmlformats.org/drawingml/2006/main">
            <a:r>
              <a:t>later, which is worth catching now rather than in the midterm. D is the student</a:t>
            </a:r>
          </a:p>
          <a:p xmlns:a="http://schemas.openxmlformats.org/drawingml/2006/main">
            <a:r>
              <a:t>who thinks averaging recovers resolution — it recovers some, for a stationary</a:t>
            </a:r>
          </a:p>
          <a:p xmlns:a="http://schemas.openxmlformats.org/drawingml/2006/main">
            <a:r>
              <a:t>signal, at the cost of bandwidth.</a:t>
            </a:r>
          </a:p>
          <a:p xmlns:a="http://schemas.openxmlformats.org/drawingml/2006/main"/>
          <a:p xmlns:a="http://schemas.openxmlformats.org/drawingml/2006/main">
            <a:r>
              <a:t>Do not reveal here. The next slide is the answer, in general 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01:11–01:13. THIS IS THE ARTEFACT THEY KEEP. Say that: "photograph this</a:t>
            </a:r>
          </a:p>
          <a:p xmlns:a="http://schemas.openxmlformats.org/drawingml/2006/main">
            <a:r>
              <a:t>one. You will use it in every remaining laboratory of this course."</a:t>
            </a:r>
          </a:p>
          <a:p xmlns:a="http://schemas.openxmlformats.org/drawingml/2006/main"/>
          <a:p xmlns:a="http://schemas.openxmlformats.org/drawingml/2006/main">
            <a:r>
              <a:t>Resolve Poll 4 from the first row and move on quickly — A, the offset, and the</a:t>
            </a:r>
          </a:p>
          <a:p xmlns:a="http://schemas.openxmlformats.org/drawingml/2006/main">
            <a:r>
              <a:t>other three are all in the bottom half of this table.</a:t>
            </a:r>
          </a:p>
          <a:p xmlns:a="http://schemas.openxmlformats.org/drawingml/2006/main"/>
          <a:p xmlns:a="http://schemas.openxmlformats.org/drawingml/2006/main">
            <a:r>
              <a:t>Two rows deserve a sentence each. Temperature drift is recoverable if and only</a:t>
            </a:r>
          </a:p>
          <a:p xmlns:a="http://schemas.openxmlformats.org/drawingml/2006/main">
            <a:r>
              <a:t>if you logged the temperature; almost every sensor in this course has a</a:t>
            </a:r>
          </a:p>
          <a:p xmlns:a="http://schemas.openxmlformats.org/drawingml/2006/main">
            <a:r>
              <a:t>temperature output, most people ignore it, and it costs one column in the file.</a:t>
            </a:r>
          </a:p>
          <a:p xmlns:a="http://schemas.openxmlformats.org/drawingml/2006/main">
            <a:r>
              <a:t>Log it. And quantisation: "no" and "negligible" in the same row is not a</a:t>
            </a:r>
          </a:p>
          <a:p xmlns:a="http://schemas.openxmlformats.org/drawingml/2006/main">
            <a:r>
              <a:t>contradiction — it cannot be undone and it never mattered.</a:t>
            </a:r>
          </a:p>
          <a:p xmlns:a="http://schemas.openxmlformats.org/drawingml/2006/main"/>
          <a:p xmlns:a="http://schemas.openxmlformats.org/drawingml/2006/main">
            <a:r>
              <a:t>Then the pattern at the bottom, which is the one law of the subject with no</a:t>
            </a:r>
          </a:p>
          <a:p xmlns:a="http://schemas.openxmlformats.org/drawingml/2006/main">
            <a:r>
              <a:t>exceptions: no processing creates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01:13–01:15. Go back to the hook explicitly — put slide 4 up beside this</a:t>
            </a:r>
          </a:p>
          <a:p xmlns:a="http://schemas.openxmlformats.org/drawingml/2006/main">
            <a:r>
              <a:t>one if your tooling allows, or just say it.</a:t>
            </a:r>
          </a:p>
          <a:p xmlns:a="http://schemas.openxmlformats.org/drawingml/2006/main"/>
          <a:p xmlns:a="http://schemas.openxmlformats.org/drawingml/2006/main">
            <a:r>
              <a:t>"At minute five these were three assertions. You have now derived all three, and</a:t>
            </a:r>
          </a:p>
          <a:p xmlns:a="http://schemas.openxmlformats.org/drawingml/2006/main">
            <a:r>
              <a:t>each one came from a document you already had."</a:t>
            </a:r>
          </a:p>
          <a:p xmlns:a="http://schemas.openxmlformats.org/drawingml/2006/main"/>
          <a:p xmlns:a="http://schemas.openxmlformats.org/drawingml/2006/main">
            <a:r>
              <a:t>Point at the colours, because the semantic is the course's, not this lecture's:</a:t>
            </a:r>
          </a:p>
          <a:p xmlns:a="http://schemas.openxmlformats.org/drawingml/2006/main">
            <a:r>
              <a:t>teal is what you own, red is what you lost. Twelve point four bits is a number</a:t>
            </a:r>
          </a:p>
          <a:p xmlns:a="http://schemas.openxmlformats.org/drawingml/2006/main">
            <a:r>
              <a:t>you can write in a report and defend. The other two are damage.</a:t>
            </a:r>
          </a:p>
          <a:p xmlns:a="http://schemas.openxmlformats.org/drawingml/2006/main"/>
          <a:p xmlns:a="http://schemas.openxmlformats.org/drawingml/2006/main">
            <a:r>
              <a:t>Ask one question and take two answers: "which of the three would you check</a:t>
            </a:r>
          </a:p>
          <a:p xmlns:a="http://schemas.openxmlformats.org/drawingml/2006/main">
            <a:r>
              <a:t>first, on a system you inherited?" Any defended answer is a good answer; the</a:t>
            </a:r>
          </a:p>
          <a:p xmlns:a="http://schemas.openxmlformats.org/drawingml/2006/main">
            <a:r>
              <a:t>habit is checking before trusting.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01:15–01:17. Read the four questions only — not the grey lines. Sixty</a:t>
            </a:r>
          </a:p>
          <a:p xmlns:a="http://schemas.openxmlformats.org/drawingml/2006/main">
            <a:r>
              <a:t>seconds.</a:t>
            </a:r>
          </a:p>
          <a:p xmlns:a="http://schemas.openxmlformats.org/drawingml/2006/main"/>
          <a:p xmlns:a="http://schemas.openxmlformats.org/drawingml/2006/main">
            <a:r>
              <a:t>Then make the demand concrete, because as a list it sounds like advice: "all</a:t>
            </a:r>
          </a:p>
          <a:p xmlns:a="http://schemas.openxmlformats.org/drawingml/2006/main">
            <a:r>
              <a:t>four are answerable before you write firmware. Not after the run. Before. If you</a:t>
            </a:r>
          </a:p>
          <a:p xmlns:a="http://schemas.openxmlformats.org/drawingml/2006/main">
            <a:r>
              <a:t>cannot answer them at the design stage, the run will not tell you."</a:t>
            </a:r>
          </a:p>
          <a:p xmlns:a="http://schemas.openxmlformats.org/drawingml/2006/main"/>
          <a:p xmlns:a="http://schemas.openxmlformats.org/drawingml/2006/main">
            <a:r>
              <a:t>The last line is the sentence to end the content on, so deliver it and stop. Let</a:t>
            </a:r>
          </a:p>
          <a:p xmlns:a="http://schemas.openxmlformats.org/drawingml/2006/main">
            <a:r>
              <a:t>it sit for two seconds before you move to the laboratory bridge.</a:t>
            </a:r>
          </a:p>
          <a:p xmlns:a="http://schemas.openxmlformats.org/drawingml/2006/main"/>
          <a:p xmlns:a="http://schemas.openxmlformats.org/drawingml/2006/main">
            <a:r>
              <a:t>If you are behind, this is the slide to compress — but not to cut. It is the</a:t>
            </a:r>
          </a:p>
          <a:p xmlns:a="http://schemas.openxmlformats.org/drawingml/2006/main">
            <a:r>
              <a:t>lecture's answer to its own title.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01:17–01:18. Be concrete about the pre-lab; vagueness here costs bench</a:t>
            </a:r>
          </a:p>
          <a:p xmlns:a="http://schemas.openxmlformats.org/drawingml/2006/main">
            <a:r>
              <a:t>time in week four.</a:t>
            </a:r>
          </a:p>
          <a:p xmlns:a="http://schemas.openxmlformats.org/drawingml/2006/main"/>
          <a:p xmlns:a="http://schemas.openxmlformats.org/drawingml/2006/main">
            <a:r>
              <a:t>"Two ODR settings, the nine-line calculation, on paper, before you walk in. If</a:t>
            </a:r>
          </a:p>
          <a:p xmlns:a="http://schemas.openxmlformats.org/drawingml/2006/main">
            <a:r>
              <a:t>you arrive without it you will spend the first forty minutes deriving instead of</a:t>
            </a:r>
          </a:p>
          <a:p xmlns:a="http://schemas.openxmlformats.org/drawingml/2006/main">
            <a:r>
              <a:t>measuring, and the demonstrators will not do it for you."</a:t>
            </a:r>
          </a:p>
          <a:p xmlns:a="http://schemas.openxmlformats.org/drawingml/2006/main"/>
          <a:p xmlns:a="http://schemas.openxmlformats.org/drawingml/2006/main">
            <a:r>
              <a:t>The question in the teal box has a one-line answer — LPF2_XL_EN — and asking for</a:t>
            </a:r>
          </a:p>
          <a:p xmlns:a="http://schemas.openxmlformats.org/drawingml/2006/main">
            <a:r>
              <a:t>it as homework means the whole room arrives having found bit 1 of CTRL1_XL in</a:t>
            </a:r>
          </a:p>
          <a:p xmlns:a="http://schemas.openxmlformats.org/drawingml/2006/main">
            <a:r>
              <a:t>the datasheet themselves.</a:t>
            </a:r>
          </a:p>
          <a:p xmlns:a="http://schemas.openxmlformats.org/drawingml/2006/main"/>
          <a:p xmlns:a="http://schemas.openxmlformats.org/drawingml/2006/main">
            <a:r>
              <a:t>Then the forward link: Lecture 4 explains where the noise density and the drift</a:t>
            </a:r>
          </a:p>
          <a:p xmlns:a="http://schemas.openxmlformats.org/drawingml/2006/main">
            <a:r>
              <a:t>came from in the first place. Same datasheet, one level further down.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01:18–01:20. End on time. Hand the slips out while slide 41 is still up.</a:t>
            </a:r>
          </a:p>
          <a:p xmlns:a="http://schemas.openxmlformats.org/drawingml/2006/main"/>
          <a:p xmlns:a="http://schemas.openxmlformats.org/drawingml/2006/main">
            <a:r>
              <a:t>Q1 key: sampling faster does not remove an alias, it moves it — the filter has</a:t>
            </a:r>
          </a:p>
          <a:p xmlns:a="http://schemas.openxmlformats.org/drawingml/2006/main">
            <a:r>
              <a:t>to be in front of the converter, and no software step recovers what the sampler</a:t>
            </a:r>
          </a:p>
          <a:p xmlns:a="http://schemas.openxmlformats.org/drawingml/2006/main">
            <a:r>
              <a:t>already merged. Accept any sentence containing that idea.</a:t>
            </a:r>
          </a:p>
          <a:p xmlns:a="http://schemas.openxmlformats.org/drawingml/2006/main"/>
          <a:p xmlns:a="http://schemas.openxmlformats.org/drawingml/2006/main">
            <a:r>
              <a:t>Q2 is the diagnostic and the reason this ticket exists. Expect roughly a third</a:t>
            </a:r>
          </a:p>
          <a:p xmlns:a="http://schemas.openxmlformats.org/drawingml/2006/main">
            <a:r>
              <a:t>to name aliasing, a third the timestamp, and a third to name something that is</a:t>
            </a:r>
          </a:p>
          <a:p xmlns:a="http://schemas.openxmlformats.org/drawingml/2006/main">
            <a:r>
              <a:t>in fact calibratable. That last third is precisely the signal you want, and it</a:t>
            </a:r>
          </a:p>
          <a:p xmlns:a="http://schemas.openxmlformats.org/drawingml/2006/main">
            <a:r>
              <a:t>is the opening slide of Lecture 4.</a:t>
            </a:r>
          </a:p>
          <a:p xmlns:a="http://schemas.openxmlformats.org/drawingml/2006/main"/>
          <a:p xmlns:a="http://schemas.openxmlformats.org/drawingml/2006/main">
            <a:r>
              <a:t>READ THEM. This is outcome L3.5 and the spine of Lectures 12–15. If most of the</a:t>
            </a:r>
          </a:p>
          <a:p xmlns:a="http://schemas.openxmlformats.org/drawingml/2006/main">
            <a:r>
              <a:t>room names a calibratable error, the synthesis table needs ten minutes of</a:t>
            </a:r>
          </a:p>
          <a:p xmlns:a="http://schemas.openxmlformats.org/drawingml/2006/main">
            <a:r>
              <a:t>Lecture 4's opening, not a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8f5a7c4e940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566cb23954d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a1ce1e77843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fbd9582ddb42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3b08430b74d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87e71626f469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ae30467b6f4cb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f50e689f74ff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1a43240da44b5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ab93f3384479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0335b84df48a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815C86-5278-4B32-9DDD-0015DBE1990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75E893E-CFC8-4A4F-9198-08404FFA21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D2DB28-B80E-4A00-8BCB-4785C0C440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208224-9514-4E21-A27B-1F9E4F5168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DC3BA7-A28C-4EBA-989D-747213653E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B7FE70-BBA5-4A04-9E8F-802AE21882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2DA2D5-D24F-45E9-9C0E-E62E49DEFA3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1573C6-9F35-40D6-AA62-62F4526457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7891FA-1E5B-47D9-8086-B84E18D9CD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4DE7ED-F7AA-4925-8A5B-C61E4D3F18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0AE9C9-4EF7-4944-9226-AD77461972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7C24B1-0351-49C2-A028-1D4A26D507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F7E9F93-03F1-49B3-AF84-92DF5EA980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EC648D-7174-4DA1-BF99-A937D7E87B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6FA113-8566-43BD-96B7-DC347DB7F5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65B064-280A-46CA-A62E-A9341D582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0319FC9-B3D8-492E-8147-78CE7521FF8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BD76EBA-6909-4128-BE7B-E2253D43F6B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90A5A1B-CD83-4E72-90F9-E73B392B49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C808F61-84E2-4539-A2A0-343B909963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F311C9A-D223-4383-A1FA-4690D31A44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388BA6-0295-4D1B-B8CC-D814C97A7D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E40917-587C-40AF-A111-AE307446FF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6F2FF6F-4B1F-40A5-AB21-99864C5E0A2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52E651A-1D6C-4167-992D-AAD1B7B169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3C30413-DBF0-460E-8A6D-B6D801FA999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7D3AD1A-2812-43F7-84EB-6B79BDC6FA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0984D39-D788-4AF9-A8C0-0124305ED2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C8B29E0-C499-4C4E-8601-E15C5BA147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1816F1-592F-4D9B-9F04-14E3A31D5B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4B9F692-7CF3-4986-897B-3E60B2283F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13E8C9D-26E4-4711-829D-923ADF0822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E962820-52FB-4DE8-9DE2-7B220F8EB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1BAE7EC-B1F4-44B1-8093-880A25AB46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DD1558C-68EC-4D05-AE67-8F462C3E2C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0248E17-ED01-49C6-8065-8CD7819AC4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78DAA9-127C-479A-88D9-8764D1B0A2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2374BF-FD1E-4230-8C7B-859ACCCE19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901D6A1-3EC9-47CD-989C-12EC9BD284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0373EF-4B7D-417C-BDAC-FBD5D8BD1C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437830A-EAEC-4960-BE00-F185BB500C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18FBEFD-6326-4224-8EB5-FA5E9BC4D6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A978E9-C8FD-4E8C-A925-18A89CCB0D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3733154-A746-4461-9B4F-C2E0CB9F78A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A5DD774-17DC-46AE-9F34-07381AAF41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3CE933A-9044-49B4-AFAB-AFA23436E0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A6D69C3-6101-416A-A547-A54320DD9E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2FB2014-1FD1-4D32-B93D-AE6C66E200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AF672E-F7CF-484C-A66C-9B55C47F03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E22AC0-DEA0-478E-AA15-EBE8570643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8C412A-13FE-494B-B836-C8F2AFCCD7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07C55A-0696-4A26-A7C8-E241D08EEF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DD44BE-7D0B-4471-A52B-72942E6B19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9CEA091-4D5B-4649-B3CC-636E952FE9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606065-ECFD-42AC-982A-A78A642E27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36F812-D31A-4861-B442-0439B5A5E3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F06D49-C589-4913-B3E3-64B1A23DE2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42C827-481C-46D3-BC87-697B4DD489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e0e80f91874a7e" /><Relationship Type="http://schemas.openxmlformats.org/officeDocument/2006/relationships/slideLayout" Target="/ppt/slideLayouts/slideLayout1.xml" Id="Rd2e20209352a4f2b" /><Relationship Type="http://schemas.openxmlformats.org/officeDocument/2006/relationships/slideLayout" Target="/ppt/slideLayouts/slideLayout2.xml" Id="R19df95e9474d4398" /><Relationship Type="http://schemas.openxmlformats.org/officeDocument/2006/relationships/slideLayout" Target="/ppt/slideLayouts/slideLayout3.xml" Id="R8314b8d42a834250" /><Relationship Type="http://schemas.openxmlformats.org/officeDocument/2006/relationships/slideLayout" Target="/ppt/slideLayouts/slideLayout4.xml" Id="Rcc72fa0dd97342fd" /><Relationship Type="http://schemas.openxmlformats.org/officeDocument/2006/relationships/slideLayout" Target="/ppt/slideLayouts/slideLayout5.xml" Id="R78e7105c9b244e5f" /><Relationship Type="http://schemas.openxmlformats.org/officeDocument/2006/relationships/slideLayout" Target="/ppt/slideLayouts/slideLayout6.xml" Id="R5109ab8f76ec429a" /><Relationship Type="http://schemas.openxmlformats.org/officeDocument/2006/relationships/slideLayout" Target="/ppt/slideLayouts/slideLayout7.xml" Id="R088b5f3ff3514710" /><Relationship Type="http://schemas.openxmlformats.org/officeDocument/2006/relationships/slideLayout" Target="/ppt/slideLayouts/slideLayout8.xml" Id="R122adeb18fc941dc" /><Relationship Type="http://schemas.openxmlformats.org/officeDocument/2006/relationships/slideLayout" Target="/ppt/slideLayouts/slideLayout9.xml" Id="Rf675be09474a44ed" /><Relationship Type="http://schemas.openxmlformats.org/officeDocument/2006/relationships/slideLayout" Target="/ppt/slideLayouts/slideLayout10.xml" Id="Rd5569a1ca9ea46b2" /><Relationship Type="http://schemas.openxmlformats.org/officeDocument/2006/relationships/slideLayout" Target="/ppt/slideLayouts/slideLayout11.xml" Id="Rfe94d2fe57de4bc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F1779F4-3727-4A86-961D-38FCBD4E07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5105A4-8884-4667-824D-162FF61E7B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4472D74-EAC5-4D8F-BAEF-0DB505DAFDF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181D0A-1A1F-49F3-BDE9-E2E1712F9C4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B03AC1-537F-42B8-969B-54B783923E6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e20209352a4f2b"/>
    <p:sldLayoutId xmlns:r="http://schemas.openxmlformats.org/officeDocument/2006/relationships" id="2147483650" r:id="R19df95e9474d4398"/>
    <p:sldLayoutId xmlns:r="http://schemas.openxmlformats.org/officeDocument/2006/relationships" id="2147483651" r:id="R8314b8d42a834250"/>
    <p:sldLayoutId xmlns:r="http://schemas.openxmlformats.org/officeDocument/2006/relationships" id="2147483652" r:id="Rcc72fa0dd97342fd"/>
    <p:sldLayoutId xmlns:r="http://schemas.openxmlformats.org/officeDocument/2006/relationships" id="2147483653" r:id="R78e7105c9b244e5f"/>
    <p:sldLayoutId xmlns:r="http://schemas.openxmlformats.org/officeDocument/2006/relationships" id="2147483654" r:id="R5109ab8f76ec429a"/>
    <p:sldLayoutId xmlns:r="http://schemas.openxmlformats.org/officeDocument/2006/relationships" id="2147483655" r:id="R088b5f3ff3514710"/>
    <p:sldLayoutId xmlns:r="http://schemas.openxmlformats.org/officeDocument/2006/relationships" id="2147483656" r:id="R122adeb18fc941dc"/>
    <p:sldLayoutId xmlns:r="http://schemas.openxmlformats.org/officeDocument/2006/relationships" id="2147483657" r:id="Rf675be09474a44ed"/>
    <p:sldLayoutId xmlns:r="http://schemas.openxmlformats.org/officeDocument/2006/relationships" id="2147483658" r:id="Rd5569a1ca9ea46b2"/>
    <p:sldLayoutId xmlns:r="http://schemas.openxmlformats.org/officeDocument/2006/relationships" id="2147483659" r:id="Rfe94d2fe57de4bc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39961202be4a7b" /><Relationship Type="http://schemas.openxmlformats.org/officeDocument/2006/relationships/notesSlide" Target="/ppt/notesSlides/notesSlide1.xml" Id="R0187095e2bdc46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e687634d964ff1" /><Relationship Type="http://schemas.openxmlformats.org/officeDocument/2006/relationships/notesSlide" Target="/ppt/notesSlides/notesSlide2.xml" Id="Ra35dc07d54eb4b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2b7b3239a84dca" /><Relationship Type="http://schemas.openxmlformats.org/officeDocument/2006/relationships/notesSlide" Target="/ppt/notesSlides/notesSlide3.xml" Id="R26edfdfda4d04b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1ce3daf7ca4e7f" /><Relationship Type="http://schemas.openxmlformats.org/officeDocument/2006/relationships/notesSlide" Target="/ppt/notesSlides/notesSlide4.xml" Id="R2e9184d828fa46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aaa32d51cc45d5" /><Relationship Type="http://schemas.openxmlformats.org/officeDocument/2006/relationships/notesSlide" Target="/ppt/notesSlides/notesSlide5.xml" Id="Rf5f1d0c099fd4f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b5ed36725d433b" /><Relationship Type="http://schemas.openxmlformats.org/officeDocument/2006/relationships/notesSlide" Target="/ppt/notesSlides/notesSlide6.xml" Id="Re69aa35de8ce4f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26a1e843bd4265" /><Relationship Type="http://schemas.openxmlformats.org/officeDocument/2006/relationships/notesSlide" Target="/ppt/notesSlides/notesSlide7.xml" Id="Rd7b69d06a6bd48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32dd284bc344f9" /><Relationship Type="http://schemas.openxmlformats.org/officeDocument/2006/relationships/notesSlide" Target="/ppt/notesSlides/notesSlide8.xml" Id="R194538304f9541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6249741ff746e0" /><Relationship Type="http://schemas.openxmlformats.org/officeDocument/2006/relationships/notesSlide" Target="/ppt/notesSlides/notesSlide9.xml" Id="R75f127b1428d40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52ccc9037e449e" /><Relationship Type="http://schemas.openxmlformats.org/officeDocument/2006/relationships/notesSlide" Target="/ppt/notesSlides/notesSlide10.xml" Id="R41406758edca45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481253a5444174" /><Relationship Type="http://schemas.openxmlformats.org/officeDocument/2006/relationships/notesSlide" Target="/ppt/notesSlides/notesSlide11.xml" Id="R5a37a52e5eda44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b6d260b490456c" /><Relationship Type="http://schemas.openxmlformats.org/officeDocument/2006/relationships/notesSlide" Target="/ppt/notesSlides/notesSlide12.xml" Id="Ra3bd3d4a225a46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83f2189f8f4c15" /><Relationship Type="http://schemas.openxmlformats.org/officeDocument/2006/relationships/notesSlide" Target="/ppt/notesSlides/notesSlide13.xml" Id="R3f74950be63044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5da3f9b56f41ce" /><Relationship Type="http://schemas.openxmlformats.org/officeDocument/2006/relationships/notesSlide" Target="/ppt/notesSlides/notesSlide14.xml" Id="R40a29f2409a348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c0b761cb8848a7" /><Relationship Type="http://schemas.openxmlformats.org/officeDocument/2006/relationships/notesSlide" Target="/ppt/notesSlides/notesSlide15.xml" Id="Re445cb1e66bb42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478180c3ff4f61" /><Relationship Type="http://schemas.openxmlformats.org/officeDocument/2006/relationships/notesSlide" Target="/ppt/notesSlides/notesSlide16.xml" Id="Ra9947b34fc2244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582ab37a2a47d5" /><Relationship Type="http://schemas.openxmlformats.org/officeDocument/2006/relationships/notesSlide" Target="/ppt/notesSlides/notesSlide17.xml" Id="R6756d81029f340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21d443489442ea" /><Relationship Type="http://schemas.openxmlformats.org/officeDocument/2006/relationships/notesSlide" Target="/ppt/notesSlides/notesSlide18.xml" Id="R43bca386fb7f45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fefadceb5c4cde" /><Relationship Type="http://schemas.openxmlformats.org/officeDocument/2006/relationships/notesSlide" Target="/ppt/notesSlides/notesSlide19.xml" Id="R2f0d314d22864ad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09116317734f6f" /><Relationship Type="http://schemas.openxmlformats.org/officeDocument/2006/relationships/notesSlide" Target="/ppt/notesSlides/notesSlide20.xml" Id="R493ae61a932648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b9d57b340a4bbc" /><Relationship Type="http://schemas.openxmlformats.org/officeDocument/2006/relationships/notesSlide" Target="/ppt/notesSlides/notesSlide21.xml" Id="R1bee1cea3f48415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d0e9282c204a92" /><Relationship Type="http://schemas.openxmlformats.org/officeDocument/2006/relationships/notesSlide" Target="/ppt/notesSlides/notesSlide22.xml" Id="R90e06488c7cc4a1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7afcb6d90245c3" /><Relationship Type="http://schemas.openxmlformats.org/officeDocument/2006/relationships/notesSlide" Target="/ppt/notesSlides/notesSlide23.xml" Id="Rac077252fdde414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bece6495674d83" /><Relationship Type="http://schemas.openxmlformats.org/officeDocument/2006/relationships/notesSlide" Target="/ppt/notesSlides/notesSlide24.xml" Id="R0526beabc87c4ef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8d347df5e34af8" /><Relationship Type="http://schemas.openxmlformats.org/officeDocument/2006/relationships/notesSlide" Target="/ppt/notesSlides/notesSlide25.xml" Id="R09d11272b3b940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e4a751e8674be6" /><Relationship Type="http://schemas.openxmlformats.org/officeDocument/2006/relationships/notesSlide" Target="/ppt/notesSlides/notesSlide26.xml" Id="R4ba5bddefcbe4bb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874afe7b8b4d6f" /><Relationship Type="http://schemas.openxmlformats.org/officeDocument/2006/relationships/notesSlide" Target="/ppt/notesSlides/notesSlide27.xml" Id="Rafe8e04acd434c9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3ef422ecf34631" /><Relationship Type="http://schemas.openxmlformats.org/officeDocument/2006/relationships/notesSlide" Target="/ppt/notesSlides/notesSlide28.xml" Id="R69f7ae34221c4ea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c62820e6a44b30" /><Relationship Type="http://schemas.openxmlformats.org/officeDocument/2006/relationships/notesSlide" Target="/ppt/notesSlides/notesSlide29.xml" Id="R8a208f1660a948a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0f5f1780fd4d09" /><Relationship Type="http://schemas.openxmlformats.org/officeDocument/2006/relationships/notesSlide" Target="/ppt/notesSlides/notesSlide30.xml" Id="R4f8f1d12095e479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79ab8f4ecb488f" /><Relationship Type="http://schemas.openxmlformats.org/officeDocument/2006/relationships/notesSlide" Target="/ppt/notesSlides/notesSlide31.xml" Id="R07ed3a8076fb418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f8fb676a804b48" /><Relationship Type="http://schemas.openxmlformats.org/officeDocument/2006/relationships/notesSlide" Target="/ppt/notesSlides/notesSlide32.xml" Id="R4b174de1c10742d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14eaac07744b18" /><Relationship Type="http://schemas.openxmlformats.org/officeDocument/2006/relationships/notesSlide" Target="/ppt/notesSlides/notesSlide33.xml" Id="R6958fb98ffc143a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aee7cc22d44766" /><Relationship Type="http://schemas.openxmlformats.org/officeDocument/2006/relationships/notesSlide" Target="/ppt/notesSlides/notesSlide34.xml" Id="Rb71658f8d8b94b2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be71a7cc374876" /><Relationship Type="http://schemas.openxmlformats.org/officeDocument/2006/relationships/notesSlide" Target="/ppt/notesSlides/notesSlide35.xml" Id="Rf6f70e241991412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7ea4d9b68448ad" /><Relationship Type="http://schemas.openxmlformats.org/officeDocument/2006/relationships/notesSlide" Target="/ppt/notesSlides/notesSlide36.xml" Id="R81ec2bcc52fb479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3f6ae92d734de4" /><Relationship Type="http://schemas.openxmlformats.org/officeDocument/2006/relationships/notesSlide" Target="/ppt/notesSlides/notesSlide37.xml" Id="R3da8a0804eb044e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8ec6ed58254402" /><Relationship Type="http://schemas.openxmlformats.org/officeDocument/2006/relationships/notesSlide" Target="/ppt/notesSlides/notesSlide38.xml" Id="R7d25bf2ad425400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3951ae9ca64dba" /><Relationship Type="http://schemas.openxmlformats.org/officeDocument/2006/relationships/notesSlide" Target="/ppt/notesSlides/notesSlide39.xml" Id="R83ddba70ec24489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4ae664a3e041c6" /><Relationship Type="http://schemas.openxmlformats.org/officeDocument/2006/relationships/notesSlide" Target="/ppt/notesSlides/notesSlide40.xml" Id="R67f409f8f511475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910e2b64d24774" /><Relationship Type="http://schemas.openxmlformats.org/officeDocument/2006/relationships/notesSlide" Target="/ppt/notesSlides/notesSlide41.xml" Id="Re9146f7079f640f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f94ea997314b46" /><Relationship Type="http://schemas.openxmlformats.org/officeDocument/2006/relationships/notesSlide" Target="/ppt/notesSlides/notesSlide42.xml" Id="Rdfc19f80dec04f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0882CAA-CAA0-4839-A206-4B52F2A0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956D100-FA0A-4A13-A1D4-AE25C0B8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089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072C0AA-6C11-4043-8883-F3BECA26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3716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4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ՄԻԿՐՈԷԼԵԿՏՐԱՄԵԽԱՆԻԿԱԿԱՆ ՀԱՄԱԿԱՐԳԵՐ ԵՎ ՏՎԻՉՆԵՐ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187E74-8300-4F16-83E4-2082EF66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57400"/>
            <a:ext cx="103327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59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Ֆիզիկական մեծությունից մինչև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40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հավաստի նմուշներ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7FE4611-2806-400E-8F75-DC5C193A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15968"/>
            <a:ext cx="1371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3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F3E064A-7705-4265-B916-132BC9D6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6177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Դասախոսություն 3 / 16   ·   80 րոպե   ·   Մոդուլ Ա․ Հիմունքներ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10390C2-0B25-4239-BE8C-D6BF39D6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1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Մեկ գրանցման ֆայլ և երեք թիվ, որոնք որոշում են տվյալների հավաստիությունը։</a:t>
            </a:r>
          </a:p>
        </p:txBody>
      </p:sp>
    </p:spTree>
    <p:extLst>
      <p:ext uri="{BB962C8B-B14F-4D97-AF65-F5344CB8AC3E}">
        <p14:creationId xmlns:p14="http://schemas.microsoft.com/office/powerpoint/2010/main" val="19717020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261889B-D798-4995-A396-10A17B9C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F4915CC-073A-4793-8F2D-0E5EBE24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87F4B40-3366-4DA3-98C9-35080201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FB5E97F-F3C4-4BA6-BEF3-AB9E11CC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1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2-րդ դասախոսությունից՝ երեք հիշեցում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C19C1B-4FC9-4C87-BAB3-F1F9FA4F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A5C297B-C6A6-43F9-88C4-A9AE3672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Հիմնական գաղափարները, որոնք պետք են այսօր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A946CF7-7E24-4ABE-8E51-09B8E7C1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57400"/>
            <a:ext cx="566928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2A9337B-966C-4BB6-8A77-5A18756D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2057400"/>
            <a:ext cx="100584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75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typ և max սյունակները տարբեր նախագծային նպատակներ ունեն։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497FD25-8989-4C0D-872B-DEA0A1AB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17520"/>
            <a:ext cx="566928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9A0181-A3C2-450B-ADFD-2815F281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3017520"/>
            <a:ext cx="100584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75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Աղմուկի գնահատման համար պետք է ընտրել չափման թողունակությունը։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C100CC6-9675-4DCA-B354-FC0DAF70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77640"/>
            <a:ext cx="566928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02BA439-0C12-4E2C-85A7-E33BB130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3977640"/>
            <a:ext cx="100584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75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Թվերը պետք է կարդալ իրենց չափման պայմանների հետ։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1E5F51E-D40C-46B2-BA11-2D9EBC47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212848"/>
            <a:ext cx="9692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E4E2DE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763CB67-5E59-4359-B5F0-0AD614F7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12080"/>
            <a:ext cx="10874959" cy="7772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ECD8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Այս երեք հիշեցումները միանում են մեկ հարցում՝ որքանո՞վ է յուրաքանչյուր նմուշը հավաստի։</a:t>
            </a:r>
          </a:p>
        </p:txBody>
      </p:sp>
    </p:spTree>
    <p:extLst>
      <p:ext uri="{BB962C8B-B14F-4D97-AF65-F5344CB8AC3E}">
        <p14:creationId xmlns:p14="http://schemas.microsoft.com/office/powerpoint/2010/main" val="8231280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A86DC7-0E64-43C3-85F9-72AC3168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02FE974-D200-43AE-A45E-FAADC015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736736A-8971-4F1D-A5A8-69EB3888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B161E0A-A49C-4737-9F90-19BF64A4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6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Որտե՞ղ է այսօրվա թեման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30A5349-B31B-45C7-9311-983ED714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6AE6F47-2832-4ACE-82C3-EE531846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4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Վերհիշում․ 1-ին դասախոսության շղթան — այսօր աշխատում ենք 5–7-րդ օղակներում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F1B1281-0ED0-4815-A844-35C64E28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86000"/>
            <a:ext cx="2212848" cy="9326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6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ՖԻԶԻԿԱԿԱՆ</a:t>
            </a:r>
          </a:p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ՄԵԾՈՒԹՅՈՒՆ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8CB4FC-E293-4571-A033-AB5362DF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13432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8ACB3D3-9362-4EE0-B444-8D6FC0C3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2286000"/>
            <a:ext cx="2212848" cy="9326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9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ՄԵԽԱՆԻԿԱԿԱՆ</a:t>
            </a:r>
          </a:p>
          <a:p xmlns:a="http://schemas.openxmlformats.org/drawingml/2006/main">
            <a:pPr algn="ctr">
              <a:buNone/>
            </a:pPr>
            <a:r>
              <a:rPr sz="116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ԿԱՊԱԿՑՈՒՄ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D50D52E-337D-42B7-821E-02ACC6AB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2313432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0C9F57E-749C-4891-81F5-631911B4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286000"/>
            <a:ext cx="2212848" cy="9326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ՓՈԽԱԿԵՐՊՈՒՄ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FDC514B-59DA-4053-AA11-1419D157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2313432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1BC2D19-C267-41CB-A9BB-C3331660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286000"/>
            <a:ext cx="2212848" cy="9326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ԱՆԱԼՈԳԱՅԻՆ ԱԶԴԱՆՇԱՆԻ</a:t>
            </a:r>
          </a:p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ՄՇԱԿՈՒՄ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2F15A1B-DB1F-4B5D-8528-500AA4D0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313432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B56C89A-F2B7-4D78-89B7-252FCC20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4059936"/>
            <a:ext cx="2212848" cy="9326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ECD8"/>
          </a:solidFill>
          <a:ln xmlns:a="http://schemas.openxmlformats.org/drawingml/2006/main" w="31750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1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ՆՄՈՒՇԱՌՈՒՄ ԵՎ</a:t>
            </a:r>
          </a:p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ՔՎԱՆՏԱՑՈՒՄ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3D0CCD6-58D9-4E39-92AC-356F1AD0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087368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D98324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05C439A-C89F-4667-8CAB-D0172169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059936"/>
            <a:ext cx="2212848" cy="9326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ECD8"/>
          </a:solidFill>
          <a:ln xmlns:a="http://schemas.openxmlformats.org/drawingml/2006/main" w="31750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ԹՎԱՅԻՆ ԿՈԴԵՐ → SI</a:t>
            </a:r>
          </a:p>
          <a:p xmlns:a="http://schemas.openxmlformats.org/drawingml/2006/main">
            <a:pPr algn="ctr">
              <a:buNone/>
            </a:pPr>
            <a:r>
              <a:rPr sz="96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ՄԻԱՎՈՐՆԵՐ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04E8A7F-E7F9-4AE3-B4D8-D8028493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4087368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D98324"/>
                </a:solidFill>
                <a:latin typeface="Courier New"/>
                <a:ea typeface="Courier New"/>
                <a:cs typeface="Courier New"/>
              </a:rPr>
              <a:t>6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F74C6B3-E193-4FB0-BA21-67C5BE0D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4059936"/>
            <a:ext cx="2212848" cy="9326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ECD8"/>
          </a:solidFill>
          <a:ln xmlns:a="http://schemas.openxmlformats.org/drawingml/2006/main" w="31750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ԺԱՄԱՆԱԿԱՅԻՆ ԴՐՈՇՄ,</a:t>
            </a:r>
          </a:p>
          <a:p xmlns:a="http://schemas.openxmlformats.org/drawingml/2006/main">
            <a:pPr algn="ctr">
              <a:buNone/>
            </a:pPr>
            <a:r>
              <a:rPr sz="96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ԳՐԱՆՑՈՒՄ, ՈՐՈՇՈՒՄ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66DCC16-3B82-49B0-A763-C377F690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4087368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D98324"/>
                </a:solidFill>
                <a:latin typeface="Courier New"/>
                <a:ea typeface="Courier New"/>
                <a:cs typeface="Courier New"/>
              </a:rPr>
              <a:t>7</a:t>
            </a:r>
          </a:p>
        </p:txBody>
      </p:sp>
      <p:sp>
        <p:nvSpPr>
          <p:cNvPr id="22" name="Right Arrow 21">
            <a:extLst xmlns:a="http://schemas.openxmlformats.org/drawingml/2006/main">
              <a:ext uri="{FF2B5EF4-FFF2-40B4-BE49-F238E27FC236}">
                <a16:creationId xmlns:a16="http://schemas.microsoft.com/office/drawing/2014/main" id="{93E20DE0-BA97-4435-9287-7832B64D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651760"/>
            <a:ext cx="365760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ight Arrow 22">
            <a:extLst xmlns:a="http://schemas.openxmlformats.org/drawingml/2006/main">
              <a:ext uri="{FF2B5EF4-FFF2-40B4-BE49-F238E27FC236}">
                <a16:creationId xmlns:a16="http://schemas.microsoft.com/office/drawing/2014/main" id="{31CFB77A-6496-4DBC-B2CE-B5B9CBC7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2651760"/>
            <a:ext cx="365760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ight Arrow 23">
            <a:extLst xmlns:a="http://schemas.openxmlformats.org/drawingml/2006/main">
              <a:ext uri="{FF2B5EF4-FFF2-40B4-BE49-F238E27FC236}">
                <a16:creationId xmlns:a16="http://schemas.microsoft.com/office/drawing/2014/main" id="{50326D58-37CF-4E13-B7C9-E13B8DDB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651760"/>
            <a:ext cx="365760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Down Arrow 24">
            <a:extLst xmlns:a="http://schemas.openxmlformats.org/drawingml/2006/main">
              <a:ext uri="{FF2B5EF4-FFF2-40B4-BE49-F238E27FC236}">
                <a16:creationId xmlns:a16="http://schemas.microsoft.com/office/drawing/2014/main" id="{7999B837-D7E7-4805-915B-D39196C6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3346704"/>
            <a:ext cx="201168" cy="566928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Left Arrow 25">
            <a:extLst xmlns:a="http://schemas.openxmlformats.org/drawingml/2006/main">
              <a:ext uri="{FF2B5EF4-FFF2-40B4-BE49-F238E27FC236}">
                <a16:creationId xmlns:a16="http://schemas.microsoft.com/office/drawing/2014/main" id="{D43511BA-5E20-417D-A989-A62C2175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4425696"/>
            <a:ext cx="365760" cy="201168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Left Arrow 26">
            <a:extLst xmlns:a="http://schemas.openxmlformats.org/drawingml/2006/main">
              <a:ext uri="{FF2B5EF4-FFF2-40B4-BE49-F238E27FC236}">
                <a16:creationId xmlns:a16="http://schemas.microsoft.com/office/drawing/2014/main" id="{F9FC3352-CADD-4126-A937-AC616118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425696"/>
            <a:ext cx="365760" cy="201168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D134EFB-5CD4-4F66-9D7F-5C80D0DA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96128"/>
            <a:ext cx="10874959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ECD8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8728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1–4 փուլերը տալիս են մշակված ազդանշան։ 5–7 փուլերում են առաջանում այս դասախոսության երեք անդառնալի սխալները։</a:t>
            </a:r>
          </a:p>
        </p:txBody>
      </p:sp>
    </p:spTree>
    <p:extLst>
      <p:ext uri="{BB962C8B-B14F-4D97-AF65-F5344CB8AC3E}">
        <p14:creationId xmlns:p14="http://schemas.microsoft.com/office/powerpoint/2010/main" val="17036562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B407B4-58FC-45F2-8829-A9406580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68BAD93-E93C-4ED7-9475-2BCA51E0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7236D90-CED8-4E71-B394-1C6DCC39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E917285-8B20-474B-BAA0-297BE7B6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9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Մեկ գրանցման ֆայլ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7FDDDF-2122-47FF-9EF3-CD61B062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FDBC59D-1F2D-4A13-816F-7592B1F5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10 րոպե, 60 000 տող, առանց բացերի և արտառոց արժեքների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464E1BC-2663-474D-8109-61C580ED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55648"/>
            <a:ext cx="10874959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ISM330DHCX  ·  ±2 g  ·  16 բիթ  ·  ODR = 104 Հց  ·  0.061 mg/LSB  ·  HAL_Delay(10)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B532E51-3774-4BD5-9C64-28BB401E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87168"/>
            <a:ext cx="3438144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10F4D8E-0B72-4989-9C4F-0EA667EB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24912"/>
            <a:ext cx="343814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12.4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FAD4960-82A3-49C9-AB82-8CFA8E96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75888"/>
            <a:ext cx="31455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2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16 ԲԻԹԻՑ ՏԵՂԵԿՈՒԹՅՈՒՆ ԵՆ ԿՐՈՒՄ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3E278D4-60D8-4333-BBEF-CBF96558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42816"/>
            <a:ext cx="314553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</a:pPr>
            <a:r>
              <a:rPr sz="15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Օգտակար՝ 12.4 բիթ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E864CA1-7122-4AB8-97AF-4B82DDBC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487168"/>
            <a:ext cx="3438144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5652503-030C-4C1E-A772-8B299207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724912"/>
            <a:ext cx="343814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000" b="1" i="0">
                <a:solidFill>
                  <a:srgbClr val="C0392B"/>
                </a:solidFill>
                <a:latin typeface="DejaVu Sans Mono"/>
                <a:ea typeface="DejaVu Sans Mono"/>
                <a:cs typeface="DejaVu Sans Mono"/>
              </a:rPr>
              <a:t>12 Հց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6557165-DADF-413D-958F-1D3BCA0F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675888"/>
            <a:ext cx="31455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200" b="1" i="0">
                <a:solidFill>
                  <a:srgbClr val="C0392B"/>
                </a:solidFill>
                <a:latin typeface="DejaVu Sans"/>
                <a:ea typeface="DejaVu Sans"/>
                <a:cs typeface="DejaVu Sans"/>
              </a:rPr>
              <a:t>ԿԵՂԾ ՀԱՃԱԽԱԿԱՆՈՒԹՅՈՒՆ ՏՎՅԱԼՆԵՐՈՒՄ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BE436CB-BFC0-4D81-97D5-CF9EAE07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4242816"/>
            <a:ext cx="314553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</a:pPr>
            <a:r>
              <a:rPr sz="15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Ալիասավորված՝ 12 Հց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59FEBA-9166-4524-9654-19C49A48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487168"/>
            <a:ext cx="3438144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248D683-9230-499E-B0F0-67E15712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724912"/>
            <a:ext cx="343814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800" b="1" i="0">
                <a:solidFill>
                  <a:srgbClr val="C0392B"/>
                </a:solidFill>
                <a:latin typeface="DejaVu Sans Mono"/>
                <a:ea typeface="DejaVu Sans Mono"/>
                <a:cs typeface="DejaVu Sans Mono"/>
              </a:rPr>
              <a:t>12.1 վ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CD18E3C-5BA1-4AB6-87CD-D02EA765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5888"/>
            <a:ext cx="31455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120" b="1" i="0">
                <a:solidFill>
                  <a:srgbClr val="C0392B"/>
                </a:solidFill>
                <a:latin typeface="DejaVu Sans"/>
                <a:ea typeface="DejaVu Sans"/>
                <a:cs typeface="DejaVu Sans"/>
              </a:rPr>
              <a:t>ԺԱՄԱՆԱԿԱՅԻՆ ԴՐՈՇՄԻ ՎԵՐՋՆԱԿԱՆ ՍԽԱԼԸ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0BB144C-116B-4BF2-BE70-0C3CBE8B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42816"/>
            <a:ext cx="314553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</a:pPr>
            <a:r>
              <a:rPr sz="127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Վերջնական շեղում՝ 12.1 վ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D4E1B7F1-8E5D-425A-AD49-6AF3B718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38928"/>
            <a:ext cx="10874959" cy="8686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F24"/>
          </a:solidFill>
          <a:ln xmlns:a="http://schemas.openxmlformats.org/drawingml/2006/main" w="15875">
            <a:solidFill>
              <a:srgbClr val="1A1F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Երեք թիվն էլ հաշվարկելի էին նախքան ծրագրավորումը։ Դրանցից երկուսը հետագայում ուղղել հնարավոր չէ։</a:t>
            </a:r>
          </a:p>
        </p:txBody>
      </p:sp>
    </p:spTree>
    <p:extLst>
      <p:ext uri="{BB962C8B-B14F-4D97-AF65-F5344CB8AC3E}">
        <p14:creationId xmlns:p14="http://schemas.microsoft.com/office/powerpoint/2010/main" val="17371766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6226306-9D88-4181-B9D7-55A0B4CE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E28528-3C33-45C3-9EE4-CD296EC4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A199F46-1A8A-44EA-8E9C-EC677B33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E30581-4646-4A23-9319-CCA6ED4A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9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ՔՎԵԱՐԿՈՒԹՅՈՒՆ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C8B044B-200F-4A34-B3E1-0B8816D0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75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98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Արագաչափը 16-բիթանոց է, կարգավորված է ±2 g տիրույթով և ունի 0.061 mg/LSB զգայունություն։ ODR = 104 Հց։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5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Որքա՞ն է առանձին նմուշում տարբերակելի ամենափոքր արագացման փոփոխությունը։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A25B40F-890B-45E7-9AE0-5F7D356C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87168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F626013-D788-4488-9F8B-D1D28A3A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06040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4CDDAC6-17DC-4089-A8FC-41804586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5184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89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0.061 mg — տվյալների թերթիկում նշված քայլը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7B02063-73C9-47F7-ABC0-BEB9911C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9184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6F4D2E6-1FC3-41E4-A88C-B3F8FC25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1071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55E42A6-2B97-4DB9-B44B-E4EA079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1985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0.018 mg — քվանտացման աղմուկը, LSB/√12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DBD1F7A-050F-4AEF-8A9D-5F7B64E3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9651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4755031-E093-4AF3-9F5C-FDA35124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1538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9FA1164-D85A-48B3-9F9A-51D875EC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452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0.72 mg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6F01AD5-D80D-4694-BB79-CB3ECEC9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0118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034C8E4-8350-4B6E-A295-AA0315A1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005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213CC62-9D69-4BBB-B15C-4D9D3955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Տրված տվյալները բավարար չեն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E70264A-AE4C-42C7-8B20-39E4B66D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24144"/>
            <a:ext cx="10874959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Ընտրեք պատասխանը․ վերջում այն ինքներդ կհաշվարկեք։</a:t>
            </a:r>
          </a:p>
        </p:txBody>
      </p:sp>
    </p:spTree>
    <p:extLst>
      <p:ext uri="{BB962C8B-B14F-4D97-AF65-F5344CB8AC3E}">
        <p14:creationId xmlns:p14="http://schemas.microsoft.com/office/powerpoint/2010/main" val="15959374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B252960-1D9E-4076-9A0E-4EF78A80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CE40F1B-4E6D-45AC-AF1F-CB67E046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29E931A-F677-4C5D-A39E-E85D7D1C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6F369F0-D72B-4AD8-BD10-6E404EB6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6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Թիվը, որին հեշտ է վստահել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BF6F540-A506-4CD5-941A-81D00637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4073041-85C2-4648-AC04-C1220608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Ինչպե՞ս է ստացվում 0.061 mg/LSB-ը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9C97615-62EB-4B0A-95FD-E17FAE06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03120"/>
            <a:ext cx="1087495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4000 mg  ÷  65 536 կոդ  =  0.061 mg/LSB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AE60FC1-9945-4F2F-82C2-DFBCF404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46120"/>
            <a:ext cx="10874959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Ռեգիստրային կոդի մեկ քայլը 0.061 mg է։ Այս թիվը ճիշտ է։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6632FA0-1BD6-46B2-81BE-2E77187E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26280"/>
            <a:ext cx="10874959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20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±2 g տիրույթը 4000 mg է, իսկ 16 բիթը՝ 65 536 կոդ։ Հարաբերությունը թվային ներկայացման մեկ քայլն է՝ ոչ ամբողջ չափման լուծաչափը։</a:t>
            </a:r>
          </a:p>
        </p:txBody>
      </p:sp>
    </p:spTree>
    <p:extLst>
      <p:ext uri="{BB962C8B-B14F-4D97-AF65-F5344CB8AC3E}">
        <p14:creationId xmlns:p14="http://schemas.microsoft.com/office/powerpoint/2010/main" val="2639082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057031E-CF7C-4600-B878-392D3582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729B9B7-41F8-428A-9A87-147D07AF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C81A754-2312-4FD7-A44A-0BFAAC5A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9460B8D-C40A-473B-9EF1-1CFF2B41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…և երեք բան, որ այն չէ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8CD23D1-2407-45DD-BB95-42F5F7B9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5281840-7C99-4492-8B59-5815C807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11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587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7E28361-3BA6-4B3E-8F5B-54EA9DFC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975104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Այն տարբերակելի ամենափոքր փոփոխությունը չէ։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038FB80-9316-4DD2-BE6C-A2BF04C4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432304"/>
            <a:ext cx="10149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7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Այն սահմանվում է աղմուկով, իսկ աղմուկը կախված է թողունակությունից, որը դեռ ընտրված չէ։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E8FC58-838C-4D90-BCD7-5B1D2B18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089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587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EAAB6A-C4DB-4653-95AE-1AE9E6BC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072384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Այն ճշտություն չէ։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4D4A9A5-CF07-4CE2-AF8D-0ADDDAEA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529584"/>
            <a:ext cx="10149840" cy="6260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58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Զրոյական շեղումը, մասշտաբի սխալը և ջերմաստիճանային շեղումը առանձին բնութագրեր են։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00A8BCE-50E6-4210-A436-174A9659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062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587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F7EA0AA-0BFB-49E9-9188-FB3BF9D8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169664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Այն միայն տվիչի հատկություն չէ։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CCA2DD4-AA66-4757-9027-74234602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626864"/>
            <a:ext cx="10149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7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Փոխեք չափման լրիվ տիրույթը, և այն կփոխվի։ Փոխեք թողունակությունը, և չափումը կփոխվի, մինչդեռ այն կմնա նույնը։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1C015D8-E7DD-44D4-A2F1-6FAA73A8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94960"/>
            <a:ext cx="10874959" cy="8686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F24"/>
          </a:solidFill>
          <a:ln xmlns:a="http://schemas.openxmlformats.org/drawingml/2006/main" w="38100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ԳՐԱՏԱԽՏԱԿԻՆ՝ ՄԻՆՉ ԴԱՍԻ ՎԵՐՋԸ․</a:t>
            </a:r>
          </a:p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գնել եք 16 բիթ — դրանցից քանի՞սն է իրական տեղեկություն կրում</a:t>
            </a:r>
          </a:p>
        </p:txBody>
      </p:sp>
    </p:spTree>
    <p:extLst>
      <p:ext uri="{BB962C8B-B14F-4D97-AF65-F5344CB8AC3E}">
        <p14:creationId xmlns:p14="http://schemas.microsoft.com/office/powerpoint/2010/main" val="12833933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E6589B-9FC1-4099-90E6-67FA7239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8B48BFA-4DD5-4AEB-9F29-083710CF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4890466-12C9-4E63-B37D-D7ABCBBE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01709B4-4588-4467-9C69-3CE877F9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ԲԱԺԻՆ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4D1F8EC-D053-4B7E-AA37-FE777F39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9046159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Ելքը և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84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հենային լարումը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E6492B8-5424-4ECE-962F-198A3389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94760"/>
            <a:ext cx="1371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E2BB000-5FD8-4A17-95F6-93DE20F1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10874959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Ի՞նչ է իրականում ստացվում տվիչի ելքում, և ինչի՞ հետ է ԱԹՓ-ն համեմատում այն։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Մեկ միացմամբ կարելի է սնման անկման ազդեցությունը փոխհատուցել կամ պահպանել։</a:t>
            </a:r>
          </a:p>
        </p:txBody>
      </p:sp>
    </p:spTree>
    <p:extLst>
      <p:ext uri="{BB962C8B-B14F-4D97-AF65-F5344CB8AC3E}">
        <p14:creationId xmlns:p14="http://schemas.microsoft.com/office/powerpoint/2010/main" val="1500368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9FA372-6823-4218-9ACC-EFE7F814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57F5F30-223E-45B8-975E-1DC4466E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EEFC816-CDC5-43E8-B22B-5536F8B7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E3205A-5A75-4E48-AF89-9905B97E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7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Ի՞նչ է ստացվում տվիչի ելքում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C0C2604-8DD8-4FEA-BCE2-0BA8F528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F1E3185-782D-46DA-BA65-9B2FF934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Երեք անալոգային ելք և մեկ թվային ելք, որտեղ փոխակերպումն արդեն կատարվել է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BEA13B-F990-48D5-91AD-9F6330DC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20240"/>
            <a:ext cx="26060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B7680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ԼԱՐՈՒՄ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A80F251-899E-466D-B888-62735C7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33472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14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Ջերմազույգից՝ տասնյակ µV/°C, կամրջակից՝ մի քանի mV։ Փոքր ազդանշանի դեպքում նույնիսկ հաղորդալարը չափման մաս է։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ED17ACF-9107-401D-8CA5-738C939F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1920240"/>
            <a:ext cx="26060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B7680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ՀՈՍԱՆՔ  ·  4–20 mA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3966FE7-359D-495F-9353-671D6621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2633472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121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Գրեթե անկախ է մալուխի դիմադրությունից։ 4 mA-ը «կենդանի զրո» է, իսկ 0 mA-ը՝ հայտնաբերվող խզում։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9ED596D-A858-450A-905D-20DB444B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920240"/>
            <a:ext cx="26060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B7680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ԿԱՄՐՋԱԿ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884C0C8-FC0F-4EB0-8B94-1EE8238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633472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14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Չորս տարրից կազմված կամրջակ։ Ելքը համեմատական է անհավասարակշռությանը։ Օրինակ՝ տենզոտվիչ և բեռնաչափ։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7F04700-DA72-4DCB-9847-359B9A71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1920240"/>
            <a:ext cx="26060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ԹՎԱՅԻՆ  ·  I²C / SPI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368ECFF-0E5B-4BA1-A0A6-273968C2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633472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14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ԱԹՓ-ն պատյանի ներսում է։ Ելքում ստանում եք թվային կոդ՝ I²C կամ SPI կապուղով։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6A8D498-7B32-41F3-B0FF-A14B612C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480560"/>
            <a:ext cx="10874959" cy="512064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5F1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40" b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ՀԱՐԱԿԻՑ ԵԶՐՈՒՅԹՆԵՐ՝ չափիչ ուժեղարար · համաֆազ տիրույթ · հողանցում և էկրանավորում → Դասախոսություն 12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8DE8396-1903-49FC-8714-412C1B2B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02352"/>
            <a:ext cx="10874959" cy="9601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ECD8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3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Թվային ելքը չի վերացնում անալոգային խնդիրները․ այն տեղափոխում է դրանք պատյանի ներս։ Բացի այդ, պետք է ճիշտ մեկնաբանել բայթերի կարգը և փոխակերպման ժամանակը։</a:t>
            </a:r>
          </a:p>
        </p:txBody>
      </p:sp>
    </p:spTree>
    <p:extLst>
      <p:ext uri="{BB962C8B-B14F-4D97-AF65-F5344CB8AC3E}">
        <p14:creationId xmlns:p14="http://schemas.microsoft.com/office/powerpoint/2010/main" val="9147619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8D70029-7B7D-495C-9954-9EBB121E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0E18285-7FF2-4348-A689-03AC54B9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C0A6B7-65F7-4948-8747-F10B7371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C270453-1D9E-4A3F-900E-7308B26B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Ի՞նչ է իրականում չափում ԱԹԿ-ն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394D38B-4DBC-4B6A-B196-A7579A2A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06A64D4-E6A1-4534-BA16-9F5F491C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6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Ոչ լարում, այլ հարաբերություն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02402B3-0429-4A4B-ADBB-868E7655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29968"/>
            <a:ext cx="1087495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կոդ  =  (V_in / V_ref) × 2^N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2BF2A42-E2A2-48A4-BB7D-6DA0B582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99232"/>
            <a:ext cx="10874959" cy="8686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6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ԱԹԿ-ն պատկերացում չունի, թե ինչ է վոլտը։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A32A59B-1C1E-4DCD-86AF-6350FE7F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14800"/>
            <a:ext cx="3794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8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▸  Դա հարաբերություն է, ոչ թե լարում։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B7AFF00-8360-4D43-999B-108C7105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114800"/>
            <a:ext cx="6943039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Կոդը որոշվում է մուտքային և հենային լարումների հարաբերությամբ։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F92C7FD-E1E3-4BA7-912B-3406236C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46320"/>
            <a:ext cx="3794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▸  V_ref-ի ամեն սխալ ուժեղացման սխալ է։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B6B8F8D-4AFF-438D-BC16-66B1A402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846320"/>
            <a:ext cx="6943039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V_ref-ի սխալը բոլոր ցուցմունքներում դառնում է նույն ուղղությամբ մասշտաբային սխալ։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3028C7F-D395-4861-BC75-440D562A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96128"/>
            <a:ext cx="10874959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5F1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89774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Կանոն․ տվիչի գրգռման և ԱԹՓ-ի հենային լարումները վերցրեք միևնույն աղբյուրից կամ երկու առանձին, բայց կայուն աղբյուրներից։</a:t>
            </a:r>
          </a:p>
        </p:txBody>
      </p:sp>
    </p:spTree>
    <p:extLst>
      <p:ext uri="{BB962C8B-B14F-4D97-AF65-F5344CB8AC3E}">
        <p14:creationId xmlns:p14="http://schemas.microsoft.com/office/powerpoint/2010/main" val="503896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9676241-57C7-4DE1-902B-FCE449D8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E316C9-4002-4AFD-8B56-7466EB13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D8EF890-97CE-454B-AC80-42EB33D8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330586-C46D-4CDF-B5D5-097E1D35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Երկու միացում, մեկ նվազող սնում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D4F499D-E968-4FEE-83F8-33A99F20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FEFB4F1-3C90-4B61-9A67-D15DF507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39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3.3 Վ սնման գիծը բեռի տակ նվազում է մինչև 3.2 Վ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1FA381A-98A0-48A2-85CA-161096B3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19"/>
            <a:ext cx="534924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5E4DF20-C79C-44A2-937D-471F489C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19"/>
            <a:ext cx="534924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6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ՀԱՐԱԲԵՐԱՉԱՓԱԿԱՆ — կամրջակը և ԱԹՓ-ի հենային լարումը նույն աղբյուրից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2D0FC0A-EBF6-41BA-87A2-DFD5B71C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60903"/>
            <a:ext cx="4946904" cy="13722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կամրջակի ելք      ↓ 3 %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ԱԹՓ-ի կոդեր         ↑ 3 %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────────────────────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41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հաշվարկված դեֆորմացիա     0 % սխալ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ADCD178-742A-48F8-B4FE-7BC6A6D3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986783"/>
            <a:ext cx="49469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</a:pPr>
            <a:r>
              <a:rPr sz="145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Երկու անդամներն էլ փոխվում են միասին, ուստի դրանց հարաբերությունը մնում է անփոփոխ։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E7342B2-E65D-4D1B-BBAC-BACE4A48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874519"/>
            <a:ext cx="534924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973F2E0-5B61-4002-AF35-577B9EAB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874519"/>
            <a:ext cx="534924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587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ԲԱՑԱՐՁԱԿ — ԱԹՓ-ն ունի ճշգրիտ 2.5 Վ հենային լարում, կամրջակը՝ սնման գծից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C0398F3-7A8A-474A-89E2-6155B77A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660903"/>
            <a:ext cx="4946904" cy="1350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կամրջակի ելք      ↓ 3 %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ԱԹՓ-ի կոդեր         անփոփոխ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────────────────────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31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հաշվարկված դեֆորմացիա     3 % ցածր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068BF4E-3597-430E-8B38-2224788D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986783"/>
            <a:ext cx="494690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</a:pPr>
            <a:r>
              <a:rPr sz="141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Փոխհատուցում չկա։ Փոփոխական սխալը կախված է սնման բեռից և չի վերացվում մեկ չափաբերմամբ։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DA1A12F-BF57-4A43-A797-CA747978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13248"/>
            <a:ext cx="10874959" cy="71323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F24"/>
          </a:solidFill>
          <a:ln xmlns:a="http://schemas.openxmlformats.org/drawingml/2006/main" w="15875">
            <a:solidFill>
              <a:srgbClr val="1A1F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3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Նույն բաղադրիչները, նույն արժեքը, մեկ միացման տարբերություն։</a:t>
            </a:r>
          </a:p>
        </p:txBody>
      </p:sp>
    </p:spTree>
    <p:extLst>
      <p:ext uri="{BB962C8B-B14F-4D97-AF65-F5344CB8AC3E}">
        <p14:creationId xmlns:p14="http://schemas.microsoft.com/office/powerpoint/2010/main" val="2421564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2927DCF-8458-408D-B64C-D823B6E0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77142F-D9B0-4156-8355-397E9DB0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F8B2B4E-B5C4-445D-BCB7-95FD089D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4F9D0DD-75BA-41ED-9D93-8B5ADF11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9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ՔՎԵԱՐԿՈՒԹՅՈՒՆ 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86E716F-9A2C-437B-ABB4-337D1670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75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Տենզոկամրջակը և այն ընթերցող ԱԹՓ-ն օգտագործում են նույն 3.3 Վ գիծը։ Բեռի տակ լարումը նվազում է մինչև 3.2 Վ։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7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Հաշվարկված դեֆորմացիան՝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21C0C0B-B47A-432A-A0C9-E3B08040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87168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300779-0C45-49CB-9BD1-2342E659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06040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5E23828-A113-4F6E-B8F5-797C9FDD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5184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3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ցույց է տալիս մոտ 3 % ավելի բարձր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7AE37D1-0BF5-43CA-B784-67C4517B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9184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2AD0313-420C-4452-83AA-5DC01D9A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1071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B45E5E6-1F68-4129-8816-199D5ECA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1985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3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ցույց է տալիս մոտ 3 % ավելի ցածր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E8959FA-8BC5-4A08-8BAF-36BAB6CA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9651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F85D727-2391-4590-84C2-C71F479F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1538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5539BAE-EA7F-42BF-8AB1-4714A8B8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452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չի փոխվում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AFB0760-FFD8-479E-A461-276AAA34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0118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9EF9A87-DB21-439D-BCA9-FB4CE525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005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5E0E008-86BE-431B-8085-09B41DEB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փոխվում է տենզոզգայունության գործակցին համապատասխան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A3AEAE2-9A0A-4DC0-A140-688B990C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24144"/>
            <a:ext cx="10874959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38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Քվեարկեք ինքնուրույն, ապա հիմնավորեք ձեր ընտրությունը այլ պատասխան ընտրած զուգընկերոջը։</a:t>
            </a:r>
          </a:p>
        </p:txBody>
      </p:sp>
    </p:spTree>
    <p:extLst>
      <p:ext uri="{BB962C8B-B14F-4D97-AF65-F5344CB8AC3E}">
        <p14:creationId xmlns:p14="http://schemas.microsoft.com/office/powerpoint/2010/main" val="11774726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62F5FC-E61B-4CB3-80F8-F2A1AB9E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5440B93-C880-4BBB-9B07-3F31B06B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3107762-EBF0-4680-A257-7EEFBF97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A089309-2EEF-48D1-861D-4AF7C05D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9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ՔՎԵԱՐԿՈՒԹՅՈՒՆ 2   ·   ՊԱՏԱՍԽԱՆ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93AA317-B970-4C8E-B30E-905E15B5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75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Տենզոկամրջակը և այն ընթերցող ԱԹՓ-ն օգտագործում են նույն 3.3 Վ գիծը։ Բեռի տակ լարումը նվազում է մինչև 3.2 Վ։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7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Հաշվարկված դեֆորմացիան՝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93FA17C-EF85-4E12-9C55-B1290F5A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87168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B7EB8CC-124F-4BF1-9E90-90DD26C0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06040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93F3280-86B5-4ED9-9E38-9881A6F1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5184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3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ցույց է տալիս մոտ 3 % ավելի բարձր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C99E651-D832-44EA-96E5-62521BE7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9184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34DD10-057B-4308-9EFD-6C8B14C4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1071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891A932-A1D3-490D-90D5-CAECFA9F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1985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3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ցույց է տալիս մոտ 3 % ավելի ցածր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C73918A-97C5-45B8-807B-40A421A5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9651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317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92F9464-31C0-4C28-8678-1589C4FA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1538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49159EF-DB76-4F71-A4BF-303405AF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452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չի փոխվում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668B576-E458-4E1C-9D7F-A1DDBAF3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0118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4576629-89C6-4EFD-9B9F-B2834861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005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66ACF0E-AF4E-4824-A608-CA07FA4E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փոխվում է տենզոզգայունության գործակցին համապատասխան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126582C-A951-4774-8254-276A1843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24144"/>
            <a:ext cx="10874959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Կամրջակի ելքը համեմատական է սնմանը, իսկ ԱԹՓ-ի կոդը՝ 1/V_ref-ին։ Երկու փոփոխությունները փոխհատուցվում են, և հարաբերությունը մնում է անփոփոխ։</a:t>
            </a:r>
          </a:p>
        </p:txBody>
      </p:sp>
    </p:spTree>
    <p:extLst>
      <p:ext uri="{BB962C8B-B14F-4D97-AF65-F5344CB8AC3E}">
        <p14:creationId xmlns:p14="http://schemas.microsoft.com/office/powerpoint/2010/main" val="131296410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184176-62C9-4FF7-B2BB-3A60001F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A63D848-C928-4C5B-BDC4-CF9F1830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E44EAC2-EE44-472F-8D3C-204EED6F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EB2CC4-E71B-4793-9EE0-80B27DCE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Քվանտացում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FF3C1C-A729-45A5-8C1E-6643702A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3E3724A-E57C-4F78-8FAE-AF474CC7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3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ԱԹՓ-ն ունի սահմանափակ թվով կոդեր, ուստի արժեքը կլորացնում է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AFA08F1-CC1E-4322-B70A-C2351882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93392"/>
            <a:ext cx="1087495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spcAft>
                <a:spcPts val="600"/>
              </a:spcAft>
              <a:buNone/>
            </a:pPr>
            <a:r>
              <a:rPr sz="2030" b="1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LSB  =  չափման լրիվ տիրույթ / 2^N  =  4000 mg / 65 536  =  0.061 mg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FD73E36-2C00-4381-9BAC-2491FFDE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846320"/>
            <a:ext cx="62636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2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Freeform 9">
            <a:extLst xmlns:a="http://schemas.openxmlformats.org/drawingml/2006/main">
              <a:ext uri="{FF2B5EF4-FFF2-40B4-BE49-F238E27FC236}">
                <a16:creationId xmlns:a16="http://schemas.microsoft.com/office/drawing/2014/main" id="{98F7B48E-A4E5-4EC0-9FB0-57CB3A2B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108960"/>
            <a:ext cx="5943600" cy="1737360"/>
          </a:xfrm>
          <a:custGeom xmlns:a="http://schemas.openxmlformats.org/drawingml/2006/main">
            <a:rect l="l" t="t" r="r" b="b"/>
            <a:pathLst>
              <a:path w="5943600" h="1737360">
                <a:moveTo>
                  <a:pt x="0" y="1737360"/>
                </a:moveTo>
                <a:lnTo>
                  <a:pt x="5943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C2734D7D-E00A-4069-9608-1AF88A14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326130"/>
            <a:ext cx="5943600" cy="1520190"/>
          </a:xfrm>
          <a:custGeom xmlns:a="http://schemas.openxmlformats.org/drawingml/2006/main">
            <a:rect l="l" t="t" r="r" b="b"/>
            <a:pathLst>
              <a:path w="5943600" h="1520190">
                <a:moveTo>
                  <a:pt x="0" y="1520190"/>
                </a:moveTo>
                <a:lnTo>
                  <a:pt x="742950" y="1520190"/>
                </a:lnTo>
                <a:lnTo>
                  <a:pt x="742950" y="1303020"/>
                </a:lnTo>
                <a:lnTo>
                  <a:pt x="742950" y="1303020"/>
                </a:lnTo>
                <a:lnTo>
                  <a:pt x="1485900" y="1303020"/>
                </a:lnTo>
                <a:lnTo>
                  <a:pt x="1485900" y="1085850"/>
                </a:lnTo>
                <a:lnTo>
                  <a:pt x="1485900" y="1085850"/>
                </a:lnTo>
                <a:lnTo>
                  <a:pt x="2228850" y="1085850"/>
                </a:lnTo>
                <a:lnTo>
                  <a:pt x="2228850" y="868680"/>
                </a:lnTo>
                <a:lnTo>
                  <a:pt x="2228850" y="868680"/>
                </a:lnTo>
                <a:lnTo>
                  <a:pt x="2971800" y="868680"/>
                </a:lnTo>
                <a:lnTo>
                  <a:pt x="2971800" y="651510"/>
                </a:lnTo>
                <a:lnTo>
                  <a:pt x="2971800" y="651510"/>
                </a:lnTo>
                <a:lnTo>
                  <a:pt x="3714750" y="651510"/>
                </a:lnTo>
                <a:lnTo>
                  <a:pt x="3714750" y="434340"/>
                </a:lnTo>
                <a:lnTo>
                  <a:pt x="3714750" y="434340"/>
                </a:lnTo>
                <a:lnTo>
                  <a:pt x="4457700" y="434340"/>
                </a:lnTo>
                <a:lnTo>
                  <a:pt x="4457700" y="217170"/>
                </a:lnTo>
                <a:lnTo>
                  <a:pt x="4457700" y="217170"/>
                </a:lnTo>
                <a:lnTo>
                  <a:pt x="5200650" y="217170"/>
                </a:lnTo>
                <a:lnTo>
                  <a:pt x="5200650" y="0"/>
                </a:lnTo>
                <a:lnTo>
                  <a:pt x="5200650" y="0"/>
                </a:lnTo>
                <a:lnTo>
                  <a:pt x="5943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A2241B3-C3F5-47BD-B20B-FE44FD33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78892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0E7C86"/>
                </a:solidFill>
                <a:latin typeface="DejaVu Sans Mono"/>
                <a:ea typeface="DejaVu Sans Mono"/>
                <a:cs typeface="DejaVu Sans Mono"/>
              </a:rPr>
              <a:t>իրական արժեքը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31BE377-DCB0-41E7-BDBA-C619C48B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97433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D98324"/>
                </a:solidFill>
                <a:latin typeface="DejaVu Sans Mono"/>
                <a:ea typeface="DejaVu Sans Mono"/>
                <a:cs typeface="DejaVu Sans Mono"/>
              </a:rPr>
              <a:t>ինչ ասում է կոդը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33677D5-C936-49A7-86F0-36145ABF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4974336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00" b="0" i="0">
                <a:solidFill>
                  <a:srgbClr val="6B7680"/>
                </a:solidFill>
                <a:latin typeface="DejaVu Sans Mono"/>
                <a:ea typeface="DejaVu Sans Mono"/>
                <a:cs typeface="DejaVu Sans Mono"/>
              </a:rPr>
              <a:t>մուտք  →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C4AB4F3-775E-45BE-9B44-DBDEC157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880360"/>
            <a:ext cx="402336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0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Երկու հարակից կոդերի միջև այլ կոդ չկա։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A3F5AC7-EAAE-4804-9AA1-AD2280F5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703320"/>
            <a:ext cx="40233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16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ԱԹՓ-ն հաղորդում է մոտակա աստիճանը։ Տարբերությունը կորցվում է, իսկ սխալը մնում է մեկ LSB-ի սահմաններում։</a:t>
            </a:r>
          </a:p>
        </p:txBody>
      </p:sp>
    </p:spTree>
    <p:extLst>
      <p:ext uri="{BB962C8B-B14F-4D97-AF65-F5344CB8AC3E}">
        <p14:creationId xmlns:p14="http://schemas.microsoft.com/office/powerpoint/2010/main" val="5872932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240871-5C6F-4A57-B1C4-71243B9C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B0F1474-4E77-4FB0-AF63-200DD0AD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8A85034-C567-4749-9287-4A15D81D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2062F58-0F55-4F85-95BF-B3B53795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Քվանտացման աղմուկը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3600705-B03E-4FE3-8795-DBC39F42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44594EA-594C-43F0-8422-8F72CFC1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3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Կլորացումը ներմուծում է հայտնի և հաշվարկելի աղմուկ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206EFAC-1802-4E8F-A469-6AE9B217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57400"/>
            <a:ext cx="1087495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σ_q  =  LSB / √12  =  0.061 / 3.464  =  0.018 mg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0BE916C-C2FF-465F-AE7B-3A56E102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63240"/>
            <a:ext cx="10874959" cy="740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18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√12-ը միավոր լայնությամբ հավասարաչափ բաշխման ստանդարտ շեղման գործակիցն է։ Արժե մեկ անգամ հասկանալ դրա ծագումը։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3D67745-8E19-496E-B177-F0685F7A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94760"/>
            <a:ext cx="10874959" cy="8686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DFDC"/>
          </a:solidFill>
          <a:ln xmlns:a="http://schemas.openxmlformats.org/drawingml/2006/main" w="1587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Սա թվային կոդի լուծաչափն է, ոչ ամբողջ չափման լուծաչափը։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D69A884-7425-4596-8D07-5869B42F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10874959" cy="10058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ECD8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Հիշեք 0.018 mg-ը։ Հետագայում այն կհամեմատենք տվիչի սեփական աղմուկի հետ։</a:t>
            </a:r>
          </a:p>
        </p:txBody>
      </p:sp>
    </p:spTree>
    <p:extLst>
      <p:ext uri="{BB962C8B-B14F-4D97-AF65-F5344CB8AC3E}">
        <p14:creationId xmlns:p14="http://schemas.microsoft.com/office/powerpoint/2010/main" val="157712266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6E19B1-8DD0-438E-9077-6C8D2096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CA103A7-6A36-4963-A011-5A87F7D4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FD3DC70-5545-42B2-AB98-E3218C4B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38EB8FC-0038-4719-A5B1-966AC616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2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Ինչո՞ւ ավելի շատ բիթը դեռ ավելի ճշգրիտ չափում չէ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B601932-2A4B-46DB-B8EF-0D6A96BB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DA31D3B-2543-483F-BCDB-F82B7472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03120"/>
            <a:ext cx="108749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չափման աղմուկային հատակը՝ երկու դեպքում նույնը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A6726EE-E6CD-48BF-B653-8B597334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14600"/>
            <a:ext cx="489204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8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7F22CBB-6679-4EFF-BFAC-8036D5FA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78130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C530E7-7706-4C7B-A57C-F7F6EC8A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04800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6DD8762-BB92-48E4-9C10-2E442FA3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1470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8CE8F0C-9D8D-456A-99C0-3376B7E2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58140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3BE306A-3CD4-4005-A24D-F9591831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84810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8857976-8E6D-41DF-ACC6-8B564FA9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42816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4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16-ԲԻԹԱՆՈՑ ԱԹՓ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F4E46BD-59ED-4A95-8687-A2E68158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35424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0" i="0">
                <a:solidFill>
                  <a:srgbClr val="0E7C86"/>
                </a:solidFill>
                <a:latin typeface="DejaVu Sans Mono"/>
                <a:ea typeface="DejaVu Sans Mono"/>
                <a:cs typeface="DejaVu Sans Mono"/>
              </a:rPr>
              <a:t>մեկ աստիճանը = 0.061 mg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60D439B-1E33-411F-8078-698558F9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514600"/>
            <a:ext cx="489204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8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6AF469B-127A-4389-A6B0-AA02A726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581275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F195037-AEE5-4802-9BDC-EBED7742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64795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D621147-A9FE-4F94-ACC0-F3CE0FAE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714625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3DCD627-0418-4ADB-B853-660CFAAA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78130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6791837-9111-4223-A91A-C113DEB3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847975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36B212E-2247-4493-9661-73F2F1B6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91465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2E4928F-0B5E-44F6-B776-83933E9A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981325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3D79805-A6BB-4B41-B224-1CFB7CB9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04800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B8C7B22-1AC4-436D-915D-D2B19425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114675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2778DBD-54CF-4989-AFC0-77B907F7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18135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BBD68AB-3C93-4018-9149-07732A1C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248025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0DAA750-1048-4DDA-A79F-D7884B2D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31470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C689CC1-145B-4E5D-AD5A-C62C67C9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381375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4F38F1B-BBAE-42FE-A30B-7F1EF672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44805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28DCAE-93D5-4B3A-9659-8AD269DC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514725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516692D-76AD-4CBB-8E79-9100E014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58140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491D0FEB-D4B5-4C16-8874-FFF8504F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648075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1AA632C0-C7F7-40A2-A9B9-E618FFD2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71475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49E14B1D-CF98-496F-A27E-BC19F8F7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781425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76C9B62-FC61-4B9D-965F-A5D0B810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84810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5BF51626-6C06-4FED-805B-91CEB2C3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14775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9DD946D4-F3B7-4D74-90F9-79844573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81450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C11F8C4B-9865-4A9E-853C-6C7FAF5B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048125"/>
            <a:ext cx="48920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4D7B0BF6-683C-45C1-A5A4-EBEC454D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242816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4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20-ԲԻԹԱՆՈՑ ԱԹՓ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A7F1CC8-F832-4DC9-A89F-C32C6838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535424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0E7C86"/>
                </a:solidFill>
                <a:latin typeface="DejaVu Sans Mono"/>
                <a:ea typeface="DejaVu Sans Mono"/>
                <a:cs typeface="DejaVu Sans Mono"/>
              </a:rPr>
              <a:t>մեկ աստիճանը՝ 16 անգամ ավելի փոքր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098696F6-BEB8-4E3D-AD5F-B7C53D0B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46320"/>
            <a:ext cx="10874959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DFDC"/>
          </a:solidFill>
          <a:ln xmlns:a="http://schemas.openxmlformats.org/drawingml/2006/main" w="1587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8599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Լրացուցիչ բիթերը փոքրացնում են թվային աստիճանը, բայց չեն փոքրացնում աղմուկը։</a:t>
            </a:r>
          </a:p>
          <a:p xmlns:a="http://schemas.openxmlformats.org/drawingml/2006/main">
            <a:pPr algn="ctr">
              <a:buNone/>
            </a:pPr>
            <a:r>
              <a:rPr sz="19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Աղմուկային հատակից ցածր բիթերը լրացուցիչ նիշեր են, ոչ լրացուցիչ տեղեկություն։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CB352030-0BD7-49F0-B6E2-8D98B9BC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97880"/>
            <a:ext cx="1087495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Օգտակար բիթերը որոշում են աղմուկն ու թողունակությունը։</a:t>
            </a:r>
          </a:p>
        </p:txBody>
      </p:sp>
    </p:spTree>
    <p:extLst>
      <p:ext uri="{BB962C8B-B14F-4D97-AF65-F5344CB8AC3E}">
        <p14:creationId xmlns:p14="http://schemas.microsoft.com/office/powerpoint/2010/main" val="121085469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2AEC53-F514-402C-B51B-077EB1F7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AF6DA5F-A9A5-4456-B35C-68880494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038D315-9114-4F9D-959F-85F6AF67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63313C-6F6E-4C1B-BFC2-B85B5021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ԿԱՆԳՆԵՔ  ·  60 ՎԱՅՐԿՅԱՆ  ·  ԱՌԱՆՑ ԽՈՍԵԼՈՒ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9161EC7-F5E6-448D-A017-5FB0E22C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00200"/>
            <a:ext cx="105156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40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Հիշողությամբ գծեք շղթայի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40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վերջին երեք օղակները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B83B054-E39A-47AE-80E2-95552874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118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Յուրաքանչյուրի տակ գրեք այն մեկ բանը, որը կարող է կորչել այնտեղ։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FB25435-CAF0-4D1A-80AB-096D3AA0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17720"/>
            <a:ext cx="10874959" cy="8686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1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ՆՄՈՒՇԱՌՈՒՄ  →  ԿՈԴԵՐԻՑ SI ՄԻԱՎՈՐՆԵՐ  →  ԺԱՄԱՆԱԿԱՅԻՆ ԴՐՈՇՄ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F5B25E1-DD77-45B1-A1C2-BC43F353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1500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Նախ շրջեք թերթը։ Հանձնելու ոչինչ չկա։</a:t>
            </a:r>
          </a:p>
        </p:txBody>
      </p:sp>
    </p:spTree>
    <p:extLst>
      <p:ext uri="{BB962C8B-B14F-4D97-AF65-F5344CB8AC3E}">
        <p14:creationId xmlns:p14="http://schemas.microsoft.com/office/powerpoint/2010/main" val="139970099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9B4528-898B-41C3-81D2-A1964C83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C1BCD7-B940-444C-9118-2E5192A0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0349956-0AFF-46C3-88B4-2C773FC3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3C8B27-334B-490E-8F44-47C6E852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ԲԱԺԻՆ 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C9F8276-8B53-4A0F-9602-EEF6D18E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9046159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26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Ելքային տվյալների հաճախությունը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929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թողունակություն չէ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437CD94-3DE3-433A-B138-9D70B91D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94760"/>
            <a:ext cx="1371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233A547-0A73-457B-A38D-1ADCAFF0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10874959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78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Մոդուլ Ա-ի ամենադժվար գաղափարը։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689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Ռեգիստրի մեկ բիթ որոշում է, արդյոք ձեր տվյալները պարունակում են երբեք գոյություն չունեցած ազդանշան։</a:t>
            </a:r>
          </a:p>
        </p:txBody>
      </p:sp>
    </p:spTree>
    <p:extLst>
      <p:ext uri="{BB962C8B-B14F-4D97-AF65-F5344CB8AC3E}">
        <p14:creationId xmlns:p14="http://schemas.microsoft.com/office/powerpoint/2010/main" val="185235504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6880D5-6C9A-4592-A2CC-3E78179A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A5E9A7-CF20-45DB-9826-368EC764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6ABC9B5-482A-4F17-B2E1-11BA5AA2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4B3209A-DEDD-4EA5-AB17-DB3C4F82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9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Նայքվիստը՝ որպես նախագծման կանոն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664B7FF-C177-4FE3-B2A2-B4D8A01E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84CAE5E-AF6F-4695-8083-4DEBB55F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3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1-ին դասախոսությունում սա բացահայտում էր, այսօր՝ նախագծման կանոն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AA22611-433B-4AE0-97B7-F5DD157C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611880"/>
            <a:ext cx="740664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2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Freeform 8">
            <a:extLst xmlns:a="http://schemas.openxmlformats.org/drawingml/2006/main">
              <a:ext uri="{FF2B5EF4-FFF2-40B4-BE49-F238E27FC236}">
                <a16:creationId xmlns:a16="http://schemas.microsoft.com/office/drawing/2014/main" id="{670FB227-F346-4850-A9F7-3CE8B851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743200"/>
            <a:ext cx="7406640" cy="1737360"/>
          </a:xfrm>
          <a:custGeom xmlns:a="http://schemas.openxmlformats.org/drawingml/2006/main">
            <a:rect l="l" t="t" r="r" b="b"/>
            <a:pathLst>
              <a:path w="7406640" h="1737360">
                <a:moveTo>
                  <a:pt x="0" y="868680"/>
                </a:moveTo>
                <a:lnTo>
                  <a:pt x="18516" y="613253"/>
                </a:lnTo>
                <a:lnTo>
                  <a:pt x="37033" y="380409"/>
                </a:lnTo>
                <a:lnTo>
                  <a:pt x="55549" y="190735"/>
                </a:lnTo>
                <a:lnTo>
                  <a:pt x="74066" y="61001"/>
                </a:lnTo>
                <a:lnTo>
                  <a:pt x="92583" y="2677"/>
                </a:lnTo>
                <a:lnTo>
                  <a:pt x="111099" y="20920"/>
                </a:lnTo>
                <a:lnTo>
                  <a:pt x="129616" y="114117"/>
                </a:lnTo>
                <a:lnTo>
                  <a:pt x="148132" y="274027"/>
                </a:lnTo>
                <a:lnTo>
                  <a:pt x="166649" y="486513"/>
                </a:lnTo>
                <a:lnTo>
                  <a:pt x="185166" y="732788"/>
                </a:lnTo>
                <a:lnTo>
                  <a:pt x="203682" y="991078"/>
                </a:lnTo>
                <a:lnTo>
                  <a:pt x="222199" y="1238545"/>
                </a:lnTo>
                <a:lnTo>
                  <a:pt x="240715" y="1453312"/>
                </a:lnTo>
                <a:lnTo>
                  <a:pt x="259232" y="1616389"/>
                </a:lnTo>
                <a:lnTo>
                  <a:pt x="277749" y="1713358"/>
                </a:lnTo>
                <a:lnTo>
                  <a:pt x="296265" y="1735645"/>
                </a:lnTo>
                <a:lnTo>
                  <a:pt x="314782" y="1681281"/>
                </a:lnTo>
                <a:lnTo>
                  <a:pt x="333298" y="1555071"/>
                </a:lnTo>
                <a:lnTo>
                  <a:pt x="351815" y="1368175"/>
                </a:lnTo>
                <a:lnTo>
                  <a:pt x="370332" y="1137116"/>
                </a:lnTo>
                <a:lnTo>
                  <a:pt x="388848" y="882324"/>
                </a:lnTo>
                <a:lnTo>
                  <a:pt x="407365" y="626326"/>
                </a:lnTo>
                <a:lnTo>
                  <a:pt x="425881" y="391754"/>
                </a:lnTo>
                <a:lnTo>
                  <a:pt x="444398" y="199350"/>
                </a:lnTo>
                <a:lnTo>
                  <a:pt x="462915" y="66124"/>
                </a:lnTo>
                <a:lnTo>
                  <a:pt x="481431" y="3855"/>
                </a:lnTo>
                <a:lnTo>
                  <a:pt x="499948" y="18048"/>
                </a:lnTo>
                <a:lnTo>
                  <a:pt x="518464" y="107449"/>
                </a:lnTo>
                <a:lnTo>
                  <a:pt x="536981" y="264154"/>
                </a:lnTo>
                <a:lnTo>
                  <a:pt x="555498" y="474307"/>
                </a:lnTo>
                <a:lnTo>
                  <a:pt x="574014" y="719328"/>
                </a:lnTo>
                <a:lnTo>
                  <a:pt x="592531" y="977554"/>
                </a:lnTo>
                <a:lnTo>
                  <a:pt x="611047" y="1226154"/>
                </a:lnTo>
                <a:lnTo>
                  <a:pt x="629564" y="1443148"/>
                </a:lnTo>
                <a:lnTo>
                  <a:pt x="648081" y="1609351"/>
                </a:lnTo>
                <a:lnTo>
                  <a:pt x="666597" y="1710068"/>
                </a:lnTo>
                <a:lnTo>
                  <a:pt x="685114" y="1736395"/>
                </a:lnTo>
                <a:lnTo>
                  <a:pt x="703630" y="1686004"/>
                </a:lnTo>
                <a:lnTo>
                  <a:pt x="722147" y="1563350"/>
                </a:lnTo>
                <a:lnTo>
                  <a:pt x="740664" y="1379277"/>
                </a:lnTo>
                <a:lnTo>
                  <a:pt x="759180" y="1150060"/>
                </a:lnTo>
                <a:lnTo>
                  <a:pt x="777697" y="895965"/>
                </a:lnTo>
                <a:lnTo>
                  <a:pt x="796213" y="639458"/>
                </a:lnTo>
                <a:lnTo>
                  <a:pt x="814730" y="403217"/>
                </a:lnTo>
                <a:lnTo>
                  <a:pt x="833247" y="208130"/>
                </a:lnTo>
                <a:lnTo>
                  <a:pt x="851763" y="71444"/>
                </a:lnTo>
                <a:lnTo>
                  <a:pt x="870280" y="5245"/>
                </a:lnTo>
                <a:lnTo>
                  <a:pt x="888796" y="15386"/>
                </a:lnTo>
                <a:lnTo>
                  <a:pt x="907313" y="100970"/>
                </a:lnTo>
                <a:lnTo>
                  <a:pt x="925830" y="254430"/>
                </a:lnTo>
                <a:lnTo>
                  <a:pt x="944346" y="462198"/>
                </a:lnTo>
                <a:lnTo>
                  <a:pt x="962863" y="705905"/>
                </a:lnTo>
                <a:lnTo>
                  <a:pt x="981379" y="964004"/>
                </a:lnTo>
                <a:lnTo>
                  <a:pt x="999896" y="1213674"/>
                </a:lnTo>
                <a:lnTo>
                  <a:pt x="1018413" y="1432842"/>
                </a:lnTo>
                <a:lnTo>
                  <a:pt x="1036929" y="1602130"/>
                </a:lnTo>
                <a:lnTo>
                  <a:pt x="1055446" y="1706571"/>
                </a:lnTo>
                <a:lnTo>
                  <a:pt x="1073962" y="1736931"/>
                </a:lnTo>
                <a:lnTo>
                  <a:pt x="1092479" y="1690525"/>
                </a:lnTo>
                <a:lnTo>
                  <a:pt x="1110996" y="1571456"/>
                </a:lnTo>
                <a:lnTo>
                  <a:pt x="1129512" y="1390253"/>
                </a:lnTo>
                <a:lnTo>
                  <a:pt x="1148029" y="1162934"/>
                </a:lnTo>
                <a:lnTo>
                  <a:pt x="1166545" y="909600"/>
                </a:lnTo>
                <a:lnTo>
                  <a:pt x="1185062" y="652648"/>
                </a:lnTo>
                <a:lnTo>
                  <a:pt x="1203579" y="414795"/>
                </a:lnTo>
                <a:lnTo>
                  <a:pt x="1222095" y="217073"/>
                </a:lnTo>
                <a:lnTo>
                  <a:pt x="1240612" y="76962"/>
                </a:lnTo>
                <a:lnTo>
                  <a:pt x="1259128" y="6849"/>
                </a:lnTo>
                <a:lnTo>
                  <a:pt x="1277645" y="12935"/>
                </a:lnTo>
                <a:lnTo>
                  <a:pt x="1296162" y="94680"/>
                </a:lnTo>
                <a:lnTo>
                  <a:pt x="1314678" y="244858"/>
                </a:lnTo>
                <a:lnTo>
                  <a:pt x="1333195" y="450190"/>
                </a:lnTo>
                <a:lnTo>
                  <a:pt x="1351711" y="692522"/>
                </a:lnTo>
                <a:lnTo>
                  <a:pt x="1370228" y="950430"/>
                </a:lnTo>
                <a:lnTo>
                  <a:pt x="1388745" y="1201109"/>
                </a:lnTo>
                <a:lnTo>
                  <a:pt x="1407261" y="1422397"/>
                </a:lnTo>
                <a:lnTo>
                  <a:pt x="1425778" y="1594729"/>
                </a:lnTo>
                <a:lnTo>
                  <a:pt x="1444294" y="1702867"/>
                </a:lnTo>
                <a:lnTo>
                  <a:pt x="1462811" y="1737252"/>
                </a:lnTo>
                <a:lnTo>
                  <a:pt x="1481328" y="1694843"/>
                </a:lnTo>
                <a:lnTo>
                  <a:pt x="1499844" y="1579390"/>
                </a:lnTo>
                <a:lnTo>
                  <a:pt x="1518361" y="1401100"/>
                </a:lnTo>
                <a:lnTo>
                  <a:pt x="1536877" y="1175736"/>
                </a:lnTo>
                <a:lnTo>
                  <a:pt x="1555394" y="923224"/>
                </a:lnTo>
                <a:lnTo>
                  <a:pt x="1573911" y="665890"/>
                </a:lnTo>
                <a:lnTo>
                  <a:pt x="1592427" y="426485"/>
                </a:lnTo>
                <a:lnTo>
                  <a:pt x="1610944" y="226177"/>
                </a:lnTo>
                <a:lnTo>
                  <a:pt x="1629460" y="82674"/>
                </a:lnTo>
                <a:lnTo>
                  <a:pt x="1647977" y="8666"/>
                </a:lnTo>
                <a:lnTo>
                  <a:pt x="1666494" y="10694"/>
                </a:lnTo>
                <a:lnTo>
                  <a:pt x="1685010" y="88581"/>
                </a:lnTo>
                <a:lnTo>
                  <a:pt x="1703527" y="235439"/>
                </a:lnTo>
                <a:lnTo>
                  <a:pt x="1722043" y="438284"/>
                </a:lnTo>
                <a:lnTo>
                  <a:pt x="1740560" y="679183"/>
                </a:lnTo>
                <a:lnTo>
                  <a:pt x="1759077" y="936835"/>
                </a:lnTo>
                <a:lnTo>
                  <a:pt x="1777593" y="1188462"/>
                </a:lnTo>
                <a:lnTo>
                  <a:pt x="1796110" y="1411815"/>
                </a:lnTo>
                <a:lnTo>
                  <a:pt x="1814626" y="1587148"/>
                </a:lnTo>
                <a:lnTo>
                  <a:pt x="1833143" y="1698958"/>
                </a:lnTo>
                <a:lnTo>
                  <a:pt x="1851660" y="1737360"/>
                </a:lnTo>
                <a:lnTo>
                  <a:pt x="1870176" y="1698958"/>
                </a:lnTo>
                <a:lnTo>
                  <a:pt x="1888693" y="1587148"/>
                </a:lnTo>
                <a:lnTo>
                  <a:pt x="1907209" y="1411815"/>
                </a:lnTo>
                <a:lnTo>
                  <a:pt x="1925726" y="1188462"/>
                </a:lnTo>
                <a:lnTo>
                  <a:pt x="1944243" y="936835"/>
                </a:lnTo>
                <a:lnTo>
                  <a:pt x="1962759" y="679183"/>
                </a:lnTo>
                <a:lnTo>
                  <a:pt x="1981276" y="438284"/>
                </a:lnTo>
                <a:lnTo>
                  <a:pt x="1999792" y="235439"/>
                </a:lnTo>
                <a:lnTo>
                  <a:pt x="2018309" y="88581"/>
                </a:lnTo>
                <a:lnTo>
                  <a:pt x="2036826" y="10694"/>
                </a:lnTo>
                <a:lnTo>
                  <a:pt x="2055342" y="8666"/>
                </a:lnTo>
                <a:lnTo>
                  <a:pt x="2073859" y="82674"/>
                </a:lnTo>
                <a:lnTo>
                  <a:pt x="2092375" y="226177"/>
                </a:lnTo>
                <a:lnTo>
                  <a:pt x="2110892" y="426485"/>
                </a:lnTo>
                <a:lnTo>
                  <a:pt x="2129409" y="665890"/>
                </a:lnTo>
                <a:lnTo>
                  <a:pt x="2147925" y="923224"/>
                </a:lnTo>
                <a:lnTo>
                  <a:pt x="2166442" y="1175736"/>
                </a:lnTo>
                <a:lnTo>
                  <a:pt x="2184958" y="1401100"/>
                </a:lnTo>
                <a:lnTo>
                  <a:pt x="2203475" y="1579390"/>
                </a:lnTo>
                <a:lnTo>
                  <a:pt x="2221992" y="1694843"/>
                </a:lnTo>
                <a:lnTo>
                  <a:pt x="2240508" y="1737252"/>
                </a:lnTo>
                <a:lnTo>
                  <a:pt x="2259025" y="1702867"/>
                </a:lnTo>
                <a:lnTo>
                  <a:pt x="2277541" y="1594729"/>
                </a:lnTo>
                <a:lnTo>
                  <a:pt x="2296058" y="1422397"/>
                </a:lnTo>
                <a:lnTo>
                  <a:pt x="2314575" y="1201109"/>
                </a:lnTo>
                <a:lnTo>
                  <a:pt x="2333091" y="950430"/>
                </a:lnTo>
                <a:lnTo>
                  <a:pt x="2351608" y="692522"/>
                </a:lnTo>
                <a:lnTo>
                  <a:pt x="2370124" y="450190"/>
                </a:lnTo>
                <a:lnTo>
                  <a:pt x="2388641" y="244858"/>
                </a:lnTo>
                <a:lnTo>
                  <a:pt x="2407158" y="94680"/>
                </a:lnTo>
                <a:lnTo>
                  <a:pt x="2425674" y="12935"/>
                </a:lnTo>
                <a:lnTo>
                  <a:pt x="2444191" y="6849"/>
                </a:lnTo>
                <a:lnTo>
                  <a:pt x="2462707" y="76962"/>
                </a:lnTo>
                <a:lnTo>
                  <a:pt x="2481224" y="217073"/>
                </a:lnTo>
                <a:lnTo>
                  <a:pt x="2499741" y="414795"/>
                </a:lnTo>
                <a:lnTo>
                  <a:pt x="2518257" y="652648"/>
                </a:lnTo>
                <a:lnTo>
                  <a:pt x="2536774" y="909600"/>
                </a:lnTo>
                <a:lnTo>
                  <a:pt x="2555290" y="1162934"/>
                </a:lnTo>
                <a:lnTo>
                  <a:pt x="2573807" y="1390253"/>
                </a:lnTo>
                <a:lnTo>
                  <a:pt x="2592324" y="1571456"/>
                </a:lnTo>
                <a:lnTo>
                  <a:pt x="2610840" y="1690525"/>
                </a:lnTo>
                <a:lnTo>
                  <a:pt x="2629357" y="1736931"/>
                </a:lnTo>
                <a:lnTo>
                  <a:pt x="2647873" y="1706571"/>
                </a:lnTo>
                <a:lnTo>
                  <a:pt x="2666390" y="1602130"/>
                </a:lnTo>
                <a:lnTo>
                  <a:pt x="2684907" y="1432842"/>
                </a:lnTo>
                <a:lnTo>
                  <a:pt x="2703423" y="1213674"/>
                </a:lnTo>
                <a:lnTo>
                  <a:pt x="2721940" y="964004"/>
                </a:lnTo>
                <a:lnTo>
                  <a:pt x="2740456" y="705905"/>
                </a:lnTo>
                <a:lnTo>
                  <a:pt x="2758973" y="462198"/>
                </a:lnTo>
                <a:lnTo>
                  <a:pt x="2777490" y="254430"/>
                </a:lnTo>
                <a:lnTo>
                  <a:pt x="2796006" y="100970"/>
                </a:lnTo>
                <a:lnTo>
                  <a:pt x="2814523" y="15386"/>
                </a:lnTo>
                <a:lnTo>
                  <a:pt x="2833039" y="5245"/>
                </a:lnTo>
                <a:lnTo>
                  <a:pt x="2851556" y="71444"/>
                </a:lnTo>
                <a:lnTo>
                  <a:pt x="2870073" y="208130"/>
                </a:lnTo>
                <a:lnTo>
                  <a:pt x="2888589" y="403217"/>
                </a:lnTo>
                <a:lnTo>
                  <a:pt x="2907106" y="639458"/>
                </a:lnTo>
                <a:lnTo>
                  <a:pt x="2925622" y="895965"/>
                </a:lnTo>
                <a:lnTo>
                  <a:pt x="2944139" y="1150060"/>
                </a:lnTo>
                <a:lnTo>
                  <a:pt x="2962656" y="1379277"/>
                </a:lnTo>
                <a:lnTo>
                  <a:pt x="2981172" y="1563350"/>
                </a:lnTo>
                <a:lnTo>
                  <a:pt x="2999689" y="1686004"/>
                </a:lnTo>
                <a:lnTo>
                  <a:pt x="3018205" y="1736395"/>
                </a:lnTo>
                <a:lnTo>
                  <a:pt x="3036722" y="1710068"/>
                </a:lnTo>
                <a:lnTo>
                  <a:pt x="3055239" y="1609351"/>
                </a:lnTo>
                <a:lnTo>
                  <a:pt x="3073755" y="1443148"/>
                </a:lnTo>
                <a:lnTo>
                  <a:pt x="3092272" y="1226154"/>
                </a:lnTo>
                <a:lnTo>
                  <a:pt x="3110788" y="977554"/>
                </a:lnTo>
                <a:lnTo>
                  <a:pt x="3129305" y="719328"/>
                </a:lnTo>
                <a:lnTo>
                  <a:pt x="3147822" y="474307"/>
                </a:lnTo>
                <a:lnTo>
                  <a:pt x="3166338" y="264154"/>
                </a:lnTo>
                <a:lnTo>
                  <a:pt x="3184855" y="107449"/>
                </a:lnTo>
                <a:lnTo>
                  <a:pt x="3203371" y="18048"/>
                </a:lnTo>
                <a:lnTo>
                  <a:pt x="3221888" y="3855"/>
                </a:lnTo>
                <a:lnTo>
                  <a:pt x="3240405" y="66124"/>
                </a:lnTo>
                <a:lnTo>
                  <a:pt x="3258921" y="199350"/>
                </a:lnTo>
                <a:lnTo>
                  <a:pt x="3277438" y="391754"/>
                </a:lnTo>
                <a:lnTo>
                  <a:pt x="3295954" y="626326"/>
                </a:lnTo>
                <a:lnTo>
                  <a:pt x="3314471" y="882324"/>
                </a:lnTo>
                <a:lnTo>
                  <a:pt x="3332988" y="1137116"/>
                </a:lnTo>
                <a:lnTo>
                  <a:pt x="3351504" y="1368175"/>
                </a:lnTo>
                <a:lnTo>
                  <a:pt x="3370021" y="1555071"/>
                </a:lnTo>
                <a:lnTo>
                  <a:pt x="3388537" y="1681281"/>
                </a:lnTo>
                <a:lnTo>
                  <a:pt x="3407054" y="1735645"/>
                </a:lnTo>
                <a:lnTo>
                  <a:pt x="3425571" y="1713358"/>
                </a:lnTo>
                <a:lnTo>
                  <a:pt x="3444087" y="1616389"/>
                </a:lnTo>
                <a:lnTo>
                  <a:pt x="3462604" y="1453312"/>
                </a:lnTo>
                <a:lnTo>
                  <a:pt x="3481120" y="1238545"/>
                </a:lnTo>
                <a:lnTo>
                  <a:pt x="3499637" y="991078"/>
                </a:lnTo>
                <a:lnTo>
                  <a:pt x="3518154" y="732788"/>
                </a:lnTo>
                <a:lnTo>
                  <a:pt x="3536670" y="486513"/>
                </a:lnTo>
                <a:lnTo>
                  <a:pt x="3555187" y="274027"/>
                </a:lnTo>
                <a:lnTo>
                  <a:pt x="3573703" y="114117"/>
                </a:lnTo>
                <a:lnTo>
                  <a:pt x="3592220" y="20920"/>
                </a:lnTo>
                <a:lnTo>
                  <a:pt x="3610737" y="2677"/>
                </a:lnTo>
                <a:lnTo>
                  <a:pt x="3629253" y="61001"/>
                </a:lnTo>
                <a:lnTo>
                  <a:pt x="3647770" y="190735"/>
                </a:lnTo>
                <a:lnTo>
                  <a:pt x="3666286" y="380409"/>
                </a:lnTo>
                <a:lnTo>
                  <a:pt x="3684803" y="613253"/>
                </a:lnTo>
                <a:lnTo>
                  <a:pt x="3703320" y="868679"/>
                </a:lnTo>
                <a:lnTo>
                  <a:pt x="3721836" y="1124106"/>
                </a:lnTo>
                <a:lnTo>
                  <a:pt x="3740353" y="1356950"/>
                </a:lnTo>
                <a:lnTo>
                  <a:pt x="3758869" y="1546624"/>
                </a:lnTo>
                <a:lnTo>
                  <a:pt x="3777386" y="1676358"/>
                </a:lnTo>
                <a:lnTo>
                  <a:pt x="3795903" y="1734682"/>
                </a:lnTo>
                <a:lnTo>
                  <a:pt x="3814419" y="1716439"/>
                </a:lnTo>
                <a:lnTo>
                  <a:pt x="3832936" y="1623242"/>
                </a:lnTo>
                <a:lnTo>
                  <a:pt x="3851452" y="1463332"/>
                </a:lnTo>
                <a:lnTo>
                  <a:pt x="3869969" y="1250846"/>
                </a:lnTo>
                <a:lnTo>
                  <a:pt x="3888486" y="1004571"/>
                </a:lnTo>
                <a:lnTo>
                  <a:pt x="3907002" y="746281"/>
                </a:lnTo>
                <a:lnTo>
                  <a:pt x="3925519" y="498814"/>
                </a:lnTo>
                <a:lnTo>
                  <a:pt x="3944035" y="284047"/>
                </a:lnTo>
                <a:lnTo>
                  <a:pt x="3962552" y="120970"/>
                </a:lnTo>
                <a:lnTo>
                  <a:pt x="3981069" y="24001"/>
                </a:lnTo>
                <a:lnTo>
                  <a:pt x="3999585" y="1714"/>
                </a:lnTo>
                <a:lnTo>
                  <a:pt x="4018102" y="56078"/>
                </a:lnTo>
                <a:lnTo>
                  <a:pt x="4036618" y="182288"/>
                </a:lnTo>
                <a:lnTo>
                  <a:pt x="4055135" y="369184"/>
                </a:lnTo>
                <a:lnTo>
                  <a:pt x="4073652" y="600243"/>
                </a:lnTo>
                <a:lnTo>
                  <a:pt x="4092168" y="855035"/>
                </a:lnTo>
                <a:lnTo>
                  <a:pt x="4110685" y="1111033"/>
                </a:lnTo>
                <a:lnTo>
                  <a:pt x="4129201" y="1345605"/>
                </a:lnTo>
                <a:lnTo>
                  <a:pt x="4147718" y="1538009"/>
                </a:lnTo>
                <a:lnTo>
                  <a:pt x="4166235" y="1671235"/>
                </a:lnTo>
                <a:lnTo>
                  <a:pt x="4184751" y="1733504"/>
                </a:lnTo>
                <a:lnTo>
                  <a:pt x="4203268" y="1719311"/>
                </a:lnTo>
                <a:lnTo>
                  <a:pt x="4221784" y="1629910"/>
                </a:lnTo>
                <a:lnTo>
                  <a:pt x="4240301" y="1473205"/>
                </a:lnTo>
                <a:lnTo>
                  <a:pt x="4258818" y="1263052"/>
                </a:lnTo>
                <a:lnTo>
                  <a:pt x="4277334" y="1018031"/>
                </a:lnTo>
                <a:lnTo>
                  <a:pt x="4295851" y="759805"/>
                </a:lnTo>
                <a:lnTo>
                  <a:pt x="4314367" y="511205"/>
                </a:lnTo>
                <a:lnTo>
                  <a:pt x="4332884" y="294211"/>
                </a:lnTo>
                <a:lnTo>
                  <a:pt x="4351401" y="128008"/>
                </a:lnTo>
                <a:lnTo>
                  <a:pt x="4369917" y="27291"/>
                </a:lnTo>
                <a:lnTo>
                  <a:pt x="4388434" y="964"/>
                </a:lnTo>
                <a:lnTo>
                  <a:pt x="4406950" y="51355"/>
                </a:lnTo>
                <a:lnTo>
                  <a:pt x="4425467" y="174009"/>
                </a:lnTo>
                <a:lnTo>
                  <a:pt x="4443984" y="358082"/>
                </a:lnTo>
                <a:lnTo>
                  <a:pt x="4462500" y="587299"/>
                </a:lnTo>
                <a:lnTo>
                  <a:pt x="4481017" y="841394"/>
                </a:lnTo>
                <a:lnTo>
                  <a:pt x="4499533" y="1097901"/>
                </a:lnTo>
                <a:lnTo>
                  <a:pt x="4518050" y="1334142"/>
                </a:lnTo>
                <a:lnTo>
                  <a:pt x="4536567" y="1529229"/>
                </a:lnTo>
                <a:lnTo>
                  <a:pt x="4555083" y="1665915"/>
                </a:lnTo>
                <a:lnTo>
                  <a:pt x="4573600" y="1732114"/>
                </a:lnTo>
                <a:lnTo>
                  <a:pt x="4592116" y="1721973"/>
                </a:lnTo>
                <a:lnTo>
                  <a:pt x="4610633" y="1636389"/>
                </a:lnTo>
                <a:lnTo>
                  <a:pt x="4629150" y="1482929"/>
                </a:lnTo>
                <a:lnTo>
                  <a:pt x="4647666" y="1275161"/>
                </a:lnTo>
                <a:lnTo>
                  <a:pt x="4666183" y="1031454"/>
                </a:lnTo>
                <a:lnTo>
                  <a:pt x="4684699" y="773355"/>
                </a:lnTo>
                <a:lnTo>
                  <a:pt x="4703216" y="523685"/>
                </a:lnTo>
                <a:lnTo>
                  <a:pt x="4721733" y="304517"/>
                </a:lnTo>
                <a:lnTo>
                  <a:pt x="4740249" y="135229"/>
                </a:lnTo>
                <a:lnTo>
                  <a:pt x="4758766" y="30788"/>
                </a:lnTo>
                <a:lnTo>
                  <a:pt x="4777282" y="428"/>
                </a:lnTo>
                <a:lnTo>
                  <a:pt x="4795799" y="46834"/>
                </a:lnTo>
                <a:lnTo>
                  <a:pt x="4814316" y="165903"/>
                </a:lnTo>
                <a:lnTo>
                  <a:pt x="4832832" y="347106"/>
                </a:lnTo>
                <a:lnTo>
                  <a:pt x="4851349" y="574425"/>
                </a:lnTo>
                <a:lnTo>
                  <a:pt x="4869865" y="827759"/>
                </a:lnTo>
                <a:lnTo>
                  <a:pt x="4888382" y="1084711"/>
                </a:lnTo>
                <a:lnTo>
                  <a:pt x="4906899" y="1322564"/>
                </a:lnTo>
                <a:lnTo>
                  <a:pt x="4925415" y="1520286"/>
                </a:lnTo>
                <a:lnTo>
                  <a:pt x="4943932" y="1660397"/>
                </a:lnTo>
                <a:lnTo>
                  <a:pt x="4962448" y="1730510"/>
                </a:lnTo>
                <a:lnTo>
                  <a:pt x="4980965" y="1724424"/>
                </a:lnTo>
                <a:lnTo>
                  <a:pt x="4999482" y="1642679"/>
                </a:lnTo>
                <a:lnTo>
                  <a:pt x="5017998" y="1492501"/>
                </a:lnTo>
                <a:lnTo>
                  <a:pt x="5036515" y="1287169"/>
                </a:lnTo>
                <a:lnTo>
                  <a:pt x="5055031" y="1044837"/>
                </a:lnTo>
                <a:lnTo>
                  <a:pt x="5073548" y="786929"/>
                </a:lnTo>
                <a:lnTo>
                  <a:pt x="5092065" y="536250"/>
                </a:lnTo>
                <a:lnTo>
                  <a:pt x="5110581" y="314962"/>
                </a:lnTo>
                <a:lnTo>
                  <a:pt x="5129098" y="142630"/>
                </a:lnTo>
                <a:lnTo>
                  <a:pt x="5147614" y="34492"/>
                </a:lnTo>
                <a:lnTo>
                  <a:pt x="5166131" y="107"/>
                </a:lnTo>
                <a:lnTo>
                  <a:pt x="5184648" y="42516"/>
                </a:lnTo>
                <a:lnTo>
                  <a:pt x="5203164" y="157969"/>
                </a:lnTo>
                <a:lnTo>
                  <a:pt x="5221681" y="336259"/>
                </a:lnTo>
                <a:lnTo>
                  <a:pt x="5240197" y="561623"/>
                </a:lnTo>
                <a:lnTo>
                  <a:pt x="5258714" y="814135"/>
                </a:lnTo>
                <a:lnTo>
                  <a:pt x="5277231" y="1071469"/>
                </a:lnTo>
                <a:lnTo>
                  <a:pt x="5295747" y="1310874"/>
                </a:lnTo>
                <a:lnTo>
                  <a:pt x="5314264" y="1511182"/>
                </a:lnTo>
                <a:lnTo>
                  <a:pt x="5332780" y="1654685"/>
                </a:lnTo>
                <a:lnTo>
                  <a:pt x="5351297" y="1728693"/>
                </a:lnTo>
                <a:lnTo>
                  <a:pt x="5369814" y="1726665"/>
                </a:lnTo>
                <a:lnTo>
                  <a:pt x="5388330" y="1648778"/>
                </a:lnTo>
                <a:lnTo>
                  <a:pt x="5406847" y="1501920"/>
                </a:lnTo>
                <a:lnTo>
                  <a:pt x="5425363" y="1299075"/>
                </a:lnTo>
                <a:lnTo>
                  <a:pt x="5443880" y="1058176"/>
                </a:lnTo>
                <a:lnTo>
                  <a:pt x="5462397" y="800524"/>
                </a:lnTo>
                <a:lnTo>
                  <a:pt x="5480913" y="548897"/>
                </a:lnTo>
                <a:lnTo>
                  <a:pt x="5499430" y="325544"/>
                </a:lnTo>
                <a:lnTo>
                  <a:pt x="5517946" y="150211"/>
                </a:lnTo>
                <a:lnTo>
                  <a:pt x="5536463" y="38401"/>
                </a:lnTo>
                <a:lnTo>
                  <a:pt x="5554980" y="0"/>
                </a:lnTo>
                <a:lnTo>
                  <a:pt x="5573496" y="38401"/>
                </a:lnTo>
                <a:lnTo>
                  <a:pt x="5592013" y="150211"/>
                </a:lnTo>
                <a:lnTo>
                  <a:pt x="5610529" y="325544"/>
                </a:lnTo>
                <a:lnTo>
                  <a:pt x="5629046" y="548897"/>
                </a:lnTo>
                <a:lnTo>
                  <a:pt x="5647563" y="800524"/>
                </a:lnTo>
                <a:lnTo>
                  <a:pt x="5666079" y="1058176"/>
                </a:lnTo>
                <a:lnTo>
                  <a:pt x="5684596" y="1299075"/>
                </a:lnTo>
                <a:lnTo>
                  <a:pt x="5703112" y="1501920"/>
                </a:lnTo>
                <a:lnTo>
                  <a:pt x="5721629" y="1648778"/>
                </a:lnTo>
                <a:lnTo>
                  <a:pt x="5740146" y="1726665"/>
                </a:lnTo>
                <a:lnTo>
                  <a:pt x="5758662" y="1728693"/>
                </a:lnTo>
                <a:lnTo>
                  <a:pt x="5777179" y="1654685"/>
                </a:lnTo>
                <a:lnTo>
                  <a:pt x="5795695" y="1511182"/>
                </a:lnTo>
                <a:lnTo>
                  <a:pt x="5814212" y="1310874"/>
                </a:lnTo>
                <a:lnTo>
                  <a:pt x="5832729" y="1071469"/>
                </a:lnTo>
                <a:lnTo>
                  <a:pt x="5851245" y="814135"/>
                </a:lnTo>
                <a:lnTo>
                  <a:pt x="5869762" y="561623"/>
                </a:lnTo>
                <a:lnTo>
                  <a:pt x="5888278" y="336259"/>
                </a:lnTo>
                <a:lnTo>
                  <a:pt x="5906795" y="157969"/>
                </a:lnTo>
                <a:lnTo>
                  <a:pt x="5925312" y="42516"/>
                </a:lnTo>
                <a:lnTo>
                  <a:pt x="5943828" y="107"/>
                </a:lnTo>
                <a:lnTo>
                  <a:pt x="5962345" y="34492"/>
                </a:lnTo>
                <a:lnTo>
                  <a:pt x="5980861" y="142630"/>
                </a:lnTo>
                <a:lnTo>
                  <a:pt x="5999378" y="314962"/>
                </a:lnTo>
                <a:lnTo>
                  <a:pt x="6017895" y="536250"/>
                </a:lnTo>
                <a:lnTo>
                  <a:pt x="6036411" y="786929"/>
                </a:lnTo>
                <a:lnTo>
                  <a:pt x="6054928" y="1044837"/>
                </a:lnTo>
                <a:lnTo>
                  <a:pt x="6073444" y="1287169"/>
                </a:lnTo>
                <a:lnTo>
                  <a:pt x="6091961" y="1492501"/>
                </a:lnTo>
                <a:lnTo>
                  <a:pt x="6110478" y="1642679"/>
                </a:lnTo>
                <a:lnTo>
                  <a:pt x="6128994" y="1724424"/>
                </a:lnTo>
                <a:lnTo>
                  <a:pt x="6147511" y="1730510"/>
                </a:lnTo>
                <a:lnTo>
                  <a:pt x="6166027" y="1660397"/>
                </a:lnTo>
                <a:lnTo>
                  <a:pt x="6184544" y="1520286"/>
                </a:lnTo>
                <a:lnTo>
                  <a:pt x="6203061" y="1322564"/>
                </a:lnTo>
                <a:lnTo>
                  <a:pt x="6221577" y="1084711"/>
                </a:lnTo>
                <a:lnTo>
                  <a:pt x="6240094" y="827759"/>
                </a:lnTo>
                <a:lnTo>
                  <a:pt x="6258610" y="574425"/>
                </a:lnTo>
                <a:lnTo>
                  <a:pt x="6277127" y="347106"/>
                </a:lnTo>
                <a:lnTo>
                  <a:pt x="6295644" y="165903"/>
                </a:lnTo>
                <a:lnTo>
                  <a:pt x="6314160" y="46834"/>
                </a:lnTo>
                <a:lnTo>
                  <a:pt x="6332677" y="428"/>
                </a:lnTo>
                <a:lnTo>
                  <a:pt x="6351193" y="30788"/>
                </a:lnTo>
                <a:lnTo>
                  <a:pt x="6369710" y="135229"/>
                </a:lnTo>
                <a:lnTo>
                  <a:pt x="6388227" y="304517"/>
                </a:lnTo>
                <a:lnTo>
                  <a:pt x="6406743" y="523685"/>
                </a:lnTo>
                <a:lnTo>
                  <a:pt x="6425260" y="773355"/>
                </a:lnTo>
                <a:lnTo>
                  <a:pt x="6443776" y="1031454"/>
                </a:lnTo>
                <a:lnTo>
                  <a:pt x="6462293" y="1275161"/>
                </a:lnTo>
                <a:lnTo>
                  <a:pt x="6480810" y="1482929"/>
                </a:lnTo>
                <a:lnTo>
                  <a:pt x="6499326" y="1636389"/>
                </a:lnTo>
                <a:lnTo>
                  <a:pt x="6517843" y="1721973"/>
                </a:lnTo>
                <a:lnTo>
                  <a:pt x="6536359" y="1732114"/>
                </a:lnTo>
                <a:lnTo>
                  <a:pt x="6554876" y="1665915"/>
                </a:lnTo>
                <a:lnTo>
                  <a:pt x="6573393" y="1529229"/>
                </a:lnTo>
                <a:lnTo>
                  <a:pt x="6591909" y="1334142"/>
                </a:lnTo>
                <a:lnTo>
                  <a:pt x="6610426" y="1097901"/>
                </a:lnTo>
                <a:lnTo>
                  <a:pt x="6628942" y="841394"/>
                </a:lnTo>
                <a:lnTo>
                  <a:pt x="6647459" y="587299"/>
                </a:lnTo>
                <a:lnTo>
                  <a:pt x="6665976" y="358082"/>
                </a:lnTo>
                <a:lnTo>
                  <a:pt x="6684492" y="174009"/>
                </a:lnTo>
                <a:lnTo>
                  <a:pt x="6703009" y="51355"/>
                </a:lnTo>
                <a:lnTo>
                  <a:pt x="6721525" y="964"/>
                </a:lnTo>
                <a:lnTo>
                  <a:pt x="6740042" y="27291"/>
                </a:lnTo>
                <a:lnTo>
                  <a:pt x="6758559" y="128008"/>
                </a:lnTo>
                <a:lnTo>
                  <a:pt x="6777075" y="294211"/>
                </a:lnTo>
                <a:lnTo>
                  <a:pt x="6795592" y="511205"/>
                </a:lnTo>
                <a:lnTo>
                  <a:pt x="6814108" y="759805"/>
                </a:lnTo>
                <a:lnTo>
                  <a:pt x="6832625" y="1018031"/>
                </a:lnTo>
                <a:lnTo>
                  <a:pt x="6851142" y="1263052"/>
                </a:lnTo>
                <a:lnTo>
                  <a:pt x="6869658" y="1473205"/>
                </a:lnTo>
                <a:lnTo>
                  <a:pt x="6888175" y="1629910"/>
                </a:lnTo>
                <a:lnTo>
                  <a:pt x="6906691" y="1719311"/>
                </a:lnTo>
                <a:lnTo>
                  <a:pt x="6925208" y="1733504"/>
                </a:lnTo>
                <a:lnTo>
                  <a:pt x="6943725" y="1671235"/>
                </a:lnTo>
                <a:lnTo>
                  <a:pt x="6962241" y="1538009"/>
                </a:lnTo>
                <a:lnTo>
                  <a:pt x="6980758" y="1345605"/>
                </a:lnTo>
                <a:lnTo>
                  <a:pt x="6999274" y="1111033"/>
                </a:lnTo>
                <a:lnTo>
                  <a:pt x="7017791" y="855035"/>
                </a:lnTo>
                <a:lnTo>
                  <a:pt x="7036308" y="600243"/>
                </a:lnTo>
                <a:lnTo>
                  <a:pt x="7054824" y="369184"/>
                </a:lnTo>
                <a:lnTo>
                  <a:pt x="7073341" y="182288"/>
                </a:lnTo>
                <a:lnTo>
                  <a:pt x="7091857" y="56078"/>
                </a:lnTo>
                <a:lnTo>
                  <a:pt x="7110374" y="1714"/>
                </a:lnTo>
                <a:lnTo>
                  <a:pt x="7128891" y="24001"/>
                </a:lnTo>
                <a:lnTo>
                  <a:pt x="7147407" y="120970"/>
                </a:lnTo>
                <a:lnTo>
                  <a:pt x="7165924" y="284047"/>
                </a:lnTo>
                <a:lnTo>
                  <a:pt x="7184440" y="498814"/>
                </a:lnTo>
                <a:lnTo>
                  <a:pt x="7202957" y="746281"/>
                </a:lnTo>
                <a:lnTo>
                  <a:pt x="7221474" y="1004571"/>
                </a:lnTo>
                <a:lnTo>
                  <a:pt x="7239990" y="1250846"/>
                </a:lnTo>
                <a:lnTo>
                  <a:pt x="7258507" y="1463332"/>
                </a:lnTo>
                <a:lnTo>
                  <a:pt x="7277023" y="1623242"/>
                </a:lnTo>
                <a:lnTo>
                  <a:pt x="7295540" y="1716439"/>
                </a:lnTo>
                <a:lnTo>
                  <a:pt x="7314057" y="1734682"/>
                </a:lnTo>
                <a:lnTo>
                  <a:pt x="7332573" y="1676358"/>
                </a:lnTo>
                <a:lnTo>
                  <a:pt x="7351090" y="1546624"/>
                </a:lnTo>
                <a:lnTo>
                  <a:pt x="7369606" y="1356950"/>
                </a:lnTo>
                <a:lnTo>
                  <a:pt x="7388123" y="1124106"/>
                </a:lnTo>
                <a:lnTo>
                  <a:pt x="7406640" y="868680"/>
                </a:lnTo>
              </a:path>
            </a:pathLst>
          </a:custGeom>
          <a:noFill xmlns:a="http://schemas.openxmlformats.org/drawingml/2006/main"/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D67AE6D-3FBD-496F-942B-EF483BAD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957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10" b="1" i="0">
                <a:solidFill>
                  <a:srgbClr val="0E7C86"/>
                </a:solidFill>
                <a:latin typeface="DejaVu Sans Mono"/>
                <a:ea typeface="DejaVu Sans Mono"/>
                <a:cs typeface="DejaVu Sans Mono"/>
              </a:rPr>
              <a:t>իրական ազդանշանը  ·  19 պարբերություն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34A50E4E-3DD8-4E74-A3DB-70457B64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" y="356158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4C661158-54DA-4E58-8BB0-E629EEF2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83002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0532AB8-8A39-4304-B4C9-B52285FE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2185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705D2F20-135C-46CF-AC48-230CD2F1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2" y="426436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4EC8FD03-6CC9-4721-9A85-43F77371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564" y="4387751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6E986F52-B6F9-4A8F-906D-5A9DA1FC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896" y="443026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CEA195CB-573E-41D6-8AC5-D192A895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228" y="4387751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A14F8B6F-6885-4884-B918-5AB79B50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26436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5E231E22-B081-4001-924D-A8EA562F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892" y="4072185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38CCC816-5B69-48A9-8D9A-009BA0AA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383002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ECAE0D99-A969-4F9C-BFA9-490F521D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56" y="3561587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4DEF13A8-AF84-41F9-9D88-8BCE523D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293151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01B72639-6F6B-48A6-9B36-45746BB1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3050990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AB7D99B3-B7BD-4B24-A94D-DD8B6C2C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2858811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A10B44FC-E1BB-4C0D-A6AD-D7113A06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884" y="273542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311AF474-EBAB-4E2F-9B45-B4DF150F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69290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A4B22978-EE02-4B3F-A2E6-54E9BA8B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548" y="273542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ED4EBEF4-B7BE-48CB-A70D-9B7AA9B0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858811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CF09477D-7F3A-4AA9-980A-A4680255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212" y="3050990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CB52CCB0-9F0C-44BF-8386-FD6D449E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3293151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AD8BB625-0702-4AED-ACF7-209E3B95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76" y="356158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2FACAB0-573F-4494-BCDE-8274ACC9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743200"/>
            <a:ext cx="7406640" cy="1737360"/>
          </a:xfrm>
          <a:custGeom xmlns:a="http://schemas.openxmlformats.org/drawingml/2006/main">
            <a:rect l="l" t="t" r="r" b="b"/>
            <a:pathLst>
              <a:path w="7406640" h="1737360">
                <a:moveTo>
                  <a:pt x="0" y="868680"/>
                </a:moveTo>
                <a:lnTo>
                  <a:pt x="18516" y="882324"/>
                </a:lnTo>
                <a:lnTo>
                  <a:pt x="37033" y="895965"/>
                </a:lnTo>
                <a:lnTo>
                  <a:pt x="55549" y="909600"/>
                </a:lnTo>
                <a:lnTo>
                  <a:pt x="74066" y="923224"/>
                </a:lnTo>
                <a:lnTo>
                  <a:pt x="92583" y="936835"/>
                </a:lnTo>
                <a:lnTo>
                  <a:pt x="111099" y="950430"/>
                </a:lnTo>
                <a:lnTo>
                  <a:pt x="129616" y="964004"/>
                </a:lnTo>
                <a:lnTo>
                  <a:pt x="148132" y="977554"/>
                </a:lnTo>
                <a:lnTo>
                  <a:pt x="166649" y="991078"/>
                </a:lnTo>
                <a:lnTo>
                  <a:pt x="185166" y="1004571"/>
                </a:lnTo>
                <a:lnTo>
                  <a:pt x="203682" y="1018031"/>
                </a:lnTo>
                <a:lnTo>
                  <a:pt x="222199" y="1031454"/>
                </a:lnTo>
                <a:lnTo>
                  <a:pt x="240715" y="1044837"/>
                </a:lnTo>
                <a:lnTo>
                  <a:pt x="259232" y="1058176"/>
                </a:lnTo>
                <a:lnTo>
                  <a:pt x="277749" y="1071469"/>
                </a:lnTo>
                <a:lnTo>
                  <a:pt x="296265" y="1084711"/>
                </a:lnTo>
                <a:lnTo>
                  <a:pt x="314782" y="1097901"/>
                </a:lnTo>
                <a:lnTo>
                  <a:pt x="333298" y="1111033"/>
                </a:lnTo>
                <a:lnTo>
                  <a:pt x="351815" y="1124106"/>
                </a:lnTo>
                <a:lnTo>
                  <a:pt x="370332" y="1137116"/>
                </a:lnTo>
                <a:lnTo>
                  <a:pt x="388848" y="1150060"/>
                </a:lnTo>
                <a:lnTo>
                  <a:pt x="407365" y="1162934"/>
                </a:lnTo>
                <a:lnTo>
                  <a:pt x="425881" y="1175736"/>
                </a:lnTo>
                <a:lnTo>
                  <a:pt x="444398" y="1188462"/>
                </a:lnTo>
                <a:lnTo>
                  <a:pt x="462915" y="1201109"/>
                </a:lnTo>
                <a:lnTo>
                  <a:pt x="481431" y="1213674"/>
                </a:lnTo>
                <a:lnTo>
                  <a:pt x="499948" y="1226154"/>
                </a:lnTo>
                <a:lnTo>
                  <a:pt x="518464" y="1238545"/>
                </a:lnTo>
                <a:lnTo>
                  <a:pt x="536981" y="1250846"/>
                </a:lnTo>
                <a:lnTo>
                  <a:pt x="555498" y="1263052"/>
                </a:lnTo>
                <a:lnTo>
                  <a:pt x="574014" y="1275161"/>
                </a:lnTo>
                <a:lnTo>
                  <a:pt x="592531" y="1287169"/>
                </a:lnTo>
                <a:lnTo>
                  <a:pt x="611047" y="1299075"/>
                </a:lnTo>
                <a:lnTo>
                  <a:pt x="629564" y="1310874"/>
                </a:lnTo>
                <a:lnTo>
                  <a:pt x="648081" y="1322564"/>
                </a:lnTo>
                <a:lnTo>
                  <a:pt x="666597" y="1334142"/>
                </a:lnTo>
                <a:lnTo>
                  <a:pt x="685114" y="1345605"/>
                </a:lnTo>
                <a:lnTo>
                  <a:pt x="703630" y="1356950"/>
                </a:lnTo>
                <a:lnTo>
                  <a:pt x="722147" y="1368175"/>
                </a:lnTo>
                <a:lnTo>
                  <a:pt x="740664" y="1379277"/>
                </a:lnTo>
                <a:lnTo>
                  <a:pt x="759180" y="1390253"/>
                </a:lnTo>
                <a:lnTo>
                  <a:pt x="777697" y="1401100"/>
                </a:lnTo>
                <a:lnTo>
                  <a:pt x="796213" y="1411815"/>
                </a:lnTo>
                <a:lnTo>
                  <a:pt x="814730" y="1422397"/>
                </a:lnTo>
                <a:lnTo>
                  <a:pt x="833247" y="1432842"/>
                </a:lnTo>
                <a:lnTo>
                  <a:pt x="851763" y="1443148"/>
                </a:lnTo>
                <a:lnTo>
                  <a:pt x="870280" y="1453312"/>
                </a:lnTo>
                <a:lnTo>
                  <a:pt x="888796" y="1463332"/>
                </a:lnTo>
                <a:lnTo>
                  <a:pt x="907313" y="1473205"/>
                </a:lnTo>
                <a:lnTo>
                  <a:pt x="925830" y="1482929"/>
                </a:lnTo>
                <a:lnTo>
                  <a:pt x="944346" y="1492501"/>
                </a:lnTo>
                <a:lnTo>
                  <a:pt x="962863" y="1501920"/>
                </a:lnTo>
                <a:lnTo>
                  <a:pt x="981379" y="1511182"/>
                </a:lnTo>
                <a:lnTo>
                  <a:pt x="999896" y="1520286"/>
                </a:lnTo>
                <a:lnTo>
                  <a:pt x="1018413" y="1529229"/>
                </a:lnTo>
                <a:lnTo>
                  <a:pt x="1036929" y="1538009"/>
                </a:lnTo>
                <a:lnTo>
                  <a:pt x="1055446" y="1546624"/>
                </a:lnTo>
                <a:lnTo>
                  <a:pt x="1073962" y="1555071"/>
                </a:lnTo>
                <a:lnTo>
                  <a:pt x="1092479" y="1563350"/>
                </a:lnTo>
                <a:lnTo>
                  <a:pt x="1110996" y="1571456"/>
                </a:lnTo>
                <a:lnTo>
                  <a:pt x="1129512" y="1579390"/>
                </a:lnTo>
                <a:lnTo>
                  <a:pt x="1148029" y="1587148"/>
                </a:lnTo>
                <a:lnTo>
                  <a:pt x="1166545" y="1594729"/>
                </a:lnTo>
                <a:lnTo>
                  <a:pt x="1185062" y="1602130"/>
                </a:lnTo>
                <a:lnTo>
                  <a:pt x="1203579" y="1609351"/>
                </a:lnTo>
                <a:lnTo>
                  <a:pt x="1222095" y="1616389"/>
                </a:lnTo>
                <a:lnTo>
                  <a:pt x="1240612" y="1623242"/>
                </a:lnTo>
                <a:lnTo>
                  <a:pt x="1259128" y="1629910"/>
                </a:lnTo>
                <a:lnTo>
                  <a:pt x="1277645" y="1636389"/>
                </a:lnTo>
                <a:lnTo>
                  <a:pt x="1296162" y="1642679"/>
                </a:lnTo>
                <a:lnTo>
                  <a:pt x="1314678" y="1648778"/>
                </a:lnTo>
                <a:lnTo>
                  <a:pt x="1333195" y="1654685"/>
                </a:lnTo>
                <a:lnTo>
                  <a:pt x="1351711" y="1660397"/>
                </a:lnTo>
                <a:lnTo>
                  <a:pt x="1370228" y="1665915"/>
                </a:lnTo>
                <a:lnTo>
                  <a:pt x="1388745" y="1671235"/>
                </a:lnTo>
                <a:lnTo>
                  <a:pt x="1407261" y="1676358"/>
                </a:lnTo>
                <a:lnTo>
                  <a:pt x="1425778" y="1681281"/>
                </a:lnTo>
                <a:lnTo>
                  <a:pt x="1444294" y="1686004"/>
                </a:lnTo>
                <a:lnTo>
                  <a:pt x="1462811" y="1690525"/>
                </a:lnTo>
                <a:lnTo>
                  <a:pt x="1481328" y="1694843"/>
                </a:lnTo>
                <a:lnTo>
                  <a:pt x="1499844" y="1698958"/>
                </a:lnTo>
                <a:lnTo>
                  <a:pt x="1518361" y="1702867"/>
                </a:lnTo>
                <a:lnTo>
                  <a:pt x="1536877" y="1706571"/>
                </a:lnTo>
                <a:lnTo>
                  <a:pt x="1555394" y="1710068"/>
                </a:lnTo>
                <a:lnTo>
                  <a:pt x="1573911" y="1713358"/>
                </a:lnTo>
                <a:lnTo>
                  <a:pt x="1592427" y="1716439"/>
                </a:lnTo>
                <a:lnTo>
                  <a:pt x="1610944" y="1719311"/>
                </a:lnTo>
                <a:lnTo>
                  <a:pt x="1629460" y="1721973"/>
                </a:lnTo>
                <a:lnTo>
                  <a:pt x="1647977" y="1724424"/>
                </a:lnTo>
                <a:lnTo>
                  <a:pt x="1666494" y="1726665"/>
                </a:lnTo>
                <a:lnTo>
                  <a:pt x="1685010" y="1728693"/>
                </a:lnTo>
                <a:lnTo>
                  <a:pt x="1703527" y="1730510"/>
                </a:lnTo>
                <a:lnTo>
                  <a:pt x="1722043" y="1732114"/>
                </a:lnTo>
                <a:lnTo>
                  <a:pt x="1740560" y="1733504"/>
                </a:lnTo>
                <a:lnTo>
                  <a:pt x="1759077" y="1734682"/>
                </a:lnTo>
                <a:lnTo>
                  <a:pt x="1777593" y="1735645"/>
                </a:lnTo>
                <a:lnTo>
                  <a:pt x="1796110" y="1736395"/>
                </a:lnTo>
                <a:lnTo>
                  <a:pt x="1814626" y="1736931"/>
                </a:lnTo>
                <a:lnTo>
                  <a:pt x="1833143" y="1737252"/>
                </a:lnTo>
                <a:lnTo>
                  <a:pt x="1851660" y="1737360"/>
                </a:lnTo>
                <a:lnTo>
                  <a:pt x="1870176" y="1737252"/>
                </a:lnTo>
                <a:lnTo>
                  <a:pt x="1888693" y="1736931"/>
                </a:lnTo>
                <a:lnTo>
                  <a:pt x="1907209" y="1736395"/>
                </a:lnTo>
                <a:lnTo>
                  <a:pt x="1925726" y="1735645"/>
                </a:lnTo>
                <a:lnTo>
                  <a:pt x="1944243" y="1734682"/>
                </a:lnTo>
                <a:lnTo>
                  <a:pt x="1962759" y="1733504"/>
                </a:lnTo>
                <a:lnTo>
                  <a:pt x="1981276" y="1732114"/>
                </a:lnTo>
                <a:lnTo>
                  <a:pt x="1999792" y="1730510"/>
                </a:lnTo>
                <a:lnTo>
                  <a:pt x="2018309" y="1728693"/>
                </a:lnTo>
                <a:lnTo>
                  <a:pt x="2036826" y="1726665"/>
                </a:lnTo>
                <a:lnTo>
                  <a:pt x="2055342" y="1724424"/>
                </a:lnTo>
                <a:lnTo>
                  <a:pt x="2073859" y="1721973"/>
                </a:lnTo>
                <a:lnTo>
                  <a:pt x="2092375" y="1719311"/>
                </a:lnTo>
                <a:lnTo>
                  <a:pt x="2110892" y="1716439"/>
                </a:lnTo>
                <a:lnTo>
                  <a:pt x="2129409" y="1713358"/>
                </a:lnTo>
                <a:lnTo>
                  <a:pt x="2147925" y="1710068"/>
                </a:lnTo>
                <a:lnTo>
                  <a:pt x="2166442" y="1706571"/>
                </a:lnTo>
                <a:lnTo>
                  <a:pt x="2184958" y="1702867"/>
                </a:lnTo>
                <a:lnTo>
                  <a:pt x="2203475" y="1698958"/>
                </a:lnTo>
                <a:lnTo>
                  <a:pt x="2221992" y="1694843"/>
                </a:lnTo>
                <a:lnTo>
                  <a:pt x="2240508" y="1690525"/>
                </a:lnTo>
                <a:lnTo>
                  <a:pt x="2259025" y="1686004"/>
                </a:lnTo>
                <a:lnTo>
                  <a:pt x="2277541" y="1681281"/>
                </a:lnTo>
                <a:lnTo>
                  <a:pt x="2296058" y="1676358"/>
                </a:lnTo>
                <a:lnTo>
                  <a:pt x="2314575" y="1671235"/>
                </a:lnTo>
                <a:lnTo>
                  <a:pt x="2333091" y="1665915"/>
                </a:lnTo>
                <a:lnTo>
                  <a:pt x="2351608" y="1660397"/>
                </a:lnTo>
                <a:lnTo>
                  <a:pt x="2370124" y="1654685"/>
                </a:lnTo>
                <a:lnTo>
                  <a:pt x="2388641" y="1648778"/>
                </a:lnTo>
                <a:lnTo>
                  <a:pt x="2407158" y="1642679"/>
                </a:lnTo>
                <a:lnTo>
                  <a:pt x="2425674" y="1636389"/>
                </a:lnTo>
                <a:lnTo>
                  <a:pt x="2444191" y="1629910"/>
                </a:lnTo>
                <a:lnTo>
                  <a:pt x="2462707" y="1623242"/>
                </a:lnTo>
                <a:lnTo>
                  <a:pt x="2481224" y="1616389"/>
                </a:lnTo>
                <a:lnTo>
                  <a:pt x="2499741" y="1609351"/>
                </a:lnTo>
                <a:lnTo>
                  <a:pt x="2518257" y="1602130"/>
                </a:lnTo>
                <a:lnTo>
                  <a:pt x="2536774" y="1594729"/>
                </a:lnTo>
                <a:lnTo>
                  <a:pt x="2555290" y="1587148"/>
                </a:lnTo>
                <a:lnTo>
                  <a:pt x="2573807" y="1579390"/>
                </a:lnTo>
                <a:lnTo>
                  <a:pt x="2592324" y="1571456"/>
                </a:lnTo>
                <a:lnTo>
                  <a:pt x="2610840" y="1563350"/>
                </a:lnTo>
                <a:lnTo>
                  <a:pt x="2629357" y="1555071"/>
                </a:lnTo>
                <a:lnTo>
                  <a:pt x="2647873" y="1546624"/>
                </a:lnTo>
                <a:lnTo>
                  <a:pt x="2666390" y="1538009"/>
                </a:lnTo>
                <a:lnTo>
                  <a:pt x="2684907" y="1529229"/>
                </a:lnTo>
                <a:lnTo>
                  <a:pt x="2703423" y="1520286"/>
                </a:lnTo>
                <a:lnTo>
                  <a:pt x="2721940" y="1511182"/>
                </a:lnTo>
                <a:lnTo>
                  <a:pt x="2740456" y="1501920"/>
                </a:lnTo>
                <a:lnTo>
                  <a:pt x="2758973" y="1492501"/>
                </a:lnTo>
                <a:lnTo>
                  <a:pt x="2777490" y="1482929"/>
                </a:lnTo>
                <a:lnTo>
                  <a:pt x="2796006" y="1473205"/>
                </a:lnTo>
                <a:lnTo>
                  <a:pt x="2814523" y="1463332"/>
                </a:lnTo>
                <a:lnTo>
                  <a:pt x="2833039" y="1453312"/>
                </a:lnTo>
                <a:lnTo>
                  <a:pt x="2851556" y="1443148"/>
                </a:lnTo>
                <a:lnTo>
                  <a:pt x="2870073" y="1432842"/>
                </a:lnTo>
                <a:lnTo>
                  <a:pt x="2888589" y="1422397"/>
                </a:lnTo>
                <a:lnTo>
                  <a:pt x="2907106" y="1411815"/>
                </a:lnTo>
                <a:lnTo>
                  <a:pt x="2925622" y="1401100"/>
                </a:lnTo>
                <a:lnTo>
                  <a:pt x="2944139" y="1390253"/>
                </a:lnTo>
                <a:lnTo>
                  <a:pt x="2962656" y="1379277"/>
                </a:lnTo>
                <a:lnTo>
                  <a:pt x="2981172" y="1368175"/>
                </a:lnTo>
                <a:lnTo>
                  <a:pt x="2999689" y="1356950"/>
                </a:lnTo>
                <a:lnTo>
                  <a:pt x="3018205" y="1345605"/>
                </a:lnTo>
                <a:lnTo>
                  <a:pt x="3036722" y="1334142"/>
                </a:lnTo>
                <a:lnTo>
                  <a:pt x="3055239" y="1322564"/>
                </a:lnTo>
                <a:lnTo>
                  <a:pt x="3073755" y="1310874"/>
                </a:lnTo>
                <a:lnTo>
                  <a:pt x="3092272" y="1299075"/>
                </a:lnTo>
                <a:lnTo>
                  <a:pt x="3110788" y="1287169"/>
                </a:lnTo>
                <a:lnTo>
                  <a:pt x="3129305" y="1275161"/>
                </a:lnTo>
                <a:lnTo>
                  <a:pt x="3147822" y="1263052"/>
                </a:lnTo>
                <a:lnTo>
                  <a:pt x="3166338" y="1250846"/>
                </a:lnTo>
                <a:lnTo>
                  <a:pt x="3184855" y="1238545"/>
                </a:lnTo>
                <a:lnTo>
                  <a:pt x="3203371" y="1226154"/>
                </a:lnTo>
                <a:lnTo>
                  <a:pt x="3221888" y="1213674"/>
                </a:lnTo>
                <a:lnTo>
                  <a:pt x="3240405" y="1201109"/>
                </a:lnTo>
                <a:lnTo>
                  <a:pt x="3258921" y="1188462"/>
                </a:lnTo>
                <a:lnTo>
                  <a:pt x="3277438" y="1175736"/>
                </a:lnTo>
                <a:lnTo>
                  <a:pt x="3295954" y="1162934"/>
                </a:lnTo>
                <a:lnTo>
                  <a:pt x="3314471" y="1150060"/>
                </a:lnTo>
                <a:lnTo>
                  <a:pt x="3332988" y="1137116"/>
                </a:lnTo>
                <a:lnTo>
                  <a:pt x="3351504" y="1124106"/>
                </a:lnTo>
                <a:lnTo>
                  <a:pt x="3370021" y="1111033"/>
                </a:lnTo>
                <a:lnTo>
                  <a:pt x="3388537" y="1097901"/>
                </a:lnTo>
                <a:lnTo>
                  <a:pt x="3407054" y="1084711"/>
                </a:lnTo>
                <a:lnTo>
                  <a:pt x="3425571" y="1071469"/>
                </a:lnTo>
                <a:lnTo>
                  <a:pt x="3444087" y="1058176"/>
                </a:lnTo>
                <a:lnTo>
                  <a:pt x="3462604" y="1044837"/>
                </a:lnTo>
                <a:lnTo>
                  <a:pt x="3481120" y="1031454"/>
                </a:lnTo>
                <a:lnTo>
                  <a:pt x="3499637" y="1018031"/>
                </a:lnTo>
                <a:lnTo>
                  <a:pt x="3518154" y="1004571"/>
                </a:lnTo>
                <a:lnTo>
                  <a:pt x="3536670" y="991078"/>
                </a:lnTo>
                <a:lnTo>
                  <a:pt x="3555187" y="977554"/>
                </a:lnTo>
                <a:lnTo>
                  <a:pt x="3573703" y="964004"/>
                </a:lnTo>
                <a:lnTo>
                  <a:pt x="3592220" y="950430"/>
                </a:lnTo>
                <a:lnTo>
                  <a:pt x="3610737" y="936835"/>
                </a:lnTo>
                <a:lnTo>
                  <a:pt x="3629253" y="923224"/>
                </a:lnTo>
                <a:lnTo>
                  <a:pt x="3647770" y="909600"/>
                </a:lnTo>
                <a:lnTo>
                  <a:pt x="3666286" y="895965"/>
                </a:lnTo>
                <a:lnTo>
                  <a:pt x="3684803" y="882324"/>
                </a:lnTo>
                <a:lnTo>
                  <a:pt x="3703320" y="868680"/>
                </a:lnTo>
                <a:lnTo>
                  <a:pt x="3721836" y="855035"/>
                </a:lnTo>
                <a:lnTo>
                  <a:pt x="3740353" y="841394"/>
                </a:lnTo>
                <a:lnTo>
                  <a:pt x="3758869" y="827759"/>
                </a:lnTo>
                <a:lnTo>
                  <a:pt x="3777386" y="814135"/>
                </a:lnTo>
                <a:lnTo>
                  <a:pt x="3795903" y="800524"/>
                </a:lnTo>
                <a:lnTo>
                  <a:pt x="3814419" y="786929"/>
                </a:lnTo>
                <a:lnTo>
                  <a:pt x="3832936" y="773355"/>
                </a:lnTo>
                <a:lnTo>
                  <a:pt x="3851452" y="759805"/>
                </a:lnTo>
                <a:lnTo>
                  <a:pt x="3869969" y="746281"/>
                </a:lnTo>
                <a:lnTo>
                  <a:pt x="3888486" y="732788"/>
                </a:lnTo>
                <a:lnTo>
                  <a:pt x="3907002" y="719328"/>
                </a:lnTo>
                <a:lnTo>
                  <a:pt x="3925519" y="705905"/>
                </a:lnTo>
                <a:lnTo>
                  <a:pt x="3944035" y="692522"/>
                </a:lnTo>
                <a:lnTo>
                  <a:pt x="3962552" y="679183"/>
                </a:lnTo>
                <a:lnTo>
                  <a:pt x="3981069" y="665890"/>
                </a:lnTo>
                <a:lnTo>
                  <a:pt x="3999585" y="652648"/>
                </a:lnTo>
                <a:lnTo>
                  <a:pt x="4018102" y="639458"/>
                </a:lnTo>
                <a:lnTo>
                  <a:pt x="4036618" y="626326"/>
                </a:lnTo>
                <a:lnTo>
                  <a:pt x="4055135" y="613253"/>
                </a:lnTo>
                <a:lnTo>
                  <a:pt x="4073652" y="600243"/>
                </a:lnTo>
                <a:lnTo>
                  <a:pt x="4092168" y="587299"/>
                </a:lnTo>
                <a:lnTo>
                  <a:pt x="4110685" y="574425"/>
                </a:lnTo>
                <a:lnTo>
                  <a:pt x="4129201" y="561623"/>
                </a:lnTo>
                <a:lnTo>
                  <a:pt x="4147718" y="548897"/>
                </a:lnTo>
                <a:lnTo>
                  <a:pt x="4166235" y="536250"/>
                </a:lnTo>
                <a:lnTo>
                  <a:pt x="4184751" y="523685"/>
                </a:lnTo>
                <a:lnTo>
                  <a:pt x="4203268" y="511205"/>
                </a:lnTo>
                <a:lnTo>
                  <a:pt x="4221784" y="498814"/>
                </a:lnTo>
                <a:lnTo>
                  <a:pt x="4240301" y="486513"/>
                </a:lnTo>
                <a:lnTo>
                  <a:pt x="4258818" y="474307"/>
                </a:lnTo>
                <a:lnTo>
                  <a:pt x="4277334" y="462198"/>
                </a:lnTo>
                <a:lnTo>
                  <a:pt x="4295851" y="450190"/>
                </a:lnTo>
                <a:lnTo>
                  <a:pt x="4314367" y="438284"/>
                </a:lnTo>
                <a:lnTo>
                  <a:pt x="4332884" y="426485"/>
                </a:lnTo>
                <a:lnTo>
                  <a:pt x="4351401" y="414795"/>
                </a:lnTo>
                <a:lnTo>
                  <a:pt x="4369917" y="403217"/>
                </a:lnTo>
                <a:lnTo>
                  <a:pt x="4388434" y="391754"/>
                </a:lnTo>
                <a:lnTo>
                  <a:pt x="4406950" y="380409"/>
                </a:lnTo>
                <a:lnTo>
                  <a:pt x="4425467" y="369184"/>
                </a:lnTo>
                <a:lnTo>
                  <a:pt x="4443984" y="358082"/>
                </a:lnTo>
                <a:lnTo>
                  <a:pt x="4462500" y="347106"/>
                </a:lnTo>
                <a:lnTo>
                  <a:pt x="4481017" y="336259"/>
                </a:lnTo>
                <a:lnTo>
                  <a:pt x="4499533" y="325544"/>
                </a:lnTo>
                <a:lnTo>
                  <a:pt x="4518050" y="314962"/>
                </a:lnTo>
                <a:lnTo>
                  <a:pt x="4536567" y="304517"/>
                </a:lnTo>
                <a:lnTo>
                  <a:pt x="4555083" y="294211"/>
                </a:lnTo>
                <a:lnTo>
                  <a:pt x="4573600" y="284047"/>
                </a:lnTo>
                <a:lnTo>
                  <a:pt x="4592116" y="274027"/>
                </a:lnTo>
                <a:lnTo>
                  <a:pt x="4610633" y="264154"/>
                </a:lnTo>
                <a:lnTo>
                  <a:pt x="4629150" y="254430"/>
                </a:lnTo>
                <a:lnTo>
                  <a:pt x="4647666" y="244858"/>
                </a:lnTo>
                <a:lnTo>
                  <a:pt x="4666183" y="235439"/>
                </a:lnTo>
                <a:lnTo>
                  <a:pt x="4684699" y="226177"/>
                </a:lnTo>
                <a:lnTo>
                  <a:pt x="4703216" y="217073"/>
                </a:lnTo>
                <a:lnTo>
                  <a:pt x="4721733" y="208130"/>
                </a:lnTo>
                <a:lnTo>
                  <a:pt x="4740249" y="199350"/>
                </a:lnTo>
                <a:lnTo>
                  <a:pt x="4758766" y="190735"/>
                </a:lnTo>
                <a:lnTo>
                  <a:pt x="4777282" y="182288"/>
                </a:lnTo>
                <a:lnTo>
                  <a:pt x="4795799" y="174009"/>
                </a:lnTo>
                <a:lnTo>
                  <a:pt x="4814316" y="165903"/>
                </a:lnTo>
                <a:lnTo>
                  <a:pt x="4832832" y="157969"/>
                </a:lnTo>
                <a:lnTo>
                  <a:pt x="4851349" y="150211"/>
                </a:lnTo>
                <a:lnTo>
                  <a:pt x="4869865" y="142630"/>
                </a:lnTo>
                <a:lnTo>
                  <a:pt x="4888382" y="135229"/>
                </a:lnTo>
                <a:lnTo>
                  <a:pt x="4906899" y="128008"/>
                </a:lnTo>
                <a:lnTo>
                  <a:pt x="4925415" y="120970"/>
                </a:lnTo>
                <a:lnTo>
                  <a:pt x="4943932" y="114117"/>
                </a:lnTo>
                <a:lnTo>
                  <a:pt x="4962448" y="107449"/>
                </a:lnTo>
                <a:lnTo>
                  <a:pt x="4980965" y="100970"/>
                </a:lnTo>
                <a:lnTo>
                  <a:pt x="4999482" y="94680"/>
                </a:lnTo>
                <a:lnTo>
                  <a:pt x="5017998" y="88581"/>
                </a:lnTo>
                <a:lnTo>
                  <a:pt x="5036515" y="82674"/>
                </a:lnTo>
                <a:lnTo>
                  <a:pt x="5055031" y="76962"/>
                </a:lnTo>
                <a:lnTo>
                  <a:pt x="5073548" y="71444"/>
                </a:lnTo>
                <a:lnTo>
                  <a:pt x="5092065" y="66124"/>
                </a:lnTo>
                <a:lnTo>
                  <a:pt x="5110581" y="61001"/>
                </a:lnTo>
                <a:lnTo>
                  <a:pt x="5129098" y="56078"/>
                </a:lnTo>
                <a:lnTo>
                  <a:pt x="5147614" y="51355"/>
                </a:lnTo>
                <a:lnTo>
                  <a:pt x="5166131" y="46834"/>
                </a:lnTo>
                <a:lnTo>
                  <a:pt x="5184648" y="42516"/>
                </a:lnTo>
                <a:lnTo>
                  <a:pt x="5203164" y="38401"/>
                </a:lnTo>
                <a:lnTo>
                  <a:pt x="5221681" y="34492"/>
                </a:lnTo>
                <a:lnTo>
                  <a:pt x="5240197" y="30788"/>
                </a:lnTo>
                <a:lnTo>
                  <a:pt x="5258714" y="27291"/>
                </a:lnTo>
                <a:lnTo>
                  <a:pt x="5277231" y="24001"/>
                </a:lnTo>
                <a:lnTo>
                  <a:pt x="5295747" y="20920"/>
                </a:lnTo>
                <a:lnTo>
                  <a:pt x="5314264" y="18048"/>
                </a:lnTo>
                <a:lnTo>
                  <a:pt x="5332780" y="15386"/>
                </a:lnTo>
                <a:lnTo>
                  <a:pt x="5351297" y="12935"/>
                </a:lnTo>
                <a:lnTo>
                  <a:pt x="5369814" y="10694"/>
                </a:lnTo>
                <a:lnTo>
                  <a:pt x="5388330" y="8666"/>
                </a:lnTo>
                <a:lnTo>
                  <a:pt x="5406847" y="6849"/>
                </a:lnTo>
                <a:lnTo>
                  <a:pt x="5425363" y="5245"/>
                </a:lnTo>
                <a:lnTo>
                  <a:pt x="5443880" y="3855"/>
                </a:lnTo>
                <a:lnTo>
                  <a:pt x="5462397" y="2677"/>
                </a:lnTo>
                <a:lnTo>
                  <a:pt x="5480913" y="1714"/>
                </a:lnTo>
                <a:lnTo>
                  <a:pt x="5499430" y="964"/>
                </a:lnTo>
                <a:lnTo>
                  <a:pt x="5517946" y="428"/>
                </a:lnTo>
                <a:lnTo>
                  <a:pt x="5536463" y="107"/>
                </a:lnTo>
                <a:lnTo>
                  <a:pt x="5554980" y="0"/>
                </a:lnTo>
                <a:lnTo>
                  <a:pt x="5573496" y="107"/>
                </a:lnTo>
                <a:lnTo>
                  <a:pt x="5592013" y="428"/>
                </a:lnTo>
                <a:lnTo>
                  <a:pt x="5610529" y="964"/>
                </a:lnTo>
                <a:lnTo>
                  <a:pt x="5629046" y="1714"/>
                </a:lnTo>
                <a:lnTo>
                  <a:pt x="5647563" y="2677"/>
                </a:lnTo>
                <a:lnTo>
                  <a:pt x="5666079" y="3855"/>
                </a:lnTo>
                <a:lnTo>
                  <a:pt x="5684596" y="5245"/>
                </a:lnTo>
                <a:lnTo>
                  <a:pt x="5703112" y="6849"/>
                </a:lnTo>
                <a:lnTo>
                  <a:pt x="5721629" y="8666"/>
                </a:lnTo>
                <a:lnTo>
                  <a:pt x="5740146" y="10694"/>
                </a:lnTo>
                <a:lnTo>
                  <a:pt x="5758662" y="12935"/>
                </a:lnTo>
                <a:lnTo>
                  <a:pt x="5777179" y="15386"/>
                </a:lnTo>
                <a:lnTo>
                  <a:pt x="5795695" y="18048"/>
                </a:lnTo>
                <a:lnTo>
                  <a:pt x="5814212" y="20920"/>
                </a:lnTo>
                <a:lnTo>
                  <a:pt x="5832729" y="24001"/>
                </a:lnTo>
                <a:lnTo>
                  <a:pt x="5851245" y="27291"/>
                </a:lnTo>
                <a:lnTo>
                  <a:pt x="5869762" y="30788"/>
                </a:lnTo>
                <a:lnTo>
                  <a:pt x="5888278" y="34492"/>
                </a:lnTo>
                <a:lnTo>
                  <a:pt x="5906795" y="38401"/>
                </a:lnTo>
                <a:lnTo>
                  <a:pt x="5925312" y="42516"/>
                </a:lnTo>
                <a:lnTo>
                  <a:pt x="5943828" y="46834"/>
                </a:lnTo>
                <a:lnTo>
                  <a:pt x="5962345" y="51355"/>
                </a:lnTo>
                <a:lnTo>
                  <a:pt x="5980861" y="56078"/>
                </a:lnTo>
                <a:lnTo>
                  <a:pt x="5999378" y="61001"/>
                </a:lnTo>
                <a:lnTo>
                  <a:pt x="6017895" y="66124"/>
                </a:lnTo>
                <a:lnTo>
                  <a:pt x="6036411" y="71444"/>
                </a:lnTo>
                <a:lnTo>
                  <a:pt x="6054928" y="76962"/>
                </a:lnTo>
                <a:lnTo>
                  <a:pt x="6073444" y="82674"/>
                </a:lnTo>
                <a:lnTo>
                  <a:pt x="6091961" y="88581"/>
                </a:lnTo>
                <a:lnTo>
                  <a:pt x="6110478" y="94680"/>
                </a:lnTo>
                <a:lnTo>
                  <a:pt x="6128994" y="100970"/>
                </a:lnTo>
                <a:lnTo>
                  <a:pt x="6147511" y="107449"/>
                </a:lnTo>
                <a:lnTo>
                  <a:pt x="6166027" y="114117"/>
                </a:lnTo>
                <a:lnTo>
                  <a:pt x="6184544" y="120970"/>
                </a:lnTo>
                <a:lnTo>
                  <a:pt x="6203061" y="128008"/>
                </a:lnTo>
                <a:lnTo>
                  <a:pt x="6221577" y="135229"/>
                </a:lnTo>
                <a:lnTo>
                  <a:pt x="6240094" y="142630"/>
                </a:lnTo>
                <a:lnTo>
                  <a:pt x="6258610" y="150211"/>
                </a:lnTo>
                <a:lnTo>
                  <a:pt x="6277127" y="157969"/>
                </a:lnTo>
                <a:lnTo>
                  <a:pt x="6295644" y="165903"/>
                </a:lnTo>
                <a:lnTo>
                  <a:pt x="6314160" y="174009"/>
                </a:lnTo>
                <a:lnTo>
                  <a:pt x="6332677" y="182288"/>
                </a:lnTo>
                <a:lnTo>
                  <a:pt x="6351193" y="190735"/>
                </a:lnTo>
                <a:lnTo>
                  <a:pt x="6369710" y="199350"/>
                </a:lnTo>
                <a:lnTo>
                  <a:pt x="6388227" y="208130"/>
                </a:lnTo>
                <a:lnTo>
                  <a:pt x="6406743" y="217073"/>
                </a:lnTo>
                <a:lnTo>
                  <a:pt x="6425260" y="226177"/>
                </a:lnTo>
                <a:lnTo>
                  <a:pt x="6443776" y="235439"/>
                </a:lnTo>
                <a:lnTo>
                  <a:pt x="6462293" y="244858"/>
                </a:lnTo>
                <a:lnTo>
                  <a:pt x="6480810" y="254430"/>
                </a:lnTo>
                <a:lnTo>
                  <a:pt x="6499326" y="264154"/>
                </a:lnTo>
                <a:lnTo>
                  <a:pt x="6517843" y="274027"/>
                </a:lnTo>
                <a:lnTo>
                  <a:pt x="6536359" y="284047"/>
                </a:lnTo>
                <a:lnTo>
                  <a:pt x="6554876" y="294211"/>
                </a:lnTo>
                <a:lnTo>
                  <a:pt x="6573393" y="304517"/>
                </a:lnTo>
                <a:lnTo>
                  <a:pt x="6591909" y="314962"/>
                </a:lnTo>
                <a:lnTo>
                  <a:pt x="6610426" y="325544"/>
                </a:lnTo>
                <a:lnTo>
                  <a:pt x="6628942" y="336259"/>
                </a:lnTo>
                <a:lnTo>
                  <a:pt x="6647459" y="347106"/>
                </a:lnTo>
                <a:lnTo>
                  <a:pt x="6665976" y="358082"/>
                </a:lnTo>
                <a:lnTo>
                  <a:pt x="6684492" y="369184"/>
                </a:lnTo>
                <a:lnTo>
                  <a:pt x="6703009" y="380409"/>
                </a:lnTo>
                <a:lnTo>
                  <a:pt x="6721525" y="391754"/>
                </a:lnTo>
                <a:lnTo>
                  <a:pt x="6740042" y="403217"/>
                </a:lnTo>
                <a:lnTo>
                  <a:pt x="6758559" y="414795"/>
                </a:lnTo>
                <a:lnTo>
                  <a:pt x="6777075" y="426485"/>
                </a:lnTo>
                <a:lnTo>
                  <a:pt x="6795592" y="438284"/>
                </a:lnTo>
                <a:lnTo>
                  <a:pt x="6814108" y="450190"/>
                </a:lnTo>
                <a:lnTo>
                  <a:pt x="6832625" y="462198"/>
                </a:lnTo>
                <a:lnTo>
                  <a:pt x="6851142" y="474307"/>
                </a:lnTo>
                <a:lnTo>
                  <a:pt x="6869658" y="486513"/>
                </a:lnTo>
                <a:lnTo>
                  <a:pt x="6888175" y="498814"/>
                </a:lnTo>
                <a:lnTo>
                  <a:pt x="6906691" y="511205"/>
                </a:lnTo>
                <a:lnTo>
                  <a:pt x="6925208" y="523685"/>
                </a:lnTo>
                <a:lnTo>
                  <a:pt x="6943725" y="536250"/>
                </a:lnTo>
                <a:lnTo>
                  <a:pt x="6962241" y="548897"/>
                </a:lnTo>
                <a:lnTo>
                  <a:pt x="6980758" y="561623"/>
                </a:lnTo>
                <a:lnTo>
                  <a:pt x="6999274" y="574425"/>
                </a:lnTo>
                <a:lnTo>
                  <a:pt x="7017791" y="587299"/>
                </a:lnTo>
                <a:lnTo>
                  <a:pt x="7036308" y="600243"/>
                </a:lnTo>
                <a:lnTo>
                  <a:pt x="7054824" y="613253"/>
                </a:lnTo>
                <a:lnTo>
                  <a:pt x="7073341" y="626326"/>
                </a:lnTo>
                <a:lnTo>
                  <a:pt x="7091857" y="639458"/>
                </a:lnTo>
                <a:lnTo>
                  <a:pt x="7110374" y="652648"/>
                </a:lnTo>
                <a:lnTo>
                  <a:pt x="7128891" y="665890"/>
                </a:lnTo>
                <a:lnTo>
                  <a:pt x="7147407" y="679183"/>
                </a:lnTo>
                <a:lnTo>
                  <a:pt x="7165924" y="692522"/>
                </a:lnTo>
                <a:lnTo>
                  <a:pt x="7184440" y="705905"/>
                </a:lnTo>
                <a:lnTo>
                  <a:pt x="7202957" y="719328"/>
                </a:lnTo>
                <a:lnTo>
                  <a:pt x="7221474" y="732788"/>
                </a:lnTo>
                <a:lnTo>
                  <a:pt x="7239990" y="746281"/>
                </a:lnTo>
                <a:lnTo>
                  <a:pt x="7258507" y="759805"/>
                </a:lnTo>
                <a:lnTo>
                  <a:pt x="7277023" y="773355"/>
                </a:lnTo>
                <a:lnTo>
                  <a:pt x="7295540" y="786929"/>
                </a:lnTo>
                <a:lnTo>
                  <a:pt x="7314057" y="800524"/>
                </a:lnTo>
                <a:lnTo>
                  <a:pt x="7332573" y="814135"/>
                </a:lnTo>
                <a:lnTo>
                  <a:pt x="7351090" y="827759"/>
                </a:lnTo>
                <a:lnTo>
                  <a:pt x="7369606" y="841394"/>
                </a:lnTo>
                <a:lnTo>
                  <a:pt x="7388123" y="855035"/>
                </a:lnTo>
                <a:lnTo>
                  <a:pt x="7406640" y="86867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392B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1CB12A4-81D5-45E0-A7A4-56B40FD7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66344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 i="0">
                <a:solidFill>
                  <a:srgbClr val="C0392B"/>
                </a:solidFill>
                <a:latin typeface="DejaVu Sans Mono"/>
                <a:ea typeface="DejaVu Sans Mono"/>
                <a:cs typeface="DejaVu Sans Mono"/>
              </a:rPr>
              <a:t>ինչ վերականգնում են նմուշները  ·  1 պարբերություն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6C52DAF6-B2D8-45CC-8E19-7C909AFB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7" y="2148840"/>
            <a:ext cx="2926080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f_s  &gt;  2 × f_max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7A9B562D-AF2B-4CCE-A3A8-B3AB847B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7" y="3017520"/>
            <a:ext cx="292608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155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Նայքվիստը սահմանում է վերականգնելիությունը։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155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155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f_max-ից վեր ազդանշանը պետք է զտվի նախքան նմուշառումը։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EE6FA911-3303-4694-AF3A-88343CCC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32120"/>
            <a:ext cx="10874959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F24"/>
          </a:solidFill>
          <a:ln xmlns:a="http://schemas.openxmlformats.org/drawingml/2006/main" w="15875">
            <a:solidFill>
              <a:srgbClr val="1A1F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Նմուշները ճշգրիտ են, բայց դրանց հաճախականային մեկնաբանությունը՝ ոչ։</a:t>
            </a:r>
          </a:p>
        </p:txBody>
      </p:sp>
    </p:spTree>
    <p:extLst>
      <p:ext uri="{BB962C8B-B14F-4D97-AF65-F5344CB8AC3E}">
        <p14:creationId xmlns:p14="http://schemas.microsoft.com/office/powerpoint/2010/main" val="145633506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BA66F1-E82C-4DB4-B3A0-FAB1EA46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AADEFA3-4B4C-499C-B5B5-753618EB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FF94633-E14B-4AC9-849B-1924F5D0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FB88124-2EBF-421E-BD4A-F8CC5240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Որտե՞ղ է հայտնվում ազդանշանը նմուշառումից հետո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7DBCC45-B982-4FB8-9291-B3A9762D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16C1F3C-7626-4F58-BB80-8292A3B9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N-ը նմուշառման հաճախության՝ ազդանշանին ամենամոտ ամբողջ բազմապատիկն է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9CB7721-8830-43AE-973C-1D6EB05F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920240"/>
            <a:ext cx="5577840" cy="7772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f_alias  =  | f  −  N × f_s |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E8E8640-DDC8-4D45-9A3F-D7AC0073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80360"/>
            <a:ext cx="8321040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5F1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90" b="1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1-ին դասախոսության օրինակը՝ ODR = 104 Հց դեպքում․  |1520 − 15 × 104| = 40 Հց</a:t>
            </a:r>
          </a:p>
        </p:txBody>
      </p:sp>
      <p:sp>
        <p:nvSpPr>
          <p:cNvPr id="10" name="Left Arrow 9">
            <a:extLst xmlns:a="http://schemas.openxmlformats.org/drawingml/2006/main">
              <a:ext uri="{FF2B5EF4-FFF2-40B4-BE49-F238E27FC236}">
                <a16:creationId xmlns:a16="http://schemas.microsoft.com/office/drawing/2014/main" id="{91A11FDB-0D25-460A-AED5-0705CE5A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148" y="4041648"/>
            <a:ext cx="9299448" cy="237744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587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2EFDE13-FC6A-4991-8CBB-7F056D66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49039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 i="0">
                <a:solidFill>
                  <a:srgbClr val="C0392B"/>
                </a:solidFill>
                <a:latin typeface="DejaVu Sans Mono"/>
                <a:ea typeface="DejaVu Sans Mono"/>
                <a:cs typeface="DejaVu Sans Mono"/>
              </a:rPr>
              <a:t>ծալվում է պահպանվող շերտի մեջ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CCF0C6E-A2E3-458E-9647-991034C4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09160"/>
            <a:ext cx="10058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6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BCFC63B-BBCC-455B-A1C6-6A6F4884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90288"/>
            <a:ext cx="3264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E9FDCC3-AA91-4862-B823-CC7A0393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588" y="4640580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518EEAC-DD94-4E2E-930E-B0D2A5EA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855464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6B7680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CD9A89E-79E2-4349-926B-BA9DFAC1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855464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0E7C86"/>
                </a:solidFill>
                <a:latin typeface="DejaVu Sans Mono"/>
                <a:ea typeface="DejaVu Sans Mono"/>
                <a:cs typeface="DejaVu Sans Mono"/>
              </a:rPr>
              <a:t>52 Հց — շերտը, որը կարծում եք չափում եք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AF41BA8-4353-4697-B89D-3AFF5088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855464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C0392B"/>
                </a:solidFill>
                <a:latin typeface="DejaVu Sans Mono"/>
                <a:ea typeface="DejaVu Sans Mono"/>
                <a:cs typeface="DejaVu Sans Mono"/>
              </a:rPr>
              <a:t>1520 Հց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99D6BB2-8557-48DF-B495-1755C526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32120"/>
            <a:ext cx="10874959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ECD8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Նմուշառման հաճախությունն ինքնին չի որոշում տվյալների իրական պարունակությունը։</a:t>
            </a:r>
          </a:p>
        </p:txBody>
      </p:sp>
    </p:spTree>
    <p:extLst>
      <p:ext uri="{BB962C8B-B14F-4D97-AF65-F5344CB8AC3E}">
        <p14:creationId xmlns:p14="http://schemas.microsoft.com/office/powerpoint/2010/main" val="102724813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BF7E91-E677-47C5-ACF9-CCE4FAA9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E754069-DC3B-4677-B490-B86ADCF4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8877AA-2E7D-48BA-A967-B9077762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F90F16-4B07-4FED-B69E-CFF2E7E9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Հերթականությունը, որը հնարավոր չէ ուղղել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9EA403B-255D-4640-871A-4A1E89E2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FC524BA-F815-4D38-AC6A-B2752EF7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ՃԻՇՏ — զտիչը նմուշառիչից առաջ է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A78D7E0-32A8-405B-BE96-A1F097EE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12848"/>
            <a:ext cx="21945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ԱՆԱԼՈԳԱՅԻՆ</a:t>
            </a:r>
          </a:p>
          <a:p xmlns:a="http://schemas.openxmlformats.org/drawingml/2006/main">
            <a:pPr algn="ctr">
              <a:buNone/>
            </a:pPr>
            <a:r>
              <a:rPr sz="99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ԱԶԴԱՆՇԱՆ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C3F6B2C-C056-4244-8461-C7147FF4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2212848"/>
            <a:ext cx="21945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ՀԱԿԱԱԼԻԱՍԱՎՈՐՄԱՆ</a:t>
            </a:r>
          </a:p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ԶՏԻՉ</a:t>
            </a: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167A5248-6491-4BCF-9AF7-38C1C686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2478024"/>
            <a:ext cx="374904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0CEE9C9-5BD0-4E76-9B85-8E097704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2212848"/>
            <a:ext cx="21945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19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ՆՄՈՒՇԱՌԻՉ</a:t>
            </a:r>
          </a:p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/ ԱԹՓ</a:t>
            </a:r>
          </a:p>
        </p:txBody>
      </p:sp>
      <p:sp>
        <p:nvSpPr>
          <p:cNvPr id="12" name="Right Arrow 11">
            <a:extLst xmlns:a="http://schemas.openxmlformats.org/drawingml/2006/main">
              <a:ext uri="{FF2B5EF4-FFF2-40B4-BE49-F238E27FC236}">
                <a16:creationId xmlns:a16="http://schemas.microsoft.com/office/drawing/2014/main" id="{4AC29FB0-DF04-4704-86FF-786F9B1E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2478024"/>
            <a:ext cx="374904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B4A92A2-217F-4A65-936E-F657D011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212848"/>
            <a:ext cx="21945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ԹՎԱՅԻՆ ԶՏԻՉ</a:t>
            </a:r>
          </a:p>
          <a:p xmlns:a="http://schemas.openxmlformats.org/drawingml/2006/main">
            <a:pPr algn="ctr">
              <a:buNone/>
            </a:pPr>
            <a:r>
              <a:rPr sz="96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(ըստ անհրաժեշտության)</a:t>
            </a:r>
          </a:p>
        </p:txBody>
      </p:sp>
      <p:sp>
        <p:nvSpPr>
          <p:cNvPr id="14" name="Right Arrow 13">
            <a:extLst xmlns:a="http://schemas.openxmlformats.org/drawingml/2006/main">
              <a:ext uri="{FF2B5EF4-FFF2-40B4-BE49-F238E27FC236}">
                <a16:creationId xmlns:a16="http://schemas.microsoft.com/office/drawing/2014/main" id="{FD71FE84-9C05-48D7-AEF3-B498D3D4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478024"/>
            <a:ext cx="374904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FF2606F-05EA-4EF2-B407-074FF110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9067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Շերտից դուրս էներգիան հեռացվում է, քանի դեռ այն ազդանշանից տարանջատելի է։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5506039-7BBD-470D-AC61-7F8CCDF2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75887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C0392B"/>
                </a:solidFill>
                <a:latin typeface="DejaVu Sans"/>
                <a:ea typeface="DejaVu Sans"/>
                <a:cs typeface="DejaVu Sans"/>
              </a:rPr>
              <a:t>ՍԽԱԼ — «հետո ծրագրային ճանապարհով կզտենք»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B128AE8-55CB-4484-9B91-C5E9E155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41648"/>
            <a:ext cx="21945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ԱՆԱԼՈԳԱՅԻՆ</a:t>
            </a:r>
          </a:p>
          <a:p xmlns:a="http://schemas.openxmlformats.org/drawingml/2006/main">
            <a:pPr algn="ctr">
              <a:buNone/>
            </a:pPr>
            <a:r>
              <a:rPr sz="99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ԱԶԴԱՆՇԱՆ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D6EFC91-B567-4F8A-8623-45D24334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041648"/>
            <a:ext cx="21945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19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ՆՄՈՒՇԱՌԻՉ</a:t>
            </a:r>
          </a:p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/ ԱԹՓ</a:t>
            </a:r>
          </a:p>
        </p:txBody>
      </p:sp>
      <p:sp>
        <p:nvSpPr>
          <p:cNvPr id="19" name="Right Arrow 18">
            <a:extLst xmlns:a="http://schemas.openxmlformats.org/drawingml/2006/main">
              <a:ext uri="{FF2B5EF4-FFF2-40B4-BE49-F238E27FC236}">
                <a16:creationId xmlns:a16="http://schemas.microsoft.com/office/drawing/2014/main" id="{D5531A38-99B8-49BD-82B0-3067B7B7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4306824"/>
            <a:ext cx="374904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AB7C16C3-6A67-4E95-975B-4A0D731A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4041648"/>
            <a:ext cx="21945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ԹՎԱՅԻՆ ԶՏԻՉ</a:t>
            </a:r>
          </a:p>
          <a:p xmlns:a="http://schemas.openxmlformats.org/drawingml/2006/main">
            <a:pPr algn="ctr">
              <a:buNone/>
            </a:pPr>
            <a:r>
              <a:rPr sz="101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(արդեն ուշ է)</a:t>
            </a:r>
          </a:p>
        </p:txBody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DD7BB3A0-3081-4CBC-998B-BA1292F4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4306824"/>
            <a:ext cx="374904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6F11C45D-F316-4E8B-824C-9C76ECB6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4041648"/>
            <a:ext cx="21945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DFDC"/>
          </a:solidFill>
          <a:ln xmlns:a="http://schemas.openxmlformats.org/drawingml/2006/main" w="31750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300 ՀՑ-Ն ԱՅԺՄ</a:t>
            </a:r>
          </a:p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12 ՀՑ Է</a:t>
            </a:r>
          </a:p>
        </p:txBody>
      </p:sp>
      <p:sp>
        <p:nvSpPr>
          <p:cNvPr id="23" name="Right Arrow 22">
            <a:extLst xmlns:a="http://schemas.openxmlformats.org/drawingml/2006/main">
              <a:ext uri="{FF2B5EF4-FFF2-40B4-BE49-F238E27FC236}">
                <a16:creationId xmlns:a16="http://schemas.microsoft.com/office/drawing/2014/main" id="{072CD601-C773-4EB1-B65E-34C39DE3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306824"/>
            <a:ext cx="374904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9A9AFDB-B4C2-4EC8-A727-5C884E5C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01184"/>
            <a:ext cx="1087495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6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Նմուշառումից հետո 300 Հց և իրական 12 Հց բաղադրիչները նույն թվային հաջորդականությունն են։ Դրանք այլևս տարանջատել հնարավոր չէ։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88C1614-F627-4491-A1BC-9E1B276E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42432"/>
            <a:ext cx="10874959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F24"/>
          </a:solidFill>
          <a:ln xmlns:a="http://schemas.openxmlformats.org/drawingml/2006/main" w="15875">
            <a:solidFill>
              <a:srgbClr val="1A1F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Մնացած թվային սխալները կարելի է հետագայում ուղղել։ Ալիասավորումը՝ ոչ։</a:t>
            </a:r>
          </a:p>
        </p:txBody>
      </p:sp>
    </p:spTree>
    <p:extLst>
      <p:ext uri="{BB962C8B-B14F-4D97-AF65-F5344CB8AC3E}">
        <p14:creationId xmlns:p14="http://schemas.microsoft.com/office/powerpoint/2010/main" val="50143895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D73CD4-5178-43CC-A173-F94A0651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22AF7FF-D4E8-4A89-BE1A-245AF239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4B1CE0D-58B0-43A5-880C-8FD533E7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768AE23-9C8F-477C-B117-84AF71BB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Բիթը, որը որոշում է դա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5C2C42-7B75-48C7-AD97-975A922A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FD37B5E-231E-425D-995B-E9C0AFAD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4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ISM330DHCX  ·  CTRL1_XL (0x10)  ·  վերակայման արժեքը՝ 0x00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C8697EB-73CD-47BF-8EB3-7C161F43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1280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6B7680"/>
                </a:solidFill>
                <a:latin typeface="DejaVu Sans Mono"/>
                <a:ea typeface="DejaVu Sans Mono"/>
                <a:cs typeface="DejaVu Sans Mono"/>
              </a:rPr>
              <a:t>բիթ 7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A3116DD-8697-4DB7-949C-0D88F8D9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103120"/>
            <a:ext cx="1280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ODR_XL3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066010E-EF57-464A-A08A-FC7FD57D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1828800"/>
            <a:ext cx="1280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6B7680"/>
                </a:solidFill>
                <a:latin typeface="DejaVu Sans Mono"/>
                <a:ea typeface="DejaVu Sans Mono"/>
                <a:cs typeface="DejaVu Sans Mono"/>
              </a:rPr>
              <a:t>բիթ 6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52A76D-5594-4922-8E35-DFE0FFA5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2103120"/>
            <a:ext cx="1280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ODR_XL2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DEBE9E-38C2-4810-B48B-0AC8B970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1828800"/>
            <a:ext cx="1280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6B7680"/>
                </a:solidFill>
                <a:latin typeface="DejaVu Sans Mono"/>
                <a:ea typeface="DejaVu Sans Mono"/>
                <a:cs typeface="DejaVu Sans Mono"/>
              </a:rPr>
              <a:t>բիթ 5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72F56C8-1F76-4478-8208-F346B0FC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2103120"/>
            <a:ext cx="1280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ODR_XL1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0051F64-86F6-47A7-B05A-B1BEAF46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828800"/>
            <a:ext cx="1280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6B7680"/>
                </a:solidFill>
                <a:latin typeface="DejaVu Sans Mono"/>
                <a:ea typeface="DejaVu Sans Mono"/>
                <a:cs typeface="DejaVu Sans Mono"/>
              </a:rPr>
              <a:t>բիթ 4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FB54F2B-1DD0-4DFB-A974-EA8D3226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103120"/>
            <a:ext cx="1280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ODR_XL0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F220638-5DB9-42B6-A1CC-8F5871BE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1828800"/>
            <a:ext cx="1280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6B7680"/>
                </a:solidFill>
                <a:latin typeface="DejaVu Sans Mono"/>
                <a:ea typeface="DejaVu Sans Mono"/>
                <a:cs typeface="DejaVu Sans Mono"/>
              </a:rPr>
              <a:t>բիթ 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9866BC0-FD82-4191-A80E-89B73766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103120"/>
            <a:ext cx="1280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FS1_XL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566520D-81A3-46D9-A8B5-28DBDCF4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828800"/>
            <a:ext cx="1280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6B7680"/>
                </a:solidFill>
                <a:latin typeface="DejaVu Sans Mono"/>
                <a:ea typeface="DejaVu Sans Mono"/>
                <a:cs typeface="DejaVu Sans Mono"/>
              </a:rPr>
              <a:t>բիթ 2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82723C4-FFCA-4BD6-8643-AF2011AE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103120"/>
            <a:ext cx="1280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FS0_XL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2C9B824-6BC2-42AF-BA32-77089E95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828800"/>
            <a:ext cx="1280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6B7680"/>
                </a:solidFill>
                <a:latin typeface="DejaVu Sans Mono"/>
                <a:ea typeface="DejaVu Sans Mono"/>
                <a:cs typeface="DejaVu Sans Mono"/>
              </a:rPr>
              <a:t>բիթ 1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7816A2E-CC22-4BEC-9A96-B2CDA5F6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103120"/>
            <a:ext cx="1280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FDC"/>
          </a:solidFill>
          <a:ln xmlns:a="http://schemas.openxmlformats.org/drawingml/2006/main" w="31750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LPF2_XL_EN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0130487-2403-4E65-A740-BD30CBAD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1828800"/>
            <a:ext cx="1280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6B7680"/>
                </a:solidFill>
                <a:latin typeface="DejaVu Sans Mono"/>
                <a:ea typeface="DejaVu Sans Mono"/>
                <a:cs typeface="DejaVu Sans Mono"/>
              </a:rPr>
              <a:t>բիթ 0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F796E5A-D69D-4DAC-9297-F2869842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2103120"/>
            <a:ext cx="12801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340AF81-7128-4B78-A35B-0F7A72D9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926080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8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ելքային տվյալների հաճախություն  ·  0100 = 104 Հց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BE318A7-C479-4D6C-9768-F9EB3798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92608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չափման լրիվ տիրույթ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9C20E1E-4CE5-43D8-9D92-02398766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926080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C0392B"/>
                </a:solidFill>
                <a:latin typeface="DejaVu Sans"/>
                <a:ea typeface="DejaVu Sans"/>
                <a:cs typeface="DejaVu Sans"/>
              </a:rPr>
              <a:t>զտիչը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67B1C46D-91EB-4039-86AC-E39F552F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383280"/>
            <a:ext cx="10874959" cy="74980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0392B"/>
          </a:solidFill>
          <a:ln xmlns:a="http://schemas.openxmlformats.org/drawingml/2006/main" w="1587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7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Վերակայումից հետո LPF2_XL_EN = 0․ հակաալիասավորման զտիչը միացված չէ։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2B6C2AC-38A4-44D0-AF73-4561F3CD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24528"/>
            <a:ext cx="1087495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151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Սահմանում եք ODR = 104 Հց և ստանում 52 Հց Նայքվիստի սահման։ Սակայն անջատված զտիչի դեպքում սարքը նմուշառում է ավելի լայն անալոգային շերտ, և 52 Հց-ից բարձր բաղադրիչները ծալվում են տվյալների մեջ։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E2594D72-3538-4D77-80F2-84CA8A7F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87568"/>
            <a:ext cx="10874959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1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0x40-ը սահմանում է ±2 g և 104 Հց, բայց LPF2_XL_EN բիթը թողնում է զրո։ 2-րդ լաբորատոր աշխատանքում այն կսահմանեք ինքներդ։</a:t>
            </a:r>
          </a:p>
        </p:txBody>
      </p:sp>
    </p:spTree>
    <p:extLst>
      <p:ext uri="{BB962C8B-B14F-4D97-AF65-F5344CB8AC3E}">
        <p14:creationId xmlns:p14="http://schemas.microsoft.com/office/powerpoint/2010/main" val="85414301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A27B9F7-2A50-4728-8996-2652B045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11E563B-2E00-497F-9A1F-ECF1190B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6A113C9-9BB6-492C-BEC1-3E327731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62DC67A-D87B-49A6-AE93-D780E17D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9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ՔՎԵԱՐԿՈՒԹՅՈՒՆ 3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68E347-1BE3-4C28-84B0-E10C330B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75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6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Արագաչափը կարգավորված է ODR = 104 Հց, իսկ CTRL1_XL-ի LPF2_XL_EN բիթը մնում է 0։ Նույն շրջանակի պոմպը թրթռում է 300 Հց հաճախությամբ։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7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Ի՞նչ է հայտնվում գրանցված տվյալներում։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8FCCE27-C022-4900-A155-0F0C1434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87168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72D8BB4-8255-4871-93ED-261F51A0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06040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69D1D97-E0BF-4D35-BA62-069930B7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5184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7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ոչինչ — 300 Հց-ը նմուշառման հաճախությունից բարձր է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605BAAA-9C88-4CCD-930F-CBA91EF0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9184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E2035C1-8EB0-424D-9DE5-C1D2C93A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1071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13DD78-564B-46C7-947D-D10F335E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1985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300 Հց բաղադրիչ՝ թուլացված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1B36986-8053-4EA5-8FFD-0D18526D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9651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EAE644C-643B-4FF8-836F-6CD7C8E9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1538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7E4FDA2-D3C4-4C1F-BA8F-12A3E889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452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12 Հց բաղադրիչ՝ իրական ազդանշանից չտարբերակվող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3844593-997F-4DEF-8399-4C01949D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0118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528380B-8EC1-4E3E-8ACD-3BA5B459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005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68B99A3-2A00-469C-A2BF-3EE360E8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8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լայնաշերտ աղմուկ, որը փոքր-ինչ բարձրացնում է աղմուկային հատակը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BC4C40E-A4FA-40E1-9F4B-B467ACCC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24144"/>
            <a:ext cx="10874959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Քվեարկեք, քննարկեք զույգերով, ապա քվեարկեք կրկին։ Հաշվարկին կանցնենք դրանից հետո։</a:t>
            </a:r>
          </a:p>
        </p:txBody>
      </p:sp>
    </p:spTree>
    <p:extLst>
      <p:ext uri="{BB962C8B-B14F-4D97-AF65-F5344CB8AC3E}">
        <p14:creationId xmlns:p14="http://schemas.microsoft.com/office/powerpoint/2010/main" val="4187477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B29BC9-40D5-4345-A446-3F9C340A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0B4023F-FE36-4F34-A697-351B57A6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ADAE3BA-417B-4E23-B040-701A5090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9C2F6E8-DBC7-40A6-AEC3-EC7F14ED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9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ՔՎԵԱՐԿՈՒԹՅՈՒՆ 3   ·   ՊԱՏԱՍԽԱՆ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CB20AC0-6355-4E70-A5F3-5379F206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75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6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Արագաչափը կարգավորված է ODR = 104 Հց, իսկ CTRL1_XL-ի LPF2_XL_EN բիթը մնում է 0։ Նույն շրջանակի պոմպը թրթռում է 300 Հց հաճախությամբ։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7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Ի՞նչ է հայտնվում գրանցված տվյալներում։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B6BB22C-4D04-4044-980A-0E3129F7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87168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B0563CF-539A-4851-B6F2-C274C306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06040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ED94086-9B12-430D-9B84-FE472967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5184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7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ոչինչ — 300 Հց-ը նմուշառման հաճախությունից բարձր է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CF9F57A-3DB6-467E-B140-41E9AAD4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9184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EA761C8-D1A6-4DDD-87BF-5D0143E0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1071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0ED21D8-5103-4939-9062-AA3248E5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1985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300 Հց բաղադրիչ՝ թուլացված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5634B09-98A8-4ACF-8258-9C3F0BD1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9651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317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4EA82FD-E8A0-411B-854D-7F57AC0E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1538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1E3BC28-E218-474E-B7D8-EB96DC66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452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12 Հց բաղադրիչ՝ իրական ազդանշանից չտարբերակվող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5BFF2B7-B9C6-445B-8CFC-662972F1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0118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4E54A52-0A95-4CA4-8BAA-596BEA9B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005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BA3C6FA-1102-4A54-ABF8-56179F7B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8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լայնաշերտ աղմուկ, որը փոքր-ինչ բարձրացնում է աղմուկային հատակը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35093E-FE67-4EC1-8B69-98337B4F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24144"/>
            <a:ext cx="10874959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|300 − 3 × 104| = 12 Հց։ Կեղծ բաղադրիչը ընկնում է թեքության և թրթռման չափման կարևոր շերտում ու իրական մեխանիկական ազդանշանի տեսք ունի։</a:t>
            </a:r>
          </a:p>
        </p:txBody>
      </p:sp>
    </p:spTree>
    <p:extLst>
      <p:ext uri="{BB962C8B-B14F-4D97-AF65-F5344CB8AC3E}">
        <p14:creationId xmlns:p14="http://schemas.microsoft.com/office/powerpoint/2010/main" val="42113749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EB8ABDB-3159-4AB8-9989-66377977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4E42D42-7F09-4A5D-91DB-DFEE3338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E578DD1-9F96-416B-8A9B-4B82442C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09D074A-00B9-4E6C-BEBC-29DAAFE6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Երեք թիվ, երեք գործառույթ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B448673-C484-4222-AA02-B717E35E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1236D69-7F92-4BB1-94DC-7EAC078A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6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Միջանկյալ քննության ամենահաճախ շփոթվող տարբերակումը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mlns:a="http://schemas.openxmlformats.org/drawingml/2006/main" x="658368" y="1920240"/>
          <a:ext xmlns:a="http://schemas.openxmlformats.org/drawingml/2006/main" cx="10874958" cy="263347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990"/>
                <a:gridCol w="3153738"/>
                <a:gridCol w="2501240"/>
                <a:gridCol w="2609990"/>
              </a:tblGrid>
              <a:tr h="65836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Ի՞նչ է որոշում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8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Ո՞վ է սահմանում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Այսօրվա սարքում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1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ODR — ելքային տվյալների հաճախություն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նոր թվի ստացման հաճախությունը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դուք՝ ռեգիստրով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104 Հց · CTRL1_XL[7:4]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Չափման թողունակություն (BW)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2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հավաստի փոխանցվող ամենաբարձր հաճախությունը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դուք՝ հաճախ այլ ռեգիստրով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8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52 Հց՝ միայն LPF2-ի դեպքում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9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Զտիչի կտրման հաճախություն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4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ինչ է հասնում նմուշառիչին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անալոգային ուղին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չկա · LPF2_XL_EN = 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AF3BDBB-F307-4D0C-A06A-25E02979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4663440"/>
            <a:ext cx="6492240" cy="74980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F24"/>
          </a:solidFill>
          <a:ln xmlns:a="http://schemas.openxmlformats.org/drawingml/2006/main" w="38100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ODR   ≠   BW   ≠   f_cut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9C3ACD1-4B63-4ADC-96A6-4B927225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32120"/>
            <a:ext cx="10874959" cy="670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163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ODR-ի սխալ ընտրությունը փոխում է տվյալների քանակը և ծախսը։ Զտիչի կտրման սխալ ընտրությունը տվյալները դարձնում է անդառնալիորեն սխալ։</a:t>
            </a:r>
          </a:p>
        </p:txBody>
      </p:sp>
    </p:spTree>
    <p:extLst>
      <p:ext uri="{BB962C8B-B14F-4D97-AF65-F5344CB8AC3E}">
        <p14:creationId xmlns:p14="http://schemas.microsoft.com/office/powerpoint/2010/main" val="12770514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DC16CCD-9A93-4FB1-8EAF-9465D2A2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F587BED-694A-4A81-9339-6DC85AB8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5EDD008-FC1A-4F51-B915-8901F72C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F8BB258-531B-4574-B69B-025760EC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Արագ նմուշառումն ինքնին չի լուծում խնդիրը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CF432EE-2A96-40B8-94BC-A5A0B8B4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04875BB-E7AB-411C-B558-3DA6343A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Նույն պոմպը, երեք կարգավորում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mlns:a="http://schemas.openxmlformats.org/drawingml/2006/main" x="658368" y="1965960"/>
          <a:ext xmlns:a="http://schemas.openxmlformats.org/drawingml/2006/main" cx="10874957" cy="226771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4985"/>
                <a:gridCol w="1739993"/>
                <a:gridCol w="1739993"/>
                <a:gridCol w="3479986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2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Խանգարող ազդանշան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ODR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6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Դրսևորում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Հետևանք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300 Հց պոմպ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104 Հց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12 Հց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1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պահպանվող շերտում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8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1520 Հց առանցքակալ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104 Հց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40 Հց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1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պահպանվող շերտում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300 Հց պոմպ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 Հց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 Հց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8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թվում է զրոյական շեղում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D8273E6-FA63-4F37-9F9B-116F0218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434840"/>
            <a:ext cx="10874959" cy="1097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DFDC"/>
          </a:solidFill>
          <a:ln xmlns:a="http://schemas.openxmlformats.org/drawingml/2006/main" w="1587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ODR = 100 Հց դեպքում 300 Հց պոմպը դառնում է 0 Հց՝ հաստատուն շեղում։ Այն կարելի է «հաջողությամբ» չափաբերել միայն տվյալ պտտման հաճախության համար, իսկ այլ արագության դեպքում ուղղումը սխալ կլինի։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24B19B0-B667-4A35-97B3-054ACE7E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50992"/>
            <a:ext cx="10874959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95854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39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ODR-ը փոխում է կեղծ ազդանշանի դիրքը, ոչ թե վերացնում այն։ Նախ ընտրեք շերտը, ապա՝ նմուշառման հաճախությունը։</a:t>
            </a:r>
          </a:p>
        </p:txBody>
      </p:sp>
    </p:spTree>
    <p:extLst>
      <p:ext uri="{BB962C8B-B14F-4D97-AF65-F5344CB8AC3E}">
        <p14:creationId xmlns:p14="http://schemas.microsoft.com/office/powerpoint/2010/main" val="194509845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F9676A1-EEF4-4BDB-B640-50B9D7F9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0CE0583-B395-409F-A3DD-DA27115A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1DDCA0F-C7DE-4452-A5F5-EF0E0E5E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1FF2D2B-A652-453C-9AE5-4F9A23E4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ԲԱԺԻՆ 3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DD7E22B-FFF1-467C-BA89-58337F7D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9046159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Կոդերից՝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հավաստի արժեքներ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D133069-95A6-4B3D-A483-3843D83A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94760"/>
            <a:ext cx="1371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B340BAC-7E27-4197-B813-9437B1B2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10874959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Չորս փոխակերպում՝ բյուրեղից մինչև CSV ֆայլ։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Յուրաքանչյուրում սխալ պատասխանը կարող է միանգամայն համոզիչ թվալ։</a:t>
            </a:r>
          </a:p>
        </p:txBody>
      </p:sp>
    </p:spTree>
    <p:extLst>
      <p:ext uri="{BB962C8B-B14F-4D97-AF65-F5344CB8AC3E}">
        <p14:creationId xmlns:p14="http://schemas.microsoft.com/office/powerpoint/2010/main" val="185621893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0AF867C-C4C8-44A1-BDF0-5A98E038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C3692D-A6C2-4C4F-9FB7-69330B78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F1F3623-EB89-43F0-B8CC-816DEE73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E2ED6E-5275-4B8E-90BB-FDCA2971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2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Չորս քայլ՝ ռեգիստրից մինչև SI միավորներ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C8FB16F-6272-4518-89D0-CFCE71D5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1E2E956-FEC4-47C4-A720-CE8978F9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Յուրաքանչյուր քայլից առաջ հարց տվեք լսարանին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3B0E1AA-94C2-45B0-96DD-1A4B396D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20240"/>
            <a:ext cx="69494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OUTX_L_A (0x28) = 0x2C        OUTX_H_A (0x29) = 0xFF</a:t>
            </a:r>
          </a:p>
        </p:txBody>
      </p:sp>
      <p:sp>
        <p:nvSpPr>
          <p:cNvPr id="9" name="Down Arrow 8">
            <a:extLst xmlns:a="http://schemas.openxmlformats.org/drawingml/2006/main">
              <a:ext uri="{FF2B5EF4-FFF2-40B4-BE49-F238E27FC236}">
                <a16:creationId xmlns:a16="http://schemas.microsoft.com/office/drawing/2014/main" id="{C298C070-1EEE-403B-BDD8-F1B74667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523744"/>
            <a:ext cx="201168" cy="27432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E0DA461-B5A3-4885-AEDD-05789688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25603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կրտսեր բայթն առաջ՝ ցածր հասցեում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D23708-510F-45F5-97DB-827ACF17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34640"/>
            <a:ext cx="69494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90" b="1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կոդ  =  0xFF2C  =  65 324   որպես առանց նշանի թիվ</a:t>
            </a:r>
          </a:p>
        </p:txBody>
      </p:sp>
      <p:sp>
        <p:nvSpPr>
          <p:cNvPr id="12" name="Down Arrow 11">
            <a:extLst xmlns:a="http://schemas.openxmlformats.org/drawingml/2006/main">
              <a:ext uri="{FF2B5EF4-FFF2-40B4-BE49-F238E27FC236}">
                <a16:creationId xmlns:a16="http://schemas.microsoft.com/office/drawing/2014/main" id="{FEBC48D8-39A8-405C-B2D2-4B11C114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438144"/>
            <a:ext cx="201168" cy="27432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F0BD791-FB50-457A-B4AE-2482F38E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34747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16 բիթ՝ երկուսի լրացում․ նշանի բիթը 1 է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ADBD2EB-F55D-4E17-84D3-E0F95008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49040"/>
            <a:ext cx="69494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65 324  −  65 536  =  −212 կոդ</a:t>
            </a:r>
          </a:p>
        </p:txBody>
      </p:sp>
      <p:sp>
        <p:nvSpPr>
          <p:cNvPr id="15" name="Down Arrow 14">
            <a:extLst xmlns:a="http://schemas.openxmlformats.org/drawingml/2006/main">
              <a:ext uri="{FF2B5EF4-FFF2-40B4-BE49-F238E27FC236}">
                <a16:creationId xmlns:a16="http://schemas.microsoft.com/office/drawing/2014/main" id="{259BBBD5-1AC6-484F-B0FA-E3625587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4352544"/>
            <a:ext cx="201168" cy="27432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FDFF215-BD2F-4C8B-98C0-F5CE98B5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43891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× զգայունություն՝ 0.061 mg/LSB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FD9B030-3580-481D-A55A-48B987D7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63440"/>
            <a:ext cx="69494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−212  ×  0.061 mg  =  −12.9 mg</a:t>
            </a:r>
          </a:p>
        </p:txBody>
      </p:sp>
      <p:sp>
        <p:nvSpPr>
          <p:cNvPr id="18" name="Down Arrow 17">
            <a:extLst xmlns:a="http://schemas.openxmlformats.org/drawingml/2006/main">
              <a:ext uri="{FF2B5EF4-FFF2-40B4-BE49-F238E27FC236}">
                <a16:creationId xmlns:a16="http://schemas.microsoft.com/office/drawing/2014/main" id="{01E2B02A-74BC-4EF8-B80D-C04B5DE3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266944"/>
            <a:ext cx="201168" cy="27432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7DFB11C-BFBA-4053-B2ED-B12F47B8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5303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→ SI՝ × 9.80665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9B09130E-D2C1-4043-809A-429244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69494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317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7F5F1"/>
                </a:solidFill>
                <a:latin typeface="DejaVu Sans Mono"/>
                <a:ea typeface="DejaVu Sans Mono"/>
                <a:cs typeface="DejaVu Sans Mono"/>
              </a:rPr>
              <a:t>−0.0129 g × 9.80665 = −0.127 մ/վ²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9FD7FCC-E6DE-4E5C-B6B2-98869CB5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20240"/>
            <a:ext cx="3502152" cy="21031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5F1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Չորս քայլ։</a:t>
            </a:r>
          </a:p>
          <a:p xmlns:a="http://schemas.openxmlformats.org/drawingml/2006/main">
            <a:pPr algn="l">
              <a:buNone/>
            </a:pPr>
            <a:r>
              <a:rPr sz="17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Չորս համոզիչ սխալ պատասխան։</a:t>
            </a:r>
          </a:p>
          <a:p xmlns:a="http://schemas.openxmlformats.org/drawingml/2006/main">
            <a:pPr algn="l">
              <a:buNone/>
            </a:pPr>
            <a:r>
              <a:rPr sz="17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Բոլորն էլ հանդիպում են իրական լաբորատոր հաշվետվություններում։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9516EFC6-ECA9-4544-8FF1-A7E760BA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4206240"/>
            <a:ext cx="3502152" cy="12344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Սարքը գրեթե հանգիստ է և փոքր-ինչ թեքված այս առանցքով։</a:t>
            </a:r>
          </a:p>
        </p:txBody>
      </p:sp>
    </p:spTree>
    <p:extLst>
      <p:ext uri="{BB962C8B-B14F-4D97-AF65-F5344CB8AC3E}">
        <p14:creationId xmlns:p14="http://schemas.microsoft.com/office/powerpoint/2010/main" val="46369562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924FB8-4AFA-4697-BB71-A412D185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1C84BBF-578E-44EA-86CF-3FF2182B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BC78EA-AF23-448B-BDCA-B9762799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F27B3B-57BF-41C4-B750-1874637C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3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Չորս համոզիչ սխալ պատասխան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E7A9ABE-FE06-466B-98E0-EFDDBB2F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DD41173-3B0E-499A-88F4-D85E4094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8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Չորսն էլ հանդիպում են իրական լաբորատոր հաշվետվություններում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658368" y="1920240"/>
          <a:ext xmlns:a="http://schemas.openxmlformats.org/drawingml/2006/main" cx="10874958" cy="33832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2487"/>
                <a:gridCol w="2609990"/>
                <a:gridCol w="5002481"/>
              </a:tblGrid>
              <a:tr h="67665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Սխալը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7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Արդյունքը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Ինչու է վտանգավոր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3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Բայթերի հակառակ կարգ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0x2CFF = +703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իրատեսական մեծության սխալ արժեք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5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Նշանը անտեսված է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65 324 = +3985 mg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3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անշարժ սարքը հաղորդում է մոտ 4 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1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IF_INC-ը անջատված 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3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նույն բայթը՝ վեց անգամ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2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վերակայմամբ այն արդեն միացված էր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Միավորները նշված չեն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mg, g և մ/վ²՝ մեկ ֆայլում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նշեք միավորը սյունակի վերնագրում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63066DA-DFD9-428C-AB36-25431E7C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40680"/>
            <a:ext cx="10874959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3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Ամբողջ շղթայի արագ ստուգում․ հանգստի վիճակում արագացման վեկտորի մոդուլը մոտ 1 g է՝ անկախ կողմնորոշումից։</a:t>
            </a:r>
          </a:p>
        </p:txBody>
      </p:sp>
    </p:spTree>
    <p:extLst>
      <p:ext uri="{BB962C8B-B14F-4D97-AF65-F5344CB8AC3E}">
        <p14:creationId xmlns:p14="http://schemas.microsoft.com/office/powerpoint/2010/main" val="136042375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0874323-4A8B-4F38-8507-1092766C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F121AE0-E4CF-4EDA-A614-DA365678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8F6F230-CAF7-4FFA-9CA4-B030812F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273534E-6662-4F79-AAED-BF482CEC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3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Իրական տեղեկություն կրող բիթերը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C502ACA-7544-4E0B-ABAD-BBC384E3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C58AAF0-D6F6-4B6A-A5D8-8485160D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3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Բոլոր անհրաժեշտ արժեքներն արդեն կան տվյալների թերթիկում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658368" y="1874519"/>
          <a:ext xmlns:a="http://schemas.openxmlformats.org/drawingml/2006/main" cx="10874957" cy="36576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7482"/>
                <a:gridCol w="3262487"/>
                <a:gridCol w="3044988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7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Մեծություն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Հաշվարկ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Արդյունք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7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չափման լրիվ տիրույթ՝ ±2 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4000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կոդերի թիվ՝ 16 բիթ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2^16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65 536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LSB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4000 / 65 536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0.061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քվանտացման աղմուկ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0.061 / √12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0.018 mg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08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թողունակություն՝ ODR/2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104 / 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52 Հց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տվիչի աղմուկ՝ max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100 × √52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0.721 mg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7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աղմուկը՝ LSB-ներով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0.721 / 0.061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11.8 LSB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6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աղմկային բիթերը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log₂ 11.8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3.6 բիթ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1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ԱՐԴՅՈՒՆԱՎԵՏ ԲԻԹԵՐ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16 − 3.6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1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12.4 բիթ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64A639B-7939-4E5B-A243-D8D1C700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69280"/>
            <a:ext cx="10874959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8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Տվիչի աղմուկը քառասուն անգամ մեծ է քվանտացման աղմուկից․ այս համակարգում ԱԹՓ-ի վերջին բիթը սահմանափակող գործոն չէ։</a:t>
            </a:r>
          </a:p>
        </p:txBody>
      </p:sp>
    </p:spTree>
    <p:extLst>
      <p:ext uri="{BB962C8B-B14F-4D97-AF65-F5344CB8AC3E}">
        <p14:creationId xmlns:p14="http://schemas.microsoft.com/office/powerpoint/2010/main" val="126837785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B3D2B9D-4C3E-46F0-9A96-BB8D5208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1D06F30-C390-42FD-9403-D05F0B2F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64D5B89-C858-4878-BFE1-BE155244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B15B17D-4D3F-47DD-BCEA-2A606266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ԽԱՐԻՍԽԸ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B6E3B5D-D7C7-474B-8611-4C026724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65960"/>
            <a:ext cx="10874959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Դուք գնել եք 16 բիթ։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41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Ձերն է 12.4-ը։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6E9931F-3942-49FC-A7C9-C0C26CF6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17720"/>
            <a:ext cx="1371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3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0D8C353-238D-42FB-B1EF-8A1A4FEA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92040"/>
            <a:ext cx="9960559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8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Տվյալների թերթիկի typ աղմուկի խտությունը՝ 60 µg/√Հց, տալիս է 0.433 mg և 13.2 արդյունավետ բիթ։ typ-ից max անցնելը պատասխանը փոխում է 0.8 բիթով․ թիվն առանց պայմանների լիարժեք բնութագիր չէ։</a:t>
            </a:r>
          </a:p>
        </p:txBody>
      </p:sp>
    </p:spTree>
    <p:extLst>
      <p:ext uri="{BB962C8B-B14F-4D97-AF65-F5344CB8AC3E}">
        <p14:creationId xmlns:p14="http://schemas.microsoft.com/office/powerpoint/2010/main" val="27603867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F41913-7EE6-437E-BB97-01EE06F4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7D6190-6E9C-40F9-A705-CEE30511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C754D30-C3C2-4D86-80A0-3F1D7B6D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C63C4F9-5AC9-4835-A255-BC170466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Ժամացույցը, որը չեք չափել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52399B6-52D2-4117-8711-49C4F2AB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4D9B9ED-BDC7-4410-BC13-190CCDA6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4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HAL_Delay(10)-ը 100 Հց նմուշառման հաճախություն չէ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BB527E-3017-429F-A492-6B35D8B2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240280"/>
            <a:ext cx="967903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7F5F1"/>
                </a:solidFill>
                <a:latin typeface="DejaVu Sans Mono"/>
                <a:ea typeface="DejaVu Sans Mono"/>
                <a:cs typeface="DejaVu Sans Mono"/>
              </a:rPr>
              <a:t>HAL_Delay(10)   ·   10.000 մվ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ABDAF4-7A8A-4DCD-BF46-E9F1CCDE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443" y="2240280"/>
            <a:ext cx="196484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324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DC44EE3-25D7-413C-8536-6851F029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1929384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20" b="1" i="0">
                <a:solidFill>
                  <a:srgbClr val="D98324"/>
                </a:solidFill>
                <a:latin typeface="DejaVu Sans Mono"/>
                <a:ea typeface="DejaVu Sans Mono"/>
                <a:cs typeface="DejaVu Sans Mono"/>
              </a:rPr>
              <a:t>I²C ընթերցում  ·  202 µs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0EE170A-B51F-4FD9-A013-F0262716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9900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ցիկլի մեկ կրկնություն  —  մասշտաբով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1AEB18F-CEFF-4783-8BB1-A5FAB1B6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337560"/>
            <a:ext cx="5349240" cy="8686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80" b="1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վեց բայթ I²C-ով՝ 400 կՀց</a:t>
            </a:r>
          </a:p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81 բիթաժամանակ ÷ 400 կՀց = 202 µվ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645F1AC-0FAA-40C6-9930-BB6A57C2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337560"/>
            <a:ext cx="5349240" cy="8686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10.000 + 0.202 = 10.203 մվ</a:t>
            </a:r>
          </a:p>
          <a:p xmlns:a="http://schemas.openxmlformats.org/drawingml/2006/main">
            <a:pPr algn="ctr">
              <a:buNone/>
            </a:pPr>
            <a:r>
              <a:rPr sz="1570" b="1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→ 98.0 Հց, ոչ 100 Հց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EBE8114-EF1B-4A61-B7E2-980D24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480560"/>
            <a:ext cx="1087495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Երկու տոկոս՝ միշտ նույն ուղղությամբ և յուրաքանչյուր ցիկլում։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18707E7-B27C-4171-AE7F-552C877C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66360"/>
            <a:ext cx="10874959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F24"/>
          </a:solidFill>
          <a:ln xmlns:a="http://schemas.openxmlformats.org/drawingml/2006/main" w="15875">
            <a:solidFill>
              <a:srgbClr val="1A1F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Ոչինչ չի խափանվել։ Ցիկլը պարզապես ավելի երկար է, քան ենթադրված է։</a:t>
            </a:r>
          </a:p>
          <a:p xmlns:a="http://schemas.openxmlformats.org/drawingml/2006/main">
            <a:pPr algn="ctr">
              <a:buNone/>
            </a:pPr>
            <a:r>
              <a:rPr sz="163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Ուշացումը նվազագույն սպասում է, ոչ երբեք՝ ցիկլի պարբերություն։</a:t>
            </a:r>
          </a:p>
        </p:txBody>
      </p:sp>
    </p:spTree>
    <p:extLst>
      <p:ext uri="{BB962C8B-B14F-4D97-AF65-F5344CB8AC3E}">
        <p14:creationId xmlns:p14="http://schemas.microsoft.com/office/powerpoint/2010/main" val="113318968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4220A44-01D0-45F1-8435-B2B3A23D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68F8D7E-DFD1-4B95-A404-BCF6F6DB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FBDD79F-8E9B-4947-AF50-2F55EB44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BD32286-30FE-4A50-9AD8-90EFCC7C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9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203 µվ-ի կուտակումը տասը րոպեում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0280E14-F394-48EE-AD45-DCF73B7C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15" name="Table 6"/>
          <p:cNvGraphicFramePr/>
          <p:nvPr/>
        </p:nvGraphicFramePr>
        <p:xfrm>
          <a:off xmlns:a="http://schemas.openxmlformats.org/drawingml/2006/main" x="658368" y="1920240"/>
          <a:ext xmlns:a="http://schemas.openxmlformats.org/drawingml/2006/main" cx="10874957" cy="3017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4981"/>
                <a:gridCol w="3044988"/>
                <a:gridCol w="3044988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9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Ենթադրվում է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6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Իրականում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Նմուշառման քայլ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2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10.000 մվ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2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10.203 մվ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8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Նմուշառման հաճախություն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 Հց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98.0 Հց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6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Իրական 20 Հց ազդանշան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 Հց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20.41 Հց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8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60 000 նմուշից հետո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6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600.0 վ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60" b="1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612.1 վ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8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Դրոշմի վերջնական սխալ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3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 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30" b="1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12.1 վ ավելի վաղ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6CED0FD-53DB-468B-9FD2-A85C8FCF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20640"/>
            <a:ext cx="10874959" cy="9601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DFDC"/>
          </a:solidFill>
          <a:ln xmlns:a="http://schemas.openxmlformats.org/drawingml/2006/main" w="1587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Սա հաստատուն մասշտաբային սխալ չէ․ ցիկլի պարբերությունը կախված է ճյուղավորումներից, ընդհատումներից և կապուղու վիճակից։ Սխալը կարելի է սահմանափակել վերևից, բայց հետադարձորեն վերականգնել՝ ոչ։</a:t>
            </a:r>
          </a:p>
        </p:txBody>
      </p:sp>
    </p:spTree>
    <p:extLst>
      <p:ext uri="{BB962C8B-B14F-4D97-AF65-F5344CB8AC3E}">
        <p14:creationId xmlns:p14="http://schemas.microsoft.com/office/powerpoint/2010/main" val="842807235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45F3F99-D54B-44B6-8326-AFA233C1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33C2073-548D-44C9-AFD5-FF28222D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DA13CF-797A-417C-8BC9-DA147505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1B8B9CF-F6B7-49A3-AF92-38987CB3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Անվճար լուծումը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DAD2633-A1B7-4E60-ACD5-24C35705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EF76D3D-7AF6-4AFA-8431-94D2D169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1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Թող տվիչն ինքը որոշի նմուշառման պահը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mlns:a="http://schemas.openxmlformats.org/drawingml/2006/main" x="658368" y="1920240"/>
          <a:ext xmlns:a="http://schemas.openxmlformats.org/drawingml/2006/main" cx="10874958" cy="285292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8"/>
                <a:gridCol w="3914985"/>
                <a:gridCol w="3914985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Պարբերական հարցում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8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Տվյալների պատրաստ լինելու ընդհատում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Քայլը սահմանում 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ձեր ծրագիրը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տվիչի ժամանակային բազան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Քայլի սխալը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9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կախված ցիկլից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նշված է տվյալների թերթիկում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1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Կուտակվող սխալը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անսահմանափակ աճում է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սահմանափակված է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8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Պրոցեսորի բեռը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3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բարձր՝ սպասում ցիկլում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ցածր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3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Իրականացման բարդությունը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փոքր-ինչ ցածր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9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փոքր-ինչ բարձր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B2B42EF-247B-465F-960F-7BF56576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00600"/>
            <a:ext cx="10874959" cy="7772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88825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Տվիչը գիտի, թե երբ է նմուշառել․ հարցրեք նրան՝ գուշակելու փոխարեն։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95E0A38-C97F-4EA8-8F69-00B791F3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87568"/>
            <a:ext cx="10874959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47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Ժամանակային դրոշմը վերցրեք ապարատային ժամաչափից, ոչ ցիկլի հաշվիչից։</a:t>
            </a:r>
          </a:p>
        </p:txBody>
      </p:sp>
    </p:spTree>
    <p:extLst>
      <p:ext uri="{BB962C8B-B14F-4D97-AF65-F5344CB8AC3E}">
        <p14:creationId xmlns:p14="http://schemas.microsoft.com/office/powerpoint/2010/main" val="201750939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51F44-CEAF-4F0E-905E-A10B304F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C219DD7-5138-4B12-9032-2E3BE37E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F8ECA76-0696-4441-8B3B-C732EAFD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9251A99-8903-4EAE-852E-0CBFF465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7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Ինչպես համոզվել, որ տվյալներն իրական են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18C3A8C-374E-4304-98C1-E392E1F0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37267F4-B196-4CCE-8E30-BE649709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7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Չորս արագ ստուգում, որոնք տարբերակում են համակարգի խափանումը վատ թվացող տվյալից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FC13FD5-B3C2-4BC8-8051-846CB22F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65960"/>
            <a:ext cx="26060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WHO_AM_I  (0x0F)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4EB582A-CC44-46BE-BF63-9B1BC2FC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70048"/>
            <a:ext cx="24231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5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Ընթերցեք և համեմատեք 0x6B-ի հետ։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45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5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Այսպես ստուգվում են հասցեն, կապուղին և սնուցումը։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CCD7229-8B44-443F-B1C5-B7A926C1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1965960"/>
            <a:ext cx="26060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ԻՆՔՆԱՍՏՈՒԳՈՒՄ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2B036E3-6EDF-463A-977A-999F5A21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2670048"/>
            <a:ext cx="24231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45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Էլեկտրաստատիկ ուժով շեղեք իներտ զանգվածը հայտնի մեծությամբ։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45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45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Սա ստուգում է նաև մեխանիկան, ոչ միայն էլեկտրոնիկան։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4637191-D8F4-4CBB-8B9E-71B40867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965960"/>
            <a:ext cx="26060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8324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FIFO-Ի ԳԵՐԼՑՈՒՄ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E0436D5-6CD5-41A9-B1A2-673232BF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670048"/>
            <a:ext cx="24231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45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Եթե FIFO-ն գերլցվել է, նմուշներ են կորել, և ժամանակային քայլերն այլևս հավասար չեն։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45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45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Ստուգեք վիճակի դրոշակը։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8696A00-052C-40D7-9898-137465EB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1965960"/>
            <a:ext cx="26060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8324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ԿԱՊՈՒՂՈՒ ՍԽԱԼ ԵՎ ՎԵՐԱԿԱՆԳՆՈՒՄ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904803E-DC47-4983-AC24-BA89ED99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670048"/>
            <a:ext cx="24231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6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I²C կապուղին կարող է կախվել, երբ ենթակա սարքը տվյալների գիծը պահում է ցածր։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45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3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Նախագիծը պետք է կարողանա վերականգնել կապը։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80E0CE8-2CC7-4778-962F-F3A022BE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12080"/>
            <a:ext cx="10874959" cy="8686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5F1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6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Այս ստուգումները «տվյալները տարօրինակ են» վիճակը փոխարինում են հստակ ախտորոշմամբ։</a:t>
            </a:r>
          </a:p>
        </p:txBody>
      </p:sp>
    </p:spTree>
    <p:extLst>
      <p:ext uri="{BB962C8B-B14F-4D97-AF65-F5344CB8AC3E}">
        <p14:creationId xmlns:p14="http://schemas.microsoft.com/office/powerpoint/2010/main" val="778306503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F378895-7CAD-433B-A2CE-ACFDB354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5A5A440-4CA6-4EE9-9221-FFB41944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34ACD7B-FE78-424C-BFBB-4BB83039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C0B47A5-8D7F-4369-BC7D-ADB48551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9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ՔՎԵԱՐԿՈՒԹՅՈՒՆ 1   ·   ՊԱՏԱՍԽԱՆ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44A3A5-E11F-469A-9A51-B8578629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75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98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Արագաչափը 16-բիթանոց է, կարգավորված է ±2 g տիրույթով և ունի 0.061 mg/LSB զգայունություն։ ODR = 104 Հց։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5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Որքա՞ն է առանձին նմուշում տարբերակելի ամենափոքր արագացման փոփոխությունը։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4BB2517-9E5E-4BA6-9243-D0EAB9AB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87168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1B83F68-137F-42A0-8104-BBB6DF93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06040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6808733-671B-41D8-B2CA-C9AA3B27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5184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89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0.061 mg — տվյալների թերթիկում նշված քայլը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6C3E69C-1584-4B4A-9F42-274C24D8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9184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F110EA6-B68E-40A1-9497-E82663BA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1071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F9327B7-5B20-4998-8958-2931FFB0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1985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0.018 mg — քվանտացման աղմուկը, LSB/√12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FBD2588-504D-4708-8022-2593D9A7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9651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317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6A9F513-0B4E-4F15-8DB1-4C67810A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1538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960128C-A9DF-43E3-8D98-5E6A579F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452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0.72 mg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09BBC52-0870-4B28-A9DC-8FE496EF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0118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9A28614-54A6-4A41-A903-5CCC6E0C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005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4E34F25-357A-42CB-B300-82612251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Տրված տվյալները բավարար չեն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980D039-180B-477D-B234-588FB413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24144"/>
            <a:ext cx="10874959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420" b="0" i="1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0.72 mg-ը մոտ 12 անգամ մեծ է LSB-ից։ Սկզբում պաշտպանելի պատասխանը D-ն էր, քանի որ աղմուկի խտությունը տրված չէր։ Այժմ հաշվարկը հիմնավորում է C-ն։</a:t>
            </a:r>
          </a:p>
        </p:txBody>
      </p:sp>
    </p:spTree>
    <p:extLst>
      <p:ext uri="{BB962C8B-B14F-4D97-AF65-F5344CB8AC3E}">
        <p14:creationId xmlns:p14="http://schemas.microsoft.com/office/powerpoint/2010/main" val="1242766391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B2C058-64CF-49C5-9C25-DED22B93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58D5AA-EF89-4CB9-8FD0-1FDAC7FB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E3EEF0-B15F-4D4C-BC7D-77F48B01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E8BEA3B-8FBF-4F69-8336-3E426172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9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ՔՎԵԱՐԿՈՒԹՅՈՒՆ 4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D2FCAC-DF5E-4CE4-8891-A2A1CB6B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75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95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Ջրի մակարդակի գրանցիչը 4–20 mA ճնշման օղակը ընթերցում է 100 Ω դիմադրությամբ և 12-բիթանոց ԱԹՓ-ով՝ 50 մվ պարբերական հարցմամբ։ Այն աշխատում է մեկ շաբաթ։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Հետևյալ սխալներից ո՞րը դեռ կարելի է ուղղել։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EC87D82-F7A2-44B4-972F-58E905E9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87168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0490903-9A85-4C98-B81E-36A7DBF8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06040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0AEC495-3E5A-447D-8C75-B544DB83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5184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39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հաղորդվող մակարդակն ամբողջ շաբաթվա ընթացքում 40 mm ավելի բարձր է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CD1134A-D33B-44DF-BC75-C07140DD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9184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76CB87F-E8BE-4829-BF76-8E25ECCF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1071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081DE07-4529-4066-91FC-D2571137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1985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4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ժամանակային դրոշմները վերջում 90 վ-ով հետ են մնում իրական ժամանակից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99E566C-D289-40B9-AACB-24CC95B1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9651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A404E8F-497A-4F12-B9F3-D8151E05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1538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8EDB2F7-64F3-42A5-ADD9-958FECA1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452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պոմպի 9.7 Հց բաղադրիչը ծալվել է շերտի մեջ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B1F8A10-0370-4C1E-B43F-B6B21450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0118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428BEF2-7E3C-499E-A842-293B0459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005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926A618-E098-4CC9-B7A2-F8741DE0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ԱԹԿ-ի վերջին երկու բիթերը միշտ աղմուկ էին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5189D82-E75C-4192-A6FD-196710D7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24144"/>
            <a:ext cx="10874959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Այլ մեծություն և ինտերֆեյս, բայց նույն հարցը։ Քվեարկեք և պահեք պատասխանը․ հաջորդ սլայդը տալիս է ընդհանուր կանոնը։</a:t>
            </a:r>
          </a:p>
        </p:txBody>
      </p:sp>
    </p:spTree>
    <p:extLst>
      <p:ext uri="{BB962C8B-B14F-4D97-AF65-F5344CB8AC3E}">
        <p14:creationId xmlns:p14="http://schemas.microsoft.com/office/powerpoint/2010/main" val="65347023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AA9D07E-D917-4BD0-B225-2EE3339E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46D58DC-3A1A-4408-8F5B-8A5AC1DC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27A9E78-AFBC-4E0A-A377-3C2D3744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E16E14E-8237-447A-BE47-C3BD1129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2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Չափաբերմամբ ուղղելի՞ է, թե՞ տեղեկությունը կորած է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B6ADE08-937C-4FF2-A2D8-43CC4FE9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657805E-DD8B-4BD5-8D1C-4B407760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7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4-րդ քվեարկության պատասխանը աղյուսակի առաջին տողում է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658368" y="1874519"/>
          <a:ext xmlns:a="http://schemas.openxmlformats.org/drawingml/2006/main" cx="10874958" cy="353872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8"/>
                <a:gridCol w="2609990"/>
                <a:gridCol w="5219980"/>
              </a:tblGrid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Սխալ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Հետագայում ուղղելի՞ է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4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Ինչպես կամ ինչու ոչ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1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Զրոյական շեղում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ԱՅՈ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մեկ կետով չափաբերում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1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Մասշտաբային գործակից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ԱՅՈ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երկու կետով չափաբերում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Բայթերի կարգ, նշան, միավոր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ԱՅՈ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վերամեկնաբանել ֆայլը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3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Ջերմաստիճանային շեղում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ՄԱՍԱՄԲ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7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եթե ջերմաստիճանն էլ է գրանցվել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Պատահական աղմուկ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ՄԱՍԱՄԲ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միջինացում՝ թողունակության հաշվին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Քվանտացում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ՈՉ, բայց աննշան է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0.018 mg՝ 0.721 mg-ի դիմաց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Ալիասավորում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ՈՉ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կեղծ և իրական ազդանշանները նույն կոդերն են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9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Կորած ժամանակային դրոշմ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ՈՉ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1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ժամանակը չի արձանագրվել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F7A3407-BE05-46A4-9E94-387F3B45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32120"/>
            <a:ext cx="10874959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F24"/>
          </a:solidFill>
          <a:ln xmlns:a="http://schemas.openxmlformats.org/drawingml/2006/main" w="15875">
            <a:solidFill>
              <a:srgbClr val="1A1F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Վերին խմբում տվյալը պահպանված է, բայց ձևափոխված։ Ստորին խմբում տեղեկությունը բացակայում է։ Ոչ մի մշակում բացակայող տեղեկություն չի ստեղծում։</a:t>
            </a:r>
          </a:p>
        </p:txBody>
      </p:sp>
    </p:spTree>
    <p:extLst>
      <p:ext uri="{BB962C8B-B14F-4D97-AF65-F5344CB8AC3E}">
        <p14:creationId xmlns:p14="http://schemas.microsoft.com/office/powerpoint/2010/main" val="1900478832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86FD53-1ED9-48FE-AD22-CEB6341C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D75C987-A02A-4B38-8252-99AE4099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AA886E9-AC81-4B10-9EEB-598D74BA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6CA64B1-7B70-4BE5-A45C-EA1C928F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Երեք թիվ, մեկ գրանցման ֆայլ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41F3494-F3DA-4863-9A80-EFE1905A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1B7CE56-12F5-43A4-9FB1-DC97B633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Երեքն էլ հաշվարկելի էին նախքան ծրագրավորումը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49DE85E-1464-49F3-A4BB-0667A677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11680"/>
            <a:ext cx="3438144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D4BB0F6-56C4-40C3-AD2A-3D42C374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49424"/>
            <a:ext cx="343814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12.4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28A97AE-E6AD-48CC-9AFE-57C920BA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00400"/>
            <a:ext cx="31455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05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ԻՐԱԿԱՆ ՏԵՂԵԿՈՒԹՅՈՒՆ ԿՐՈՂ ԲԻԹԵՐ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AE95F3-0365-4F6B-BC6E-B6EC3D8C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67328"/>
            <a:ext cx="314553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</a:pPr>
            <a:r>
              <a:rPr sz="15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16 − log₂(0.721 / 0.061)՝ ըստ աղմուկի և թողունակության։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C2DC72E-4152-45FB-904C-B2239677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011680"/>
            <a:ext cx="3438144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4293851-F79D-41B2-A784-83DB1FD0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249424"/>
            <a:ext cx="343814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000" b="1" i="0">
                <a:solidFill>
                  <a:srgbClr val="C0392B"/>
                </a:solidFill>
                <a:latin typeface="DejaVu Sans Mono"/>
                <a:ea typeface="DejaVu Sans Mono"/>
                <a:cs typeface="DejaVu Sans Mono"/>
              </a:rPr>
              <a:t>12 Հց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A286D6B-1F6B-4503-BAEC-BB7380C5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200400"/>
            <a:ext cx="31455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200" b="1" i="0">
                <a:solidFill>
                  <a:srgbClr val="C0392B"/>
                </a:solidFill>
                <a:latin typeface="DejaVu Sans"/>
                <a:ea typeface="DejaVu Sans"/>
                <a:cs typeface="DejaVu Sans"/>
              </a:rPr>
              <a:t>ԿԵՂԾ ԱԶԴԱՆՇԱՆԻ ՀԱՃԱԽԱԿԱՆՈՒԹՅՈՒՆ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C70221F-A1B7-40E4-895C-D436F4D9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767328"/>
            <a:ext cx="314553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</a:pPr>
            <a:r>
              <a:rPr sz="15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|300 − 3 × 104|։ LPF2_XL_EN բիթը մնացել է զրո։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6282662-F6D1-46F4-9AD2-2974891C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011680"/>
            <a:ext cx="3438144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B867A98-2C87-45AF-A1C9-94CF3696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249424"/>
            <a:ext cx="343814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800" b="1" i="0">
                <a:solidFill>
                  <a:srgbClr val="C0392B"/>
                </a:solidFill>
                <a:latin typeface="DejaVu Sans Mono"/>
                <a:ea typeface="DejaVu Sans Mono"/>
                <a:cs typeface="DejaVu Sans Mono"/>
              </a:rPr>
              <a:t>12.1 վ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FB1EBCB-DB59-4A52-8214-1F1CA6AD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31455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200" b="1" i="0">
                <a:solidFill>
                  <a:srgbClr val="C0392B"/>
                </a:solidFill>
                <a:latin typeface="DejaVu Sans"/>
                <a:ea typeface="DejaVu Sans"/>
                <a:cs typeface="DejaVu Sans"/>
              </a:rPr>
              <a:t>ԺԱՄԱՆԱԿԱՅԻՆ ԴՐՈՇՄԻ ՍԽԱԼԸ 10 ՐՈՊԵ ԱՆՑ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8E3EB50-E7C8-41A2-A184-DA4068C1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67328"/>
            <a:ext cx="314553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</a:pPr>
            <a:r>
              <a:rPr sz="121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60 000 × 0.203 մվ։ Ցիկլում չհաշվարկված մեկ I²C ընթերցում։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675A160C-BD03-4923-BE61-FD5C3A04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92040"/>
            <a:ext cx="10874959" cy="8686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F24"/>
          </a:solidFill>
          <a:ln xmlns:a="http://schemas.openxmlformats.org/drawingml/2006/main" w="15875">
            <a:solidFill>
              <a:srgbClr val="1A1F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12.4 բիթը կարելի է նշել և հիմնավորել։ 12 Հց կեղծ բաղադրիչը և 12.1 վ ժամանակային սխալը հետագայում ուղղել հնարավոր չէ։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60EC9A2-6692-450F-AC07-B64BC4FE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943600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Նույն երեք թվերը, որոնցով սկսեցինք․ այժմ գիտեք դրանց ծագումը։</a:t>
            </a:r>
          </a:p>
        </p:txBody>
      </p:sp>
    </p:spTree>
    <p:extLst>
      <p:ext uri="{BB962C8B-B14F-4D97-AF65-F5344CB8AC3E}">
        <p14:creationId xmlns:p14="http://schemas.microsoft.com/office/powerpoint/2010/main" val="122904101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0FB356-A31E-4F3E-8CA8-A4FAD619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042CAB-CF39-4F7B-83E1-F398F78B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2F45906-FD74-49CA-AD6F-67AFF6BC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4C8E45E-4108-473D-BFF4-00FDF5BD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Չորս պնդում, որ անում է հավաստի նմուշը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6047B2F-62DD-425F-9B4B-16C6C625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36ED0BB-DE94-4397-BC7E-A75EF56F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19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DCEDEF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354E244-2C19-4E35-8E4C-BE5FBDF2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1856231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Ի՞նչ է դա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BB4D8A2-5208-4E9E-84B0-DE28A1A1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276855"/>
            <a:ext cx="102412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SI միավորներով արժեք՝ նշված զգայունությամբ, նշանի պայմանավորվածությամբ և բայթերի կարգով։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DD4548B-FBF6-477D-88F4-0D243F90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62071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DCEDEF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9E439C-6C90-45B6-BD1C-A0D6EBDC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843783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Դրանից որքա՞նն է իրական տեղեկություն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78A2ECA-FA8C-47A5-99D7-BDAF7BD5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264407"/>
            <a:ext cx="10241280" cy="463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2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Արդյունավետ լուծաչափը՝ աղմուկի սպեկտրային խտությունից և ձեր թողունակությունից․ 12.4 բիթ, ոչ 16։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2427514-376B-4AC9-B407-178DB684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9623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DCEDEF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28BB1AE-95BC-4DAE-BD8A-D8EBE764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831335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Ո՞ր շերտն է այն ներկայացնում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AA7B9D5-3F0B-474B-B374-421A6611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251959"/>
            <a:ext cx="102412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Չափման թողունակությունը և ապացույցը, որ նմուշառիչից առաջ գործել է համապատասխան զտիչ։ Ոչ թե միայն ODR-ը։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5E53333-8BFA-4E0E-A99E-70799302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37175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DCEDEF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0677FB6-A2F7-4058-8A9A-C54536E1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818887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1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Ե՞րբ է դա տեղի ունեցել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9A4352C-0F3B-43E6-87FF-F23477BD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5239511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Ժամանակային դրոշմ, որի սխալը կարող եք նշել, և որի աղբյուրը կարող եք անվանել։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3ED3E096-67D7-41FD-9099-6B81ECEA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23560"/>
            <a:ext cx="10874959" cy="62179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F24"/>
          </a:solidFill>
          <a:ln xmlns:a="http://schemas.openxmlformats.org/drawingml/2006/main" w="15875">
            <a:solidFill>
              <a:srgbClr val="1A1F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97658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3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Եթե գրանցման ֆայլը չի պատասխանում այս չորս հարցին, այն դեռ հավաստի տվյալ չէ։</a:t>
            </a:r>
          </a:p>
        </p:txBody>
      </p:sp>
    </p:spTree>
    <p:extLst>
      <p:ext uri="{BB962C8B-B14F-4D97-AF65-F5344CB8AC3E}">
        <p14:creationId xmlns:p14="http://schemas.microsoft.com/office/powerpoint/2010/main" val="1837853866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C7D62A-1C47-4B8C-A208-DD628243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B0780C3-BE82-4942-922B-030EAA5E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3E46448-8597-4DE2-A285-B858B3AA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D6F840-0736-4FCF-B94C-50184C9A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9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ՀԱՋՈՐԴԸ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4D3DBCF-833D-4F83-B59A-BB7A6431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5156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1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4-րդ շաբաթ․ Լաբորատոր աշխատանք 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46425BC-377B-46CD-B1C4-18014DEC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088136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Նմուշառում, ալիասավորում և ԱԹՓ — ռեգիստրային կարգավորումները ձեր ձեռքում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81B3457-55C9-4233-84BA-BFCF4E33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87168"/>
            <a:ext cx="10881360" cy="15404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5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ՄԻՆՉ ԼԱԲՈՐԱՏՈՐ ԱՇԽԱՏԱՆՔԸ․ երկու ODR կարգավորման համար հաշվարկեք արդյունավետ բիթերի թիվը։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5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Լաբորատորիայում չափելու եք, ոչ թե տեղում արտածելու։ Պատրաստեք նաև ժամանակային գծապատկեր։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A7633D3-2D89-40BC-82E8-3B0F0B46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0"/>
            <a:ext cx="10874959" cy="6400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>
            <a:normAutofit fontScale="94083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1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Ձեզ հետ բերեք մեկ պատասխան․ ո՞ր բիթը պետք է սահմանել, որպեսզի 52 Հց-ը իրապես նշանակի 52 Հց։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2E38AC9-51BC-496D-9243-B9B74F35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09160"/>
            <a:ext cx="1371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3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E5AF489-284E-415A-8617-2CADEA05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01768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7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ԵՎ ԱՊԱ՝ ԴԱՍԱԽՈՍՈՒԹՅՈՒՆ 4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88F8C2-32C2-474A-ABB4-5846862D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67528"/>
            <a:ext cx="108813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630" b="0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MEMS-ի կառուցվածքներ, փոխակերպում, արտադրություն և պատյանավորում․ որտեղի՞ց են առաջանում տվյալների թերթիկում նշված աղմուկն ու ջերմաստիճանային շեղումը։</a:t>
            </a:r>
          </a:p>
        </p:txBody>
      </p:sp>
    </p:spTree>
    <p:extLst>
      <p:ext uri="{BB962C8B-B14F-4D97-AF65-F5344CB8AC3E}">
        <p14:creationId xmlns:p14="http://schemas.microsoft.com/office/powerpoint/2010/main" val="2044633785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586313-148D-4031-B5D6-8FC72483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4434BC6-2604-4F1D-A587-32A3F5BD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416438-9C00-476A-8334-61D42504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CA0C3E7-88C7-4165-A1D5-F7226A14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Ելքի տոմս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BC64A56-BA1B-4C46-A9AC-4BA701CE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A0E0E81-9E6B-4DC0-B05E-66C0B44C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90 վայրկյան · թղթի վրա · հանձնվում է դռան մոտ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6456562-D83E-44EF-864C-ED9E1083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65960"/>
            <a:ext cx="5349240" cy="62179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3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1  ·  ԴԱՏՈՂՈՒԹՅՈՒՆ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7EE0208-185D-43CB-80F5-4555CD18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834640"/>
            <a:ext cx="5029200" cy="2797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71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Գործընկերն առաջարկում է․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9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«Նմուշառենք 1 կՀց հաճախությամբ, ապա ծրագրային ճանապարհով զտենք»։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9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9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Մեկ նախադասությամբ՝ ի՞նչն է սխալ այս մոտեցման մեջ։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B6F44E4-A96B-46F0-9FF5-5FDCD9E2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65960"/>
            <a:ext cx="5349240" cy="62179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8324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2  ·  ՎԵՐՀԻՇՈՒՄ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2E9EF49-BB28-49ED-AC77-B36B43F8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834640"/>
            <a:ext cx="502920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9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Նշեք 1-ին լաբորատոր աշխատանքի տվյալների մեկ սխալ, որն այժմ համարում եք ԱՆԴԱՌՆԱԼԻ։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41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/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9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Մեկ տող, առանց բացատրության։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2CF39A5-12A1-46F9-B820-5DEF4303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49240"/>
            <a:ext cx="10874959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5F1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2-րդ հարցն է կարևորը։ Այն 4-րդ դասախոսության բացման սլայդի հիմքն է, ուստի իրապես կկարդացվի։</a:t>
            </a:r>
          </a:p>
        </p:txBody>
      </p:sp>
    </p:spTree>
    <p:extLst>
      <p:ext uri="{BB962C8B-B14F-4D97-AF65-F5344CB8AC3E}">
        <p14:creationId xmlns:p14="http://schemas.microsoft.com/office/powerpoint/2010/main" val="127277177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2026-09-10T18:35:03.3760000Z</dcterms:created>
  <dcterms:modified xsi:type="dcterms:W3CDTF">2026-09-10T18:35:03.3760000Z</dcterms:modified>
</coreProperties>
</file>