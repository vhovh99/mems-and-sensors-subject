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580" autoAdjust="0"/>
  </p:normalViewPr>
  <p:slideViewPr>
    <p:cSldViewPr snapToGrid="0" snapToObjects="1">
      <p:cViewPr>
        <p:scale>
          <a:sx n="70" d="100"/>
          <a:sy n="70" d="100"/>
        </p:scale>
        <p:origin x="211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0:00. BEFORE THE BELL: the L4 exit tickets sorted into "stated the pattern"</a:t>
            </a:r>
          </a:p>
          <a:p>
            <a:r>
              <a:t>and "did not", one Nucleo + IMU running the Lab 1 console on your bench and mirrored</a:t>
            </a:r>
          </a:p>
          <a:p>
            <a:r>
              <a:t>to the projector, and the ISM330DHCX datasheet open at the accelerometer</a:t>
            </a:r>
          </a:p>
          <a:p>
            <a:r>
              <a:t>mechanical-characteristics table.</a:t>
            </a:r>
          </a:p>
          <a:p>
            <a:endParaRPr/>
          </a:p>
          <a:p>
            <a:r>
              <a:t>Write 8.73 mg on the board again. It is still the signal, and it comes back twice.</a:t>
            </a:r>
          </a:p>
          <a:p>
            <a:endParaRPr/>
          </a:p>
          <a:p>
            <a:r>
              <a:t>First Module B lecture. Say so: "For four weeks you learned a method. From today</a:t>
            </a:r>
          </a:p>
          <a:p>
            <a:r>
              <a:t>you use it, one sensor family per week, and this is the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0:02–0:05. RETRIEVAL PRACTICE. Ask before you show — the slide builds the</a:t>
            </a:r>
          </a:p>
          <a:p>
            <a:r>
              <a:t>strip but you should cover it, or ask with the projector blanked.</a:t>
            </a:r>
          </a:p>
          <a:p>
            <a:endParaRPr/>
          </a:p>
          <a:p>
            <a:r>
              <a:t>"Lecture 4's exit ticket asked for the pattern. Give it to me, one step each."</a:t>
            </a:r>
          </a:p>
          <a:p>
            <a:r>
              <a:t>Take eight students. Correct the order out loud if needed; the order matters,</a:t>
            </a:r>
          </a:p>
          <a:p>
            <a:r>
              <a:t>because each step's answer constrains the next.</a:t>
            </a:r>
          </a:p>
          <a:p>
            <a:endParaRPr/>
          </a:p>
          <a:p>
            <a:r>
              <a:t>If fewer than half the exit tickets stated it, spend an extra ninety seconds here</a:t>
            </a:r>
          </a:p>
          <a:p>
            <a:r>
              <a:t>and cut slide 19 later. The L4 notes promised this and it is the right trade.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0:05–0:06. Put your own phone flat on the desk as you show this. If you have</a:t>
            </a:r>
          </a:p>
          <a:p>
            <a:r>
              <a:t>a sensor-logger app, have it open and projected: the Z trace sits at +9.8 m/s².</a:t>
            </a:r>
          </a:p>
          <a:p>
            <a:endParaRPr/>
          </a:p>
          <a:p>
            <a:r>
              <a:t>Ask: "Is my phone accelerating?" Wait for the "no". "Then why does it say nine</a:t>
            </a:r>
          </a:p>
          <a:p>
            <a:r>
              <a:t>point eight?" Take one answer, accept none. Go straight to the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0:06–0:08. Hands up simultaneously. Record the split; it is the baseline for</a:t>
            </a:r>
          </a:p>
          <a:p>
            <a:r>
              <a:t>the chunk. Expect A 25–40 %, C 25–40 %, B 20–35 %, D under 10 %.</a:t>
            </a:r>
          </a:p>
          <a:p>
            <a:endParaRPr/>
          </a:p>
          <a:p>
            <a:r>
              <a:t>A is misconception M1 — "an accelerometer measures acceleration". C is the student</a:t>
            </a:r>
          </a:p>
          <a:p>
            <a:r>
              <a:t>who has the right physics with the wrong sign — the most productive wrong answer.</a:t>
            </a:r>
          </a:p>
          <a:p>
            <a:r>
              <a:t>D is the Lab 1 student who remembers that offsets exist.</a:t>
            </a:r>
          </a:p>
          <a:p>
            <a:endParaRPr/>
          </a:p>
          <a:p>
            <a:r>
              <a:t>DO NOT REVEAL. The next two slides let them derive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0:08. Section marker, fifteen seconds. Point at the strip: "step one,</a:t>
            </a:r>
          </a:p>
          <a:p>
            <a:r>
              <a:t>measurand. For this device it is not the word on the box."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0:08–0:11. Build it column by column. The free-fall column does the work.</a:t>
            </a:r>
          </a:p>
          <a:p>
            <a:endParaRPr/>
          </a:p>
          <a:p>
            <a:r>
              <a:t>"Drop the phone. For the half second it falls, what does the accelerometer read?"</a:t>
            </a:r>
          </a:p>
          <a:p>
            <a:r>
              <a:t>Most of the room will now say 1 g, because they have just decided the sensor sees</a:t>
            </a:r>
          </a:p>
          <a:p>
            <a:r>
              <a:t>gravity. It reads zero — mass and frame fall together and the springs are relaxed.</a:t>
            </a:r>
          </a:p>
          <a:p>
            <a:r>
              <a:t>This is Einstein's equivalence principle and it is the whole of the chunk: gravity</a:t>
            </a:r>
          </a:p>
          <a:p>
            <a:r>
              <a:t>cannot be felt locally. What can be felt is the table.</a:t>
            </a:r>
          </a:p>
          <a:p>
            <a:endParaRPr/>
          </a:p>
          <a:p>
            <a:r>
              <a:t>Phone free-fall detection works exactly like this: all three axes collapse toward</a:t>
            </a:r>
          </a:p>
          <a:p>
            <a:r>
              <a:t>zero at once. That is a real application — hard-disk head parking, drop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0:11–0:12. Reveal. Then go straight to the C voters, kindly: "You had the</a:t>
            </a:r>
          </a:p>
          <a:p>
            <a:r>
              <a:t>physics and flipped the sign. The sensor does not report gravity pulling down; it</a:t>
            </a:r>
          </a:p>
          <a:p>
            <a:r>
              <a:t>reports the table pushing up. That is why it is plus."</a:t>
            </a:r>
          </a:p>
          <a:p>
            <a:endParaRPr/>
          </a:p>
          <a:p>
            <a:r>
              <a:t>Then the A voters: "You were right that nothing accelerates. What you have learned</a:t>
            </a:r>
          </a:p>
          <a:p>
            <a:r>
              <a:t>is that this device was never measuring acceleration."</a:t>
            </a:r>
          </a:p>
          <a:p>
            <a:endParaRPr/>
          </a:p>
          <a:p>
            <a:r>
              <a:t>Lab 1 already showed them +16 400 counts on a flat board. Say so — they have seen</a:t>
            </a:r>
          </a:p>
          <a:p>
            <a:r>
              <a:t>this number with their own hands and never asked why it was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0:12–0:14. The two columns are the applications survey the semester plan</a:t>
            </a:r>
          </a:p>
          <a:p>
            <a:r>
              <a:t>asks for; do not list more of them than are on the slide.</a:t>
            </a:r>
          </a:p>
          <a:p>
            <a:endParaRPr/>
          </a:p>
          <a:p>
            <a:r>
              <a:t>The sentence to land: "one number, two causes, and the device cannot separate</a:t>
            </a:r>
          </a:p>
          <a:p>
            <a:r>
              <a:t>them." Then plant the frequency idea — a low-pass filter keeps tilt and throws away</a:t>
            </a:r>
          </a:p>
          <a:p>
            <a:r>
              <a:t>vibration — and say where it breaks: a car accelerating for three seconds is slow</a:t>
            </a:r>
          </a:p>
          <a:p>
            <a:r>
              <a:t>motion, and a low-pass filter cannot tell it from a hill. Slide 14 comes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0:14–0:17. Draw the two curves on the board as well; the slide is the</a:t>
            </a:r>
          </a:p>
          <a:p>
            <a:r>
              <a:t>clean copy.</a:t>
            </a:r>
          </a:p>
          <a:p>
            <a:endParaRPr/>
          </a:p>
          <a:p>
            <a:r>
              <a:t>Do not show the table first. Point at the curves: "Which curve is steep near zero</a:t>
            </a:r>
          </a:p>
          <a:p>
            <a:r>
              <a:t>degrees?" The sine. "Which is flat?" The cosine. "So which axis would you rather</a:t>
            </a:r>
          </a:p>
          <a:p>
            <a:r>
              <a:t>use to measure a small tilt from level?" — and then STOP, because that is Poll 2.</a:t>
            </a:r>
          </a:p>
          <a:p>
            <a:endParaRPr/>
          </a:p>
          <a:p>
            <a:r>
              <a:t>Hide the table with your hand or blank the screen for the poll if you can. If not,</a:t>
            </a:r>
          </a:p>
          <a:p>
            <a:r>
              <a:t>move straight on: the poll still works, because most of the room will not have</a:t>
            </a:r>
          </a:p>
          <a:p>
            <a:r>
              <a:t>read the right-hand side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0:17–0:20. Peer instruction. Expect 35–50 % B on the first vote, 70–85 %</a:t>
            </a:r>
          </a:p>
          <a:p>
            <a:r>
              <a:t>after pairs.</a:t>
            </a:r>
          </a:p>
          <a:p>
            <a:endParaRPr/>
          </a:p>
          <a:p>
            <a:r>
              <a:t>A is the productive wrong answer and the point of the poll: a large signal is not</a:t>
            </a:r>
          </a:p>
          <a:p>
            <a:r>
              <a:t>a sensitive one. C is L2's sensitivity-versus-accuracy confusion in a new form —</a:t>
            </a:r>
          </a:p>
          <a:p>
            <a:r>
              <a:t>mg/LSB is the same for both axes, but the tilt-per-mg is not. D is a reach for a</a:t>
            </a:r>
          </a:p>
          <a:p>
            <a:r>
              <a:t>register; dismiss it 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0:20–0:21. Reveal, then do the division on the board: 8.73 over 0.038 is</a:t>
            </a:r>
          </a:p>
          <a:p>
            <a:r>
              <a:t>229.</a:t>
            </a:r>
          </a:p>
          <a:p>
            <a:endParaRPr/>
          </a:p>
          <a:p>
            <a:r>
              <a:t>Connect to mounting orientation, which the semester plan lists as a topic: "How</a:t>
            </a:r>
          </a:p>
          <a:p>
            <a:r>
              <a:t>you ORIENT the part on the board decides which axis does the work. If your</a:t>
            </a:r>
          </a:p>
          <a:p>
            <a:r>
              <a:t>enclosure puts the sensitive axis along gravity, no datasheet can rescue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0:21–0:23. atan2, not atan: it keeps the quadrant and never divides by</a:t>
            </a:r>
          </a:p>
          <a:p>
            <a:r>
              <a:t>zero. Say that in one sentence, not more.</a:t>
            </a:r>
          </a:p>
          <a:p>
            <a:endParaRPr/>
          </a:p>
          <a:p>
            <a:r>
              <a:t>The middle card is the idea students do not expect: a ratio forgives a scale</a:t>
            </a:r>
          </a:p>
          <a:p>
            <a:r>
              <a:t>error common to both axes. Ask: "if both axes read 2 % high, what happens to the</a:t>
            </a:r>
          </a:p>
          <a:p>
            <a:r>
              <a:t>angle?" Nothing. "If only X reads 12 mg high?" At level, that is a tilt of</a:t>
            </a:r>
          </a:p>
          <a:p>
            <a:r>
              <a:t>arcsin(0.012) = 0.69°, already outside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0:23–0:25. The punchline of chunk 1, and the debt this lecture hands to the</a:t>
            </a:r>
          </a:p>
          <a:p>
            <a:r>
              <a:t>next one.</a:t>
            </a:r>
          </a:p>
          <a:p>
            <a:endParaRPr/>
          </a:p>
          <a:p>
            <a:r>
              <a:t>Numbers checked: atan(0.05) = 2.86°, atan(0.1) = 5.71°, atan(0.2) = 11.31°,</a:t>
            </a:r>
          </a:p>
          <a:p>
            <a:r>
              <a:t>atan(0.3) = 16.70°. And the red line: atan(0.01) = 0.57°, so one hundredth of a g</a:t>
            </a:r>
          </a:p>
          <a:p>
            <a:r>
              <a:t>of shove already exceeds half a degree.</a:t>
            </a:r>
          </a:p>
          <a:p>
            <a:endParaRPr/>
          </a:p>
          <a:p>
            <a:r>
              <a:t>Say it as a debt, deliberately, the way Lecture 2 did: "I am leaving this unpaid.</a:t>
            </a:r>
          </a:p>
          <a:p>
            <a:r>
              <a:t>Next week you meet the sensor that pays it — and it has its own problem."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0:25. Section marker. "Steps two and three together, because for this device</a:t>
            </a:r>
          </a:p>
          <a:p>
            <a:r>
              <a:t>you cannot separate them: the structure is the transducer."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0:25–0:28. The figure students remember from this lecture. Do the</a:t>
            </a:r>
          </a:p>
          <a:p>
            <a:r>
              <a:t>arithmetic on the board, not just on the slide.</a:t>
            </a:r>
          </a:p>
          <a:p>
            <a:endParaRPr/>
          </a:p>
          <a:p>
            <a:r>
              <a:t>9.81 / (2π·5000)² = 9.94 nm per g. Times 0.00873 = 0.087 nm. A silicon-silicon</a:t>
            </a:r>
          </a:p>
          <a:p>
            <a:r>
              <a:t>bond is 0.235 nm. So the tilt they will measure in Lab 3 moves the proof mass by</a:t>
            </a:r>
          </a:p>
          <a:p>
            <a:r>
              <a:t>about a third of an atomic bond.</a:t>
            </a:r>
          </a:p>
          <a:p>
            <a:endParaRPr/>
          </a:p>
          <a:p>
            <a:r>
              <a:t>Pre-empt the objection: "How can you measure less than an atom?" Because the plate</a:t>
            </a:r>
          </a:p>
          <a:p>
            <a:r>
              <a:t>is a hundred micrometres across and the gap is averaged over all of it. The mean</a:t>
            </a:r>
          </a:p>
          <a:p>
            <a:r>
              <a:t>position of a million atoms is a perfectly good number. f₀ = 5 kHz is</a:t>
            </a:r>
          </a:p>
          <a:p>
            <a:r>
              <a:t>representative, not the ISM330DHCX's published value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0:28–0:31. Lecture 4 said sensitivity and bandwidth share m and k. This is</a:t>
            </a:r>
          </a:p>
          <a:p>
            <a:r>
              <a:t>that sentence with a curve.</a:t>
            </a:r>
          </a:p>
          <a:p>
            <a:endParaRPr/>
          </a:p>
          <a:p>
            <a:r>
              <a:t>Read the table right to left: halving f₀ quadruples the signal (1/f₀²) and halves</a:t>
            </a:r>
          </a:p>
          <a:p>
            <a:r>
              <a:t>the band. Nobody gets both — the mask decided, once.</a:t>
            </a:r>
          </a:p>
          <a:p>
            <a:endParaRPr/>
          </a:p>
          <a:p>
            <a:r>
              <a:t>The amber line matters for the failure chunk: a machine vibration near the</a:t>
            </a:r>
          </a:p>
          <a:p>
            <a:r>
              <a:t>structure's resonance is amplified mechanically, before the digital filter, so no</a:t>
            </a:r>
          </a:p>
          <a:p>
            <a:r>
              <a:t>register setting removes it. Accelerometers are damped deliberately (Q below 1)</a:t>
            </a:r>
          </a:p>
          <a:p>
            <a:r>
              <a:t>for exactly this reason; gyroscopes, next week, are the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0:31–0:33. Two gaps, one grows and one shrinks. The difference is linear in</a:t>
            </a:r>
          </a:p>
          <a:p>
            <a:r>
              <a:t>x and immune to anything that moves both together.</a:t>
            </a:r>
          </a:p>
          <a:p>
            <a:endParaRPr/>
          </a:p>
          <a:p>
            <a:r>
              <a:t>That second property is a partial answer to Lecture 4's stress chain: symmetric</a:t>
            </a:r>
          </a:p>
          <a:p>
            <a:r>
              <a:t>stress cancels, asymmetric stress does not. Solder joints are asymmetric. So say</a:t>
            </a:r>
          </a:p>
          <a:p>
            <a:r>
              <a:t>it: "differential sensing is why a symmetric package is quiet, and why an</a:t>
            </a:r>
          </a:p>
          <a:p>
            <a:r>
              <a:t>asymmetric solder fillet is not."</a:t>
            </a:r>
          </a:p>
          <a:p>
            <a:endParaRPr/>
          </a:p>
          <a:p>
            <a:r>
              <a:t>x/d = 9.9 nm / 1.5 µm = 0.66 % at a full g. At 8.73 mg it is 58 parts per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0:33–0:35. DESIGNATED CUT if you are behind — keep only the shrink-by-2</a:t>
            </a:r>
          </a:p>
          <a:p>
            <a:r>
              <a:t>line.</a:t>
            </a:r>
          </a:p>
          <a:p>
            <a:endParaRPr/>
          </a:p>
          <a:p>
            <a:r>
              <a:t>The formula is not examinable; its shape is. Mass is in the denominator, so a</a:t>
            </a:r>
          </a:p>
          <a:p>
            <a:r>
              <a:t>heavier mass is quieter. That closes the loop from Lecture 1 (m ∝ L³) through</a:t>
            </a:r>
          </a:p>
          <a:p>
            <a:r>
              <a:t>Lecture 4 (bulk is quieter than surface) to a number.</a:t>
            </a:r>
          </a:p>
          <a:p>
            <a:endParaRPr/>
          </a:p>
          <a:p>
            <a:r>
              <a:t>Computed: 4·kB·T·ω₀ = 4 × 1.38e-23 × 300 × 31 416 = 5.2e-16. Divide by m·Q = 1e-8,</a:t>
            </a:r>
          </a:p>
          <a:p>
            <a:r>
              <a:t>square-root: 2.28e-4 m/s²/√Hz = 23 µg/√Hz. The 10 µg mass is representative, not</a:t>
            </a:r>
          </a:p>
          <a:p>
            <a:r>
              <a:t>ST's figure —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0:35–0:37. The semester plan asks for capacitive and piezoresistive; the</a:t>
            </a:r>
          </a:p>
          <a:p>
            <a:r>
              <a:t>piezoelectric column is Lecture 4's Poll 3, repeated so that the comparison is</a:t>
            </a:r>
          </a:p>
          <a:p>
            <a:r>
              <a:t>complete.</a:t>
            </a:r>
          </a:p>
          <a:p>
            <a:endParaRPr/>
          </a:p>
          <a:p>
            <a:r>
              <a:t>Piezoresistive in one sentence: implanted resistors on the flexure, four of them in</a:t>
            </a:r>
          </a:p>
          <a:p>
            <a:r>
              <a:t>a bridge, millivolts out; the stiff structure survives thousands of g, which is why</a:t>
            </a:r>
          </a:p>
          <a:p>
            <a:r>
              <a:t>crash recorders use it, and the bridge drifts with temperature, which is why it</a:t>
            </a:r>
          </a:p>
          <a:p>
            <a:r>
              <a:t>needs compensation (Lecture 8).</a:t>
            </a:r>
          </a:p>
          <a:p>
            <a:endParaRPr/>
          </a:p>
          <a:p>
            <a:r>
              <a:t>Ranges are representative of each family, not one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0:37. Section marker. "Steps four and five: what comes out, and what the</a:t>
            </a:r>
          </a:p>
          <a:p>
            <a:r>
              <a:t>manufacturer promises about it. You met most of these rows in Lecture 2; today each</a:t>
            </a:r>
          </a:p>
          <a:p>
            <a:r>
              <a:t>one gets a place in an equation."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0:37–0:39. Table rows are in encoding order so that the Lab 1 trap is</a:t>
            </a:r>
          </a:p>
          <a:p>
            <a:r>
              <a:t>visible: 01 is ±16 g, highlighted. Somebody in the room fell into it in week two;</a:t>
            </a:r>
          </a:p>
          <a:p>
            <a:r>
              <a:t>say "you know why this row is amber".</a:t>
            </a:r>
          </a:p>
          <a:p>
            <a:endParaRPr/>
          </a:p>
          <a:p>
            <a:r>
              <a:t>Check the third column aloud once: 1000 / 0.061 = 16 393 — the number they saw on</a:t>
            </a:r>
          </a:p>
          <a:p>
            <a:r>
              <a:t>the console. Quantisation 0.488/√12 = 0.141 mg.</a:t>
            </a:r>
          </a:p>
          <a:p>
            <a:endParaRPr/>
          </a:p>
          <a:p>
            <a:r>
              <a:t>The teal line is Lecture 2's verdict — resolution was never the deciding variable —</a:t>
            </a:r>
          </a:p>
          <a:p>
            <a:r>
              <a:t>reappearing as a range decision. It sets up the saturation poll.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0:39–0:42. THE DATASHEET CASE for this lecture. Walk the four boxes against</a:t>
            </a:r>
          </a:p>
          <a:p>
            <a:r>
              <a:t>the real datasheet on the projector if you can; the numbers are the part in their</a:t>
            </a:r>
          </a:p>
          <a:p>
            <a:r>
              <a:t>kit.</a:t>
            </a:r>
          </a:p>
          <a:p>
            <a:endParaRPr/>
          </a:p>
          <a:p>
            <a:r>
              <a:t>The point to insist on: a datasheet looks like a list, but it is really four terms</a:t>
            </a:r>
          </a:p>
          <a:p>
            <a:r>
              <a:t>of one equation. Once a student sees that, "which rows matter" becomes "which term</a:t>
            </a:r>
          </a:p>
          <a:p>
            <a:r>
              <a:t>is largest after I calibrate" — Lecture 2's rule again.</a:t>
            </a:r>
          </a:p>
          <a:p>
            <a:endParaRPr/>
          </a:p>
          <a:p>
            <a:r>
              <a:t>Temperature is hiding inside b: the bias has a coefficient, which is why b is the</a:t>
            </a:r>
          </a:p>
          <a:p>
            <a:r>
              <a:t>term that comes back after calibration. Say "the same 0.5 mg/°C that ended Part 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0:42–0:44. A tilt monitor on a vibrating machine, sensor left at its reset</a:t>
            </a:r>
          </a:p>
          <a:p>
            <a:r>
              <a:t>range of ±2 g. The machine adds 3 g peak at some tens of hertz. Z should swing from</a:t>
            </a:r>
          </a:p>
          <a:p>
            <a:r>
              <a:t>−2 to +4 g around the 1 g of gravity.</a:t>
            </a:r>
          </a:p>
          <a:p>
            <a:endParaRPr/>
          </a:p>
          <a:p>
            <a:r>
              <a:t>Point: the waveform is ASYMMETRIC about zero because gravity has already used 1 g</a:t>
            </a:r>
          </a:p>
          <a:p>
            <a:r>
              <a:t>of the range. The tops clip at +2, the bottoms just touch −2.</a:t>
            </a:r>
          </a:p>
          <a:p>
            <a:endParaRPr/>
          </a:p>
          <a:p>
            <a:r>
              <a:t>Do not say what the average does. That is Poll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0:44–0:46. Quick vote, no peer phase unless the split is 30–70 %. Expect A</a:t>
            </a:r>
          </a:p>
          <a:p>
            <a:r>
              <a:t>at 35–50 % — "averaging fixes it" is the misconception this poll exists for.</a:t>
            </a:r>
          </a:p>
          <a:p>
            <a:endParaRPr/>
          </a:p>
          <a:p>
            <a:r>
              <a:t>B is the student who thinks the top is "stuck high". D is a reasonable guess about</a:t>
            </a:r>
          </a:p>
          <a:p>
            <a:r>
              <a:t>saturation that the picture already contradicts.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0:46–0:48. Reveal, then the number, computed numerically: the mean of</a:t>
            </a:r>
          </a:p>
          <a:p>
            <a:r>
              <a:t>clip(1 + 3·sin, −2, +2) over a cycle is 0.4915 g. arccos(0.4915) = 60.56°.</a:t>
            </a:r>
          </a:p>
          <a:p>
            <a:endParaRPr/>
          </a:p>
          <a:p>
            <a:r>
              <a:t>"A level machine, a correct sensor, a correct formula, and a tilt alarm at sixty</a:t>
            </a:r>
          </a:p>
          <a:p>
            <a:r>
              <a:t>degrees every time the motor starts." That is the war story on slide 35 — tell them</a:t>
            </a:r>
          </a:p>
          <a:p>
            <a:r>
              <a:t>it is coming.</a:t>
            </a:r>
          </a:p>
          <a:p>
            <a:endParaRPr/>
          </a:p>
          <a:p>
            <a:r>
              <a:t>The fix is one register field: ±16 g.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0:48–0:50. Two knobs, two rules.</a:t>
            </a:r>
          </a:p>
          <a:p>
            <a:endParaRPr/>
          </a:p>
          <a:p>
            <a:r>
              <a:t>Range from the worst-case peak you can imagine, including shocks. On this part it</a:t>
            </a:r>
          </a:p>
          <a:p>
            <a:r>
              <a:t>costs almost nothing — 0.141 mg of quantisation is still 60× below the tilt signal.</a:t>
            </a:r>
          </a:p>
          <a:p>
            <a:endParaRPr/>
          </a:p>
          <a:p>
            <a:r>
              <a:t>Bandwidth from the measurand, because noise density × √BW. At 104 Hz ODR without</a:t>
            </a:r>
          </a:p>
          <a:p>
            <a:r>
              <a:t>LPF2, Lab 2 used BW ≈ 52 Hz: 0.43 mg typical, 0.72 mg at the maximum density. Lab 2</a:t>
            </a:r>
          </a:p>
          <a:p>
            <a:r>
              <a:t>measured it. If you have their Lab 2 σ values, put one on the board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0:50. Section marker. "Lecture 4 promised: down to a register value. Here it</a:t>
            </a:r>
          </a:p>
          <a:p>
            <a:r>
              <a:t>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0:50–0:53. Build the first byte with the room: ODR 104 Hz = 0100, FS ±2 g =</a:t>
            </a:r>
          </a:p>
          <a:p>
            <a:r>
              <a:t>00, LPF2 on = 1, bit 0 = 0. 0100 0010 = 0x42. Somebody will recognise it from Lab 2.</a:t>
            </a:r>
          </a:p>
          <a:p>
            <a:endParaRPr/>
          </a:p>
          <a:p>
            <a:r>
              <a:t>Then the second, faster: ODR 1.66 kHz = 1000, FS ±16 g = 01, LPF2 off, 0 →</a:t>
            </a:r>
          </a:p>
          <a:p>
            <a:r>
              <a:t>1000 0100 = 0x84. Verify the 1.66 kHz ODR code (1000) against Table 43 of your</a:t>
            </a:r>
          </a:p>
          <a:p>
            <a:r>
              <a:t>datasheet revision before class, as the lab notes ask for every register value.</a:t>
            </a:r>
          </a:p>
          <a:p>
            <a:endParaRPr/>
          </a:p>
          <a:p>
            <a:r>
              <a:t>Why LPF2 off at 1.66 kHz: the machine's vibration IS the measurand here, so you</a:t>
            </a:r>
          </a:p>
          <a:p>
            <a:r>
              <a:t>want the band, not the filter. Same part, same register, opposite choices — because</a:t>
            </a:r>
          </a:p>
          <a:p>
            <a:r>
              <a:t>the measurand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0:53–0:57. THE WORKED CALCULATION. Do it on the board.</a:t>
            </a:r>
          </a:p>
          <a:p>
            <a:endParaRPr/>
          </a:p>
          <a:p>
            <a:r>
              <a:t>Up reads +1015.0 mg, down reads −991.0 mg. Add: 24.0, halve: b = +12.0 mg. Subtract:</a:t>
            </a:r>
          </a:p>
          <a:p>
            <a:r>
              <a:t>2006.0, halve: S = 1003.0 mg per g, a scale error of +0.30 %. Both are inside the</a:t>
            </a:r>
          </a:p>
          <a:p>
            <a:r>
              <a:t>datasheet limits; both are larger than they look — 12 mg is 1.4× the tilt signal.</a:t>
            </a:r>
          </a:p>
          <a:p>
            <a:endParaRPr/>
          </a:p>
          <a:p>
            <a:r>
              <a:t>The Yerevan line is a genuine subtlety, not a digression: local g at 40.2° N,</a:t>
            </a:r>
          </a:p>
          <a:p>
            <a:r>
              <a:t>~990 m is about 9.7988 m/s², 0.08 % below 9.80665. It is far below the ±2 % scale</a:t>
            </a:r>
          </a:p>
          <a:p>
            <a:r>
              <a:t>tolerance, so it does not matter here; it will matter in a precision lab.</a:t>
            </a:r>
          </a:p>
          <a:p>
            <a:endParaRPr/>
          </a:p>
          <a:p>
            <a:r>
              <a:t>Averaging each position over a few seconds is what makes the numbers repeatable;</a:t>
            </a:r>
          </a:p>
          <a:p>
            <a:r>
              <a:t>noise at 0.4 mg per sample averages down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0:57–0:59. Quick vote. Target 55–75 % B. This is a check that the stress</a:t>
            </a:r>
          </a:p>
          <a:p>
            <a:r>
              <a:t>chain from Lecture 4 has attached to a term, not a new discrimination.</a:t>
            </a:r>
          </a:p>
          <a:p>
            <a:endParaRPr/>
          </a:p>
          <a:p>
            <a:r>
              <a:t>A is the student who thinks a stored number is a property of the device. C is a</a:t>
            </a:r>
          </a:p>
          <a:p>
            <a:r>
              <a:t>guess. D is a range-encoding memory from Lab 1 surfacing in the wrong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0:59–1:00. Reveal. One rule to write down: calibrate the assembly, not the</a:t>
            </a:r>
          </a:p>
          <a:p>
            <a:r>
              <a:t>component. The six-position test in Lab 3 is done with the board in its final</a:t>
            </a:r>
          </a:p>
          <a:p>
            <a:r>
              <a:t>mounting for exactly this reason.</a:t>
            </a:r>
          </a:p>
          <a:p>
            <a:endParaRPr/>
          </a:p>
          <a:p>
            <a:r>
              <a:t>Cross-axis c also changes, which is the next slide — but b changes first and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1:00–1:03. This pays the rest of Lecture 2's cross-axis debt in a number:</a:t>
            </a:r>
          </a:p>
          <a:p>
            <a:r>
              <a:t>sin(1°) = 0.01745, so a one-degree mounting error puts 17.5 mg of gravity into the</a:t>
            </a:r>
          </a:p>
          <a:p>
            <a:r>
              <a:t>wrong axis, 1.75 % — three and a half times the ±0.5 % the datasheet quotes.</a:t>
            </a:r>
          </a:p>
          <a:p>
            <a:endParaRPr/>
          </a:p>
          <a:p>
            <a:r>
              <a:t>The three checks are Lab 1's check-off question 4 ("predict the axis before</a:t>
            </a:r>
          </a:p>
          <a:p>
            <a:r>
              <a:t>turning") promoted to a design rule. The third — writing down the rotation from</a:t>
            </a:r>
          </a:p>
          <a:p>
            <a:r>
              <a:t>sensor frame to body frame — is what Lecture 7's coordinate frames build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1:03. Last step of the pattern. "Step eight is where the other seven get</a:t>
            </a:r>
          </a:p>
          <a:p>
            <a:r>
              <a:t>tested, and it is where the stories come from."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1:03–1:06. Tell it as a story, in order, and make the room guess the cause</a:t>
            </a:r>
          </a:p>
          <a:p>
            <a:r>
              <a:t>at "what was blamed" before you reveal the third row. Someone will say "clipping" —</a:t>
            </a:r>
          </a:p>
          <a:p>
            <a:r>
              <a:t>they voted on it twenty minutes ago.</a:t>
            </a:r>
          </a:p>
          <a:p>
            <a:endParaRPr/>
          </a:p>
          <a:p>
            <a:r>
              <a:t>The engineering lesson is the dark box: the cure for a biased reading is never more</a:t>
            </a:r>
          </a:p>
          <a:p>
            <a:r>
              <a:t>averaging. The raw codes pinned at +32 767 (the top of the 16-bit range) would have</a:t>
            </a:r>
          </a:p>
          <a:p>
            <a:r>
              <a:t>identified the fault in ten seconds. That is Lecture 3's "keep the raw column"</a:t>
            </a:r>
          </a:p>
          <a:p>
            <a:r>
              <a:t>paying out.</a:t>
            </a:r>
          </a:p>
          <a:p>
            <a:endParaRPr/>
          </a:p>
          <a:p>
            <a:r>
              <a:t>The story is representative, not a named incident;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1:06–1:09. A reference slide; it is in the reader, Section 5.8. Do not read</a:t>
            </a:r>
          </a:p>
          <a:p>
            <a:r>
              <a:t>all six. Pick two the room has not seen — the sign error and the bracket resonance —</a:t>
            </a:r>
          </a:p>
          <a:p>
            <a:r>
              <a:t>and say one sentence each.</a:t>
            </a:r>
          </a:p>
          <a:p>
            <a:endParaRPr/>
          </a:p>
          <a:p>
            <a:r>
              <a:t>Bracket resonance is Lecture 1's mechanical coupling stage returning: a cantilevered</a:t>
            </a:r>
          </a:p>
          <a:p>
            <a:r>
              <a:t>sensor bracket with a resonance at 200 Hz will amplify machine vibration there, and</a:t>
            </a:r>
          </a:p>
          <a:p>
            <a:r>
              <a:t>without LPF2 it will alias into the band (Lecture 3's arithmetic).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1:09–1:10. Read it once. Stop for three seconds.</a:t>
            </a:r>
          </a:p>
          <a:p>
            <a:endParaRPr/>
          </a:p>
          <a:p>
            <a:r>
              <a:t>This is the sentence they should be able to say in Lecture 6's opening retrieval.</a:t>
            </a:r>
          </a:p>
          <a:p>
            <a:r>
              <a:t>It is also misconception M1 — "it measures acceleration" — answered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1:10–1:14. Ask for each row before showing it, if the clock allows. This is</a:t>
            </a:r>
          </a:p>
          <a:p>
            <a:r>
              <a:t>the first time the eight-step pattern has been completed for a real device; the</a:t>
            </a:r>
          </a:p>
          <a:p>
            <a:r>
              <a:t>next six lectures produce one of these tables each, and the capstone selection</a:t>
            </a:r>
          </a:p>
          <a:p>
            <a:r>
              <a:t>matrix is built from them.</a:t>
            </a:r>
          </a:p>
          <a:p>
            <a:endParaRPr/>
          </a:p>
          <a:p>
            <a:r>
              <a:t>Tell them the table is in the reader, Section 5.10, so nobody copies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1:14–1:20. The exit ticket has six minutes today, not two: the clock has</a:t>
            </a:r>
          </a:p>
          <a:p>
            <a:r>
              <a:t>slack built in for the peer-instruction rounds. If you are on time, use four of</a:t>
            </a:r>
          </a:p>
          <a:p>
            <a:r>
              <a:t>them for questions and hand out the slips at 1:18.</a:t>
            </a:r>
          </a:p>
          <a:p>
            <a:endParaRPr/>
          </a:p>
          <a:p>
            <a:r>
              <a:t>Q1 tests L5.4. Accept any range with a stated peak (±2 g for a still tilt monitor is</a:t>
            </a:r>
          </a:p>
          <a:p>
            <a:r>
              <a:t>fine if they say why) and any bandwidth tied to the measurand.</a:t>
            </a:r>
          </a:p>
          <a:p>
            <a:endParaRPr/>
          </a:p>
          <a:p>
            <a:r>
              <a:t>Q2 tests L5.1 — the equivalence argument. "The table pushes up" or "it measures</a:t>
            </a:r>
          </a:p>
          <a:p>
            <a:r>
              <a:t>specific force" earn full marks; "free fall reads zero" is required.</a:t>
            </a:r>
          </a:p>
          <a:p>
            <a:endParaRPr/>
          </a:p>
          <a:p>
            <a:r>
              <a:t>These are the input to Lecture 6's opening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1627-44D8-4C5A-8DBD-B837FE359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CEFF2-6588-4238-AF32-508F81453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41A0E-2EB4-4E1C-BC00-D408AC3310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3A326-249A-4180-BA2F-0DD0EE099E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FCEC-2083-4F4F-995F-57E5C451BB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F8DA-CDC6-4128-84A6-5FBB2703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4A42-5C9D-4B18-BADB-6F370674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31A08-AD36-4864-90C0-8A9FBBB0C4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B0C5E-8DA9-4CC9-8937-2974EA9888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7F70-6A93-41A4-9922-CFDA91190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AA485-E785-4723-BD0F-B5976F13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BA49F-5D52-40C6-9103-BBDBD21AF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41771-7893-4DBD-A231-3040B528DD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8F663-0B19-4094-BA76-1150114E4B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E75D1-6834-4A45-AFAA-B014072E57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15A3-8A36-48AF-83D6-910BB7A4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89F3D-8484-4F6C-A116-87F705712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4DC1A-6ADD-4CE1-ADA6-50375F17DB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35E0D-D176-4833-BB0E-233C013365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53CEB-70B2-4009-B01F-0D8689EF06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58096-9EB8-4334-AB7A-AF13A57CE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011F-A8F1-45A0-8DA1-34CEC167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73BA0-ABED-4E58-A027-FAF374273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97DB4-795C-41E4-9CE9-298998DA90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9994DC-4E3F-4E8B-99DF-F55EAB57D1A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982E4-322D-4626-A4B0-8305AB9659D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A1302-00D8-4346-9DDC-2B51FF2D01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D3043-B394-49B9-8196-7D358E8312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9372C-A65B-479E-AB9C-1F93D1C60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258A8-EBD8-4756-B514-B10F79F6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D368D-5DCA-4497-BCEA-F2944B1B5B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92070-5896-440A-963A-90E9159F35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14714-F8CC-4716-AFD4-C60A31E9A4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5EA46-839D-4F0A-AADF-B37A82A28C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A8CD1-6A6C-4F36-A5F8-EB9A88B154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E6054-FB03-472E-AE88-0F84515228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1739-B41F-4E7A-A0EB-8EB84D3A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A3E3-E973-40C3-8CD0-A25E32DC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41837-5F66-4054-B1EB-296B6386A1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888DC-C085-4DC9-9317-A404B0F82D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D54ED-0BF3-4E7A-95A4-3BE267FC71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08B9C-57A5-4F29-BCB7-D93947FA6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8580-904F-4D04-8AE0-61A338E8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E3D38-478E-447C-9C6A-7E3162889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AAC5F-3920-4755-827D-72BF3B970F9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AF2F8-7C64-4C80-BFDE-217675BC11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AE54C-69C7-47B0-9E1C-347673472F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0F2DC-BF29-40F0-BFBA-A706A8992A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4034-7C56-4FB3-B30C-8D8628F1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5D96D-8912-40A6-9C7C-305773EF6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1F7F5-F23D-4D46-9B2A-20BEE0D0E0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5E102-E07A-48C0-BBEC-97CCA96166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5447C-96CD-4B16-BA5B-F11C9DA4E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2CF9B8-3C32-41DF-855E-4ADB23248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5A7A9-EDAD-41E3-A748-63066E8A9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4587A-339F-4656-8A8D-F27C4BC0C1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96A09-E453-4CBE-986E-33B99A547B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69D68-52D8-4670-A5A4-761EB967AD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002F11-02BA-4B9B-9FB8-EFCE39FB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6DD78F-4974-4E1A-BB4D-EC1D524AB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94A4B-AD95-45D9-A063-51B0A35F8D0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9/29/2026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207C4-DF99-4B59-9078-1E752855CD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D1DA6-B49B-41C4-A74C-D8EEBEFD9F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B5A41-46DA-4ECF-8005-9F8C765B7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19813-FEC5-458E-8C60-02468BFCCC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F7063-A0D0-4574-916A-67512AC4EF4D}"/>
              </a:ext>
            </a:extLst>
          </p:cNvPr>
          <p:cNvSpPr>
            <a:spLocks noGrp="1"/>
          </p:cNvSpPr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5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ՄԻԿՐՈԷԼԵԿՏՐԱՄԵԽԱՆԻԿԱԿԱՆ ՀԱՄԱԿԱՐԳԵՐ ԵՎ ՏՎԻՉՆԵՐ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B46748-7AFF-40A3-8C5F-0D225242502F}"/>
              </a:ext>
            </a:extLst>
          </p:cNvPr>
          <p:cNvSpPr>
            <a:spLocks noGrp="1"/>
          </p:cNvSpPr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MEMS արագաչափեր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2C0C03-92F9-4499-A5DD-907139BC4920}"/>
              </a:ext>
            </a:extLst>
          </p:cNvPr>
          <p:cNvSpPr>
            <a:spLocks noGrp="1"/>
          </p:cNvSpPr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E9ED9-5761-49B7-9FAA-815B5DC635BC}"/>
              </a:ext>
            </a:extLst>
          </p:cNvPr>
          <p:cNvSpPr>
            <a:spLocks noGrp="1"/>
          </p:cNvSpPr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16-ից 5-րդ դասախոսություն  ·  80 րոպե  ·  Մոդուլ Բ․ տվիչների ընտանիքներ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A9E64-538C-4A48-AB4A-20E4947886ED}"/>
              </a:ext>
            </a:extLst>
          </p:cNvPr>
          <p:cNvSpPr>
            <a:spLocks noGrp="1"/>
          </p:cNvSpPr>
          <p:nvPr/>
        </p:nvSpPr>
        <p:spPr>
          <a:xfrm>
            <a:off x="1051560" y="5257800"/>
            <a:ext cx="10332720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Ձեր աշխատասեղանի սարքը՝ ֆիզիկական սկզբունքից մինչև գրանցամատյանում գրվող բայթը։</a:t>
            </a:r>
          </a:p>
        </p:txBody>
      </p:sp>
    </p:spTree>
    <p:extLst>
      <p:ext uri="{BB962C8B-B14F-4D97-AF65-F5344CB8AC3E}">
        <p14:creationId xmlns:p14="http://schemas.microsoft.com/office/powerpoint/2010/main" val="185562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8C1234-BB24-4CDC-922A-3149A699D9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1C5A0-DE5A-4387-8BA2-F1788B9FD920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8D61E-B826-418F-8789-D0F0BAF165AD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6A5D6-8B95-4DF2-A317-7BD90B0F1AB2}"/>
              </a:ext>
            </a:extLst>
          </p:cNvPr>
          <p:cNvSpPr>
            <a:spLocks noGrp="1"/>
          </p:cNvSpPr>
          <p:nvPr/>
        </p:nvSpPr>
        <p:spPr>
          <a:xfrm>
            <a:off x="658368" y="857250"/>
            <a:ext cx="10874978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650" b="1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Վերարտադրում</a:t>
            </a:r>
            <a:endParaRPr sz="1650" b="1" i="0" dirty="0">
              <a:solidFill>
                <a:srgbClr val="1A1F2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BD0ACE-55D7-408A-AC7D-31576B6C8A87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854B85-F78D-4BFD-B54D-B49FDA43F84E}"/>
              </a:ext>
            </a:extLst>
          </p:cNvPr>
          <p:cNvSpPr>
            <a:spLocks noGrp="1"/>
          </p:cNvSpPr>
          <p:nvPr/>
        </p:nvSpPr>
        <p:spPr>
          <a:xfrm>
            <a:off x="658368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EAD43-FD6D-4B85-AE93-E07166E17524}"/>
              </a:ext>
            </a:extLst>
          </p:cNvPr>
          <p:cNvSpPr>
            <a:spLocks noGrp="1"/>
          </p:cNvSpPr>
          <p:nvPr/>
        </p:nvSpPr>
        <p:spPr>
          <a:xfrm>
            <a:off x="20291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D3C35-FFD6-4B47-B090-A7D82CB4C279}"/>
              </a:ext>
            </a:extLst>
          </p:cNvPr>
          <p:cNvSpPr>
            <a:spLocks noGrp="1"/>
          </p:cNvSpPr>
          <p:nvPr/>
        </p:nvSpPr>
        <p:spPr>
          <a:xfrm>
            <a:off x="33999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7AAE5-CFAF-4088-B2F0-816DF16DA6F7}"/>
              </a:ext>
            </a:extLst>
          </p:cNvPr>
          <p:cNvSpPr>
            <a:spLocks noGrp="1"/>
          </p:cNvSpPr>
          <p:nvPr/>
        </p:nvSpPr>
        <p:spPr>
          <a:xfrm>
            <a:off x="47707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E3E2D7-FCA9-489A-BE60-90677ABED32C}"/>
              </a:ext>
            </a:extLst>
          </p:cNvPr>
          <p:cNvSpPr>
            <a:spLocks noGrp="1"/>
          </p:cNvSpPr>
          <p:nvPr/>
        </p:nvSpPr>
        <p:spPr>
          <a:xfrm>
            <a:off x="61415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E02316-D48D-4DC9-A4AE-993D64C1D78C}"/>
              </a:ext>
            </a:extLst>
          </p:cNvPr>
          <p:cNvSpPr>
            <a:spLocks noGrp="1"/>
          </p:cNvSpPr>
          <p:nvPr/>
        </p:nvSpPr>
        <p:spPr>
          <a:xfrm>
            <a:off x="75123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0D3E0-217D-4A7D-B134-836F71C2E63D}"/>
              </a:ext>
            </a:extLst>
          </p:cNvPr>
          <p:cNvSpPr>
            <a:spLocks noGrp="1"/>
          </p:cNvSpPr>
          <p:nvPr/>
        </p:nvSpPr>
        <p:spPr>
          <a:xfrm>
            <a:off x="88831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3C8AF-118C-4A31-BA54-17BCF7FCF560}"/>
              </a:ext>
            </a:extLst>
          </p:cNvPr>
          <p:cNvSpPr>
            <a:spLocks noGrp="1"/>
          </p:cNvSpPr>
          <p:nvPr/>
        </p:nvSpPr>
        <p:spPr>
          <a:xfrm>
            <a:off x="10253967" y="2103120"/>
            <a:ext cx="1279359" cy="566928"/>
          </a:xfrm>
          <a:prstGeom prst="rect">
            <a:avLst/>
          </a:prstGeom>
          <a:solidFill>
            <a:srgbClr val="DCEDEF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F6F96-8553-400D-AEEB-9E466B243216}"/>
              </a:ext>
            </a:extLst>
          </p:cNvPr>
          <p:cNvSpPr>
            <a:spLocks noGrp="1"/>
          </p:cNvSpPr>
          <p:nvPr/>
        </p:nvSpPr>
        <p:spPr>
          <a:xfrm>
            <a:off x="713232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32717F-7319-4348-B510-6C8405FBAE9D}"/>
              </a:ext>
            </a:extLst>
          </p:cNvPr>
          <p:cNvSpPr>
            <a:spLocks noGrp="1"/>
          </p:cNvSpPr>
          <p:nvPr/>
        </p:nvSpPr>
        <p:spPr>
          <a:xfrm>
            <a:off x="20840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0F16D9-BD25-4A43-A8CB-7CD4C2D4B57B}"/>
              </a:ext>
            </a:extLst>
          </p:cNvPr>
          <p:cNvSpPr>
            <a:spLocks noGrp="1"/>
          </p:cNvSpPr>
          <p:nvPr/>
        </p:nvSpPr>
        <p:spPr>
          <a:xfrm>
            <a:off x="34548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8DB6F2-E82C-4D24-A9BE-4044221DD9AE}"/>
              </a:ext>
            </a:extLst>
          </p:cNvPr>
          <p:cNvSpPr>
            <a:spLocks noGrp="1"/>
          </p:cNvSpPr>
          <p:nvPr/>
        </p:nvSpPr>
        <p:spPr>
          <a:xfrm>
            <a:off x="48256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904B87-D5F9-441C-B287-4FA91F70D112}"/>
              </a:ext>
            </a:extLst>
          </p:cNvPr>
          <p:cNvSpPr>
            <a:spLocks noGrp="1"/>
          </p:cNvSpPr>
          <p:nvPr/>
        </p:nvSpPr>
        <p:spPr>
          <a:xfrm>
            <a:off x="61964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56FBE5-351A-41E9-A559-BD5C5252D91B}"/>
              </a:ext>
            </a:extLst>
          </p:cNvPr>
          <p:cNvSpPr>
            <a:spLocks noGrp="1"/>
          </p:cNvSpPr>
          <p:nvPr/>
        </p:nvSpPr>
        <p:spPr>
          <a:xfrm>
            <a:off x="75672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E0CBA7-05CB-4841-AEEE-D0E8DD4D952F}"/>
              </a:ext>
            </a:extLst>
          </p:cNvPr>
          <p:cNvSpPr>
            <a:spLocks noGrp="1"/>
          </p:cNvSpPr>
          <p:nvPr/>
        </p:nvSpPr>
        <p:spPr>
          <a:xfrm>
            <a:off x="89380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BF9CC-AF77-4570-A435-C5B6B0F15080}"/>
              </a:ext>
            </a:extLst>
          </p:cNvPr>
          <p:cNvSpPr>
            <a:spLocks noGrp="1"/>
          </p:cNvSpPr>
          <p:nvPr/>
        </p:nvSpPr>
        <p:spPr>
          <a:xfrm>
            <a:off x="10308831" y="213055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0B7FD72-D969-4A91-86A4-1C6EA74FC4FC}"/>
              </a:ext>
            </a:extLst>
          </p:cNvPr>
          <p:cNvSpPr>
            <a:spLocks noGrp="1"/>
          </p:cNvSpPr>
          <p:nvPr/>
        </p:nvSpPr>
        <p:spPr>
          <a:xfrm>
            <a:off x="658368" y="3154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84077" lnSpcReduction="20000"/>
          </a:bodyPr>
          <a:lstStyle/>
          <a:p>
            <a:pPr algn="ctr">
              <a:buNone/>
            </a:pP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Այսօր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բոլոր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ութ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քայլերը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կկիրառենք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մեկ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սարքի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համար՝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կառուցվածք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1 և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սկզբունք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1։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Առաձգական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կախոցի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վրա</a:t>
            </a:r>
            <a:r>
              <a:rPr lang="en-US"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տեղադրված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իներտ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զանգվածը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կկարդանք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ունակային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եղանակով</a:t>
            </a:r>
            <a:r>
              <a:rPr sz="2100" b="1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4A88EB-B05A-4406-AF46-8D8A8B6CF99B}"/>
              </a:ext>
            </a:extLst>
          </p:cNvPr>
          <p:cNvSpPr>
            <a:spLocks noGrp="1"/>
          </p:cNvSpPr>
          <p:nvPr/>
        </p:nvSpPr>
        <p:spPr>
          <a:xfrm>
            <a:off x="658368" y="4206240"/>
            <a:ext cx="10874978" cy="134645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▸  Այս </a:t>
            </a:r>
            <a:r>
              <a:rPr sz="1500" b="0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շղթան</a:t>
            </a: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կրկնվում</a:t>
            </a: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 է յուրաքանչյուր բաժնում և </a:t>
            </a:r>
            <a:r>
              <a:rPr sz="1500" b="0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ցույց</a:t>
            </a: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 է տալիս </a:t>
            </a:r>
            <a:r>
              <a:rPr sz="1500" b="0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ընթացիկ</a:t>
            </a: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i="0" dirty="0" err="1">
                <a:solidFill>
                  <a:srgbClr val="1A1F24"/>
                </a:solidFill>
                <a:latin typeface="Arial"/>
                <a:ea typeface="Arial"/>
                <a:cs typeface="Arial"/>
              </a:rPr>
              <a:t>քայլը</a:t>
            </a:r>
            <a:r>
              <a:rPr sz="1500" b="0" i="0" dirty="0">
                <a:solidFill>
                  <a:srgbClr val="1A1F24"/>
                </a:solidFill>
                <a:latin typeface="Arial"/>
                <a:ea typeface="Arial"/>
                <a:cs typeface="Arial"/>
              </a:rPr>
              <a:t>։</a:t>
            </a:r>
          </a:p>
        </p:txBody>
      </p:sp>
    </p:spTree>
    <p:extLst>
      <p:ext uri="{BB962C8B-B14F-4D97-AF65-F5344CB8AC3E}">
        <p14:creationId xmlns:p14="http://schemas.microsoft.com/office/powerpoint/2010/main" val="208200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5E2033-0E44-494C-B548-20A1AFD613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3C529-B665-428D-9413-DA083768ACD9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63F53-4E72-429A-B643-946B3F8C8496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79695-DC06-4115-9D80-CA07E1A4F485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ՀԻՄՆԱԿԱՆ ՀԱՐՑԸ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038D2-7784-4259-84A7-C3709247E989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3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Հեռախոսը հարթ դրեք սեղանին։</a:t>
            </a:r>
          </a:p>
          <a:p>
            <a:pPr algn="l">
              <a:lnSpc>
                <a:spcPct val="118000"/>
              </a:lnSpc>
              <a:buNone/>
            </a:pPr>
            <a:r>
              <a:rPr sz="3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Արագաչափը ցույց է տալիս 1 g,</a:t>
            </a:r>
          </a:p>
          <a:p>
            <a:pPr algn="l">
              <a:lnSpc>
                <a:spcPct val="118000"/>
              </a:lnSpc>
              <a:buNone/>
            </a:pPr>
            <a:r>
              <a:rPr sz="3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թեև հեռախոսը չի արագանում։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0B1841-7224-4C40-98FB-8C77D35A51BD}"/>
              </a:ext>
            </a:extLst>
          </p:cNvPr>
          <p:cNvSpPr>
            <a:spLocks noGrp="1"/>
          </p:cNvSpPr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51186-1B41-44CB-B669-0C51ABF40C27}"/>
              </a:ext>
            </a:extLst>
          </p:cNvPr>
          <p:cNvSpPr>
            <a:spLocks noGrp="1"/>
          </p:cNvSpPr>
          <p:nvPr/>
        </p:nvSpPr>
        <p:spPr>
          <a:xfrm>
            <a:off x="658368" y="4892040"/>
            <a:ext cx="9960559" cy="11292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Սա չափաբերման սխալ կամ զրոյական շեղում չէ։ Սա արագաչափի աշխատանքի կարևորագույն առանձնահատկությունն է, որի նշանը հաճախ սխալ են մեկնաբանում։</a:t>
            </a:r>
          </a:p>
        </p:txBody>
      </p:sp>
    </p:spTree>
    <p:extLst>
      <p:ext uri="{BB962C8B-B14F-4D97-AF65-F5344CB8AC3E}">
        <p14:creationId xmlns:p14="http://schemas.microsoft.com/office/powerpoint/2010/main" val="111739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38F2CE-0733-4843-AF82-D9FD24D852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FDDD1-75DC-4A07-A394-702479C81E28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3EFAC-BE2B-486D-A8D9-394321A54369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AFDD6-BF2A-4740-A804-15A3FF8313AD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ՀԱՐՑՈՒՄ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40AA2-793B-44EE-A355-0D1803284622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Արագաչափը հարթ և անշարժ դրված է սեղանին, իսկ Z առանցքն ուղղված է վեր։</a:t>
            </a:r>
          </a:p>
          <a:p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Ի՞նչ արժեք է ցույց տալիս Z ելքը։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53FCA2-D2EE-4DF8-9F23-52EE82378A70}"/>
              </a:ext>
            </a:extLst>
          </p:cNvPr>
          <p:cNvSpPr>
            <a:spLocks noGrp="1"/>
          </p:cNvSpPr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932A3-2F07-4ED7-A963-D92587A270BF}"/>
              </a:ext>
            </a:extLst>
          </p:cNvPr>
          <p:cNvSpPr>
            <a:spLocks noGrp="1"/>
          </p:cNvSpPr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E39DA-212D-43CA-A4C7-6CCD232E2944}"/>
              </a:ext>
            </a:extLst>
          </p:cNvPr>
          <p:cNvSpPr>
            <a:spLocks noGrp="1"/>
          </p:cNvSpPr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 g․ ոչինչ չի արագանում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DB7736-3363-4D1B-997A-5BEB170D5171}"/>
              </a:ext>
            </a:extLst>
          </p:cNvPr>
          <p:cNvSpPr>
            <a:spLocks noGrp="1"/>
          </p:cNvSpPr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E178B-B2FC-479E-9295-4ACA8608D76C}"/>
              </a:ext>
            </a:extLst>
          </p:cNvPr>
          <p:cNvSpPr>
            <a:spLocks noGrp="1"/>
          </p:cNvSpPr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36827-89B2-4778-AEF8-94F27A699AFE}"/>
              </a:ext>
            </a:extLst>
          </p:cNvPr>
          <p:cNvSpPr>
            <a:spLocks noGrp="1"/>
          </p:cNvSpPr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+1 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000CFF-0DCE-4199-B3C6-265102ADB1B9}"/>
              </a:ext>
            </a:extLst>
          </p:cNvPr>
          <p:cNvSpPr>
            <a:spLocks noGrp="1"/>
          </p:cNvSpPr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FF4EF-C599-4E63-8270-BD05F7DD373C}"/>
              </a:ext>
            </a:extLst>
          </p:cNvPr>
          <p:cNvSpPr>
            <a:spLocks noGrp="1"/>
          </p:cNvSpPr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9A443A-4959-44A2-9615-9902279903C2}"/>
              </a:ext>
            </a:extLst>
          </p:cNvPr>
          <p:cNvSpPr>
            <a:spLocks noGrp="1"/>
          </p:cNvSpPr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−1 g․ ձգողությունն ուղղված է ներքև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1297F6-B052-4D5F-9C33-7D8DF0B88A26}"/>
              </a:ext>
            </a:extLst>
          </p:cNvPr>
          <p:cNvSpPr>
            <a:spLocks noGrp="1"/>
          </p:cNvSpPr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AD2D5-CA8B-4613-B0DC-161B48E6E814}"/>
              </a:ext>
            </a:extLst>
          </p:cNvPr>
          <p:cNvSpPr>
            <a:spLocks noGrp="1"/>
          </p:cNvSpPr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8A05B-7384-4094-9A1E-D614A2543185}"/>
              </a:ext>
            </a:extLst>
          </p:cNvPr>
          <p:cNvSpPr>
            <a:spLocks noGrp="1"/>
          </p:cNvSpPr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Կախված է չափաբերման եղանակից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C55E2C-B219-4E84-8A24-5B277E6F9910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Քվեարկեք ինքնուրույն։ Այնուհետև կդիտարկենք, թե ինչ է իրականում զգում իներտ զանգվածը։</a:t>
            </a:r>
          </a:p>
        </p:txBody>
      </p:sp>
    </p:spTree>
    <p:extLst>
      <p:ext uri="{BB962C8B-B14F-4D97-AF65-F5344CB8AC3E}">
        <p14:creationId xmlns:p14="http://schemas.microsoft.com/office/powerpoint/2010/main" val="169087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1D080-E275-404A-BCBB-9F8FFF6E44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B6B51-02D7-46AB-82A0-43882B84A9A7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717B6-64ED-494C-96A4-C63D528C63F5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7E86A-4C72-4B41-89BE-EFCE21FAED7D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ԲԱԺԻՆ 1  ·  ՉԱՓՎՈՂ ՄԵԾՈՒԹՅՈՒՆ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CDF3B-F88F-4111-9417-8B6D96B279CC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Ինչ է իրականում</a:t>
            </a:r>
          </a:p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չափում արագաչափը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A737B-9A4D-42B4-9E7F-28753DE4C4EA}"/>
              </a:ext>
            </a:extLst>
          </p:cNvPr>
          <p:cNvSpPr>
            <a:spLocks noGrp="1"/>
          </p:cNvSpPr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76F7D-939C-40BF-BF8E-152E8E4BDE0E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Այն չափում է ոչ թե իրական արագացումը, այլ տեսակարար ուժը։ Ձգողությունն ուղղակիորեն չի դեֆորմացնում կառուցվածքը, ուստի չափվում են մնացած մեխանիկական ազդեցությունները։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2E353-1563-4ABA-A7C1-8995D63D3BBF}"/>
              </a:ext>
            </a:extLst>
          </p:cNvPr>
          <p:cNvSpPr>
            <a:spLocks noGrp="1"/>
          </p:cNvSpPr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3BB58-1247-45E5-AE6F-FAA6CB29E4B8}"/>
              </a:ext>
            </a:extLst>
          </p:cNvPr>
          <p:cNvSpPr>
            <a:spLocks noGrp="1"/>
          </p:cNvSpPr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5CB29-3416-466F-ADC3-EB688C226A79}"/>
              </a:ext>
            </a:extLst>
          </p:cNvPr>
          <p:cNvSpPr>
            <a:spLocks noGrp="1"/>
          </p:cNvSpPr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B7405-00AA-4C3C-BD5E-F8FA6B0A360D}"/>
              </a:ext>
            </a:extLst>
          </p:cNvPr>
          <p:cNvSpPr>
            <a:spLocks noGrp="1"/>
          </p:cNvSpPr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7940F-6D41-4354-8921-B8A3EA4B862A}"/>
              </a:ext>
            </a:extLst>
          </p:cNvPr>
          <p:cNvSpPr>
            <a:spLocks noGrp="1"/>
          </p:cNvSpPr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70DD14-4EA7-41CF-9D78-C80FE190C7AB}"/>
              </a:ext>
            </a:extLst>
          </p:cNvPr>
          <p:cNvSpPr>
            <a:spLocks noGrp="1"/>
          </p:cNvSpPr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6CC3C6-764F-4C83-9F89-BA38FC047737}"/>
              </a:ext>
            </a:extLst>
          </p:cNvPr>
          <p:cNvSpPr>
            <a:spLocks noGrp="1"/>
          </p:cNvSpPr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636ADC-179A-45DA-A46D-3CC5F0869250}"/>
              </a:ext>
            </a:extLst>
          </p:cNvPr>
          <p:cNvSpPr>
            <a:spLocks noGrp="1"/>
          </p:cNvSpPr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</p:spTree>
    <p:extLst>
      <p:ext uri="{BB962C8B-B14F-4D97-AF65-F5344CB8AC3E}">
        <p14:creationId xmlns:p14="http://schemas.microsoft.com/office/powerpoint/2010/main" val="81403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B574B9-E5D6-4A43-913E-D98DDC2982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B788B-416E-4B68-960B-4B03B889776D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52449-F5EB-4F8D-A283-6A8EE313F334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86BF5-5292-4D23-AAF3-F62F067852E7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Ինչ է զգում իներտ զանգվածը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5E794-2F8A-4BC5-8F97-B441A260DB8E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496A0-EF10-43A9-8EFE-3946F62F143E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Ձգողությունը միատեսակ է ազդում զանգվածի և պատյանի վրա, ուստի կախոցը այն չի զգում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A86C53-8A1D-4621-BE35-B1C71AD577F4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ՍԵՂԱՆԻ ՎՐԱ ՀԱՆԳԻՍՏ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8DBD53-A0C4-452C-AF80-F5FEC71DE78A}"/>
              </a:ext>
            </a:extLst>
          </p:cNvPr>
          <p:cNvSpPr>
            <a:spLocks noGrp="1"/>
          </p:cNvSpPr>
          <p:nvPr/>
        </p:nvSpPr>
        <p:spPr>
          <a:xfrm>
            <a:off x="658368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F6974-138F-4781-9ADB-35BB832DA110}"/>
              </a:ext>
            </a:extLst>
          </p:cNvPr>
          <p:cNvSpPr>
            <a:spLocks noGrp="1"/>
          </p:cNvSpPr>
          <p:nvPr/>
        </p:nvSpPr>
        <p:spPr>
          <a:xfrm>
            <a:off x="804672" y="259689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ԻՐԱԿԱՆ ԱՐԱԳԱՑՈՒՄ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C1AD9-9BF6-4C11-80E2-F1179DB61136}"/>
              </a:ext>
            </a:extLst>
          </p:cNvPr>
          <p:cNvSpPr>
            <a:spLocks noGrp="1"/>
          </p:cNvSpPr>
          <p:nvPr/>
        </p:nvSpPr>
        <p:spPr>
          <a:xfrm>
            <a:off x="804672" y="28163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a =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F19A1-4EB8-4560-9321-A0EEC146EF6E}"/>
              </a:ext>
            </a:extLst>
          </p:cNvPr>
          <p:cNvSpPr>
            <a:spLocks noGrp="1"/>
          </p:cNvSpPr>
          <p:nvPr/>
        </p:nvSpPr>
        <p:spPr>
          <a:xfrm>
            <a:off x="804672" y="3246120"/>
            <a:ext cx="32004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սեղանի հակազդեցությունը</a:t>
            </a:r>
          </a:p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փոխանցվում է զանգվածին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337A8-BC88-40C7-B01F-7835929451D0}"/>
              </a:ext>
            </a:extLst>
          </p:cNvPr>
          <p:cNvSpPr>
            <a:spLocks noGrp="1"/>
          </p:cNvSpPr>
          <p:nvPr/>
        </p:nvSpPr>
        <p:spPr>
          <a:xfrm>
            <a:off x="804672" y="40233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Z ԵԼՔԸ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80A9F-4F86-4E82-BB20-819711340635}"/>
              </a:ext>
            </a:extLst>
          </p:cNvPr>
          <p:cNvSpPr>
            <a:spLocks noGrp="1"/>
          </p:cNvSpPr>
          <p:nvPr/>
        </p:nvSpPr>
        <p:spPr>
          <a:xfrm>
            <a:off x="1938528" y="391363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+1 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283B426-3EB4-4B2E-87B1-356992CA12FA}"/>
              </a:ext>
            </a:extLst>
          </p:cNvPr>
          <p:cNvSpPr>
            <a:spLocks noGrp="1"/>
          </p:cNvSpPr>
          <p:nvPr/>
        </p:nvSpPr>
        <p:spPr>
          <a:xfrm>
            <a:off x="4352544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ԱԶԱՏ ԱՆԿՈՒՄ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6477A0-2B04-4B64-AC8D-F161CD14A74D}"/>
              </a:ext>
            </a:extLst>
          </p:cNvPr>
          <p:cNvSpPr>
            <a:spLocks noGrp="1"/>
          </p:cNvSpPr>
          <p:nvPr/>
        </p:nvSpPr>
        <p:spPr>
          <a:xfrm>
            <a:off x="4352544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493CA-E850-49D2-80A7-906FBE9E9D3F}"/>
              </a:ext>
            </a:extLst>
          </p:cNvPr>
          <p:cNvSpPr>
            <a:spLocks noGrp="1"/>
          </p:cNvSpPr>
          <p:nvPr/>
        </p:nvSpPr>
        <p:spPr>
          <a:xfrm>
            <a:off x="4498848" y="259689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ԻՐԱԿԱՆ ԱՐԱԳԱՑՈՒՄ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D949C5-8FC2-46F0-92D3-5019DFAD8A97}"/>
              </a:ext>
            </a:extLst>
          </p:cNvPr>
          <p:cNvSpPr>
            <a:spLocks noGrp="1"/>
          </p:cNvSpPr>
          <p:nvPr/>
        </p:nvSpPr>
        <p:spPr>
          <a:xfrm>
            <a:off x="4498848" y="28163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a = g, down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FC04E-AD30-45FA-B93D-0F2A9A547780}"/>
              </a:ext>
            </a:extLst>
          </p:cNvPr>
          <p:cNvSpPr>
            <a:spLocks noGrp="1"/>
          </p:cNvSpPr>
          <p:nvPr/>
        </p:nvSpPr>
        <p:spPr>
          <a:xfrm>
            <a:off x="4498848" y="3246120"/>
            <a:ext cx="32004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հենարան չկա․ պատյանն ու</a:t>
            </a:r>
          </a:p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զանգվածը միասին են ընկնում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59F876-D827-4739-A0E6-A553E1DCFAB6}"/>
              </a:ext>
            </a:extLst>
          </p:cNvPr>
          <p:cNvSpPr>
            <a:spLocks noGrp="1"/>
          </p:cNvSpPr>
          <p:nvPr/>
        </p:nvSpPr>
        <p:spPr>
          <a:xfrm>
            <a:off x="4498848" y="40233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Z ԵԼՔԸ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B1230C-D718-47F6-BCD2-E0F304746EB8}"/>
              </a:ext>
            </a:extLst>
          </p:cNvPr>
          <p:cNvSpPr>
            <a:spLocks noGrp="1"/>
          </p:cNvSpPr>
          <p:nvPr/>
        </p:nvSpPr>
        <p:spPr>
          <a:xfrm>
            <a:off x="5632704" y="391363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C0392B"/>
                </a:solidFill>
                <a:latin typeface="Courier New"/>
                <a:ea typeface="Courier New"/>
                <a:cs typeface="Courier New"/>
              </a:rPr>
              <a:t>0 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E4DA55-B32F-43DF-AFD4-C613DA03E2B1}"/>
              </a:ext>
            </a:extLst>
          </p:cNvPr>
          <p:cNvSpPr>
            <a:spLocks noGrp="1"/>
          </p:cNvSpPr>
          <p:nvPr/>
        </p:nvSpPr>
        <p:spPr>
          <a:xfrm>
            <a:off x="8046720" y="196596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ՎԵՐԵԼԱԿԸ ԱՐԱԳԱՆՈՒՄ Է ՎԵՐ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3EEE8B-7423-4D60-B07B-02E7C5BD81C5}"/>
              </a:ext>
            </a:extLst>
          </p:cNvPr>
          <p:cNvSpPr>
            <a:spLocks noGrp="1"/>
          </p:cNvSpPr>
          <p:nvPr/>
        </p:nvSpPr>
        <p:spPr>
          <a:xfrm>
            <a:off x="8046720" y="2478024"/>
            <a:ext cx="3493008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CE46E0-E94C-46EE-B46C-5686911BD014}"/>
              </a:ext>
            </a:extLst>
          </p:cNvPr>
          <p:cNvSpPr>
            <a:spLocks noGrp="1"/>
          </p:cNvSpPr>
          <p:nvPr/>
        </p:nvSpPr>
        <p:spPr>
          <a:xfrm>
            <a:off x="8193024" y="259689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ԻՐԱԿԱՆ ԱՐԱԳԱՑՈՒՄ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4F21A0-7796-4A78-96EC-E4637078BABE}"/>
              </a:ext>
            </a:extLst>
          </p:cNvPr>
          <p:cNvSpPr>
            <a:spLocks noGrp="1"/>
          </p:cNvSpPr>
          <p:nvPr/>
        </p:nvSpPr>
        <p:spPr>
          <a:xfrm>
            <a:off x="8193024" y="28163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a = 0.2 g, 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840E3-DC0F-4C3A-A04D-575F630B7D3B}"/>
              </a:ext>
            </a:extLst>
          </p:cNvPr>
          <p:cNvSpPr>
            <a:spLocks noGrp="1"/>
          </p:cNvSpPr>
          <p:nvPr/>
        </p:nvSpPr>
        <p:spPr>
          <a:xfrm>
            <a:off x="8193024" y="3246120"/>
            <a:ext cx="3200400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հատակի ուժը ձգողությունից</a:t>
            </a:r>
          </a:p>
          <a:p>
            <a:pPr algn="l">
              <a:lnSpc>
                <a:spcPct val="125000"/>
              </a:lnSpc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մեծ է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4DDF9A-789E-44F5-A4F9-0F224960A437}"/>
              </a:ext>
            </a:extLst>
          </p:cNvPr>
          <p:cNvSpPr>
            <a:spLocks noGrp="1"/>
          </p:cNvSpPr>
          <p:nvPr/>
        </p:nvSpPr>
        <p:spPr>
          <a:xfrm>
            <a:off x="8193024" y="40233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Z ԵԼՔԸ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CF9C8F-84CF-4E2C-8844-5EF4098056DE}"/>
              </a:ext>
            </a:extLst>
          </p:cNvPr>
          <p:cNvSpPr>
            <a:spLocks noGrp="1"/>
          </p:cNvSpPr>
          <p:nvPr/>
        </p:nvSpPr>
        <p:spPr>
          <a:xfrm>
            <a:off x="9326880" y="391363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8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+1.2 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F5230F-DAF5-4D60-816C-7372101EF619}"/>
              </a:ext>
            </a:extLst>
          </p:cNvPr>
          <p:cNvSpPr>
            <a:spLocks noGrp="1"/>
          </p:cNvSpPr>
          <p:nvPr/>
        </p:nvSpPr>
        <p:spPr>
          <a:xfrm>
            <a:off x="658368" y="4686300"/>
            <a:ext cx="10874978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1425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տեսակարար ուժ՝  f = a − g      հանգստի վիճակում՝ f = +1 g՝ դեպի վեր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4A89735-38EA-4B99-820E-9138D22579CA}"/>
              </a:ext>
            </a:extLst>
          </p:cNvPr>
          <p:cNvSpPr>
            <a:spLocks noGrp="1"/>
          </p:cNvSpPr>
          <p:nvPr/>
        </p:nvSpPr>
        <p:spPr>
          <a:xfrm>
            <a:off x="658368" y="5504688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6645"/>
          </a:bodyPr>
          <a:lstStyle/>
          <a:p>
            <a:pPr algn="ctr">
              <a:buNone/>
            </a:pPr>
            <a:r>
              <a:rPr sz="19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Արագաչափը չափում է ձգողությունից բացի պատյանի վրա ազդող ուժերը՝ բաժանված զանգվածի վրա։ Հանգիստ վիճակում այդ ուժը սեղանի հակազդեցությունն է։</a:t>
            </a:r>
          </a:p>
        </p:txBody>
      </p:sp>
    </p:spTree>
    <p:extLst>
      <p:ext uri="{BB962C8B-B14F-4D97-AF65-F5344CB8AC3E}">
        <p14:creationId xmlns:p14="http://schemas.microsoft.com/office/powerpoint/2010/main" val="142374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0EC0BB-AED0-4CCD-857D-765385DA3A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5454B-B75D-4540-9F10-E405767CC532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8CBF8-799E-436C-BE16-B855EF6C4DCA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DD1C6-BAAF-4AE4-88CA-B1A684888D86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ՀԱՐՑՈՒՄ 1  ·  ՊԱՏԱՍԽԱՆ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79A24-14CC-433C-A3C0-9CE97ADA3291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Արագաչափը հարթ և անշարժ դրված է սեղանին, իսկ Z առանցքն ուղղված է վեր։</a:t>
            </a:r>
          </a:p>
          <a:p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Ի՞նչ արժեք է ցույց տալիս Z ելքը։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8F46474-BBE0-403B-BDB8-5600CD95E386}"/>
              </a:ext>
            </a:extLst>
          </p:cNvPr>
          <p:cNvSpPr>
            <a:spLocks noGrp="1"/>
          </p:cNvSpPr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77241-D81E-46F2-B182-694348CEC712}"/>
              </a:ext>
            </a:extLst>
          </p:cNvPr>
          <p:cNvSpPr>
            <a:spLocks noGrp="1"/>
          </p:cNvSpPr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2A920-57F5-41E0-A746-E55B454F5617}"/>
              </a:ext>
            </a:extLst>
          </p:cNvPr>
          <p:cNvSpPr>
            <a:spLocks noGrp="1"/>
          </p:cNvSpPr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 g․ ոչինչ չի արագանում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833F8B-1C2B-4A48-BA0A-835A3719D44C}"/>
              </a:ext>
            </a:extLst>
          </p:cNvPr>
          <p:cNvSpPr>
            <a:spLocks noGrp="1"/>
          </p:cNvSpPr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9EB69-54DA-42F3-95F3-F0984980F4AB}"/>
              </a:ext>
            </a:extLst>
          </p:cNvPr>
          <p:cNvSpPr>
            <a:spLocks noGrp="1"/>
          </p:cNvSpPr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A5A67-01B3-48A0-A98D-240456C9A2D3}"/>
              </a:ext>
            </a:extLst>
          </p:cNvPr>
          <p:cNvSpPr>
            <a:spLocks noGrp="1"/>
          </p:cNvSpPr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+1 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A85EA3-8F7A-4DAD-8BC4-EEDB5C5297DB}"/>
              </a:ext>
            </a:extLst>
          </p:cNvPr>
          <p:cNvSpPr>
            <a:spLocks noGrp="1"/>
          </p:cNvSpPr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9DE0ED-05B4-4FBE-8A3B-9033D51188CC}"/>
              </a:ext>
            </a:extLst>
          </p:cNvPr>
          <p:cNvSpPr>
            <a:spLocks noGrp="1"/>
          </p:cNvSpPr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891702-52D7-4434-814C-5DFAD94EEBD5}"/>
              </a:ext>
            </a:extLst>
          </p:cNvPr>
          <p:cNvSpPr>
            <a:spLocks noGrp="1"/>
          </p:cNvSpPr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−1 g․ ձգողությունն ուղղված է ներքև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545D62-5E9F-4F1E-8C09-51D74F321706}"/>
              </a:ext>
            </a:extLst>
          </p:cNvPr>
          <p:cNvSpPr>
            <a:spLocks noGrp="1"/>
          </p:cNvSpPr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E5733-B820-4B7F-8031-A7AD3A9A3638}"/>
              </a:ext>
            </a:extLst>
          </p:cNvPr>
          <p:cNvSpPr>
            <a:spLocks noGrp="1"/>
          </p:cNvSpPr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AE6F8-D44D-4E01-8B64-9EE37DA47C65}"/>
              </a:ext>
            </a:extLst>
          </p:cNvPr>
          <p:cNvSpPr>
            <a:spLocks noGrp="1"/>
          </p:cNvSpPr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Կախված է չափաբերման եղանակից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D512F-DDF3-45DF-84B0-1B29226BD084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Arial"/>
                <a:ea typeface="Arial"/>
                <a:cs typeface="Arial"/>
              </a:rPr>
              <a:t>+1 g՝ ԴԵՊԻ ՎԵՐ։ Սեղանը mg ուժով դեպի վեր է հրում պատյանը, և առաձգական տարրերը զգում են հենց այդ ազդեցությունը։ Ազատ անկման դեպքում ցուցմունքը զրո է։ Նշանը ցույց է տալիս հրող ուժի ուղղությունը։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49599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62D5A0-8A11-4921-AAC7-ABCF23BC0D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25D88-69A1-40B6-AF76-8CFFDC6A5B4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9D0DF-2D4C-4D67-A900-94F18BC41569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7E3F24-9AA0-466B-998B-E4C5C8CAF6EB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Երկու բաղադրիչ՝ մեկ ցուցմունքում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4BBA29-D95D-4588-A655-ADC84528AFE1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46F1E-6D55-404D-BC22-BCC316C1EB3E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Հաստատուն բաղադրիչը՝ ձգողությունից, և դինամիկ բաղադրիչը՝ շարժումից, գումարվում են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4F5648-A01E-4C4B-BDCC-1ABD85B93389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ՀԱՍՏԱՏՈՒՆ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7B42D3-175B-4294-A7CE-5B0C0677249B}"/>
              </a:ext>
            </a:extLst>
          </p:cNvPr>
          <p:cNvSpPr>
            <a:spLocks noGrp="1"/>
          </p:cNvSpPr>
          <p:nvPr/>
        </p:nvSpPr>
        <p:spPr>
          <a:xfrm>
            <a:off x="658368" y="2532888"/>
            <a:ext cx="53492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00CE1F-4BF6-440C-88A9-F795EC6F4AE4}"/>
              </a:ext>
            </a:extLst>
          </p:cNvPr>
          <p:cNvSpPr>
            <a:spLocks noGrp="1"/>
          </p:cNvSpPr>
          <p:nvPr/>
        </p:nvSpPr>
        <p:spPr>
          <a:xfrm>
            <a:off x="841248" y="269748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ձգողության պրոյեկցիան տվյալ առանցքի վրա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07E0A-50ED-4660-A9DE-A51F900BC854}"/>
              </a:ext>
            </a:extLst>
          </p:cNvPr>
          <p:cNvSpPr>
            <a:spLocks noGrp="1"/>
          </p:cNvSpPr>
          <p:nvPr/>
        </p:nvSpPr>
        <p:spPr>
          <a:xfrm>
            <a:off x="841248" y="31546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5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փոխվում է սարքի ԹԵՔՎԵԼԻՍ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0F4610-1867-4744-9C4B-7C037245D9AF}"/>
              </a:ext>
            </a:extLst>
          </p:cNvPr>
          <p:cNvSpPr>
            <a:spLocks noGrp="1"/>
          </p:cNvSpPr>
          <p:nvPr/>
        </p:nvSpPr>
        <p:spPr>
          <a:xfrm>
            <a:off x="841248" y="3639312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ԿԻՐԱՌՈՒՄՆԵՐ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57B6C-E7F9-4DD8-81C1-67E69BA83D4C}"/>
              </a:ext>
            </a:extLst>
          </p:cNvPr>
          <p:cNvSpPr>
            <a:spLocks noGrp="1"/>
          </p:cNvSpPr>
          <p:nvPr/>
        </p:nvSpPr>
        <p:spPr>
          <a:xfrm>
            <a:off x="841248" y="3877056"/>
            <a:ext cx="4983480" cy="48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75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թեքություն · հորիզոնավորում · կողմնորոշում · ազատ անկում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BEF8D5-8D99-42D5-B665-027AD043D739}"/>
              </a:ext>
            </a:extLst>
          </p:cNvPr>
          <p:cNvSpPr>
            <a:spLocks noGrp="1"/>
          </p:cNvSpPr>
          <p:nvPr/>
        </p:nvSpPr>
        <p:spPr>
          <a:xfrm>
            <a:off x="632764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ԴԻՆԱՄԻԿ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824DA6-4BF8-41F7-9237-8DA1E91F08A7}"/>
              </a:ext>
            </a:extLst>
          </p:cNvPr>
          <p:cNvSpPr>
            <a:spLocks noGrp="1"/>
          </p:cNvSpPr>
          <p:nvPr/>
        </p:nvSpPr>
        <p:spPr>
          <a:xfrm>
            <a:off x="6327648" y="2532888"/>
            <a:ext cx="534924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4CEE64-C5E5-4E50-98F0-F504008F6145}"/>
              </a:ext>
            </a:extLst>
          </p:cNvPr>
          <p:cNvSpPr>
            <a:spLocks noGrp="1"/>
          </p:cNvSpPr>
          <p:nvPr/>
        </p:nvSpPr>
        <p:spPr>
          <a:xfrm>
            <a:off x="6510528" y="269748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ձգողությունից անկախ մեխանիկական ազդեցությունները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5E2DF-5EF2-46B2-B734-F02D4CFBF466}"/>
              </a:ext>
            </a:extLst>
          </p:cNvPr>
          <p:cNvSpPr>
            <a:spLocks noGrp="1"/>
          </p:cNvSpPr>
          <p:nvPr/>
        </p:nvSpPr>
        <p:spPr>
          <a:xfrm>
            <a:off x="6510528" y="315468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5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փոխվում է սարքի ՇԱՐԺՄԱՆ ժամանակ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5257C-336B-4877-9DCE-D1C463100043}"/>
              </a:ext>
            </a:extLst>
          </p:cNvPr>
          <p:cNvSpPr>
            <a:spLocks noGrp="1"/>
          </p:cNvSpPr>
          <p:nvPr/>
        </p:nvSpPr>
        <p:spPr>
          <a:xfrm>
            <a:off x="6510528" y="3639312"/>
            <a:ext cx="498348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ԿԻՐԱՌՈՒՄՆԵՐ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E2940D-36DA-4D2C-B9E3-E001C51D82A6}"/>
              </a:ext>
            </a:extLst>
          </p:cNvPr>
          <p:cNvSpPr>
            <a:spLocks noGrp="1"/>
          </p:cNvSpPr>
          <p:nvPr/>
        </p:nvSpPr>
        <p:spPr>
          <a:xfrm>
            <a:off x="6510528" y="3877056"/>
            <a:ext cx="4983480" cy="487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75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քայլերի հաշվարկ · հարված · տատանում · վթար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74CCF8-12FD-4B01-B10A-AC235F844A04}"/>
              </a:ext>
            </a:extLst>
          </p:cNvPr>
          <p:cNvSpPr>
            <a:spLocks noGrp="1"/>
          </p:cNvSpPr>
          <p:nvPr/>
        </p:nvSpPr>
        <p:spPr>
          <a:xfrm>
            <a:off x="658368" y="46634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21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Տվիչը տալիս է երկու բաղադրիչների ԳՈՒՄԱՐԸ։ Սիլիցիումային կառուցվածքը չի տարբերակում դրանց աղբյուրները։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A9624-06DF-485A-B439-2599DD8CC791}"/>
              </a:ext>
            </a:extLst>
          </p:cNvPr>
          <p:cNvSpPr>
            <a:spLocks noGrp="1"/>
          </p:cNvSpPr>
          <p:nvPr/>
        </p:nvSpPr>
        <p:spPr>
          <a:xfrm>
            <a:off x="658368" y="5559552"/>
            <a:ext cx="10874978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35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Բաղադրիչները կարելի է բաժանել միայն հաճախականությամբ․ թեքությունը սովորաբար դանդաղ է, շարժումը՝ արագ։ Եթե հաճախականությունները համընկնում են, անհրաժեշտ է երկրորդ տվիչ։</a:t>
            </a:r>
          </a:p>
        </p:txBody>
      </p:sp>
    </p:spTree>
    <p:extLst>
      <p:ext uri="{BB962C8B-B14F-4D97-AF65-F5344CB8AC3E}">
        <p14:creationId xmlns:p14="http://schemas.microsoft.com/office/powerpoint/2010/main" val="129727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D3DFD4-30D3-41F6-8F57-1642B0F55F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788BE-7514-4801-B58D-CF45B32F060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51D1C-6D82-43C0-9BBC-0EED3AE1273D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9BA04-2CE7-4348-BA2B-6550F14672C6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Թեքության որոշումը ձգողությամբ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ADE58-C5E0-4DB8-9656-95F6EE93CD15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C3157A-F0C8-4516-951D-9D2F5FB19955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Առանցքը չափում է g·sin θ, իսկ թեքության նկատմամբ զգայունությունը կախված է դրա ուղղությունից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D2E18F-2C69-4E1F-995F-0EB08A9A2AD4}"/>
              </a:ext>
            </a:extLst>
          </p:cNvPr>
          <p:cNvSpPr>
            <a:spLocks noGrp="1"/>
          </p:cNvSpPr>
          <p:nvPr/>
        </p:nvSpPr>
        <p:spPr>
          <a:xfrm>
            <a:off x="932688" y="4343400"/>
            <a:ext cx="4937760" cy="127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25610-D39F-4288-A735-DF6C7E2970D6}"/>
              </a:ext>
            </a:extLst>
          </p:cNvPr>
          <p:cNvSpPr>
            <a:spLocks noGrp="1"/>
          </p:cNvSpPr>
          <p:nvPr/>
        </p:nvSpPr>
        <p:spPr>
          <a:xfrm>
            <a:off x="932688" y="2240280"/>
            <a:ext cx="12700" cy="210312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C9168-056C-4A9B-B968-A61A62928769}"/>
              </a:ext>
            </a:extLst>
          </p:cNvPr>
          <p:cNvSpPr>
            <a:spLocks noGrp="1"/>
          </p:cNvSpPr>
          <p:nvPr/>
        </p:nvSpPr>
        <p:spPr>
          <a:xfrm>
            <a:off x="932688" y="43982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թեքություն θ, 0°…90°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B8CB0-BE5F-49CB-BB95-AB345099D133}"/>
              </a:ext>
            </a:extLst>
          </p:cNvPr>
          <p:cNvSpPr>
            <a:spLocks noGrp="1"/>
          </p:cNvSpPr>
          <p:nvPr/>
        </p:nvSpPr>
        <p:spPr>
          <a:xfrm>
            <a:off x="1005840" y="192938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ելք, g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B244233-FF36-4C09-90DC-FACE99D224FF}"/>
              </a:ext>
            </a:extLst>
          </p:cNvPr>
          <p:cNvSpPr>
            <a:spLocks noGrp="1"/>
          </p:cNvSpPr>
          <p:nvPr/>
        </p:nvSpPr>
        <p:spPr>
          <a:xfrm>
            <a:off x="932688" y="2340428"/>
            <a:ext cx="4937760" cy="2002972"/>
          </a:xfrm>
          <a:custGeom>
            <a:avLst/>
            <a:gdLst/>
            <a:ahLst/>
            <a:cxnLst/>
            <a:rect l="l" t="t" r="r" b="b"/>
            <a:pathLst>
              <a:path w="4937760" h="2002972">
                <a:moveTo>
                  <a:pt x="0" y="2002972"/>
                </a:moveTo>
                <a:lnTo>
                  <a:pt x="20574" y="1989862"/>
                </a:lnTo>
                <a:lnTo>
                  <a:pt x="41148" y="1976753"/>
                </a:lnTo>
                <a:lnTo>
                  <a:pt x="61722" y="1963646"/>
                </a:lnTo>
                <a:lnTo>
                  <a:pt x="82296" y="1950540"/>
                </a:lnTo>
                <a:lnTo>
                  <a:pt x="102870" y="1937436"/>
                </a:lnTo>
                <a:lnTo>
                  <a:pt x="123444" y="1924335"/>
                </a:lnTo>
                <a:lnTo>
                  <a:pt x="144018" y="1911238"/>
                </a:lnTo>
                <a:lnTo>
                  <a:pt x="164592" y="1898144"/>
                </a:lnTo>
                <a:lnTo>
                  <a:pt x="185166" y="1885055"/>
                </a:lnTo>
                <a:lnTo>
                  <a:pt x="205740" y="1871971"/>
                </a:lnTo>
                <a:lnTo>
                  <a:pt x="226314" y="1858892"/>
                </a:lnTo>
                <a:lnTo>
                  <a:pt x="246888" y="1845820"/>
                </a:lnTo>
                <a:lnTo>
                  <a:pt x="267462" y="1832755"/>
                </a:lnTo>
                <a:lnTo>
                  <a:pt x="288036" y="1819696"/>
                </a:lnTo>
                <a:lnTo>
                  <a:pt x="308610" y="1806646"/>
                </a:lnTo>
                <a:lnTo>
                  <a:pt x="329184" y="1793604"/>
                </a:lnTo>
                <a:lnTo>
                  <a:pt x="349758" y="1780571"/>
                </a:lnTo>
                <a:lnTo>
                  <a:pt x="370332" y="1767547"/>
                </a:lnTo>
                <a:lnTo>
                  <a:pt x="390906" y="1754534"/>
                </a:lnTo>
                <a:lnTo>
                  <a:pt x="411480" y="1741531"/>
                </a:lnTo>
                <a:lnTo>
                  <a:pt x="432054" y="1728540"/>
                </a:lnTo>
                <a:lnTo>
                  <a:pt x="452628" y="1715560"/>
                </a:lnTo>
                <a:lnTo>
                  <a:pt x="473202" y="1702592"/>
                </a:lnTo>
                <a:lnTo>
                  <a:pt x="493776" y="1689638"/>
                </a:lnTo>
                <a:lnTo>
                  <a:pt x="514350" y="1676697"/>
                </a:lnTo>
                <a:lnTo>
                  <a:pt x="534924" y="1663769"/>
                </a:lnTo>
                <a:lnTo>
                  <a:pt x="555498" y="1650857"/>
                </a:lnTo>
                <a:lnTo>
                  <a:pt x="576072" y="1637959"/>
                </a:lnTo>
                <a:lnTo>
                  <a:pt x="596646" y="1625077"/>
                </a:lnTo>
                <a:lnTo>
                  <a:pt x="617220" y="1612211"/>
                </a:lnTo>
                <a:lnTo>
                  <a:pt x="637794" y="1599362"/>
                </a:lnTo>
                <a:lnTo>
                  <a:pt x="658368" y="1586530"/>
                </a:lnTo>
                <a:lnTo>
                  <a:pt x="678942" y="1573716"/>
                </a:lnTo>
                <a:lnTo>
                  <a:pt x="699516" y="1560921"/>
                </a:lnTo>
                <a:lnTo>
                  <a:pt x="720090" y="1548144"/>
                </a:lnTo>
                <a:lnTo>
                  <a:pt x="740664" y="1535387"/>
                </a:lnTo>
                <a:lnTo>
                  <a:pt x="761238" y="1522650"/>
                </a:lnTo>
                <a:lnTo>
                  <a:pt x="781812" y="1509933"/>
                </a:lnTo>
                <a:lnTo>
                  <a:pt x="802386" y="1497238"/>
                </a:lnTo>
                <a:lnTo>
                  <a:pt x="822960" y="1484564"/>
                </a:lnTo>
                <a:lnTo>
                  <a:pt x="843534" y="1471913"/>
                </a:lnTo>
                <a:lnTo>
                  <a:pt x="864108" y="1459284"/>
                </a:lnTo>
                <a:lnTo>
                  <a:pt x="884682" y="1446679"/>
                </a:lnTo>
                <a:lnTo>
                  <a:pt x="905256" y="1434097"/>
                </a:lnTo>
                <a:lnTo>
                  <a:pt x="925830" y="1421540"/>
                </a:lnTo>
                <a:lnTo>
                  <a:pt x="946404" y="1409007"/>
                </a:lnTo>
                <a:lnTo>
                  <a:pt x="966978" y="1396500"/>
                </a:lnTo>
                <a:lnTo>
                  <a:pt x="987552" y="1384019"/>
                </a:lnTo>
                <a:lnTo>
                  <a:pt x="1008126" y="1371565"/>
                </a:lnTo>
                <a:lnTo>
                  <a:pt x="1028700" y="1359137"/>
                </a:lnTo>
                <a:lnTo>
                  <a:pt x="1049274" y="1346738"/>
                </a:lnTo>
                <a:lnTo>
                  <a:pt x="1069848" y="1334366"/>
                </a:lnTo>
                <a:lnTo>
                  <a:pt x="1090422" y="1322023"/>
                </a:lnTo>
                <a:lnTo>
                  <a:pt x="1110996" y="1309709"/>
                </a:lnTo>
                <a:lnTo>
                  <a:pt x="1131570" y="1297425"/>
                </a:lnTo>
                <a:lnTo>
                  <a:pt x="1152144" y="1285171"/>
                </a:lnTo>
                <a:lnTo>
                  <a:pt x="1172718" y="1272948"/>
                </a:lnTo>
                <a:lnTo>
                  <a:pt x="1193292" y="1260756"/>
                </a:lnTo>
                <a:lnTo>
                  <a:pt x="1213866" y="1248595"/>
                </a:lnTo>
                <a:lnTo>
                  <a:pt x="1234440" y="1236468"/>
                </a:lnTo>
                <a:lnTo>
                  <a:pt x="1255014" y="1224373"/>
                </a:lnTo>
                <a:lnTo>
                  <a:pt x="1275588" y="1212311"/>
                </a:lnTo>
                <a:lnTo>
                  <a:pt x="1296162" y="1200283"/>
                </a:lnTo>
                <a:lnTo>
                  <a:pt x="1316736" y="1188290"/>
                </a:lnTo>
                <a:lnTo>
                  <a:pt x="1337310" y="1176331"/>
                </a:lnTo>
                <a:lnTo>
                  <a:pt x="1357884" y="1164408"/>
                </a:lnTo>
                <a:lnTo>
                  <a:pt x="1378458" y="1152521"/>
                </a:lnTo>
                <a:lnTo>
                  <a:pt x="1399032" y="1140670"/>
                </a:lnTo>
                <a:lnTo>
                  <a:pt x="1419606" y="1128856"/>
                </a:lnTo>
                <a:lnTo>
                  <a:pt x="1440180" y="1117080"/>
                </a:lnTo>
                <a:lnTo>
                  <a:pt x="1460754" y="1105341"/>
                </a:lnTo>
                <a:lnTo>
                  <a:pt x="1481328" y="1093642"/>
                </a:lnTo>
                <a:lnTo>
                  <a:pt x="1501902" y="1081980"/>
                </a:lnTo>
                <a:lnTo>
                  <a:pt x="1522476" y="1070359"/>
                </a:lnTo>
                <a:lnTo>
                  <a:pt x="1543050" y="1058777"/>
                </a:lnTo>
                <a:lnTo>
                  <a:pt x="1563624" y="1047236"/>
                </a:lnTo>
                <a:lnTo>
                  <a:pt x="1584198" y="1035736"/>
                </a:lnTo>
                <a:lnTo>
                  <a:pt x="1604772" y="1024277"/>
                </a:lnTo>
                <a:lnTo>
                  <a:pt x="1625346" y="1012860"/>
                </a:lnTo>
                <a:lnTo>
                  <a:pt x="1645920" y="1001486"/>
                </a:lnTo>
                <a:lnTo>
                  <a:pt x="1666494" y="990154"/>
                </a:lnTo>
                <a:lnTo>
                  <a:pt x="1687068" y="978866"/>
                </a:lnTo>
                <a:lnTo>
                  <a:pt x="1707642" y="967622"/>
                </a:lnTo>
                <a:lnTo>
                  <a:pt x="1728216" y="956422"/>
                </a:lnTo>
                <a:lnTo>
                  <a:pt x="1748790" y="945267"/>
                </a:lnTo>
                <a:lnTo>
                  <a:pt x="1769364" y="934157"/>
                </a:lnTo>
                <a:lnTo>
                  <a:pt x="1789938" y="923093"/>
                </a:lnTo>
                <a:lnTo>
                  <a:pt x="1810512" y="912075"/>
                </a:lnTo>
                <a:lnTo>
                  <a:pt x="1831086" y="901104"/>
                </a:lnTo>
                <a:lnTo>
                  <a:pt x="1851660" y="890180"/>
                </a:lnTo>
                <a:lnTo>
                  <a:pt x="1872234" y="879304"/>
                </a:lnTo>
                <a:lnTo>
                  <a:pt x="1892808" y="868476"/>
                </a:lnTo>
                <a:lnTo>
                  <a:pt x="1913382" y="857697"/>
                </a:lnTo>
                <a:lnTo>
                  <a:pt x="1933956" y="846966"/>
                </a:lnTo>
                <a:lnTo>
                  <a:pt x="1954530" y="836285"/>
                </a:lnTo>
                <a:lnTo>
                  <a:pt x="1975104" y="825654"/>
                </a:lnTo>
                <a:lnTo>
                  <a:pt x="1995678" y="815074"/>
                </a:lnTo>
                <a:lnTo>
                  <a:pt x="2016252" y="804544"/>
                </a:lnTo>
                <a:lnTo>
                  <a:pt x="2036826" y="794066"/>
                </a:lnTo>
                <a:lnTo>
                  <a:pt x="2057400" y="783640"/>
                </a:lnTo>
                <a:lnTo>
                  <a:pt x="2077974" y="773266"/>
                </a:lnTo>
                <a:lnTo>
                  <a:pt x="2098548" y="762944"/>
                </a:lnTo>
                <a:lnTo>
                  <a:pt x="2119122" y="752676"/>
                </a:lnTo>
                <a:lnTo>
                  <a:pt x="2139696" y="742461"/>
                </a:lnTo>
                <a:lnTo>
                  <a:pt x="2160270" y="732300"/>
                </a:lnTo>
                <a:lnTo>
                  <a:pt x="2180844" y="722193"/>
                </a:lnTo>
                <a:lnTo>
                  <a:pt x="2201418" y="712142"/>
                </a:lnTo>
                <a:lnTo>
                  <a:pt x="2221992" y="702146"/>
                </a:lnTo>
                <a:lnTo>
                  <a:pt x="2242566" y="692205"/>
                </a:lnTo>
                <a:lnTo>
                  <a:pt x="2263140" y="682321"/>
                </a:lnTo>
                <a:lnTo>
                  <a:pt x="2283714" y="672493"/>
                </a:lnTo>
                <a:lnTo>
                  <a:pt x="2304288" y="662722"/>
                </a:lnTo>
                <a:lnTo>
                  <a:pt x="2324862" y="653009"/>
                </a:lnTo>
                <a:lnTo>
                  <a:pt x="2345436" y="643353"/>
                </a:lnTo>
                <a:lnTo>
                  <a:pt x="2366010" y="633756"/>
                </a:lnTo>
                <a:lnTo>
                  <a:pt x="2386584" y="624217"/>
                </a:lnTo>
                <a:lnTo>
                  <a:pt x="2407158" y="614737"/>
                </a:lnTo>
                <a:lnTo>
                  <a:pt x="2427732" y="605317"/>
                </a:lnTo>
                <a:lnTo>
                  <a:pt x="2448306" y="595957"/>
                </a:lnTo>
                <a:lnTo>
                  <a:pt x="2468880" y="586657"/>
                </a:lnTo>
                <a:lnTo>
                  <a:pt x="2489454" y="577417"/>
                </a:lnTo>
                <a:lnTo>
                  <a:pt x="2510028" y="568239"/>
                </a:lnTo>
                <a:lnTo>
                  <a:pt x="2530602" y="559122"/>
                </a:lnTo>
                <a:lnTo>
                  <a:pt x="2551176" y="550067"/>
                </a:lnTo>
                <a:lnTo>
                  <a:pt x="2571750" y="541075"/>
                </a:lnTo>
                <a:lnTo>
                  <a:pt x="2592324" y="532144"/>
                </a:lnTo>
                <a:lnTo>
                  <a:pt x="2612898" y="523277"/>
                </a:lnTo>
                <a:lnTo>
                  <a:pt x="2633472" y="514474"/>
                </a:lnTo>
                <a:lnTo>
                  <a:pt x="2654046" y="505734"/>
                </a:lnTo>
                <a:lnTo>
                  <a:pt x="2674620" y="497058"/>
                </a:lnTo>
                <a:lnTo>
                  <a:pt x="2695194" y="488447"/>
                </a:lnTo>
                <a:lnTo>
                  <a:pt x="2715768" y="479900"/>
                </a:lnTo>
                <a:lnTo>
                  <a:pt x="2736342" y="471419"/>
                </a:lnTo>
                <a:lnTo>
                  <a:pt x="2756916" y="463003"/>
                </a:lnTo>
                <a:lnTo>
                  <a:pt x="2777490" y="454654"/>
                </a:lnTo>
                <a:lnTo>
                  <a:pt x="2798064" y="446370"/>
                </a:lnTo>
                <a:lnTo>
                  <a:pt x="2818638" y="438154"/>
                </a:lnTo>
                <a:lnTo>
                  <a:pt x="2839212" y="430004"/>
                </a:lnTo>
                <a:lnTo>
                  <a:pt x="2859786" y="421922"/>
                </a:lnTo>
                <a:lnTo>
                  <a:pt x="2880360" y="413907"/>
                </a:lnTo>
                <a:lnTo>
                  <a:pt x="2900934" y="405961"/>
                </a:lnTo>
                <a:lnTo>
                  <a:pt x="2921508" y="398083"/>
                </a:lnTo>
                <a:lnTo>
                  <a:pt x="2942082" y="390274"/>
                </a:lnTo>
                <a:lnTo>
                  <a:pt x="2962656" y="382534"/>
                </a:lnTo>
                <a:lnTo>
                  <a:pt x="2983230" y="374863"/>
                </a:lnTo>
                <a:lnTo>
                  <a:pt x="3003804" y="367262"/>
                </a:lnTo>
                <a:lnTo>
                  <a:pt x="3024378" y="359731"/>
                </a:lnTo>
                <a:lnTo>
                  <a:pt x="3044952" y="352270"/>
                </a:lnTo>
                <a:lnTo>
                  <a:pt x="3065526" y="344880"/>
                </a:lnTo>
                <a:lnTo>
                  <a:pt x="3086100" y="337562"/>
                </a:lnTo>
                <a:lnTo>
                  <a:pt x="3106674" y="330314"/>
                </a:lnTo>
                <a:lnTo>
                  <a:pt x="3127248" y="323138"/>
                </a:lnTo>
                <a:lnTo>
                  <a:pt x="3147822" y="316034"/>
                </a:lnTo>
                <a:lnTo>
                  <a:pt x="3168396" y="309003"/>
                </a:lnTo>
                <a:lnTo>
                  <a:pt x="3188970" y="302044"/>
                </a:lnTo>
                <a:lnTo>
                  <a:pt x="3209544" y="295158"/>
                </a:lnTo>
                <a:lnTo>
                  <a:pt x="3230118" y="288345"/>
                </a:lnTo>
                <a:lnTo>
                  <a:pt x="3250692" y="281605"/>
                </a:lnTo>
                <a:lnTo>
                  <a:pt x="3271266" y="274939"/>
                </a:lnTo>
                <a:lnTo>
                  <a:pt x="3291840" y="268347"/>
                </a:lnTo>
                <a:lnTo>
                  <a:pt x="3312414" y="261830"/>
                </a:lnTo>
                <a:lnTo>
                  <a:pt x="3332988" y="255387"/>
                </a:lnTo>
                <a:lnTo>
                  <a:pt x="3353562" y="249019"/>
                </a:lnTo>
                <a:lnTo>
                  <a:pt x="3374136" y="242726"/>
                </a:lnTo>
                <a:lnTo>
                  <a:pt x="3394710" y="236508"/>
                </a:lnTo>
                <a:lnTo>
                  <a:pt x="3415284" y="230367"/>
                </a:lnTo>
                <a:lnTo>
                  <a:pt x="3435858" y="224301"/>
                </a:lnTo>
                <a:lnTo>
                  <a:pt x="3456432" y="218311"/>
                </a:lnTo>
                <a:lnTo>
                  <a:pt x="3477006" y="212398"/>
                </a:lnTo>
                <a:lnTo>
                  <a:pt x="3497580" y="206561"/>
                </a:lnTo>
                <a:lnTo>
                  <a:pt x="3518154" y="200801"/>
                </a:lnTo>
                <a:lnTo>
                  <a:pt x="3538728" y="195119"/>
                </a:lnTo>
                <a:lnTo>
                  <a:pt x="3559302" y="189514"/>
                </a:lnTo>
                <a:lnTo>
                  <a:pt x="3579876" y="183987"/>
                </a:lnTo>
                <a:lnTo>
                  <a:pt x="3600450" y="178537"/>
                </a:lnTo>
                <a:lnTo>
                  <a:pt x="3621024" y="173166"/>
                </a:lnTo>
                <a:lnTo>
                  <a:pt x="3641598" y="167873"/>
                </a:lnTo>
                <a:lnTo>
                  <a:pt x="3662172" y="162659"/>
                </a:lnTo>
                <a:lnTo>
                  <a:pt x="3682746" y="157524"/>
                </a:lnTo>
                <a:lnTo>
                  <a:pt x="3703320" y="152467"/>
                </a:lnTo>
                <a:lnTo>
                  <a:pt x="3723894" y="147490"/>
                </a:lnTo>
                <a:lnTo>
                  <a:pt x="3744468" y="142593"/>
                </a:lnTo>
                <a:lnTo>
                  <a:pt x="3765042" y="137775"/>
                </a:lnTo>
                <a:lnTo>
                  <a:pt x="3785616" y="133037"/>
                </a:lnTo>
                <a:lnTo>
                  <a:pt x="3806190" y="128379"/>
                </a:lnTo>
                <a:lnTo>
                  <a:pt x="3826764" y="123801"/>
                </a:lnTo>
                <a:lnTo>
                  <a:pt x="3847338" y="119304"/>
                </a:lnTo>
                <a:lnTo>
                  <a:pt x="3867912" y="114888"/>
                </a:lnTo>
                <a:lnTo>
                  <a:pt x="3888486" y="110552"/>
                </a:lnTo>
                <a:lnTo>
                  <a:pt x="3909060" y="106298"/>
                </a:lnTo>
                <a:lnTo>
                  <a:pt x="3929634" y="102124"/>
                </a:lnTo>
                <a:lnTo>
                  <a:pt x="3950208" y="98032"/>
                </a:lnTo>
                <a:lnTo>
                  <a:pt x="3970782" y="94022"/>
                </a:lnTo>
                <a:lnTo>
                  <a:pt x="3991356" y="90094"/>
                </a:lnTo>
                <a:lnTo>
                  <a:pt x="4011930" y="86247"/>
                </a:lnTo>
                <a:lnTo>
                  <a:pt x="4032504" y="82483"/>
                </a:lnTo>
                <a:lnTo>
                  <a:pt x="4053078" y="78801"/>
                </a:lnTo>
                <a:lnTo>
                  <a:pt x="4073652" y="75201"/>
                </a:lnTo>
                <a:lnTo>
                  <a:pt x="4094226" y="71684"/>
                </a:lnTo>
                <a:lnTo>
                  <a:pt x="4114800" y="68250"/>
                </a:lnTo>
                <a:lnTo>
                  <a:pt x="4135374" y="64898"/>
                </a:lnTo>
                <a:lnTo>
                  <a:pt x="4155948" y="61630"/>
                </a:lnTo>
                <a:lnTo>
                  <a:pt x="4176522" y="58444"/>
                </a:lnTo>
                <a:lnTo>
                  <a:pt x="4197096" y="55342"/>
                </a:lnTo>
                <a:lnTo>
                  <a:pt x="4217670" y="52324"/>
                </a:lnTo>
                <a:lnTo>
                  <a:pt x="4238244" y="49389"/>
                </a:lnTo>
                <a:lnTo>
                  <a:pt x="4258818" y="46537"/>
                </a:lnTo>
                <a:lnTo>
                  <a:pt x="4279392" y="43770"/>
                </a:lnTo>
                <a:lnTo>
                  <a:pt x="4299966" y="41086"/>
                </a:lnTo>
                <a:lnTo>
                  <a:pt x="4320540" y="38487"/>
                </a:lnTo>
                <a:lnTo>
                  <a:pt x="4341114" y="35971"/>
                </a:lnTo>
                <a:lnTo>
                  <a:pt x="4361688" y="33540"/>
                </a:lnTo>
                <a:lnTo>
                  <a:pt x="4382262" y="31193"/>
                </a:lnTo>
                <a:lnTo>
                  <a:pt x="4402836" y="28931"/>
                </a:lnTo>
                <a:lnTo>
                  <a:pt x="4423410" y="26753"/>
                </a:lnTo>
                <a:lnTo>
                  <a:pt x="4443984" y="24660"/>
                </a:lnTo>
                <a:lnTo>
                  <a:pt x="4464558" y="22652"/>
                </a:lnTo>
                <a:lnTo>
                  <a:pt x="4485132" y="20728"/>
                </a:lnTo>
                <a:lnTo>
                  <a:pt x="4505706" y="18889"/>
                </a:lnTo>
                <a:lnTo>
                  <a:pt x="4526280" y="17136"/>
                </a:lnTo>
                <a:lnTo>
                  <a:pt x="4546854" y="15467"/>
                </a:lnTo>
                <a:lnTo>
                  <a:pt x="4567428" y="13884"/>
                </a:lnTo>
                <a:lnTo>
                  <a:pt x="4588002" y="12386"/>
                </a:lnTo>
                <a:lnTo>
                  <a:pt x="4608576" y="10973"/>
                </a:lnTo>
                <a:lnTo>
                  <a:pt x="4629150" y="9645"/>
                </a:lnTo>
                <a:lnTo>
                  <a:pt x="4649724" y="8403"/>
                </a:lnTo>
                <a:lnTo>
                  <a:pt x="4670298" y="7246"/>
                </a:lnTo>
                <a:lnTo>
                  <a:pt x="4690872" y="6175"/>
                </a:lnTo>
                <a:lnTo>
                  <a:pt x="4711446" y="5189"/>
                </a:lnTo>
                <a:lnTo>
                  <a:pt x="4732020" y="4289"/>
                </a:lnTo>
                <a:lnTo>
                  <a:pt x="4752594" y="3474"/>
                </a:lnTo>
                <a:lnTo>
                  <a:pt x="4773168" y="2745"/>
                </a:lnTo>
                <a:lnTo>
                  <a:pt x="4793742" y="2102"/>
                </a:lnTo>
                <a:lnTo>
                  <a:pt x="4814316" y="1544"/>
                </a:lnTo>
                <a:lnTo>
                  <a:pt x="4834890" y="1072"/>
                </a:lnTo>
                <a:lnTo>
                  <a:pt x="4855464" y="686"/>
                </a:lnTo>
                <a:lnTo>
                  <a:pt x="4876038" y="386"/>
                </a:lnTo>
                <a:lnTo>
                  <a:pt x="4896612" y="172"/>
                </a:lnTo>
                <a:lnTo>
                  <a:pt x="4917186" y="43"/>
                </a:lnTo>
                <a:lnTo>
                  <a:pt x="4937760" y="0"/>
                </a:lnTo>
              </a:path>
            </a:pathLst>
          </a:custGeom>
          <a:noFill/>
          <a:ln w="285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3EA8749-C0C9-40E4-923B-172149EB16B3}"/>
              </a:ext>
            </a:extLst>
          </p:cNvPr>
          <p:cNvSpPr>
            <a:spLocks noGrp="1"/>
          </p:cNvSpPr>
          <p:nvPr/>
        </p:nvSpPr>
        <p:spPr>
          <a:xfrm>
            <a:off x="932688" y="2340428"/>
            <a:ext cx="4937760" cy="2002972"/>
          </a:xfrm>
          <a:custGeom>
            <a:avLst/>
            <a:gdLst/>
            <a:ahLst/>
            <a:cxnLst/>
            <a:rect l="l" t="t" r="r" b="b"/>
            <a:pathLst>
              <a:path w="4937760" h="2002972">
                <a:moveTo>
                  <a:pt x="0" y="0"/>
                </a:moveTo>
                <a:lnTo>
                  <a:pt x="20574" y="43"/>
                </a:lnTo>
                <a:lnTo>
                  <a:pt x="41148" y="172"/>
                </a:lnTo>
                <a:lnTo>
                  <a:pt x="61722" y="386"/>
                </a:lnTo>
                <a:lnTo>
                  <a:pt x="82296" y="686"/>
                </a:lnTo>
                <a:lnTo>
                  <a:pt x="102870" y="1072"/>
                </a:lnTo>
                <a:lnTo>
                  <a:pt x="123444" y="1544"/>
                </a:lnTo>
                <a:lnTo>
                  <a:pt x="144018" y="2102"/>
                </a:lnTo>
                <a:lnTo>
                  <a:pt x="164592" y="2745"/>
                </a:lnTo>
                <a:lnTo>
                  <a:pt x="185166" y="3474"/>
                </a:lnTo>
                <a:lnTo>
                  <a:pt x="205740" y="4289"/>
                </a:lnTo>
                <a:lnTo>
                  <a:pt x="226314" y="5189"/>
                </a:lnTo>
                <a:lnTo>
                  <a:pt x="246888" y="6175"/>
                </a:lnTo>
                <a:lnTo>
                  <a:pt x="267462" y="7246"/>
                </a:lnTo>
                <a:lnTo>
                  <a:pt x="288036" y="8403"/>
                </a:lnTo>
                <a:lnTo>
                  <a:pt x="308610" y="9645"/>
                </a:lnTo>
                <a:lnTo>
                  <a:pt x="329184" y="10973"/>
                </a:lnTo>
                <a:lnTo>
                  <a:pt x="349758" y="12386"/>
                </a:lnTo>
                <a:lnTo>
                  <a:pt x="370332" y="13884"/>
                </a:lnTo>
                <a:lnTo>
                  <a:pt x="390906" y="15467"/>
                </a:lnTo>
                <a:lnTo>
                  <a:pt x="411480" y="17136"/>
                </a:lnTo>
                <a:lnTo>
                  <a:pt x="432054" y="18889"/>
                </a:lnTo>
                <a:lnTo>
                  <a:pt x="452628" y="20728"/>
                </a:lnTo>
                <a:lnTo>
                  <a:pt x="473202" y="22652"/>
                </a:lnTo>
                <a:lnTo>
                  <a:pt x="493776" y="24660"/>
                </a:lnTo>
                <a:lnTo>
                  <a:pt x="514350" y="26753"/>
                </a:lnTo>
                <a:lnTo>
                  <a:pt x="534924" y="28931"/>
                </a:lnTo>
                <a:lnTo>
                  <a:pt x="555498" y="31193"/>
                </a:lnTo>
                <a:lnTo>
                  <a:pt x="576072" y="33540"/>
                </a:lnTo>
                <a:lnTo>
                  <a:pt x="596646" y="35971"/>
                </a:lnTo>
                <a:lnTo>
                  <a:pt x="617220" y="38487"/>
                </a:lnTo>
                <a:lnTo>
                  <a:pt x="637794" y="41086"/>
                </a:lnTo>
                <a:lnTo>
                  <a:pt x="658368" y="43770"/>
                </a:lnTo>
                <a:lnTo>
                  <a:pt x="678942" y="46537"/>
                </a:lnTo>
                <a:lnTo>
                  <a:pt x="699516" y="49389"/>
                </a:lnTo>
                <a:lnTo>
                  <a:pt x="720090" y="52324"/>
                </a:lnTo>
                <a:lnTo>
                  <a:pt x="740664" y="55342"/>
                </a:lnTo>
                <a:lnTo>
                  <a:pt x="761238" y="58444"/>
                </a:lnTo>
                <a:lnTo>
                  <a:pt x="781812" y="61630"/>
                </a:lnTo>
                <a:lnTo>
                  <a:pt x="802386" y="64898"/>
                </a:lnTo>
                <a:lnTo>
                  <a:pt x="822960" y="68250"/>
                </a:lnTo>
                <a:lnTo>
                  <a:pt x="843534" y="71684"/>
                </a:lnTo>
                <a:lnTo>
                  <a:pt x="864108" y="75201"/>
                </a:lnTo>
                <a:lnTo>
                  <a:pt x="884682" y="78801"/>
                </a:lnTo>
                <a:lnTo>
                  <a:pt x="905256" y="82483"/>
                </a:lnTo>
                <a:lnTo>
                  <a:pt x="925830" y="86247"/>
                </a:lnTo>
                <a:lnTo>
                  <a:pt x="946404" y="90094"/>
                </a:lnTo>
                <a:lnTo>
                  <a:pt x="966978" y="94022"/>
                </a:lnTo>
                <a:lnTo>
                  <a:pt x="987552" y="98032"/>
                </a:lnTo>
                <a:lnTo>
                  <a:pt x="1008126" y="102124"/>
                </a:lnTo>
                <a:lnTo>
                  <a:pt x="1028700" y="106298"/>
                </a:lnTo>
                <a:lnTo>
                  <a:pt x="1049274" y="110552"/>
                </a:lnTo>
                <a:lnTo>
                  <a:pt x="1069848" y="114888"/>
                </a:lnTo>
                <a:lnTo>
                  <a:pt x="1090422" y="119304"/>
                </a:lnTo>
                <a:lnTo>
                  <a:pt x="1110996" y="123801"/>
                </a:lnTo>
                <a:lnTo>
                  <a:pt x="1131570" y="128379"/>
                </a:lnTo>
                <a:lnTo>
                  <a:pt x="1152144" y="133037"/>
                </a:lnTo>
                <a:lnTo>
                  <a:pt x="1172718" y="137775"/>
                </a:lnTo>
                <a:lnTo>
                  <a:pt x="1193292" y="142593"/>
                </a:lnTo>
                <a:lnTo>
                  <a:pt x="1213866" y="147490"/>
                </a:lnTo>
                <a:lnTo>
                  <a:pt x="1234440" y="152467"/>
                </a:lnTo>
                <a:lnTo>
                  <a:pt x="1255014" y="157524"/>
                </a:lnTo>
                <a:lnTo>
                  <a:pt x="1275588" y="162659"/>
                </a:lnTo>
                <a:lnTo>
                  <a:pt x="1296162" y="167873"/>
                </a:lnTo>
                <a:lnTo>
                  <a:pt x="1316736" y="173166"/>
                </a:lnTo>
                <a:lnTo>
                  <a:pt x="1337310" y="178537"/>
                </a:lnTo>
                <a:lnTo>
                  <a:pt x="1357884" y="183987"/>
                </a:lnTo>
                <a:lnTo>
                  <a:pt x="1378458" y="189514"/>
                </a:lnTo>
                <a:lnTo>
                  <a:pt x="1399032" y="195119"/>
                </a:lnTo>
                <a:lnTo>
                  <a:pt x="1419606" y="200801"/>
                </a:lnTo>
                <a:lnTo>
                  <a:pt x="1440180" y="206561"/>
                </a:lnTo>
                <a:lnTo>
                  <a:pt x="1460754" y="212398"/>
                </a:lnTo>
                <a:lnTo>
                  <a:pt x="1481328" y="218311"/>
                </a:lnTo>
                <a:lnTo>
                  <a:pt x="1501902" y="224301"/>
                </a:lnTo>
                <a:lnTo>
                  <a:pt x="1522476" y="230367"/>
                </a:lnTo>
                <a:lnTo>
                  <a:pt x="1543050" y="236508"/>
                </a:lnTo>
                <a:lnTo>
                  <a:pt x="1563624" y="242726"/>
                </a:lnTo>
                <a:lnTo>
                  <a:pt x="1584198" y="249019"/>
                </a:lnTo>
                <a:lnTo>
                  <a:pt x="1604772" y="255387"/>
                </a:lnTo>
                <a:lnTo>
                  <a:pt x="1625346" y="261830"/>
                </a:lnTo>
                <a:lnTo>
                  <a:pt x="1645920" y="268347"/>
                </a:lnTo>
                <a:lnTo>
                  <a:pt x="1666494" y="274939"/>
                </a:lnTo>
                <a:lnTo>
                  <a:pt x="1687068" y="281605"/>
                </a:lnTo>
                <a:lnTo>
                  <a:pt x="1707642" y="288345"/>
                </a:lnTo>
                <a:lnTo>
                  <a:pt x="1728216" y="295158"/>
                </a:lnTo>
                <a:lnTo>
                  <a:pt x="1748790" y="302044"/>
                </a:lnTo>
                <a:lnTo>
                  <a:pt x="1769364" y="309003"/>
                </a:lnTo>
                <a:lnTo>
                  <a:pt x="1789938" y="316034"/>
                </a:lnTo>
                <a:lnTo>
                  <a:pt x="1810512" y="323138"/>
                </a:lnTo>
                <a:lnTo>
                  <a:pt x="1831086" y="330314"/>
                </a:lnTo>
                <a:lnTo>
                  <a:pt x="1851660" y="337562"/>
                </a:lnTo>
                <a:lnTo>
                  <a:pt x="1872234" y="344880"/>
                </a:lnTo>
                <a:lnTo>
                  <a:pt x="1892808" y="352270"/>
                </a:lnTo>
                <a:lnTo>
                  <a:pt x="1913382" y="359731"/>
                </a:lnTo>
                <a:lnTo>
                  <a:pt x="1933956" y="367262"/>
                </a:lnTo>
                <a:lnTo>
                  <a:pt x="1954530" y="374863"/>
                </a:lnTo>
                <a:lnTo>
                  <a:pt x="1975104" y="382534"/>
                </a:lnTo>
                <a:lnTo>
                  <a:pt x="1995678" y="390274"/>
                </a:lnTo>
                <a:lnTo>
                  <a:pt x="2016252" y="398083"/>
                </a:lnTo>
                <a:lnTo>
                  <a:pt x="2036826" y="405961"/>
                </a:lnTo>
                <a:lnTo>
                  <a:pt x="2057400" y="413907"/>
                </a:lnTo>
                <a:lnTo>
                  <a:pt x="2077974" y="421922"/>
                </a:lnTo>
                <a:lnTo>
                  <a:pt x="2098548" y="430004"/>
                </a:lnTo>
                <a:lnTo>
                  <a:pt x="2119122" y="438154"/>
                </a:lnTo>
                <a:lnTo>
                  <a:pt x="2139696" y="446370"/>
                </a:lnTo>
                <a:lnTo>
                  <a:pt x="2160270" y="454654"/>
                </a:lnTo>
                <a:lnTo>
                  <a:pt x="2180844" y="463003"/>
                </a:lnTo>
                <a:lnTo>
                  <a:pt x="2201418" y="471419"/>
                </a:lnTo>
                <a:lnTo>
                  <a:pt x="2221992" y="479900"/>
                </a:lnTo>
                <a:lnTo>
                  <a:pt x="2242566" y="488447"/>
                </a:lnTo>
                <a:lnTo>
                  <a:pt x="2263140" y="497058"/>
                </a:lnTo>
                <a:lnTo>
                  <a:pt x="2283714" y="505734"/>
                </a:lnTo>
                <a:lnTo>
                  <a:pt x="2304288" y="514474"/>
                </a:lnTo>
                <a:lnTo>
                  <a:pt x="2324862" y="523277"/>
                </a:lnTo>
                <a:lnTo>
                  <a:pt x="2345436" y="532144"/>
                </a:lnTo>
                <a:lnTo>
                  <a:pt x="2366010" y="541075"/>
                </a:lnTo>
                <a:lnTo>
                  <a:pt x="2386584" y="550067"/>
                </a:lnTo>
                <a:lnTo>
                  <a:pt x="2407158" y="559122"/>
                </a:lnTo>
                <a:lnTo>
                  <a:pt x="2427732" y="568239"/>
                </a:lnTo>
                <a:lnTo>
                  <a:pt x="2448306" y="577417"/>
                </a:lnTo>
                <a:lnTo>
                  <a:pt x="2468880" y="586657"/>
                </a:lnTo>
                <a:lnTo>
                  <a:pt x="2489454" y="595957"/>
                </a:lnTo>
                <a:lnTo>
                  <a:pt x="2510028" y="605317"/>
                </a:lnTo>
                <a:lnTo>
                  <a:pt x="2530602" y="614737"/>
                </a:lnTo>
                <a:lnTo>
                  <a:pt x="2551176" y="624217"/>
                </a:lnTo>
                <a:lnTo>
                  <a:pt x="2571750" y="633756"/>
                </a:lnTo>
                <a:lnTo>
                  <a:pt x="2592324" y="643353"/>
                </a:lnTo>
                <a:lnTo>
                  <a:pt x="2612898" y="653009"/>
                </a:lnTo>
                <a:lnTo>
                  <a:pt x="2633472" y="662722"/>
                </a:lnTo>
                <a:lnTo>
                  <a:pt x="2654046" y="672493"/>
                </a:lnTo>
                <a:lnTo>
                  <a:pt x="2674620" y="682321"/>
                </a:lnTo>
                <a:lnTo>
                  <a:pt x="2695194" y="692205"/>
                </a:lnTo>
                <a:lnTo>
                  <a:pt x="2715768" y="702146"/>
                </a:lnTo>
                <a:lnTo>
                  <a:pt x="2736342" y="712142"/>
                </a:lnTo>
                <a:lnTo>
                  <a:pt x="2756916" y="722193"/>
                </a:lnTo>
                <a:lnTo>
                  <a:pt x="2777490" y="732300"/>
                </a:lnTo>
                <a:lnTo>
                  <a:pt x="2798064" y="742461"/>
                </a:lnTo>
                <a:lnTo>
                  <a:pt x="2818638" y="752676"/>
                </a:lnTo>
                <a:lnTo>
                  <a:pt x="2839212" y="762944"/>
                </a:lnTo>
                <a:lnTo>
                  <a:pt x="2859786" y="773266"/>
                </a:lnTo>
                <a:lnTo>
                  <a:pt x="2880360" y="783640"/>
                </a:lnTo>
                <a:lnTo>
                  <a:pt x="2900934" y="794066"/>
                </a:lnTo>
                <a:lnTo>
                  <a:pt x="2921508" y="804544"/>
                </a:lnTo>
                <a:lnTo>
                  <a:pt x="2942082" y="815074"/>
                </a:lnTo>
                <a:lnTo>
                  <a:pt x="2962656" y="825654"/>
                </a:lnTo>
                <a:lnTo>
                  <a:pt x="2983230" y="836285"/>
                </a:lnTo>
                <a:lnTo>
                  <a:pt x="3003804" y="846966"/>
                </a:lnTo>
                <a:lnTo>
                  <a:pt x="3024378" y="857697"/>
                </a:lnTo>
                <a:lnTo>
                  <a:pt x="3044952" y="868476"/>
                </a:lnTo>
                <a:lnTo>
                  <a:pt x="3065526" y="879304"/>
                </a:lnTo>
                <a:lnTo>
                  <a:pt x="3086100" y="890180"/>
                </a:lnTo>
                <a:lnTo>
                  <a:pt x="3106674" y="901104"/>
                </a:lnTo>
                <a:lnTo>
                  <a:pt x="3127248" y="912075"/>
                </a:lnTo>
                <a:lnTo>
                  <a:pt x="3147822" y="923093"/>
                </a:lnTo>
                <a:lnTo>
                  <a:pt x="3168396" y="934157"/>
                </a:lnTo>
                <a:lnTo>
                  <a:pt x="3188970" y="945267"/>
                </a:lnTo>
                <a:lnTo>
                  <a:pt x="3209544" y="956422"/>
                </a:lnTo>
                <a:lnTo>
                  <a:pt x="3230118" y="967622"/>
                </a:lnTo>
                <a:lnTo>
                  <a:pt x="3250692" y="978866"/>
                </a:lnTo>
                <a:lnTo>
                  <a:pt x="3271266" y="990154"/>
                </a:lnTo>
                <a:lnTo>
                  <a:pt x="3291840" y="1001486"/>
                </a:lnTo>
                <a:lnTo>
                  <a:pt x="3312414" y="1012860"/>
                </a:lnTo>
                <a:lnTo>
                  <a:pt x="3332988" y="1024277"/>
                </a:lnTo>
                <a:lnTo>
                  <a:pt x="3353562" y="1035736"/>
                </a:lnTo>
                <a:lnTo>
                  <a:pt x="3374136" y="1047236"/>
                </a:lnTo>
                <a:lnTo>
                  <a:pt x="3394710" y="1058777"/>
                </a:lnTo>
                <a:lnTo>
                  <a:pt x="3415284" y="1070359"/>
                </a:lnTo>
                <a:lnTo>
                  <a:pt x="3435858" y="1081980"/>
                </a:lnTo>
                <a:lnTo>
                  <a:pt x="3456432" y="1093642"/>
                </a:lnTo>
                <a:lnTo>
                  <a:pt x="3477006" y="1105341"/>
                </a:lnTo>
                <a:lnTo>
                  <a:pt x="3497580" y="1117080"/>
                </a:lnTo>
                <a:lnTo>
                  <a:pt x="3518154" y="1128856"/>
                </a:lnTo>
                <a:lnTo>
                  <a:pt x="3538728" y="1140670"/>
                </a:lnTo>
                <a:lnTo>
                  <a:pt x="3559302" y="1152521"/>
                </a:lnTo>
                <a:lnTo>
                  <a:pt x="3579876" y="1164408"/>
                </a:lnTo>
                <a:lnTo>
                  <a:pt x="3600450" y="1176331"/>
                </a:lnTo>
                <a:lnTo>
                  <a:pt x="3621024" y="1188290"/>
                </a:lnTo>
                <a:lnTo>
                  <a:pt x="3641598" y="1200283"/>
                </a:lnTo>
                <a:lnTo>
                  <a:pt x="3662172" y="1212311"/>
                </a:lnTo>
                <a:lnTo>
                  <a:pt x="3682746" y="1224373"/>
                </a:lnTo>
                <a:lnTo>
                  <a:pt x="3703320" y="1236468"/>
                </a:lnTo>
                <a:lnTo>
                  <a:pt x="3723894" y="1248595"/>
                </a:lnTo>
                <a:lnTo>
                  <a:pt x="3744468" y="1260756"/>
                </a:lnTo>
                <a:lnTo>
                  <a:pt x="3765042" y="1272948"/>
                </a:lnTo>
                <a:lnTo>
                  <a:pt x="3785616" y="1285171"/>
                </a:lnTo>
                <a:lnTo>
                  <a:pt x="3806190" y="1297425"/>
                </a:lnTo>
                <a:lnTo>
                  <a:pt x="3826764" y="1309709"/>
                </a:lnTo>
                <a:lnTo>
                  <a:pt x="3847338" y="1322023"/>
                </a:lnTo>
                <a:lnTo>
                  <a:pt x="3867912" y="1334366"/>
                </a:lnTo>
                <a:lnTo>
                  <a:pt x="3888486" y="1346738"/>
                </a:lnTo>
                <a:lnTo>
                  <a:pt x="3909060" y="1359137"/>
                </a:lnTo>
                <a:lnTo>
                  <a:pt x="3929634" y="1371565"/>
                </a:lnTo>
                <a:lnTo>
                  <a:pt x="3950208" y="1384019"/>
                </a:lnTo>
                <a:lnTo>
                  <a:pt x="3970782" y="1396500"/>
                </a:lnTo>
                <a:lnTo>
                  <a:pt x="3991356" y="1409007"/>
                </a:lnTo>
                <a:lnTo>
                  <a:pt x="4011930" y="1421540"/>
                </a:lnTo>
                <a:lnTo>
                  <a:pt x="4032504" y="1434097"/>
                </a:lnTo>
                <a:lnTo>
                  <a:pt x="4053078" y="1446679"/>
                </a:lnTo>
                <a:lnTo>
                  <a:pt x="4073652" y="1459284"/>
                </a:lnTo>
                <a:lnTo>
                  <a:pt x="4094226" y="1471913"/>
                </a:lnTo>
                <a:lnTo>
                  <a:pt x="4114800" y="1484564"/>
                </a:lnTo>
                <a:lnTo>
                  <a:pt x="4135374" y="1497238"/>
                </a:lnTo>
                <a:lnTo>
                  <a:pt x="4155948" y="1509933"/>
                </a:lnTo>
                <a:lnTo>
                  <a:pt x="4176522" y="1522650"/>
                </a:lnTo>
                <a:lnTo>
                  <a:pt x="4197096" y="1535387"/>
                </a:lnTo>
                <a:lnTo>
                  <a:pt x="4217670" y="1548144"/>
                </a:lnTo>
                <a:lnTo>
                  <a:pt x="4238244" y="1560921"/>
                </a:lnTo>
                <a:lnTo>
                  <a:pt x="4258818" y="1573716"/>
                </a:lnTo>
                <a:lnTo>
                  <a:pt x="4279392" y="1586530"/>
                </a:lnTo>
                <a:lnTo>
                  <a:pt x="4299966" y="1599362"/>
                </a:lnTo>
                <a:lnTo>
                  <a:pt x="4320540" y="1612211"/>
                </a:lnTo>
                <a:lnTo>
                  <a:pt x="4341114" y="1625077"/>
                </a:lnTo>
                <a:lnTo>
                  <a:pt x="4361688" y="1637959"/>
                </a:lnTo>
                <a:lnTo>
                  <a:pt x="4382262" y="1650857"/>
                </a:lnTo>
                <a:lnTo>
                  <a:pt x="4402836" y="1663769"/>
                </a:lnTo>
                <a:lnTo>
                  <a:pt x="4423410" y="1676697"/>
                </a:lnTo>
                <a:lnTo>
                  <a:pt x="4443984" y="1689638"/>
                </a:lnTo>
                <a:lnTo>
                  <a:pt x="4464558" y="1702592"/>
                </a:lnTo>
                <a:lnTo>
                  <a:pt x="4485132" y="1715560"/>
                </a:lnTo>
                <a:lnTo>
                  <a:pt x="4505706" y="1728540"/>
                </a:lnTo>
                <a:lnTo>
                  <a:pt x="4526280" y="1741531"/>
                </a:lnTo>
                <a:lnTo>
                  <a:pt x="4546854" y="1754534"/>
                </a:lnTo>
                <a:lnTo>
                  <a:pt x="4567428" y="1767547"/>
                </a:lnTo>
                <a:lnTo>
                  <a:pt x="4588002" y="1780571"/>
                </a:lnTo>
                <a:lnTo>
                  <a:pt x="4608576" y="1793604"/>
                </a:lnTo>
                <a:lnTo>
                  <a:pt x="4629150" y="1806646"/>
                </a:lnTo>
                <a:lnTo>
                  <a:pt x="4649724" y="1819696"/>
                </a:lnTo>
                <a:lnTo>
                  <a:pt x="4670298" y="1832755"/>
                </a:lnTo>
                <a:lnTo>
                  <a:pt x="4690872" y="1845820"/>
                </a:lnTo>
                <a:lnTo>
                  <a:pt x="4711446" y="1858892"/>
                </a:lnTo>
                <a:lnTo>
                  <a:pt x="4732020" y="1871971"/>
                </a:lnTo>
                <a:lnTo>
                  <a:pt x="4752594" y="1885055"/>
                </a:lnTo>
                <a:lnTo>
                  <a:pt x="4773168" y="1898144"/>
                </a:lnTo>
                <a:lnTo>
                  <a:pt x="4793742" y="1911238"/>
                </a:lnTo>
                <a:lnTo>
                  <a:pt x="4814316" y="1924335"/>
                </a:lnTo>
                <a:lnTo>
                  <a:pt x="4834890" y="1937436"/>
                </a:lnTo>
                <a:lnTo>
                  <a:pt x="4855464" y="1950540"/>
                </a:lnTo>
                <a:lnTo>
                  <a:pt x="4876038" y="1963646"/>
                </a:lnTo>
                <a:lnTo>
                  <a:pt x="4896612" y="1976753"/>
                </a:lnTo>
                <a:lnTo>
                  <a:pt x="4917186" y="1989862"/>
                </a:lnTo>
                <a:lnTo>
                  <a:pt x="4937760" y="2002972"/>
                </a:lnTo>
              </a:path>
            </a:pathLst>
          </a:custGeom>
          <a:noFill/>
          <a:ln w="285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8CDFC8-E0CD-4677-A8A1-F0102751BA02}"/>
              </a:ext>
            </a:extLst>
          </p:cNvPr>
          <p:cNvSpPr>
            <a:spLocks noGrp="1"/>
          </p:cNvSpPr>
          <p:nvPr/>
        </p:nvSpPr>
        <p:spPr>
          <a:xfrm>
            <a:off x="932688" y="4672584"/>
            <a:ext cx="2651760" cy="396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━ X առանցք՝ g·sin θ, մեծ թեքություն 0°-ում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89C93B-8764-42D6-A340-6B258E612E96}"/>
              </a:ext>
            </a:extLst>
          </p:cNvPr>
          <p:cNvSpPr>
            <a:spLocks noGrp="1"/>
          </p:cNvSpPr>
          <p:nvPr/>
        </p:nvSpPr>
        <p:spPr>
          <a:xfrm>
            <a:off x="3630168" y="4672584"/>
            <a:ext cx="2651760" cy="396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━ Z առանցք՝ g·cos θ, հարթ 0°-ում</a:t>
            </a:r>
          </a:p>
        </p:txBody>
      </p:sp>
      <p:graphicFrame>
        <p:nvGraphicFramePr>
          <p:cNvPr id="34" name="Table 15"/>
          <p:cNvGraphicFramePr/>
          <p:nvPr/>
        </p:nvGraphicFramePr>
        <p:xfrm>
          <a:off x="6537960" y="2240280"/>
          <a:ext cx="498347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3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Հորիզոնականից 0.5° թեքություն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Փոփոխություն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X՝ հորիզոնական առանցք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8.73 mg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Z՝ ուղղաձիգ առանցք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0.038 mg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486E9BB-6585-4DD2-8B99-7761FCEF91F4}"/>
              </a:ext>
            </a:extLst>
          </p:cNvPr>
          <p:cNvSpPr>
            <a:spLocks noGrp="1"/>
          </p:cNvSpPr>
          <p:nvPr/>
        </p:nvSpPr>
        <p:spPr>
          <a:xfrm>
            <a:off x="6537960" y="3886200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sin(0.5°)     = 0.00873</a:t>
            </a:r>
          </a:p>
          <a:p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1 − cos(0.5°) = 0.000038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BD8AC40-0600-45C0-B547-06AFD51848DC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Թեքության նկատմամբ զգայունությունը g·cos θ է․ այն առավելագույն է հորիզոնական առանցքի համար և զրո՝ ձգողության ուղղությամբ։</a:t>
            </a:r>
          </a:p>
        </p:txBody>
      </p:sp>
    </p:spTree>
    <p:extLst>
      <p:ext uri="{BB962C8B-B14F-4D97-AF65-F5344CB8AC3E}">
        <p14:creationId xmlns:p14="http://schemas.microsoft.com/office/powerpoint/2010/main" val="61144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751575-D03D-4ECE-8749-11E1EEFD8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7756E-E00F-4D76-A320-10358D1F7A70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D5087-1D71-40C1-ADD3-9370C8B0C5FE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E604C-BB21-4218-9231-471635E80C62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ՀԱՐՑՈՒՄ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69E7A-14CD-4D60-875C-65FCA99F40AC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Արևին հետևող համակարգի շրջանակը մոտ է հորիզոնական դիրքին և պետք է չափի թեքությունը ±0.5° ճշտությամբ։ Կարելի է օգտագործել հորիզոնական X կամ ուղղաձիգ Z առանցքը։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Ո՞րն է ավելի հարմար փոքր թեքությունների համար։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6298CF-31A8-4CDF-9371-9A640B5F6E80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EB1C0-FF94-4D4A-8E89-44739F8A22EA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D07F2D-CBE8-4FDC-8E60-11B6ED10D09C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Z․ այն կրում է ամբողջ 1 g-ը, հետևաբար ունի ամենամեծ ազդանշանը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CF815-D381-47F2-85DD-12A6ED7793B8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76C2B-0B4F-4D58-BD10-9BAB3FBCD098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2D0DF-0E12-403B-BA95-5C758DAEB95D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X․ հորիզոնական դիրքի մոտ դրա ելքն ամենաարագն է փոխվում անկյան հետ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621A9B-64E9-4747-8A8C-FC357A91151F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DA242-5974-43E9-A1F7-01D848B925C4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CE85F4-6A29-4CCE-B88E-88D22D563ED3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Երկուսն էլ հավասար են․ զգայունությունը նույն mg/LSB-ն է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680F59F-0AE3-49C9-8DEB-CB0A33B2D2B2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1A4C83-F1C9-475B-9320-1F47CF66F424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F6640-D9D3-443D-88F8-E03CB139269E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Կախված է լրիվ չափման տիրույթից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CC92F0-0841-408F-BFA4-1CD6BFD077BE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Քվեարկեք, ապա երկու րոպե քննարկեք կողքի ուսանողի հետ։ Տարբեր կարծիքների դեպքում ստուգեք՝ արդյոք ազդանշանի մեծությունը չեք շփոթում փոփոխության նկատմամբ զգայունության հետ։</a:t>
            </a:r>
          </a:p>
        </p:txBody>
      </p:sp>
    </p:spTree>
    <p:extLst>
      <p:ext uri="{BB962C8B-B14F-4D97-AF65-F5344CB8AC3E}">
        <p14:creationId xmlns:p14="http://schemas.microsoft.com/office/powerpoint/2010/main" val="1913472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35593E-D351-4CDA-A9D4-4A79AEABA3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163B7-C47F-4879-B09C-186F62265CBA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4AEF6-CEDE-4FEC-B583-0C822CF46CA4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F4FF4-C69B-4DD4-8604-B0DB833FB5C8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ՀԱՐՑՈՒՄ 2  ·  ՊԱՏԱՍԽԱՆ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04D60-7581-427E-BD20-45DDFA4C9252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Արևին հետևող համակարգի շրջանակը մոտ է հորիզոնական դիրքին և պետք է չափի թեքությունը ±0.5° ճշտությամբ։ Կարելի է օգտագործել հորիզոնական X կամ ուղղաձիգ Z առանցքը։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Ո՞րն է ավելի հարմար փոքր թեքությունների համար։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C9C99-314F-4665-8870-FB8F70E6FDEB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303427-5ADB-4B17-8ABA-6CA2EB5C7C22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3BD50-4CFE-4847-A251-9FAD23DD32D9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Z․ այն կրում է ամբողջ 1 g-ը, հետևաբար ունի ամենամեծ ազդանշանը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1D7F68-3A34-4437-995F-D6357D928A7F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56AF47-8E49-4569-AFDA-517F1E5A598A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E4AD9-20F8-4421-B638-C6455121738D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X․ հորիզոնական դիրքի մոտ դրա ելքն ամենաարագն է փոխվում անկյան հետ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E17FE66-923C-4E56-B84A-105F8FCFD1E4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AA2422-AEB6-4EAB-9E6D-65DCB61F44E8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05A028-C36A-4671-9BF8-90353C126613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Երկուսն էլ հավասար են․ զգայունությունը նույն mg/LSB-ն է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D15357-707A-4547-A83C-0C00FFDE6283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94377-4F85-4857-8BCF-A703E2742322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89640E-3AF0-4325-892D-2887750D3068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Կախված է լրիվ չափման տիրույթից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8D56C-DEA4-409D-BD9B-C0B21DF0212B}"/>
              </a:ext>
            </a:extLst>
          </p:cNvPr>
          <p:cNvSpPr>
            <a:spLocks noGrp="1"/>
          </p:cNvSpPr>
          <p:nvPr/>
        </p:nvSpPr>
        <p:spPr>
          <a:xfrm>
            <a:off x="658368" y="5724525"/>
            <a:ext cx="10874978" cy="5238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200" b="0" i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0.5°-ի դեպքում X-ը փոխվում է 8.73 mg-ով, իսկ Z-ը՝ 0.038 mg-ով՝ 229 անգամ պակաս։ Ուստի փոքր թեքությունների համար ընտրեք հորիզոնական X առանցքը․ մեծ հաստատուն ազդանշանը դեռ մեծ զգայունություն չի նշանակում։</a:t>
            </a:r>
          </a:p>
        </p:txBody>
      </p:sp>
    </p:spTree>
    <p:extLst>
      <p:ext uri="{BB962C8B-B14F-4D97-AF65-F5344CB8AC3E}">
        <p14:creationId xmlns:p14="http://schemas.microsoft.com/office/powerpoint/2010/main" val="140266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04CEBD-9950-4F8E-964D-D19BC2CC47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43EAD-A26F-4825-BC12-A6D3B0A10C06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CAFC0-8299-47A6-BD21-060DCD713614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3ED7F-B3AD-4E25-936C-2340351F1014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Երկու առանցքի համատեղ օգտագործում՝ atan2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F1A62-2855-4453-A955-819238DE260D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6C9F2-2D09-4849-8D41-1E5D8BD0BB94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Հարաբերությունը հավասարեցնում է զգայունությունը և փոխհատուցում մեկ տեսակի սխալ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0740D-4488-4983-BB06-3DC44E51A4D2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θ  =  atan2( a</a:t>
            </a:r>
            <a:r>
              <a:rPr sz="22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x</a:t>
            </a:r>
            <a:r>
              <a:rPr sz="3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 ,  a</a:t>
            </a:r>
            <a:r>
              <a:rPr sz="22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z</a:t>
            </a:r>
            <a:r>
              <a:rPr sz="3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1B576E-A8F9-45AF-8B63-1CE9630CC713}"/>
              </a:ext>
            </a:extLst>
          </p:cNvPr>
          <p:cNvSpPr>
            <a:spLocks noGrp="1"/>
          </p:cNvSpPr>
          <p:nvPr/>
        </p:nvSpPr>
        <p:spPr>
          <a:xfrm>
            <a:off x="658368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ԶԳԱՅՈՒՆՈՒԹՅՈՒՆ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287A6-7024-4074-BBC3-108CD4672474}"/>
              </a:ext>
            </a:extLst>
          </p:cNvPr>
          <p:cNvSpPr>
            <a:spLocks noGrp="1"/>
          </p:cNvSpPr>
          <p:nvPr/>
        </p:nvSpPr>
        <p:spPr>
          <a:xfrm>
            <a:off x="658368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համաչափ է բոլոր անկյուններում․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երբ մի առանցքը հարթ է,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մյուսը մեծ թեքություն ունի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E52557-7123-4113-A114-42E0E009F67A}"/>
              </a:ext>
            </a:extLst>
          </p:cNvPr>
          <p:cNvSpPr>
            <a:spLocks noGrp="1"/>
          </p:cNvSpPr>
          <p:nvPr/>
        </p:nvSpPr>
        <p:spPr>
          <a:xfrm>
            <a:off x="4352544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4202"/>
          </a:bodyPr>
          <a:lstStyle/>
          <a:p>
            <a:pPr algn="ctr">
              <a:buNone/>
            </a:pPr>
            <a:r>
              <a:rPr sz="15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ԸՆԴՀԱՆՈՒՐ ՄԱՍՇՏԱԲԱՅԻՆ ՍԽԱԼ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1DA9DC-F66E-4075-A702-C6B88A25755B}"/>
              </a:ext>
            </a:extLst>
          </p:cNvPr>
          <p:cNvSpPr>
            <a:spLocks noGrp="1"/>
          </p:cNvSpPr>
          <p:nvPr/>
        </p:nvSpPr>
        <p:spPr>
          <a:xfrm>
            <a:off x="4352544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կրճատվում է հարաբերության մեջ․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երկու առանցքի +2 %-ը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նույն անկյունն է տալիս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89BEE9B-FE11-4338-BFB1-8E69EE3B93F3}"/>
              </a:ext>
            </a:extLst>
          </p:cNvPr>
          <p:cNvSpPr>
            <a:spLocks noGrp="1"/>
          </p:cNvSpPr>
          <p:nvPr/>
        </p:nvSpPr>
        <p:spPr>
          <a:xfrm>
            <a:off x="8046720" y="2834640"/>
            <a:ext cx="3493008" cy="53035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4069"/>
          </a:bodyPr>
          <a:lstStyle/>
          <a:p>
            <a:pPr algn="ctr">
              <a:buNone/>
            </a:pPr>
            <a:r>
              <a:rPr sz="15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ԶՐՈՅԱԿԱՆ ՇԵՂՈՒՄ ԿԱՄ ՄԵԿ ԱՌԱՆՑՔԻ ՍԽԱԼ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997CEC-57CF-4410-BE2E-E84636069536}"/>
              </a:ext>
            </a:extLst>
          </p:cNvPr>
          <p:cNvSpPr>
            <a:spLocks noGrp="1"/>
          </p:cNvSpPr>
          <p:nvPr/>
        </p:nvSpPr>
        <p:spPr>
          <a:xfrm>
            <a:off x="8046720" y="3364992"/>
            <a:ext cx="3493008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չի կրճատվում․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X առանցքի շեղումը ցանկացած անկյան դեպքում</a:t>
            </a:r>
          </a:p>
          <a:p>
            <a:pPr algn="ctr">
              <a:buNone/>
            </a:pPr>
            <a:r>
              <a:rPr sz="16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առաջացնում է թեքության սխալ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17AA32B-BAD7-4E89-907F-3D6A4B27B527}"/>
              </a:ext>
            </a:extLst>
          </p:cNvPr>
          <p:cNvSpPr>
            <a:spLocks noGrp="1"/>
          </p:cNvSpPr>
          <p:nvPr/>
        </p:nvSpPr>
        <p:spPr>
          <a:xfrm>
            <a:off x="658368" y="493776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Թեքության չափման համար պետք է չափաբերել ԶՐՈՅԱԿԱՆ ՇԵՂՈՒՄՆԵՐԸ և համաձայնեցնել առանցքները։ Բացարձակ մասշտաբն ավելի քիչ կարևոր է։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1960D6-CDE3-4578-96EC-E9AB1B682EDD}"/>
              </a:ext>
            </a:extLst>
          </p:cNvPr>
          <p:cNvSpPr>
            <a:spLocks noGrp="1"/>
          </p:cNvSpPr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Այդ պատճառով 4-րդ բաժնի չափաբերումն առաջին հերթին ուղղում է զրոյական շեղումը։</a:t>
            </a:r>
          </a:p>
        </p:txBody>
      </p:sp>
    </p:spTree>
    <p:extLst>
      <p:ext uri="{BB962C8B-B14F-4D97-AF65-F5344CB8AC3E}">
        <p14:creationId xmlns:p14="http://schemas.microsoft.com/office/powerpoint/2010/main" val="11841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8DBF6C-D42A-47C6-8BC1-7664F8BF51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D0787-797B-4888-9489-20F4D3E4208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D8A7B-A43D-4713-BB0F-CD7D528CCFFD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ABFD0-1C42-4EDC-A606-B45D2F270202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Թեքությո՞ւն, թե՞ հորիզոնական արագացում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69BD4-B6EA-403F-AEDE-DE70A3387EC2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F4658-F32E-4B08-A679-CA17A180D703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Նույն ցուցմունքը կարող է առաջանալ երկու տարբեր ֆիզիկական պատճառից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0C3DC2-04A4-45FD-9AA8-450BB5DCC6F5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7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ՃԱՆԱՊԱՐՀԸ ԹԵՔՎԱԾ Է 11.3°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29139-8730-4E3A-A6A9-399D4B574B6D}"/>
              </a:ext>
            </a:extLst>
          </p:cNvPr>
          <p:cNvSpPr>
            <a:spLocks noGrp="1"/>
          </p:cNvSpPr>
          <p:nvPr/>
        </p:nvSpPr>
        <p:spPr>
          <a:xfrm>
            <a:off x="658368" y="2532888"/>
            <a:ext cx="5349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ձգողության 0.20 g պրոյեկցիա X առանցքի վրա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EC60A4-88D3-4BF2-8B67-E4F26DF64907}"/>
              </a:ext>
            </a:extLst>
          </p:cNvPr>
          <p:cNvSpPr>
            <a:spLocks noGrp="1"/>
          </p:cNvSpPr>
          <p:nvPr/>
        </p:nvSpPr>
        <p:spPr>
          <a:xfrm>
            <a:off x="6327648" y="19659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7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ՄԵՔԵՆԱՆ ԱՐԱԳԱՆՈՒՄ Է 0.2 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4D430-2A82-4E65-9F9F-07D465B0CC8D}"/>
              </a:ext>
            </a:extLst>
          </p:cNvPr>
          <p:cNvSpPr>
            <a:spLocks noGrp="1"/>
          </p:cNvSpPr>
          <p:nvPr/>
        </p:nvSpPr>
        <p:spPr>
          <a:xfrm>
            <a:off x="6327648" y="2532888"/>
            <a:ext cx="53492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նստատեղը X առանցքի ուղղությամբ ստեղծում է 0.20 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1D955-ABEE-45E0-AC0D-021243BD1EC5}"/>
              </a:ext>
            </a:extLst>
          </p:cNvPr>
          <p:cNvSpPr>
            <a:spLocks noGrp="1"/>
          </p:cNvSpPr>
          <p:nvPr/>
        </p:nvSpPr>
        <p:spPr>
          <a:xfrm>
            <a:off x="5806440" y="269748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graphicFrame>
        <p:nvGraphicFramePr>
          <p:cNvPr id="28" name="Table 12"/>
          <p:cNvGraphicFramePr/>
          <p:nvPr/>
        </p:nvGraphicFramePr>
        <p:xfrm>
          <a:off x="658368" y="3840480"/>
          <a:ext cx="10874958" cy="101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8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Հորիզոնական արագացում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0.05 g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0.10 g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0.20 g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0.30 g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Ցուցադրված թեքություն՝ atan(a/g)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2.9°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5.7°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11.3°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16.7°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96D149-1A7A-4621-A6AA-1E66F0D9F8AF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3868"/>
          </a:bodyPr>
          <a:lstStyle/>
          <a:p>
            <a:pPr algn="ctr">
              <a:buNone/>
            </a:pPr>
            <a:r>
              <a:rPr sz="20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±0.5° պահանջի դեպքում նույնիսկ 0.01 g հորիզոնական արագացումը անթույլատրելի սխալ է։ Եթե այն տևում է թեքության չափ երկար, որևէ ֆիլտր չի տարբերակի դրանք։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C1FFF7-23B8-4EC4-9D66-75C9D1E82E5D}"/>
              </a:ext>
            </a:extLst>
          </p:cNvPr>
          <p:cNvSpPr>
            <a:spLocks noGrp="1"/>
          </p:cNvSpPr>
          <p:nvPr/>
        </p:nvSpPr>
        <p:spPr>
          <a:xfrm>
            <a:off x="658368" y="5915025"/>
            <a:ext cx="10874978" cy="3333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Լուծումը՝ պտույտը չափող, գծային արագացումից անկախ տվիչ (Դասախոսություն 6)։</a:t>
            </a:r>
          </a:p>
        </p:txBody>
      </p:sp>
    </p:spTree>
    <p:extLst>
      <p:ext uri="{BB962C8B-B14F-4D97-AF65-F5344CB8AC3E}">
        <p14:creationId xmlns:p14="http://schemas.microsoft.com/office/powerpoint/2010/main" val="30045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CE902-0B8E-4699-9E29-DC81989D60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6FD53-6CFC-4DCA-A2E3-0CA70232B68E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95E06-9B44-4D00-B45E-3328E1C5B355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83E9F-A762-4203-939E-4E7BDEB58894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ԲԱԺԻՆ 2  ·  ՓՈԽԱԿԵՐՊՈՒՄ ԵՎ ԿԱՌՈՒՑՎԱԾՔ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79EF1-045D-466C-800B-270B7387B871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9046159" cy="2313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Զանգված</a:t>
            </a:r>
            <a:r>
              <a:rPr sz="4400" b="1" i="0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, երկու </a:t>
            </a:r>
            <a:r>
              <a:rPr sz="4400" b="1" i="0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առաձգական</a:t>
            </a:r>
            <a:r>
              <a:rPr sz="4400" b="1" i="0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i="0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տարր</a:t>
            </a:r>
            <a:r>
              <a:rPr lang="en-US" sz="4400" b="1" i="0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 </a:t>
            </a:r>
            <a:r>
              <a:rPr sz="4400" b="1" i="0" dirty="0">
                <a:solidFill>
                  <a:srgbClr val="F7F5F1"/>
                </a:solidFill>
                <a:latin typeface="Arial"/>
                <a:ea typeface="Arial"/>
                <a:cs typeface="Arial"/>
              </a:rPr>
              <a:t>և </a:t>
            </a:r>
            <a:r>
              <a:rPr sz="4400" b="1" i="0" dirty="0" err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բացակ</a:t>
            </a:r>
            <a:endParaRPr sz="4400" b="1" i="0" dirty="0">
              <a:solidFill>
                <a:srgbClr val="F7F5F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BC764-AC98-4045-A6C8-59CD725BEF7D}"/>
              </a:ext>
            </a:extLst>
          </p:cNvPr>
          <p:cNvSpPr>
            <a:spLocks noGrp="1"/>
          </p:cNvSpPr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D36E0-89C5-42C2-9C99-DB8DB7CC8B7E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x = a/ω₀²․ հիմնական հավասարումը և դրանում պարունակվող նախագծային փոխզիջումը։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E73B77-7BC7-4938-BEE1-4B5C7A5E74FD}"/>
              </a:ext>
            </a:extLst>
          </p:cNvPr>
          <p:cNvSpPr>
            <a:spLocks noGrp="1"/>
          </p:cNvSpPr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669A8F-4156-4720-A9A9-125FC36213FF}"/>
              </a:ext>
            </a:extLst>
          </p:cNvPr>
          <p:cNvSpPr>
            <a:spLocks noGrp="1"/>
          </p:cNvSpPr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6BFA2-BB2E-40EF-B178-643665FEE99F}"/>
              </a:ext>
            </a:extLst>
          </p:cNvPr>
          <p:cNvSpPr>
            <a:spLocks noGrp="1"/>
          </p:cNvSpPr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FFBE72-8EED-462F-A723-1586A8F3F3A1}"/>
              </a:ext>
            </a:extLst>
          </p:cNvPr>
          <p:cNvSpPr>
            <a:spLocks noGrp="1"/>
          </p:cNvSpPr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AAF6E6-4365-48E5-8892-901C09EE9BF6}"/>
              </a:ext>
            </a:extLst>
          </p:cNvPr>
          <p:cNvSpPr>
            <a:spLocks noGrp="1"/>
          </p:cNvSpPr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939C23-1D52-4D76-803F-9E1F48F28786}"/>
              </a:ext>
            </a:extLst>
          </p:cNvPr>
          <p:cNvSpPr>
            <a:spLocks noGrp="1"/>
          </p:cNvSpPr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8CF1C8-4A27-4EF1-B563-58EB729078D6}"/>
              </a:ext>
            </a:extLst>
          </p:cNvPr>
          <p:cNvSpPr>
            <a:spLocks noGrp="1"/>
          </p:cNvSpPr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2CD0DF-DC9B-46C9-821E-57D6BF49E210}"/>
              </a:ext>
            </a:extLst>
          </p:cNvPr>
          <p:cNvSpPr>
            <a:spLocks noGrp="1"/>
          </p:cNvSpPr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</p:spTree>
    <p:extLst>
      <p:ext uri="{BB962C8B-B14F-4D97-AF65-F5344CB8AC3E}">
        <p14:creationId xmlns:p14="http://schemas.microsoft.com/office/powerpoint/2010/main" val="1675380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568ECF-087D-4DFC-8145-112A57C197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D6F15-79BC-4CE7-917C-A95A59EB15DD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4E269-D33F-47E7-8449-083D7034C39A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C85A4-F200-4B2C-BA94-46A276745B8D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Իներտ զանգվածի տեղաշարժը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370B-662E-45FA-B54F-EBD0498D12E2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4C873-3E82-4ED3-B6F8-85B244AE1142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x = ma/k հարաբերությունը բաժանենք m-ի վրա․ զանգվածն ու կոշտությունը միավորվում են մեկ պարամետրում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6918E-1963-4E21-8725-E64B5425F05B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1087495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3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x  =  ma / k  =  a / ω₀²</a:t>
            </a:r>
            <a:r>
              <a:rPr sz="2000" b="0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        ω₀ = 2π f₀</a:t>
            </a:r>
          </a:p>
        </p:txBody>
      </p:sp>
      <p:graphicFrame>
        <p:nvGraphicFramePr>
          <p:cNvPr id="22" name="Table 8"/>
          <p:cNvGraphicFramePr/>
          <p:nvPr/>
        </p:nvGraphicFramePr>
        <p:xfrm>
          <a:off x="658368" y="2697480"/>
          <a:ext cx="6583679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5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Ներկայացուցչական սարք՝ f₀ = 5 կՀց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Տեղաշարժ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1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9.9 նմ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8.73 mg՝ 0.5° թեքություն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0.087 նմ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համեմատության համար՝ Si–Si կապ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0.235 նմ</a:t>
                      </a:r>
                    </a:p>
                  </a:txBody>
                  <a:tcPr marT="27432" marB="27432" anchor="ctr">
                    <a:solidFill>
                      <a:srgbClr val="E4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3D27CD-E31B-43DE-8094-0841544AB950}"/>
              </a:ext>
            </a:extLst>
          </p:cNvPr>
          <p:cNvSpPr>
            <a:spLocks noGrp="1"/>
          </p:cNvSpPr>
          <p:nvPr/>
        </p:nvSpPr>
        <p:spPr>
          <a:xfrm>
            <a:off x="7635240" y="269748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ՀԱՇՎԱՐԿԸ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6A5CC-F011-4A00-933D-01EDBA46F576}"/>
              </a:ext>
            </a:extLst>
          </p:cNvPr>
          <p:cNvSpPr>
            <a:spLocks noGrp="1"/>
          </p:cNvSpPr>
          <p:nvPr/>
        </p:nvSpPr>
        <p:spPr>
          <a:xfrm>
            <a:off x="7635240" y="2971800"/>
            <a:ext cx="39319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ω₀ = 2π × 5000</a:t>
            </a:r>
          </a:p>
          <a:p>
            <a:pPr algn="l">
              <a:lnSpc>
                <a:spcPct val="130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   = 31 416 rad/s</a:t>
            </a:r>
          </a:p>
          <a:p>
            <a:pPr algn="l">
              <a:lnSpc>
                <a:spcPct val="130000"/>
              </a:lnSpc>
              <a:buNone/>
            </a:pPr>
            <a:endParaRPr sz="1550" b="0" i="0">
              <a:solidFill>
                <a:srgbClr val="1A1F24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30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x = 9.81 / 31 416²</a:t>
            </a:r>
          </a:p>
          <a:p>
            <a:pPr algn="l">
              <a:lnSpc>
                <a:spcPct val="130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  = 9.9 × 10⁻⁹ m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265ECF-3F14-4011-B9E5-23E4C40DB91D}"/>
              </a:ext>
            </a:extLst>
          </p:cNvPr>
          <p:cNvSpPr>
            <a:spLocks noGrp="1"/>
          </p:cNvSpPr>
          <p:nvPr/>
        </p:nvSpPr>
        <p:spPr>
          <a:xfrm>
            <a:off x="658368" y="48463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6913"/>
          </a:bodyPr>
          <a:lstStyle/>
          <a:p>
            <a:pPr algn="ctr">
              <a:buNone/>
            </a:pPr>
            <a:r>
              <a:rPr sz="20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0.5° թեքությունը զանգվածը տեղաշարժում է ատոմային կապի երկարությունից էլ քիչ։ Չափումն իրականացվում է էլեկտրոդի մեծ մակերեսով միջինացման շնորհիվ։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08D68-F0BD-4851-B0C5-9EC38A367A58}"/>
              </a:ext>
            </a:extLst>
          </p:cNvPr>
          <p:cNvSpPr>
            <a:spLocks noGrp="1"/>
          </p:cNvSpPr>
          <p:nvPr/>
        </p:nvSpPr>
        <p:spPr>
          <a:xfrm>
            <a:off x="658368" y="5806440"/>
            <a:ext cx="10874978" cy="42862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1915"/>
          </a:bodyPr>
          <a:lstStyle/>
          <a:p>
            <a:pPr algn="l">
              <a:lnSpc>
                <a:spcPct val="130000"/>
              </a:lnSpc>
              <a:buNone/>
            </a:pPr>
            <a:r>
              <a:rPr sz="1275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Ինտեգրալ սխեման միջինացնում է ամբողջ էլեկտրոդի բացակը, ուստի ենթաատոմային միջին տեղաշարժը դառնում է կրկնելի ազդանշան։</a:t>
            </a:r>
          </a:p>
        </p:txBody>
      </p:sp>
    </p:spTree>
    <p:extLst>
      <p:ext uri="{BB962C8B-B14F-4D97-AF65-F5344CB8AC3E}">
        <p14:creationId xmlns:p14="http://schemas.microsoft.com/office/powerpoint/2010/main" val="166071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E84220-C2EE-41BE-B6DA-2961A2D770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62054-90AB-44AB-A323-80BFD8534409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B8566-853B-400D-8786-93B5FBB37F86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7C4DE3-F585-4800-8117-914741D88B68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x = a/ω₀² հարաբերության նախագծային փոխզիջումը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CAEC6-02AF-40A0-8F6C-22FFCF559F87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E797C-DC31-406A-9F0D-EC544DC300E9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Զգայունությունը համեմատական է 1/f₀²-ին, իսկ հարթ հաճախականային տիրույթը ավարտվում է մոտ f₀-ի շրջանում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482B79-C0AE-46F4-8BB3-EAD319B94AD6}"/>
              </a:ext>
            </a:extLst>
          </p:cNvPr>
          <p:cNvSpPr>
            <a:spLocks noGrp="1"/>
          </p:cNvSpPr>
          <p:nvPr/>
        </p:nvSpPr>
        <p:spPr>
          <a:xfrm>
            <a:off x="932688" y="4572000"/>
            <a:ext cx="5669280" cy="127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88214-7098-402B-94CC-9AF5C23D3586}"/>
              </a:ext>
            </a:extLst>
          </p:cNvPr>
          <p:cNvSpPr>
            <a:spLocks noGrp="1"/>
          </p:cNvSpPr>
          <p:nvPr/>
        </p:nvSpPr>
        <p:spPr>
          <a:xfrm>
            <a:off x="932688" y="2240280"/>
            <a:ext cx="12700" cy="233172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632CC-F505-4305-A2DB-98FCE96B77B1}"/>
              </a:ext>
            </a:extLst>
          </p:cNvPr>
          <p:cNvSpPr>
            <a:spLocks noGrp="1"/>
          </p:cNvSpPr>
          <p:nvPr/>
        </p:nvSpPr>
        <p:spPr>
          <a:xfrm>
            <a:off x="932688" y="462686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հաճախականություն / f₀, 0…2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A5D343-CE30-499F-B6B1-1617FBDD73D9}"/>
              </a:ext>
            </a:extLst>
          </p:cNvPr>
          <p:cNvSpPr>
            <a:spLocks noGrp="1"/>
          </p:cNvSpPr>
          <p:nvPr/>
        </p:nvSpPr>
        <p:spPr>
          <a:xfrm>
            <a:off x="1005840" y="192938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արձագանք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0F9D845-494F-4F91-8DA4-693EFBF06687}"/>
              </a:ext>
            </a:extLst>
          </p:cNvPr>
          <p:cNvSpPr>
            <a:spLocks noGrp="1"/>
          </p:cNvSpPr>
          <p:nvPr/>
        </p:nvSpPr>
        <p:spPr>
          <a:xfrm>
            <a:off x="932688" y="3886200"/>
            <a:ext cx="5669280" cy="520262"/>
          </a:xfrm>
          <a:custGeom>
            <a:avLst/>
            <a:gdLst/>
            <a:ahLst/>
            <a:cxnLst/>
            <a:rect l="l" t="t" r="r" b="b"/>
            <a:pathLst>
              <a:path w="5669280" h="520262">
                <a:moveTo>
                  <a:pt x="0" y="0"/>
                </a:moveTo>
                <a:lnTo>
                  <a:pt x="23622" y="0"/>
                </a:lnTo>
                <a:lnTo>
                  <a:pt x="47244" y="3"/>
                </a:lnTo>
                <a:lnTo>
                  <a:pt x="70866" y="8"/>
                </a:lnTo>
                <a:lnTo>
                  <a:pt x="94488" y="15"/>
                </a:lnTo>
                <a:lnTo>
                  <a:pt x="118110" y="25"/>
                </a:lnTo>
                <a:lnTo>
                  <a:pt x="141732" y="37"/>
                </a:lnTo>
                <a:lnTo>
                  <a:pt x="165354" y="51"/>
                </a:lnTo>
                <a:lnTo>
                  <a:pt x="188976" y="68"/>
                </a:lnTo>
                <a:lnTo>
                  <a:pt x="212598" y="89"/>
                </a:lnTo>
                <a:lnTo>
                  <a:pt x="236220" y="113"/>
                </a:lnTo>
                <a:lnTo>
                  <a:pt x="259842" y="141"/>
                </a:lnTo>
                <a:lnTo>
                  <a:pt x="283464" y="174"/>
                </a:lnTo>
                <a:lnTo>
                  <a:pt x="307086" y="211"/>
                </a:lnTo>
                <a:lnTo>
                  <a:pt x="330708" y="253"/>
                </a:lnTo>
                <a:lnTo>
                  <a:pt x="354330" y="302"/>
                </a:lnTo>
                <a:lnTo>
                  <a:pt x="377952" y="356"/>
                </a:lnTo>
                <a:lnTo>
                  <a:pt x="401574" y="418"/>
                </a:lnTo>
                <a:lnTo>
                  <a:pt x="425196" y="487"/>
                </a:lnTo>
                <a:lnTo>
                  <a:pt x="448818" y="565"/>
                </a:lnTo>
                <a:lnTo>
                  <a:pt x="472440" y="652"/>
                </a:lnTo>
                <a:lnTo>
                  <a:pt x="496062" y="748"/>
                </a:lnTo>
                <a:lnTo>
                  <a:pt x="519684" y="856"/>
                </a:lnTo>
                <a:lnTo>
                  <a:pt x="543306" y="974"/>
                </a:lnTo>
                <a:lnTo>
                  <a:pt x="566928" y="1105"/>
                </a:lnTo>
                <a:lnTo>
                  <a:pt x="590550" y="1249"/>
                </a:lnTo>
                <a:lnTo>
                  <a:pt x="614172" y="1408"/>
                </a:lnTo>
                <a:lnTo>
                  <a:pt x="637794" y="1581"/>
                </a:lnTo>
                <a:lnTo>
                  <a:pt x="661416" y="1771"/>
                </a:lnTo>
                <a:lnTo>
                  <a:pt x="685038" y="1978"/>
                </a:lnTo>
                <a:lnTo>
                  <a:pt x="708660" y="2203"/>
                </a:lnTo>
                <a:lnTo>
                  <a:pt x="732282" y="2448"/>
                </a:lnTo>
                <a:lnTo>
                  <a:pt x="755904" y="2713"/>
                </a:lnTo>
                <a:lnTo>
                  <a:pt x="779526" y="2999"/>
                </a:lnTo>
                <a:lnTo>
                  <a:pt x="803148" y="3309"/>
                </a:lnTo>
                <a:lnTo>
                  <a:pt x="826770" y="3642"/>
                </a:lnTo>
                <a:lnTo>
                  <a:pt x="850392" y="4001"/>
                </a:lnTo>
                <a:lnTo>
                  <a:pt x="874014" y="4387"/>
                </a:lnTo>
                <a:lnTo>
                  <a:pt x="897636" y="4800"/>
                </a:lnTo>
                <a:lnTo>
                  <a:pt x="921258" y="5243"/>
                </a:lnTo>
                <a:lnTo>
                  <a:pt x="944880" y="5716"/>
                </a:lnTo>
                <a:lnTo>
                  <a:pt x="968502" y="6220"/>
                </a:lnTo>
                <a:lnTo>
                  <a:pt x="992124" y="6758"/>
                </a:lnTo>
                <a:lnTo>
                  <a:pt x="1015746" y="7331"/>
                </a:lnTo>
                <a:lnTo>
                  <a:pt x="1039368" y="7939"/>
                </a:lnTo>
                <a:lnTo>
                  <a:pt x="1062990" y="8585"/>
                </a:lnTo>
                <a:lnTo>
                  <a:pt x="1086612" y="9269"/>
                </a:lnTo>
                <a:lnTo>
                  <a:pt x="1110234" y="9993"/>
                </a:lnTo>
                <a:lnTo>
                  <a:pt x="1133856" y="10759"/>
                </a:lnTo>
                <a:lnTo>
                  <a:pt x="1157478" y="11567"/>
                </a:lnTo>
                <a:lnTo>
                  <a:pt x="1181100" y="12419"/>
                </a:lnTo>
                <a:lnTo>
                  <a:pt x="1204722" y="13317"/>
                </a:lnTo>
                <a:lnTo>
                  <a:pt x="1228344" y="14261"/>
                </a:lnTo>
                <a:lnTo>
                  <a:pt x="1251966" y="15253"/>
                </a:lnTo>
                <a:lnTo>
                  <a:pt x="1275588" y="16295"/>
                </a:lnTo>
                <a:lnTo>
                  <a:pt x="1299210" y="17387"/>
                </a:lnTo>
                <a:lnTo>
                  <a:pt x="1322832" y="18531"/>
                </a:lnTo>
                <a:lnTo>
                  <a:pt x="1346454" y="19728"/>
                </a:lnTo>
                <a:lnTo>
                  <a:pt x="1370076" y="20979"/>
                </a:lnTo>
                <a:lnTo>
                  <a:pt x="1393698" y="22285"/>
                </a:lnTo>
                <a:lnTo>
                  <a:pt x="1417320" y="23648"/>
                </a:lnTo>
                <a:lnTo>
                  <a:pt x="1440942" y="25068"/>
                </a:lnTo>
                <a:lnTo>
                  <a:pt x="1464564" y="26546"/>
                </a:lnTo>
                <a:lnTo>
                  <a:pt x="1488186" y="28083"/>
                </a:lnTo>
                <a:lnTo>
                  <a:pt x="1511808" y="29680"/>
                </a:lnTo>
                <a:lnTo>
                  <a:pt x="1535430" y="31338"/>
                </a:lnTo>
                <a:lnTo>
                  <a:pt x="1559052" y="33057"/>
                </a:lnTo>
                <a:lnTo>
                  <a:pt x="1582674" y="34839"/>
                </a:lnTo>
                <a:lnTo>
                  <a:pt x="1606296" y="36683"/>
                </a:lnTo>
                <a:lnTo>
                  <a:pt x="1629918" y="38590"/>
                </a:lnTo>
                <a:lnTo>
                  <a:pt x="1653540" y="40561"/>
                </a:lnTo>
                <a:lnTo>
                  <a:pt x="1677162" y="42596"/>
                </a:lnTo>
                <a:lnTo>
                  <a:pt x="1700784" y="44695"/>
                </a:lnTo>
                <a:lnTo>
                  <a:pt x="1724406" y="46859"/>
                </a:lnTo>
                <a:lnTo>
                  <a:pt x="1748028" y="49087"/>
                </a:lnTo>
                <a:lnTo>
                  <a:pt x="1771650" y="51379"/>
                </a:lnTo>
                <a:lnTo>
                  <a:pt x="1795272" y="53736"/>
                </a:lnTo>
                <a:lnTo>
                  <a:pt x="1818894" y="56157"/>
                </a:lnTo>
                <a:lnTo>
                  <a:pt x="1842516" y="58641"/>
                </a:lnTo>
                <a:lnTo>
                  <a:pt x="1866138" y="61190"/>
                </a:lnTo>
                <a:lnTo>
                  <a:pt x="1889760" y="63801"/>
                </a:lnTo>
                <a:lnTo>
                  <a:pt x="1913382" y="66475"/>
                </a:lnTo>
                <a:lnTo>
                  <a:pt x="1937004" y="69211"/>
                </a:lnTo>
                <a:lnTo>
                  <a:pt x="1960626" y="72007"/>
                </a:lnTo>
                <a:lnTo>
                  <a:pt x="1984248" y="74865"/>
                </a:lnTo>
                <a:lnTo>
                  <a:pt x="2007870" y="77781"/>
                </a:lnTo>
                <a:lnTo>
                  <a:pt x="2031492" y="80756"/>
                </a:lnTo>
                <a:lnTo>
                  <a:pt x="2055114" y="83789"/>
                </a:lnTo>
                <a:lnTo>
                  <a:pt x="2078736" y="86877"/>
                </a:lnTo>
                <a:lnTo>
                  <a:pt x="2102358" y="90021"/>
                </a:lnTo>
                <a:lnTo>
                  <a:pt x="2125980" y="93218"/>
                </a:lnTo>
                <a:lnTo>
                  <a:pt x="2149602" y="96468"/>
                </a:lnTo>
                <a:lnTo>
                  <a:pt x="2173224" y="99768"/>
                </a:lnTo>
                <a:lnTo>
                  <a:pt x="2196846" y="103118"/>
                </a:lnTo>
                <a:lnTo>
                  <a:pt x="2220468" y="106516"/>
                </a:lnTo>
                <a:lnTo>
                  <a:pt x="2244090" y="109960"/>
                </a:lnTo>
                <a:lnTo>
                  <a:pt x="2267712" y="113449"/>
                </a:lnTo>
                <a:lnTo>
                  <a:pt x="2291334" y="116980"/>
                </a:lnTo>
                <a:lnTo>
                  <a:pt x="2314956" y="120553"/>
                </a:lnTo>
                <a:lnTo>
                  <a:pt x="2338578" y="124165"/>
                </a:lnTo>
                <a:lnTo>
                  <a:pt x="2362200" y="127814"/>
                </a:lnTo>
                <a:lnTo>
                  <a:pt x="2385822" y="131499"/>
                </a:lnTo>
                <a:lnTo>
                  <a:pt x="2409444" y="135217"/>
                </a:lnTo>
                <a:lnTo>
                  <a:pt x="2433066" y="138968"/>
                </a:lnTo>
                <a:lnTo>
                  <a:pt x="2456688" y="142748"/>
                </a:lnTo>
                <a:lnTo>
                  <a:pt x="2480310" y="146557"/>
                </a:lnTo>
                <a:lnTo>
                  <a:pt x="2503932" y="150391"/>
                </a:lnTo>
                <a:lnTo>
                  <a:pt x="2527554" y="154249"/>
                </a:lnTo>
                <a:lnTo>
                  <a:pt x="2551176" y="158130"/>
                </a:lnTo>
                <a:lnTo>
                  <a:pt x="2574798" y="162031"/>
                </a:lnTo>
                <a:lnTo>
                  <a:pt x="2598420" y="165950"/>
                </a:lnTo>
                <a:lnTo>
                  <a:pt x="2622042" y="169886"/>
                </a:lnTo>
                <a:lnTo>
                  <a:pt x="2645664" y="173836"/>
                </a:lnTo>
                <a:lnTo>
                  <a:pt x="2669286" y="177799"/>
                </a:lnTo>
                <a:lnTo>
                  <a:pt x="2692908" y="181772"/>
                </a:lnTo>
                <a:lnTo>
                  <a:pt x="2716530" y="185755"/>
                </a:lnTo>
                <a:lnTo>
                  <a:pt x="2740152" y="189744"/>
                </a:lnTo>
                <a:lnTo>
                  <a:pt x="2763774" y="193739"/>
                </a:lnTo>
                <a:lnTo>
                  <a:pt x="2787396" y="197738"/>
                </a:lnTo>
                <a:lnTo>
                  <a:pt x="2811018" y="201739"/>
                </a:lnTo>
                <a:lnTo>
                  <a:pt x="2834640" y="205740"/>
                </a:lnTo>
                <a:lnTo>
                  <a:pt x="2858262" y="209739"/>
                </a:lnTo>
                <a:lnTo>
                  <a:pt x="2881884" y="213736"/>
                </a:lnTo>
                <a:lnTo>
                  <a:pt x="2905506" y="217728"/>
                </a:lnTo>
                <a:lnTo>
                  <a:pt x="2929128" y="221714"/>
                </a:lnTo>
                <a:lnTo>
                  <a:pt x="2952750" y="225693"/>
                </a:lnTo>
                <a:lnTo>
                  <a:pt x="2976372" y="229663"/>
                </a:lnTo>
                <a:lnTo>
                  <a:pt x="2999994" y="233623"/>
                </a:lnTo>
                <a:lnTo>
                  <a:pt x="3023616" y="237572"/>
                </a:lnTo>
                <a:lnTo>
                  <a:pt x="3047238" y="241507"/>
                </a:lnTo>
                <a:lnTo>
                  <a:pt x="3070860" y="245429"/>
                </a:lnTo>
                <a:lnTo>
                  <a:pt x="3094482" y="249336"/>
                </a:lnTo>
                <a:lnTo>
                  <a:pt x="3118104" y="253227"/>
                </a:lnTo>
                <a:lnTo>
                  <a:pt x="3141726" y="257100"/>
                </a:lnTo>
                <a:lnTo>
                  <a:pt x="3165348" y="260955"/>
                </a:lnTo>
                <a:lnTo>
                  <a:pt x="3188970" y="264791"/>
                </a:lnTo>
                <a:lnTo>
                  <a:pt x="3212592" y="268607"/>
                </a:lnTo>
                <a:lnTo>
                  <a:pt x="3236214" y="272401"/>
                </a:lnTo>
                <a:lnTo>
                  <a:pt x="3259836" y="276174"/>
                </a:lnTo>
                <a:lnTo>
                  <a:pt x="3283458" y="279924"/>
                </a:lnTo>
                <a:lnTo>
                  <a:pt x="3307080" y="283651"/>
                </a:lnTo>
                <a:lnTo>
                  <a:pt x="3330702" y="287353"/>
                </a:lnTo>
                <a:lnTo>
                  <a:pt x="3354324" y="291031"/>
                </a:lnTo>
                <a:lnTo>
                  <a:pt x="3377946" y="294683"/>
                </a:lnTo>
                <a:lnTo>
                  <a:pt x="3401568" y="298309"/>
                </a:lnTo>
                <a:lnTo>
                  <a:pt x="3425190" y="301909"/>
                </a:lnTo>
                <a:lnTo>
                  <a:pt x="3448812" y="305482"/>
                </a:lnTo>
                <a:lnTo>
                  <a:pt x="3472434" y="309028"/>
                </a:lnTo>
                <a:lnTo>
                  <a:pt x="3496056" y="312545"/>
                </a:lnTo>
                <a:lnTo>
                  <a:pt x="3519678" y="316034"/>
                </a:lnTo>
                <a:lnTo>
                  <a:pt x="3543300" y="319495"/>
                </a:lnTo>
                <a:lnTo>
                  <a:pt x="3566922" y="322927"/>
                </a:lnTo>
                <a:lnTo>
                  <a:pt x="3590544" y="326329"/>
                </a:lnTo>
                <a:lnTo>
                  <a:pt x="3614166" y="329702"/>
                </a:lnTo>
                <a:lnTo>
                  <a:pt x="3637788" y="333046"/>
                </a:lnTo>
                <a:lnTo>
                  <a:pt x="3661410" y="336359"/>
                </a:lnTo>
                <a:lnTo>
                  <a:pt x="3685032" y="339642"/>
                </a:lnTo>
                <a:lnTo>
                  <a:pt x="3708654" y="342896"/>
                </a:lnTo>
                <a:lnTo>
                  <a:pt x="3732276" y="346118"/>
                </a:lnTo>
                <a:lnTo>
                  <a:pt x="3755898" y="349311"/>
                </a:lnTo>
                <a:lnTo>
                  <a:pt x="3779520" y="352473"/>
                </a:lnTo>
                <a:lnTo>
                  <a:pt x="3803142" y="355604"/>
                </a:lnTo>
                <a:lnTo>
                  <a:pt x="3826764" y="358705"/>
                </a:lnTo>
                <a:lnTo>
                  <a:pt x="3850386" y="361775"/>
                </a:lnTo>
                <a:lnTo>
                  <a:pt x="3874008" y="364814"/>
                </a:lnTo>
                <a:lnTo>
                  <a:pt x="3897630" y="367823"/>
                </a:lnTo>
                <a:lnTo>
                  <a:pt x="3921252" y="370802"/>
                </a:lnTo>
                <a:lnTo>
                  <a:pt x="3944874" y="373750"/>
                </a:lnTo>
                <a:lnTo>
                  <a:pt x="3968496" y="376667"/>
                </a:lnTo>
                <a:lnTo>
                  <a:pt x="3992118" y="379555"/>
                </a:lnTo>
                <a:lnTo>
                  <a:pt x="4015740" y="382412"/>
                </a:lnTo>
                <a:lnTo>
                  <a:pt x="4039362" y="385239"/>
                </a:lnTo>
                <a:lnTo>
                  <a:pt x="4062984" y="388036"/>
                </a:lnTo>
                <a:lnTo>
                  <a:pt x="4086606" y="390804"/>
                </a:lnTo>
                <a:lnTo>
                  <a:pt x="4110228" y="393541"/>
                </a:lnTo>
                <a:lnTo>
                  <a:pt x="4133850" y="396250"/>
                </a:lnTo>
                <a:lnTo>
                  <a:pt x="4157472" y="398929"/>
                </a:lnTo>
                <a:lnTo>
                  <a:pt x="4181094" y="401579"/>
                </a:lnTo>
                <a:lnTo>
                  <a:pt x="4204716" y="404200"/>
                </a:lnTo>
                <a:lnTo>
                  <a:pt x="4228338" y="406792"/>
                </a:lnTo>
                <a:lnTo>
                  <a:pt x="4251960" y="409356"/>
                </a:lnTo>
                <a:lnTo>
                  <a:pt x="4275582" y="411891"/>
                </a:lnTo>
                <a:lnTo>
                  <a:pt x="4299204" y="414399"/>
                </a:lnTo>
                <a:lnTo>
                  <a:pt x="4322826" y="416878"/>
                </a:lnTo>
                <a:lnTo>
                  <a:pt x="4346448" y="419330"/>
                </a:lnTo>
                <a:lnTo>
                  <a:pt x="4370070" y="421754"/>
                </a:lnTo>
                <a:lnTo>
                  <a:pt x="4393692" y="424152"/>
                </a:lnTo>
                <a:lnTo>
                  <a:pt x="4417314" y="426522"/>
                </a:lnTo>
                <a:lnTo>
                  <a:pt x="4440936" y="428866"/>
                </a:lnTo>
                <a:lnTo>
                  <a:pt x="4464558" y="431183"/>
                </a:lnTo>
                <a:lnTo>
                  <a:pt x="4488180" y="433474"/>
                </a:lnTo>
                <a:lnTo>
                  <a:pt x="4511802" y="435739"/>
                </a:lnTo>
                <a:lnTo>
                  <a:pt x="4535424" y="437979"/>
                </a:lnTo>
                <a:lnTo>
                  <a:pt x="4559046" y="440193"/>
                </a:lnTo>
                <a:lnTo>
                  <a:pt x="4582668" y="442382"/>
                </a:lnTo>
                <a:lnTo>
                  <a:pt x="4606290" y="444546"/>
                </a:lnTo>
                <a:lnTo>
                  <a:pt x="4629912" y="446685"/>
                </a:lnTo>
                <a:lnTo>
                  <a:pt x="4653534" y="448801"/>
                </a:lnTo>
                <a:lnTo>
                  <a:pt x="4677156" y="450891"/>
                </a:lnTo>
                <a:lnTo>
                  <a:pt x="4700778" y="452958"/>
                </a:lnTo>
                <a:lnTo>
                  <a:pt x="4724400" y="455002"/>
                </a:lnTo>
                <a:lnTo>
                  <a:pt x="4748022" y="457022"/>
                </a:lnTo>
                <a:lnTo>
                  <a:pt x="4771644" y="459019"/>
                </a:lnTo>
                <a:lnTo>
                  <a:pt x="4795266" y="460993"/>
                </a:lnTo>
                <a:lnTo>
                  <a:pt x="4818888" y="462945"/>
                </a:lnTo>
                <a:lnTo>
                  <a:pt x="4842510" y="464875"/>
                </a:lnTo>
                <a:lnTo>
                  <a:pt x="4866132" y="466782"/>
                </a:lnTo>
                <a:lnTo>
                  <a:pt x="4889754" y="468668"/>
                </a:lnTo>
                <a:lnTo>
                  <a:pt x="4913376" y="470532"/>
                </a:lnTo>
                <a:lnTo>
                  <a:pt x="4936998" y="472375"/>
                </a:lnTo>
                <a:lnTo>
                  <a:pt x="4960620" y="474196"/>
                </a:lnTo>
                <a:lnTo>
                  <a:pt x="4984242" y="475997"/>
                </a:lnTo>
                <a:lnTo>
                  <a:pt x="5007864" y="477778"/>
                </a:lnTo>
                <a:lnTo>
                  <a:pt x="5031486" y="479538"/>
                </a:lnTo>
                <a:lnTo>
                  <a:pt x="5055108" y="481279"/>
                </a:lnTo>
                <a:lnTo>
                  <a:pt x="5078730" y="482999"/>
                </a:lnTo>
                <a:lnTo>
                  <a:pt x="5102352" y="484700"/>
                </a:lnTo>
                <a:lnTo>
                  <a:pt x="5125974" y="486382"/>
                </a:lnTo>
                <a:lnTo>
                  <a:pt x="5149596" y="488045"/>
                </a:lnTo>
                <a:lnTo>
                  <a:pt x="5173218" y="489689"/>
                </a:lnTo>
                <a:lnTo>
                  <a:pt x="5196840" y="491314"/>
                </a:lnTo>
                <a:lnTo>
                  <a:pt x="5220462" y="492921"/>
                </a:lnTo>
                <a:lnTo>
                  <a:pt x="5244084" y="494510"/>
                </a:lnTo>
                <a:lnTo>
                  <a:pt x="5267706" y="496081"/>
                </a:lnTo>
                <a:lnTo>
                  <a:pt x="5291328" y="497634"/>
                </a:lnTo>
                <a:lnTo>
                  <a:pt x="5314950" y="499170"/>
                </a:lnTo>
                <a:lnTo>
                  <a:pt x="5338572" y="500689"/>
                </a:lnTo>
                <a:lnTo>
                  <a:pt x="5362194" y="502190"/>
                </a:lnTo>
                <a:lnTo>
                  <a:pt x="5385816" y="503675"/>
                </a:lnTo>
                <a:lnTo>
                  <a:pt x="5409438" y="505144"/>
                </a:lnTo>
                <a:lnTo>
                  <a:pt x="5433060" y="506596"/>
                </a:lnTo>
                <a:lnTo>
                  <a:pt x="5456682" y="508031"/>
                </a:lnTo>
                <a:lnTo>
                  <a:pt x="5480304" y="509451"/>
                </a:lnTo>
                <a:lnTo>
                  <a:pt x="5503926" y="510856"/>
                </a:lnTo>
                <a:lnTo>
                  <a:pt x="5527548" y="512244"/>
                </a:lnTo>
                <a:lnTo>
                  <a:pt x="5551170" y="513618"/>
                </a:lnTo>
                <a:lnTo>
                  <a:pt x="5574792" y="514976"/>
                </a:lnTo>
                <a:lnTo>
                  <a:pt x="5598414" y="516319"/>
                </a:lnTo>
                <a:lnTo>
                  <a:pt x="5622036" y="517648"/>
                </a:lnTo>
                <a:lnTo>
                  <a:pt x="5645658" y="518962"/>
                </a:lnTo>
                <a:lnTo>
                  <a:pt x="5669280" y="520262"/>
                </a:lnTo>
              </a:path>
            </a:pathLst>
          </a:custGeom>
          <a:noFill/>
          <a:ln w="285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DD0DC86-2384-40DA-9C65-0B80E9CB3481}"/>
              </a:ext>
            </a:extLst>
          </p:cNvPr>
          <p:cNvSpPr>
            <a:spLocks noGrp="1"/>
          </p:cNvSpPr>
          <p:nvPr/>
        </p:nvSpPr>
        <p:spPr>
          <a:xfrm>
            <a:off x="932688" y="2485784"/>
            <a:ext cx="5669280" cy="1863059"/>
          </a:xfrm>
          <a:custGeom>
            <a:avLst/>
            <a:gdLst/>
            <a:ahLst/>
            <a:cxnLst/>
            <a:rect l="l" t="t" r="r" b="b"/>
            <a:pathLst>
              <a:path w="5669280" h="1863059">
                <a:moveTo>
                  <a:pt x="0" y="1400416"/>
                </a:moveTo>
                <a:lnTo>
                  <a:pt x="23622" y="1400371"/>
                </a:lnTo>
                <a:lnTo>
                  <a:pt x="47244" y="1400236"/>
                </a:lnTo>
                <a:lnTo>
                  <a:pt x="70866" y="1400010"/>
                </a:lnTo>
                <a:lnTo>
                  <a:pt x="94488" y="1399695"/>
                </a:lnTo>
                <a:lnTo>
                  <a:pt x="118110" y="1399289"/>
                </a:lnTo>
                <a:lnTo>
                  <a:pt x="141732" y="1398793"/>
                </a:lnTo>
                <a:lnTo>
                  <a:pt x="165354" y="1398205"/>
                </a:lnTo>
                <a:lnTo>
                  <a:pt x="188976" y="1397525"/>
                </a:lnTo>
                <a:lnTo>
                  <a:pt x="212598" y="1396754"/>
                </a:lnTo>
                <a:lnTo>
                  <a:pt x="236220" y="1395890"/>
                </a:lnTo>
                <a:lnTo>
                  <a:pt x="259842" y="1394932"/>
                </a:lnTo>
                <a:lnTo>
                  <a:pt x="283464" y="1393881"/>
                </a:lnTo>
                <a:lnTo>
                  <a:pt x="307086" y="1392734"/>
                </a:lnTo>
                <a:lnTo>
                  <a:pt x="330708" y="1391492"/>
                </a:lnTo>
                <a:lnTo>
                  <a:pt x="354330" y="1390153"/>
                </a:lnTo>
                <a:lnTo>
                  <a:pt x="377952" y="1388717"/>
                </a:lnTo>
                <a:lnTo>
                  <a:pt x="401574" y="1387181"/>
                </a:lnTo>
                <a:lnTo>
                  <a:pt x="425196" y="1385546"/>
                </a:lnTo>
                <a:lnTo>
                  <a:pt x="448818" y="1383809"/>
                </a:lnTo>
                <a:lnTo>
                  <a:pt x="472440" y="1381970"/>
                </a:lnTo>
                <a:lnTo>
                  <a:pt x="496062" y="1380027"/>
                </a:lnTo>
                <a:lnTo>
                  <a:pt x="519684" y="1377978"/>
                </a:lnTo>
                <a:lnTo>
                  <a:pt x="543306" y="1375822"/>
                </a:lnTo>
                <a:lnTo>
                  <a:pt x="566928" y="1373557"/>
                </a:lnTo>
                <a:lnTo>
                  <a:pt x="590550" y="1371181"/>
                </a:lnTo>
                <a:lnTo>
                  <a:pt x="614172" y="1368692"/>
                </a:lnTo>
                <a:lnTo>
                  <a:pt x="637794" y="1366089"/>
                </a:lnTo>
                <a:lnTo>
                  <a:pt x="661416" y="1363369"/>
                </a:lnTo>
                <a:lnTo>
                  <a:pt x="685038" y="1360529"/>
                </a:lnTo>
                <a:lnTo>
                  <a:pt x="708660" y="1357568"/>
                </a:lnTo>
                <a:lnTo>
                  <a:pt x="732282" y="1354483"/>
                </a:lnTo>
                <a:lnTo>
                  <a:pt x="755904" y="1351271"/>
                </a:lnTo>
                <a:lnTo>
                  <a:pt x="779526" y="1347930"/>
                </a:lnTo>
                <a:lnTo>
                  <a:pt x="803148" y="1344456"/>
                </a:lnTo>
                <a:lnTo>
                  <a:pt x="826770" y="1340847"/>
                </a:lnTo>
                <a:lnTo>
                  <a:pt x="850392" y="1337099"/>
                </a:lnTo>
                <a:lnTo>
                  <a:pt x="874014" y="1333208"/>
                </a:lnTo>
                <a:lnTo>
                  <a:pt x="897636" y="1329172"/>
                </a:lnTo>
                <a:lnTo>
                  <a:pt x="921258" y="1324987"/>
                </a:lnTo>
                <a:lnTo>
                  <a:pt x="944880" y="1320648"/>
                </a:lnTo>
                <a:lnTo>
                  <a:pt x="968502" y="1316152"/>
                </a:lnTo>
                <a:lnTo>
                  <a:pt x="992124" y="1311494"/>
                </a:lnTo>
                <a:lnTo>
                  <a:pt x="1015746" y="1306670"/>
                </a:lnTo>
                <a:lnTo>
                  <a:pt x="1039368" y="1301675"/>
                </a:lnTo>
                <a:lnTo>
                  <a:pt x="1062990" y="1296504"/>
                </a:lnTo>
                <a:lnTo>
                  <a:pt x="1086612" y="1291152"/>
                </a:lnTo>
                <a:lnTo>
                  <a:pt x="1110234" y="1285613"/>
                </a:lnTo>
                <a:lnTo>
                  <a:pt x="1133856" y="1279882"/>
                </a:lnTo>
                <a:lnTo>
                  <a:pt x="1157478" y="1273952"/>
                </a:lnTo>
                <a:lnTo>
                  <a:pt x="1181100" y="1267818"/>
                </a:lnTo>
                <a:lnTo>
                  <a:pt x="1204722" y="1261472"/>
                </a:lnTo>
                <a:lnTo>
                  <a:pt x="1228344" y="1254909"/>
                </a:lnTo>
                <a:lnTo>
                  <a:pt x="1251966" y="1248119"/>
                </a:lnTo>
                <a:lnTo>
                  <a:pt x="1275588" y="1241097"/>
                </a:lnTo>
                <a:lnTo>
                  <a:pt x="1299210" y="1233834"/>
                </a:lnTo>
                <a:lnTo>
                  <a:pt x="1322832" y="1226321"/>
                </a:lnTo>
                <a:lnTo>
                  <a:pt x="1346454" y="1218549"/>
                </a:lnTo>
                <a:lnTo>
                  <a:pt x="1370076" y="1210510"/>
                </a:lnTo>
                <a:lnTo>
                  <a:pt x="1393698" y="1202194"/>
                </a:lnTo>
                <a:lnTo>
                  <a:pt x="1417320" y="1193590"/>
                </a:lnTo>
                <a:lnTo>
                  <a:pt x="1440942" y="1184688"/>
                </a:lnTo>
                <a:lnTo>
                  <a:pt x="1464564" y="1175476"/>
                </a:lnTo>
                <a:lnTo>
                  <a:pt x="1488186" y="1165943"/>
                </a:lnTo>
                <a:lnTo>
                  <a:pt x="1511808" y="1156076"/>
                </a:lnTo>
                <a:lnTo>
                  <a:pt x="1535430" y="1145863"/>
                </a:lnTo>
                <a:lnTo>
                  <a:pt x="1559052" y="1135289"/>
                </a:lnTo>
                <a:lnTo>
                  <a:pt x="1582674" y="1124341"/>
                </a:lnTo>
                <a:lnTo>
                  <a:pt x="1606296" y="1113003"/>
                </a:lnTo>
                <a:lnTo>
                  <a:pt x="1629918" y="1101260"/>
                </a:lnTo>
                <a:lnTo>
                  <a:pt x="1653540" y="1089095"/>
                </a:lnTo>
                <a:lnTo>
                  <a:pt x="1677162" y="1076491"/>
                </a:lnTo>
                <a:lnTo>
                  <a:pt x="1700784" y="1063431"/>
                </a:lnTo>
                <a:lnTo>
                  <a:pt x="1724406" y="1049894"/>
                </a:lnTo>
                <a:lnTo>
                  <a:pt x="1748028" y="1035862"/>
                </a:lnTo>
                <a:lnTo>
                  <a:pt x="1771650" y="1021315"/>
                </a:lnTo>
                <a:lnTo>
                  <a:pt x="1795272" y="1006230"/>
                </a:lnTo>
                <a:lnTo>
                  <a:pt x="1818894" y="990586"/>
                </a:lnTo>
                <a:lnTo>
                  <a:pt x="1842516" y="974360"/>
                </a:lnTo>
                <a:lnTo>
                  <a:pt x="1866138" y="957528"/>
                </a:lnTo>
                <a:lnTo>
                  <a:pt x="1889760" y="940067"/>
                </a:lnTo>
                <a:lnTo>
                  <a:pt x="1913382" y="921950"/>
                </a:lnTo>
                <a:lnTo>
                  <a:pt x="1937004" y="903153"/>
                </a:lnTo>
                <a:lnTo>
                  <a:pt x="1960626" y="883649"/>
                </a:lnTo>
                <a:lnTo>
                  <a:pt x="1984248" y="863413"/>
                </a:lnTo>
                <a:lnTo>
                  <a:pt x="2007870" y="842418"/>
                </a:lnTo>
                <a:lnTo>
                  <a:pt x="2031492" y="820639"/>
                </a:lnTo>
                <a:lnTo>
                  <a:pt x="2055114" y="798051"/>
                </a:lnTo>
                <a:lnTo>
                  <a:pt x="2078736" y="774631"/>
                </a:lnTo>
                <a:lnTo>
                  <a:pt x="2102358" y="750356"/>
                </a:lnTo>
                <a:lnTo>
                  <a:pt x="2125980" y="725207"/>
                </a:lnTo>
                <a:lnTo>
                  <a:pt x="2149602" y="699168"/>
                </a:lnTo>
                <a:lnTo>
                  <a:pt x="2173224" y="672227"/>
                </a:lnTo>
                <a:lnTo>
                  <a:pt x="2196846" y="644379"/>
                </a:lnTo>
                <a:lnTo>
                  <a:pt x="2220468" y="615623"/>
                </a:lnTo>
                <a:lnTo>
                  <a:pt x="2244090" y="585969"/>
                </a:lnTo>
                <a:lnTo>
                  <a:pt x="2267712" y="555439"/>
                </a:lnTo>
                <a:lnTo>
                  <a:pt x="2291334" y="524065"/>
                </a:lnTo>
                <a:lnTo>
                  <a:pt x="2314956" y="491896"/>
                </a:lnTo>
                <a:lnTo>
                  <a:pt x="2338578" y="459000"/>
                </a:lnTo>
                <a:lnTo>
                  <a:pt x="2362200" y="425467"/>
                </a:lnTo>
                <a:lnTo>
                  <a:pt x="2385822" y="391411"/>
                </a:lnTo>
                <a:lnTo>
                  <a:pt x="2409444" y="356976"/>
                </a:lnTo>
                <a:lnTo>
                  <a:pt x="2433066" y="322338"/>
                </a:lnTo>
                <a:lnTo>
                  <a:pt x="2456688" y="287711"/>
                </a:lnTo>
                <a:lnTo>
                  <a:pt x="2480310" y="253345"/>
                </a:lnTo>
                <a:lnTo>
                  <a:pt x="2503932" y="219534"/>
                </a:lnTo>
                <a:lnTo>
                  <a:pt x="2527554" y="186613"/>
                </a:lnTo>
                <a:lnTo>
                  <a:pt x="2551176" y="154959"/>
                </a:lnTo>
                <a:lnTo>
                  <a:pt x="2574798" y="124986"/>
                </a:lnTo>
                <a:lnTo>
                  <a:pt x="2598420" y="97139"/>
                </a:lnTo>
                <a:lnTo>
                  <a:pt x="2622042" y="71887"/>
                </a:lnTo>
                <a:lnTo>
                  <a:pt x="2645664" y="49707"/>
                </a:lnTo>
                <a:lnTo>
                  <a:pt x="2669286" y="31069"/>
                </a:lnTo>
                <a:lnTo>
                  <a:pt x="2692908" y="16418"/>
                </a:lnTo>
                <a:lnTo>
                  <a:pt x="2716530" y="6150"/>
                </a:lnTo>
                <a:lnTo>
                  <a:pt x="2740152" y="596"/>
                </a:lnTo>
                <a:lnTo>
                  <a:pt x="2763774" y="0"/>
                </a:lnTo>
                <a:lnTo>
                  <a:pt x="2787396" y="4503"/>
                </a:lnTo>
                <a:lnTo>
                  <a:pt x="2811018" y="14137"/>
                </a:lnTo>
                <a:lnTo>
                  <a:pt x="2834640" y="28816"/>
                </a:lnTo>
                <a:lnTo>
                  <a:pt x="2858262" y="48344"/>
                </a:lnTo>
                <a:lnTo>
                  <a:pt x="2881884" y="72424"/>
                </a:lnTo>
                <a:lnTo>
                  <a:pt x="2905506" y="100674"/>
                </a:lnTo>
                <a:lnTo>
                  <a:pt x="2929128" y="132645"/>
                </a:lnTo>
                <a:lnTo>
                  <a:pt x="2952750" y="167848"/>
                </a:lnTo>
                <a:lnTo>
                  <a:pt x="2976372" y="205767"/>
                </a:lnTo>
                <a:lnTo>
                  <a:pt x="2999994" y="245888"/>
                </a:lnTo>
                <a:lnTo>
                  <a:pt x="3023616" y="287711"/>
                </a:lnTo>
                <a:lnTo>
                  <a:pt x="3047238" y="330763"/>
                </a:lnTo>
                <a:lnTo>
                  <a:pt x="3070860" y="374612"/>
                </a:lnTo>
                <a:lnTo>
                  <a:pt x="3094482" y="418870"/>
                </a:lnTo>
                <a:lnTo>
                  <a:pt x="3118104" y="463194"/>
                </a:lnTo>
                <a:lnTo>
                  <a:pt x="3141726" y="507292"/>
                </a:lnTo>
                <a:lnTo>
                  <a:pt x="3165348" y="550919"/>
                </a:lnTo>
                <a:lnTo>
                  <a:pt x="3188970" y="593870"/>
                </a:lnTo>
                <a:lnTo>
                  <a:pt x="3212592" y="635983"/>
                </a:lnTo>
                <a:lnTo>
                  <a:pt x="3236214" y="677131"/>
                </a:lnTo>
                <a:lnTo>
                  <a:pt x="3259836" y="717216"/>
                </a:lnTo>
                <a:lnTo>
                  <a:pt x="3283458" y="756170"/>
                </a:lnTo>
                <a:lnTo>
                  <a:pt x="3307080" y="793945"/>
                </a:lnTo>
                <a:lnTo>
                  <a:pt x="3330702" y="830513"/>
                </a:lnTo>
                <a:lnTo>
                  <a:pt x="3354324" y="865863"/>
                </a:lnTo>
                <a:lnTo>
                  <a:pt x="3377946" y="899994"/>
                </a:lnTo>
                <a:lnTo>
                  <a:pt x="3401568" y="932918"/>
                </a:lnTo>
                <a:lnTo>
                  <a:pt x="3425190" y="964653"/>
                </a:lnTo>
                <a:lnTo>
                  <a:pt x="3448812" y="995225"/>
                </a:lnTo>
                <a:lnTo>
                  <a:pt x="3472434" y="1024663"/>
                </a:lnTo>
                <a:lnTo>
                  <a:pt x="3496056" y="1053001"/>
                </a:lnTo>
                <a:lnTo>
                  <a:pt x="3519678" y="1080274"/>
                </a:lnTo>
                <a:lnTo>
                  <a:pt x="3543300" y="1106519"/>
                </a:lnTo>
                <a:lnTo>
                  <a:pt x="3566922" y="1131773"/>
                </a:lnTo>
                <a:lnTo>
                  <a:pt x="3590544" y="1156076"/>
                </a:lnTo>
                <a:lnTo>
                  <a:pt x="3614166" y="1179466"/>
                </a:lnTo>
                <a:lnTo>
                  <a:pt x="3637788" y="1201979"/>
                </a:lnTo>
                <a:lnTo>
                  <a:pt x="3661410" y="1223653"/>
                </a:lnTo>
                <a:lnTo>
                  <a:pt x="3685032" y="1244523"/>
                </a:lnTo>
                <a:lnTo>
                  <a:pt x="3708654" y="1264625"/>
                </a:lnTo>
                <a:lnTo>
                  <a:pt x="3732276" y="1283992"/>
                </a:lnTo>
                <a:lnTo>
                  <a:pt x="3755898" y="1302656"/>
                </a:lnTo>
                <a:lnTo>
                  <a:pt x="3779520" y="1320648"/>
                </a:lnTo>
                <a:lnTo>
                  <a:pt x="3803142" y="1337999"/>
                </a:lnTo>
                <a:lnTo>
                  <a:pt x="3826764" y="1354737"/>
                </a:lnTo>
                <a:lnTo>
                  <a:pt x="3850386" y="1370889"/>
                </a:lnTo>
                <a:lnTo>
                  <a:pt x="3874008" y="1386481"/>
                </a:lnTo>
                <a:lnTo>
                  <a:pt x="3897630" y="1401538"/>
                </a:lnTo>
                <a:lnTo>
                  <a:pt x="3921252" y="1416084"/>
                </a:lnTo>
                <a:lnTo>
                  <a:pt x="3944874" y="1430141"/>
                </a:lnTo>
                <a:lnTo>
                  <a:pt x="3968496" y="1443730"/>
                </a:lnTo>
                <a:lnTo>
                  <a:pt x="3992118" y="1456871"/>
                </a:lnTo>
                <a:lnTo>
                  <a:pt x="4015740" y="1469585"/>
                </a:lnTo>
                <a:lnTo>
                  <a:pt x="4039362" y="1481890"/>
                </a:lnTo>
                <a:lnTo>
                  <a:pt x="4062984" y="1493802"/>
                </a:lnTo>
                <a:lnTo>
                  <a:pt x="4086606" y="1505339"/>
                </a:lnTo>
                <a:lnTo>
                  <a:pt x="4110228" y="1516516"/>
                </a:lnTo>
                <a:lnTo>
                  <a:pt x="4133850" y="1527349"/>
                </a:lnTo>
                <a:lnTo>
                  <a:pt x="4157472" y="1537851"/>
                </a:lnTo>
                <a:lnTo>
                  <a:pt x="4181094" y="1548036"/>
                </a:lnTo>
                <a:lnTo>
                  <a:pt x="4204716" y="1557917"/>
                </a:lnTo>
                <a:lnTo>
                  <a:pt x="4228338" y="1567507"/>
                </a:lnTo>
                <a:lnTo>
                  <a:pt x="4251960" y="1576816"/>
                </a:lnTo>
                <a:lnTo>
                  <a:pt x="4275582" y="1585856"/>
                </a:lnTo>
                <a:lnTo>
                  <a:pt x="4299204" y="1594638"/>
                </a:lnTo>
                <a:lnTo>
                  <a:pt x="4322826" y="1603172"/>
                </a:lnTo>
                <a:lnTo>
                  <a:pt x="4346448" y="1611467"/>
                </a:lnTo>
                <a:lnTo>
                  <a:pt x="4370070" y="1619532"/>
                </a:lnTo>
                <a:lnTo>
                  <a:pt x="4393692" y="1627376"/>
                </a:lnTo>
                <a:lnTo>
                  <a:pt x="4417314" y="1635008"/>
                </a:lnTo>
                <a:lnTo>
                  <a:pt x="4440936" y="1642434"/>
                </a:lnTo>
                <a:lnTo>
                  <a:pt x="4464558" y="1649664"/>
                </a:lnTo>
                <a:lnTo>
                  <a:pt x="4488180" y="1656703"/>
                </a:lnTo>
                <a:lnTo>
                  <a:pt x="4511802" y="1663559"/>
                </a:lnTo>
                <a:lnTo>
                  <a:pt x="4535424" y="1670239"/>
                </a:lnTo>
                <a:lnTo>
                  <a:pt x="4559046" y="1676748"/>
                </a:lnTo>
                <a:lnTo>
                  <a:pt x="4582668" y="1683093"/>
                </a:lnTo>
                <a:lnTo>
                  <a:pt x="4606290" y="1689279"/>
                </a:lnTo>
                <a:lnTo>
                  <a:pt x="4629912" y="1695312"/>
                </a:lnTo>
                <a:lnTo>
                  <a:pt x="4653534" y="1701197"/>
                </a:lnTo>
                <a:lnTo>
                  <a:pt x="4677156" y="1706939"/>
                </a:lnTo>
                <a:lnTo>
                  <a:pt x="4700778" y="1712543"/>
                </a:lnTo>
                <a:lnTo>
                  <a:pt x="4724400" y="1718013"/>
                </a:lnTo>
                <a:lnTo>
                  <a:pt x="4748022" y="1723354"/>
                </a:lnTo>
                <a:lnTo>
                  <a:pt x="4771644" y="1728571"/>
                </a:lnTo>
                <a:lnTo>
                  <a:pt x="4795266" y="1733666"/>
                </a:lnTo>
                <a:lnTo>
                  <a:pt x="4818888" y="1738645"/>
                </a:lnTo>
                <a:lnTo>
                  <a:pt x="4842510" y="1743510"/>
                </a:lnTo>
                <a:lnTo>
                  <a:pt x="4866132" y="1748265"/>
                </a:lnTo>
                <a:lnTo>
                  <a:pt x="4889754" y="1752915"/>
                </a:lnTo>
                <a:lnTo>
                  <a:pt x="4913376" y="1757461"/>
                </a:lnTo>
                <a:lnTo>
                  <a:pt x="4936998" y="1761907"/>
                </a:lnTo>
                <a:lnTo>
                  <a:pt x="4960620" y="1766257"/>
                </a:lnTo>
                <a:lnTo>
                  <a:pt x="4984242" y="1770513"/>
                </a:lnTo>
                <a:lnTo>
                  <a:pt x="5007864" y="1774678"/>
                </a:lnTo>
                <a:lnTo>
                  <a:pt x="5031486" y="1778755"/>
                </a:lnTo>
                <a:lnTo>
                  <a:pt x="5055108" y="1782746"/>
                </a:lnTo>
                <a:lnTo>
                  <a:pt x="5078730" y="1786653"/>
                </a:lnTo>
                <a:lnTo>
                  <a:pt x="5102352" y="1790480"/>
                </a:lnTo>
                <a:lnTo>
                  <a:pt x="5125974" y="1794229"/>
                </a:lnTo>
                <a:lnTo>
                  <a:pt x="5149596" y="1797901"/>
                </a:lnTo>
                <a:lnTo>
                  <a:pt x="5173218" y="1801499"/>
                </a:lnTo>
                <a:lnTo>
                  <a:pt x="5196840" y="1805025"/>
                </a:lnTo>
                <a:lnTo>
                  <a:pt x="5220462" y="1808481"/>
                </a:lnTo>
                <a:lnTo>
                  <a:pt x="5244084" y="1811869"/>
                </a:lnTo>
                <a:lnTo>
                  <a:pt x="5267706" y="1815191"/>
                </a:lnTo>
                <a:lnTo>
                  <a:pt x="5291328" y="1818448"/>
                </a:lnTo>
                <a:lnTo>
                  <a:pt x="5314950" y="1821643"/>
                </a:lnTo>
                <a:lnTo>
                  <a:pt x="5338572" y="1824776"/>
                </a:lnTo>
                <a:lnTo>
                  <a:pt x="5362194" y="1827851"/>
                </a:lnTo>
                <a:lnTo>
                  <a:pt x="5385816" y="1830867"/>
                </a:lnTo>
                <a:lnTo>
                  <a:pt x="5409438" y="1833827"/>
                </a:lnTo>
                <a:lnTo>
                  <a:pt x="5433060" y="1836733"/>
                </a:lnTo>
                <a:lnTo>
                  <a:pt x="5456682" y="1839585"/>
                </a:lnTo>
                <a:lnTo>
                  <a:pt x="5480304" y="1842384"/>
                </a:lnTo>
                <a:lnTo>
                  <a:pt x="5503926" y="1845134"/>
                </a:lnTo>
                <a:lnTo>
                  <a:pt x="5527548" y="1847833"/>
                </a:lnTo>
                <a:lnTo>
                  <a:pt x="5551170" y="1850485"/>
                </a:lnTo>
                <a:lnTo>
                  <a:pt x="5574792" y="1853089"/>
                </a:lnTo>
                <a:lnTo>
                  <a:pt x="5598414" y="1855648"/>
                </a:lnTo>
                <a:lnTo>
                  <a:pt x="5622036" y="1858161"/>
                </a:lnTo>
                <a:lnTo>
                  <a:pt x="5645658" y="1860632"/>
                </a:lnTo>
                <a:lnTo>
                  <a:pt x="5669280" y="1863059"/>
                </a:lnTo>
              </a:path>
            </a:pathLst>
          </a:custGeom>
          <a:noFill/>
          <a:ln w="222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5F0662-DE5A-47FE-976B-1E12B4FB1FCB}"/>
              </a:ext>
            </a:extLst>
          </p:cNvPr>
          <p:cNvSpPr>
            <a:spLocks noGrp="1"/>
          </p:cNvSpPr>
          <p:nvPr/>
        </p:nvSpPr>
        <p:spPr>
          <a:xfrm>
            <a:off x="1115568" y="4023360"/>
            <a:ext cx="3108960" cy="396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դեմպֆերված, Q ≈ 0.7՝ հարթ մինչև մոտ f₀/3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6420B9-BAC5-467D-AF90-2B5937887A2F}"/>
              </a:ext>
            </a:extLst>
          </p:cNvPr>
          <p:cNvSpPr>
            <a:spLocks noGrp="1"/>
          </p:cNvSpPr>
          <p:nvPr/>
        </p:nvSpPr>
        <p:spPr>
          <a:xfrm>
            <a:off x="4133088" y="2468880"/>
            <a:ext cx="2743200" cy="396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թույլ դեմպֆերված, Q = 3՝ ×3 f₀-ում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177501-EA68-4931-A85A-AB355CCBF44F}"/>
              </a:ext>
            </a:extLst>
          </p:cNvPr>
          <p:cNvSpPr>
            <a:spLocks noGrp="1"/>
          </p:cNvSpPr>
          <p:nvPr/>
        </p:nvSpPr>
        <p:spPr>
          <a:xfrm>
            <a:off x="3630168" y="462686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f₀</a:t>
            </a:r>
          </a:p>
        </p:txBody>
      </p:sp>
      <p:graphicFrame>
        <p:nvGraphicFramePr>
          <p:cNvPr id="35" name="Table 16"/>
          <p:cNvGraphicFramePr/>
          <p:nvPr/>
        </p:nvGraphicFramePr>
        <p:xfrm>
          <a:off x="6903720" y="2240280"/>
          <a:ext cx="461771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f₀-ն երկու անգամ փոքրացնելիս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Հետևանք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տեղաշարժը մեկ g-ի հաշվով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×4՝ ավելի մեծ ազդանշան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օգտագործելի թողունակություն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÷2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հարվածադիմացկունություն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վատանում է՝ ավելի փափուկ կախոց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B804291-A7AC-4FD3-947F-6B87045D294D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3510"/>
          </a:bodyPr>
          <a:lstStyle/>
          <a:p>
            <a:pPr algn="ctr">
              <a:buNone/>
            </a:pPr>
            <a:r>
              <a:rPr sz="19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Խոռոչի գազը սահմանում է դեմպֆերումը, իսկ դեմպֆերումը՝ ռեզոնանսային գագաթը։ f₀-ին մոտ տատանումը մեխանիկորեն ուժեղանում է մինչև թվային ֆիլտրումը։</a:t>
            </a:r>
          </a:p>
        </p:txBody>
      </p:sp>
    </p:spTree>
    <p:extLst>
      <p:ext uri="{BB962C8B-B14F-4D97-AF65-F5344CB8AC3E}">
        <p14:creationId xmlns:p14="http://schemas.microsoft.com/office/powerpoint/2010/main" val="145241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E07945-BD02-4CD7-9C14-2EBE2A3B1A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64FBC-6ADC-4AD9-B421-2E3AF07CC7FA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6A0A6-9CA6-4F8D-972B-27B9481F108F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6362D-31C3-4F53-8080-4E657A143E14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Բացակի ընթերցումը՝ տարբերակային ունակություն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534713-5AEB-4459-A78A-337084CD4273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011FC-3027-4EA8-A64F-0BB620C0F0B6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4-րդ դասախոսության 1-ին սկզբունքը և երկու բացակի անհրաժեշտությունը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4A437-6668-479A-9D4E-DBE53861A28E}"/>
              </a:ext>
            </a:extLst>
          </p:cNvPr>
          <p:cNvSpPr>
            <a:spLocks noGrp="1"/>
          </p:cNvSpPr>
          <p:nvPr/>
        </p:nvSpPr>
        <p:spPr>
          <a:xfrm>
            <a:off x="960120" y="2057400"/>
            <a:ext cx="4206240" cy="329184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2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ԱՆՇԱՐԺ ԷԼԵԿՏՐՈԴ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78449-9679-4CE0-823F-70A0D2B24ACD}"/>
              </a:ext>
            </a:extLst>
          </p:cNvPr>
          <p:cNvSpPr>
            <a:spLocks noGrp="1"/>
          </p:cNvSpPr>
          <p:nvPr/>
        </p:nvSpPr>
        <p:spPr>
          <a:xfrm>
            <a:off x="960120" y="3977639"/>
            <a:ext cx="4206240" cy="329184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2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ԱՆՇԱՐԺ ԷԼԵԿՏՐՈԴ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43F769-3D06-4C47-A1BF-0BFA049123F8}"/>
              </a:ext>
            </a:extLst>
          </p:cNvPr>
          <p:cNvSpPr>
            <a:spLocks noGrp="1"/>
          </p:cNvSpPr>
          <p:nvPr/>
        </p:nvSpPr>
        <p:spPr>
          <a:xfrm>
            <a:off x="1508760" y="2788920"/>
            <a:ext cx="3108960" cy="658368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6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ԻՆԵՐՏ ԶԱՆԳՎԱԾ  ↑ 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9C8E8-1803-4F56-BC57-EF780CDF5661}"/>
              </a:ext>
            </a:extLst>
          </p:cNvPr>
          <p:cNvSpPr>
            <a:spLocks noGrp="1"/>
          </p:cNvSpPr>
          <p:nvPr/>
        </p:nvSpPr>
        <p:spPr>
          <a:xfrm>
            <a:off x="5303520" y="23957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C₁ = εA/(d − 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A30CB-90FC-47E1-BB34-CB5148320572}"/>
              </a:ext>
            </a:extLst>
          </p:cNvPr>
          <p:cNvSpPr>
            <a:spLocks noGrp="1"/>
          </p:cNvSpPr>
          <p:nvPr/>
        </p:nvSpPr>
        <p:spPr>
          <a:xfrm>
            <a:off x="5303520" y="35478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C₂ = εA/(d + x)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76781-99A3-482E-9732-0E8C1B64A8E6}"/>
              </a:ext>
            </a:extLst>
          </p:cNvPr>
          <p:cNvSpPr>
            <a:spLocks noGrp="1"/>
          </p:cNvSpPr>
          <p:nvPr/>
        </p:nvSpPr>
        <p:spPr>
          <a:xfrm>
            <a:off x="7818120" y="205740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ՏԱՐԲԵՐԱԿԱՅԻՆ ՉԱՓՄԱՆ ԱՌԱՎԵԼՈՒԹՅՈՒՆԸ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4D26E-40DC-4015-B2D3-C184946515D5}"/>
              </a:ext>
            </a:extLst>
          </p:cNvPr>
          <p:cNvSpPr>
            <a:spLocks noGrp="1"/>
          </p:cNvSpPr>
          <p:nvPr/>
        </p:nvSpPr>
        <p:spPr>
          <a:xfrm>
            <a:off x="7818120" y="2331720"/>
            <a:ext cx="3749040" cy="2076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buNone/>
            </a:pPr>
            <a:r>
              <a:rPr sz="12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C₁ − C₂ ≈ 2C₀·x/d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▸  առաջին մոտարկմամբ գծային է x-ի նկատմամբ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▸  նույն կերպ փոփոխվող ջերմաստիճանային և մեխանիկական ազդեցությունները փոխհատուցվում են</a:t>
            </a:r>
          </a:p>
        </p:txBody>
      </p:sp>
      <p:graphicFrame>
        <p:nvGraphicFramePr>
          <p:cNvPr id="31" name="Table 14"/>
          <p:cNvGraphicFramePr/>
          <p:nvPr/>
        </p:nvGraphicFramePr>
        <p:xfrm>
          <a:off x="658368" y="4526280"/>
          <a:ext cx="5486400" cy="1578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1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1 g-ի դեպքում՝ ներկայացուցչական սարք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զանգվածի տեղաշարժ 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9.9 նմ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բացակ d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1.5 մկմ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x/d՝ հարաբերական ազդանշան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0.66 %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A6404AB-0C8C-4AB3-820D-7703EA8F154E}"/>
              </a:ext>
            </a:extLst>
          </p:cNvPr>
          <p:cNvSpPr>
            <a:spLocks noGrp="1"/>
          </p:cNvSpPr>
          <p:nvPr/>
        </p:nvSpPr>
        <p:spPr>
          <a:xfrm>
            <a:off x="6537960" y="4526280"/>
            <a:ext cx="5001768" cy="14630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275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Ունակությունները ֆեմտոֆարադների, իսկ փոփոխությունը՝ ատտոֆարադների կարգի են։ Ուստի էլեկտրոնիկան նույն բյուրեղի վրա է, իսկ ելքում ներկայացվում են mg-երով արժեքներ։</a:t>
            </a:r>
          </a:p>
        </p:txBody>
      </p:sp>
    </p:spTree>
    <p:extLst>
      <p:ext uri="{BB962C8B-B14F-4D97-AF65-F5344CB8AC3E}">
        <p14:creationId xmlns:p14="http://schemas.microsoft.com/office/powerpoint/2010/main" val="976448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E41530-12DE-46F6-96D0-23EF464B8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E79A94-EF58-4C21-A608-3B49CFF11C3B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0EE77-3B0F-4B7B-AD69-C275BA7E449A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06BA70-C45C-4DAF-8020-F374260BAEDA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Մեծ զանգվածը նվազեցնում է աղմուկը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0507A-778B-45ED-AE82-9D3C6F831FE0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79AC2-76FB-41D9-AC88-1CAD50BBE2B9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Էլեկտրոնիկայով չվերացվող աղմուկի աղբյուրը գազի մոլեկուլների պատահական հարվածներն են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FE327-9D34-4B20-B3F9-8F88FD34BA6F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10874978" cy="5524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aₙ = √(4kBTω₀/(mQ))  —  ջերմամեխանիկական աղմուկի խտություն</a:t>
            </a:r>
          </a:p>
        </p:txBody>
      </p:sp>
      <p:graphicFrame>
        <p:nvGraphicFramePr>
          <p:cNvPr id="20" name="Table 8"/>
          <p:cNvGraphicFramePr/>
          <p:nvPr/>
        </p:nvGraphicFramePr>
        <p:xfrm>
          <a:off x="658368" y="2697480"/>
          <a:ext cx="1087495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Ներկայացուցչական արժեքներ՝ m = 10 մկգ, f₀ = 5 կՀց, Q = 1, 300 Կ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մեկ √Hz-ի հաշվով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Կառուցվածքի Բրաունյան աղմուկի ստորին սահման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23 µg/√Hz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ISM330DHCX ամբողջ սարքը, բն.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60 µg/√Hz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73CF3C9-E406-4C61-813C-1DD7B09BD245}"/>
              </a:ext>
            </a:extLst>
          </p:cNvPr>
          <p:cNvSpPr>
            <a:spLocks noGrp="1"/>
          </p:cNvSpPr>
          <p:nvPr/>
        </p:nvSpPr>
        <p:spPr>
          <a:xfrm>
            <a:off x="658368" y="4343400"/>
            <a:ext cx="10874959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Բոլոր չափերը երկու անգամ փոքրացնելիս՝ m ÷ 8, իսկ aₙ × √8 = 2.8։ 1-ին դասախոսության m ∝ L³ օրենքը՝ արտահայտված µg/√Hz-ով։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1F6F355-0273-4D6C-98EB-16C5FDE8C922}"/>
              </a:ext>
            </a:extLst>
          </p:cNvPr>
          <p:cNvSpPr>
            <a:spLocks noGrp="1"/>
          </p:cNvSpPr>
          <p:nvPr/>
        </p:nvSpPr>
        <p:spPr>
          <a:xfrm>
            <a:off x="658368" y="498348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80747"/>
          </a:bodyPr>
          <a:lstStyle/>
          <a:p>
            <a:pPr algn="ctr">
              <a:buNone/>
            </a:pPr>
            <a:r>
              <a:rPr sz="19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Այս օրինակում էլեկտրոնիկան ավելի մեծ աղմուկ է ավելացնում, քան մեխանիկական կառուցվածքը։ Ամենափոքր սարքերում գերակշռում է կառուցվածքային աղմուկը, որը որևէ ինտեգրալ սխեմա չի նվազեցնում։</a:t>
            </a:r>
          </a:p>
        </p:txBody>
      </p:sp>
    </p:spTree>
    <p:extLst>
      <p:ext uri="{BB962C8B-B14F-4D97-AF65-F5344CB8AC3E}">
        <p14:creationId xmlns:p14="http://schemas.microsoft.com/office/powerpoint/2010/main" val="174532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C5ED51-A9F2-4D1E-906E-2E17D3C475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DFA25-BDD9-4DC8-886C-3EBF8958790A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E76F6-B032-490B-A8A3-F080DC9D948D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9759C-CFF6-4294-85CC-2DBA3748C3B0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Իներտ զանգվածի տեղաշարժը չափելու այլ եղանակներ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0AA9C-25C9-4BA7-8AFE-AFDFDA7CFEB2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6CF8F-8026-4591-9AE8-DB406BA66040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Ունակային փոխակերպումը հիմնական տարբերակն է, բայց ոչ միակը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="658368" y="1920240"/>
          <a:ext cx="10874956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6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Ունակային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Պիեզոռեզիստիվ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Պիեզոէլեկտրական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Չափում է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բացակը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կախոցի դեֆորմացիան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դեֆորմացիայից առաջացած լիցքը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Հաստատուն թեքությո՞ւն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0E7C86"/>
                          </a:solidFill>
                          <a:latin typeface="Arial"/>
                          <a:ea typeface="Arial"/>
                          <a:cs typeface="Arial"/>
                        </a:rPr>
                        <a:t>այո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0E7C86"/>
                          </a:solidFill>
                          <a:latin typeface="Arial"/>
                          <a:ea typeface="Arial"/>
                          <a:cs typeface="Arial"/>
                        </a:rPr>
                        <a:t>այո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C0392B"/>
                          </a:solidFill>
                          <a:latin typeface="Arial"/>
                          <a:ea typeface="Arial"/>
                          <a:cs typeface="Arial"/>
                        </a:rPr>
                        <a:t>ՈՉ</a:t>
                      </a:r>
                    </a:p>
                  </a:txBody>
                  <a:tcPr marT="27432" marB="27432" anchor="ctr">
                    <a:solidFill>
                      <a:srgbClr val="F7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Բնորոշ տիրույթ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±2…±16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±50…±2000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տատանումներ, 0.5 Հց…20 կՀց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Առավելություն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փոքր աղմուկ, ցածր արժեք, նույն բյուրեղի սխեմա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պարզ, ամուր, mV կամրջակային ելք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լայն շերտ, սնուցում չի պահանջում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Սահմանափակում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փխրուն բացակ, կպչում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կամրջակի ջերմաստիճանային դրեյֆ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հաստատուն բաղադրիչի արձագանք չկա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Կիրառում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հեռախոսներ, ԻՉՄ-ներ, ուսումնական հավաքածու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վթարի և հարվածի գրանցիչներ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մեքենաների վիճակի մշտադիտարկում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11FBB8-7F87-441A-BE15-A4FB841E1016}"/>
              </a:ext>
            </a:extLst>
          </p:cNvPr>
          <p:cNvSpPr>
            <a:spLocks noGrp="1"/>
          </p:cNvSpPr>
          <p:nvPr/>
        </p:nvSpPr>
        <p:spPr>
          <a:xfrm>
            <a:off x="658368" y="53035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89826"/>
          </a:bodyPr>
          <a:lstStyle/>
          <a:p>
            <a:pPr algn="ctr">
              <a:buNone/>
            </a:pPr>
            <a:r>
              <a:rPr sz="20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Երեք դեպքում էլ կառուցվածքը նույնն է։ Փոխակերպման սկզբունքն է որոշում տիրույթը, հաճախականային շերտը և հաստատուն թեքության չափման հնարավորությունը։</a:t>
            </a:r>
          </a:p>
        </p:txBody>
      </p:sp>
    </p:spTree>
    <p:extLst>
      <p:ext uri="{BB962C8B-B14F-4D97-AF65-F5344CB8AC3E}">
        <p14:creationId xmlns:p14="http://schemas.microsoft.com/office/powerpoint/2010/main" val="926238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9682A-F5EE-4C7C-854C-21098078E8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7E0E7-CEEF-44FB-AFC9-F1AB1FBAE432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C826E-0CDA-4575-A4E0-7CDF23F830A6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0288F-90DF-49E0-A350-187D8F5471EC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ԲԱԺԻՆ 3  ·  ԵԼՔ ԵՎ ՏԵԽՆԻԿԱԿԱՆ ԲՆՈՒԹԱԳՐԵՐ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27366-A091-452D-87D3-73513C143DB8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Ելքային տվյալները</a:t>
            </a:r>
          </a:p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և դրանց բնութագրերը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206D1-97A6-4849-ACA4-9B7179CBAAD4}"/>
              </a:ext>
            </a:extLst>
          </p:cNvPr>
          <p:cNvSpPr>
            <a:spLocks noGrp="1"/>
          </p:cNvSpPr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8E868-F7E9-4F3B-A12B-63FA3FDED42B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Կոդ, զգայունություն, տիրույթ և տվյալների թերթիկի բոլոր պարամետրերը միավորող սխալի մոդել։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B03BFE-09CF-41D7-96DB-EF4FDDB497CD}"/>
              </a:ext>
            </a:extLst>
          </p:cNvPr>
          <p:cNvSpPr>
            <a:spLocks noGrp="1"/>
          </p:cNvSpPr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30C0DC-8BD0-42EE-BBE0-64C80AB445EC}"/>
              </a:ext>
            </a:extLst>
          </p:cNvPr>
          <p:cNvSpPr>
            <a:spLocks noGrp="1"/>
          </p:cNvSpPr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5C7E09-2A07-48A8-9218-772E8C42BBC2}"/>
              </a:ext>
            </a:extLst>
          </p:cNvPr>
          <p:cNvSpPr>
            <a:spLocks noGrp="1"/>
          </p:cNvSpPr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FDE5A-E9DC-4A54-99DC-10A0BC5BD5F3}"/>
              </a:ext>
            </a:extLst>
          </p:cNvPr>
          <p:cNvSpPr>
            <a:spLocks noGrp="1"/>
          </p:cNvSpPr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959537-53AA-47E6-8DC9-32F0C2FBA1EF}"/>
              </a:ext>
            </a:extLst>
          </p:cNvPr>
          <p:cNvSpPr>
            <a:spLocks noGrp="1"/>
          </p:cNvSpPr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EA4117-38F6-4EEE-A027-24D604B6C064}"/>
              </a:ext>
            </a:extLst>
          </p:cNvPr>
          <p:cNvSpPr>
            <a:spLocks noGrp="1"/>
          </p:cNvSpPr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95D4DA-BB2A-4B03-9124-DA2B08EFF805}"/>
              </a:ext>
            </a:extLst>
          </p:cNvPr>
          <p:cNvSpPr>
            <a:spLocks noGrp="1"/>
          </p:cNvSpPr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19FB2A-9C44-4F83-84D8-CFBB16410CA8}"/>
              </a:ext>
            </a:extLst>
          </p:cNvPr>
          <p:cNvSpPr>
            <a:spLocks noGrp="1"/>
          </p:cNvSpPr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</p:spTree>
    <p:extLst>
      <p:ext uri="{BB962C8B-B14F-4D97-AF65-F5344CB8AC3E}">
        <p14:creationId xmlns:p14="http://schemas.microsoft.com/office/powerpoint/2010/main" val="59712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70815-FEA9-49A3-BEBD-EFB9DC63C3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888DE-A1DD-40A0-A2FA-F54CE4F58F42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05F51-20DA-4076-B1A4-8AC52A01C467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FF5EC-52F6-4785-9FB0-C8E0E2F48F3D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Թվային ելք՝ 16-բիթանոց կոդ և զգայունություն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71C59-EE6C-494C-9E95-683BA5B5174F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619B8-6B91-4493-B622-2F24E99C3F2A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Զգայունությունը սահմանում է միայն ընտրված չափման տիրույթը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658368" y="1920240"/>
          <a:ext cx="1087495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2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FS_XL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Տիրույթ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Զգայունություն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1 g-ի կոդ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Քվանտացման ՄՔՇ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±2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0.061 mg/LSB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16 393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±4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0.122 mg/LSB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8 197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0.035 mg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±8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0.244 mg/LSB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4 098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0.070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01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±16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0.488 mg/LSB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2 049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0.141 mg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999EBC-4F25-4DCD-A6A4-A80647D3625C}"/>
              </a:ext>
            </a:extLst>
          </p:cNvPr>
          <p:cNvSpPr>
            <a:spLocks noGrp="1"/>
          </p:cNvSpPr>
          <p:nvPr/>
        </p:nvSpPr>
        <p:spPr>
          <a:xfrm>
            <a:off x="658368" y="4434840"/>
            <a:ext cx="1087495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60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a = կոդ × զգայունություն      16-բիթանոց լրացուցիչ կոդ, կրտսեր բայթն առաջինը, սկսած 0x28-ից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D8378B-F409-4E6F-AED8-343724B3054F}"/>
              </a:ext>
            </a:extLst>
          </p:cNvPr>
          <p:cNvSpPr>
            <a:spLocks noGrp="1"/>
          </p:cNvSpPr>
          <p:nvPr/>
        </p:nvSpPr>
        <p:spPr>
          <a:xfrm>
            <a:off x="658368" y="498348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Նույնիսկ ամենալայն տիրույթի քվանտացման ՄՔՇ-ն 0.14 mg է՝ 8.73 mg օգտակար ազդանշանից մոտ 60 անգամ փոքր։ Տիրույթի ընդլայնման գինը փոքր է։</a:t>
            </a:r>
          </a:p>
        </p:txBody>
      </p:sp>
    </p:spTree>
    <p:extLst>
      <p:ext uri="{BB962C8B-B14F-4D97-AF65-F5344CB8AC3E}">
        <p14:creationId xmlns:p14="http://schemas.microsoft.com/office/powerpoint/2010/main" val="2050079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FABF4B-7A10-44BD-B327-2C6041A87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72786-5E2F-471B-8FF1-3408D59725DA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5D3E0-B7B0-425B-8938-E407A80DBBF4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E1E98-488E-42CF-BF4F-13366F015DB4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Տվյալների թերթիկի բոլոր տողերը մեկ հավասարման մեջ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51BFE1-9CAE-4D72-BD20-FC76DF73A727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7364FF-8851-4A46-94F7-5B1AB60DD946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Յուրաքանչյուր առանցքի սխալի մոդելը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BB5A1-05AD-4B1E-A1CF-0912B9C1C23F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108749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a</a:t>
            </a:r>
            <a:r>
              <a:rPr sz="1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out</a:t>
            </a:r>
            <a:r>
              <a:rPr sz="2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  =  </a:t>
            </a:r>
            <a:r>
              <a:rPr sz="27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(1 + s)</a:t>
            </a:r>
            <a:r>
              <a:rPr sz="2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·a  +  </a:t>
            </a:r>
            <a:r>
              <a:rPr sz="27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b</a:t>
            </a:r>
            <a:r>
              <a:rPr sz="2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  +  </a:t>
            </a:r>
            <a:r>
              <a:rPr sz="2700" b="1" i="0">
                <a:solidFill>
                  <a:srgbClr val="C0392B"/>
                </a:solidFill>
                <a:latin typeface="Courier New"/>
                <a:ea typeface="Courier New"/>
                <a:cs typeface="Courier New"/>
              </a:rPr>
              <a:t>c·a</a:t>
            </a:r>
            <a:r>
              <a:rPr sz="1900" b="1" i="0">
                <a:solidFill>
                  <a:srgbClr val="C0392B"/>
                </a:solidFill>
                <a:latin typeface="Courier New"/>
                <a:ea typeface="Courier New"/>
                <a:cs typeface="Courier New"/>
              </a:rPr>
              <a:t>⊥</a:t>
            </a:r>
            <a:r>
              <a:rPr sz="27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  +  </a:t>
            </a:r>
            <a:r>
              <a:rPr sz="2700" b="1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17F9E6-FD85-41C5-856A-393FC23C4F79}"/>
              </a:ext>
            </a:extLst>
          </p:cNvPr>
          <p:cNvSpPr>
            <a:spLocks noGrp="1"/>
          </p:cNvSpPr>
          <p:nvPr/>
        </p:nvSpPr>
        <p:spPr>
          <a:xfrm>
            <a:off x="658368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7205"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s  ·  ՄԱՍՇՏԱԲԱՅԻՆ ԳՈՐԾԱԿԻՑ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B53649-56A8-4E9A-8F2A-B1D6684ED7A7}"/>
              </a:ext>
            </a:extLst>
          </p:cNvPr>
          <p:cNvSpPr>
            <a:spLocks noGrp="1"/>
          </p:cNvSpPr>
          <p:nvPr/>
        </p:nvSpPr>
        <p:spPr>
          <a:xfrm>
            <a:off x="658368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զգայունության թույլատրելի շեղում՝ ±2 %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973674-BFE5-400A-A375-7A46FEAD6C92}"/>
              </a:ext>
            </a:extLst>
          </p:cNvPr>
          <p:cNvSpPr>
            <a:spLocks noGrp="1"/>
          </p:cNvSpPr>
          <p:nvPr/>
        </p:nvSpPr>
        <p:spPr>
          <a:xfrm>
            <a:off x="3438144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b  ·  ԶՐՈՅԱԿԱՆ ՇԵՂՈՒՄ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25D98-2984-4377-81D5-88E1670492DF}"/>
              </a:ext>
            </a:extLst>
          </p:cNvPr>
          <p:cNvSpPr>
            <a:spLocks noGrp="1"/>
          </p:cNvSpPr>
          <p:nvPr/>
        </p:nvSpPr>
        <p:spPr>
          <a:xfrm>
            <a:off x="3438144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±10 mg բն., ±65 mg առավ.</a:t>
            </a:r>
          </a:p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ջերմաստիճանային փոփոխություն՝</a:t>
            </a:r>
          </a:p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±0.1 mg/°C բն.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738ADA-639F-42BD-B24F-F60E8D21A492}"/>
              </a:ext>
            </a:extLst>
          </p:cNvPr>
          <p:cNvSpPr>
            <a:spLocks noGrp="1"/>
          </p:cNvSpPr>
          <p:nvPr/>
        </p:nvSpPr>
        <p:spPr>
          <a:xfrm>
            <a:off x="6217920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c  ·  ՄԻՋԱՌԱՆՑՔԱՅԻՆ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D31A64-4379-4A2F-974C-E02895127D5F}"/>
              </a:ext>
            </a:extLst>
          </p:cNvPr>
          <p:cNvSpPr>
            <a:spLocks noGrp="1"/>
          </p:cNvSpPr>
          <p:nvPr/>
        </p:nvSpPr>
        <p:spPr>
          <a:xfrm>
            <a:off x="6217920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±0.5 %՝ 25 °C-ում,</a:t>
            </a:r>
          </a:p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պատյանի մակարդակում,</a:t>
            </a:r>
          </a:p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գումարած տեղադրման սխալը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315ACF-A0BF-4634-B126-03C9C4FAC31C}"/>
              </a:ext>
            </a:extLst>
          </p:cNvPr>
          <p:cNvSpPr>
            <a:spLocks noGrp="1"/>
          </p:cNvSpPr>
          <p:nvPr/>
        </p:nvSpPr>
        <p:spPr>
          <a:xfrm>
            <a:off x="8997696" y="2880360"/>
            <a:ext cx="2606040" cy="530352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n  ·  ԱՂՄՈՒԿ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E7F0EB-6D0F-4B49-A7E8-62FFDBCA5848}"/>
              </a:ext>
            </a:extLst>
          </p:cNvPr>
          <p:cNvSpPr>
            <a:spLocks noGrp="1"/>
          </p:cNvSpPr>
          <p:nvPr/>
        </p:nvSpPr>
        <p:spPr>
          <a:xfrm>
            <a:off x="8997696" y="3410712"/>
            <a:ext cx="26060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60 µg/√Hz բն.՝</a:t>
            </a:r>
          </a:p>
          <a:p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բազմապատկված √թողունակությամբ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BB63EC-374F-466D-BEDA-164AA4F4824C}"/>
              </a:ext>
            </a:extLst>
          </p:cNvPr>
          <p:cNvSpPr>
            <a:spLocks noGrp="1"/>
          </p:cNvSpPr>
          <p:nvPr/>
        </p:nvSpPr>
        <p:spPr>
          <a:xfrm>
            <a:off x="658368" y="493776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Չափաբերումը գնահատում է s-ն և b-ն։ Տեղադրումն ավելացնում է c-ին։ Միայն թողունակության նեղացումն է նվազեցնում n-ը։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3F28F-5D42-4E6E-A964-B19FC5B1ACBD}"/>
              </a:ext>
            </a:extLst>
          </p:cNvPr>
          <p:cNvSpPr>
            <a:spLocks noGrp="1"/>
          </p:cNvSpPr>
          <p:nvPr/>
        </p:nvSpPr>
        <p:spPr>
          <a:xfrm>
            <a:off x="658368" y="5870448"/>
            <a:ext cx="10874978" cy="3619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ISM330DHCX, DS13012 Rev 6․ 2-րդ դասախոսության նույն տողերը՝ դասավորված սխալի մոդելի անդամներով։</a:t>
            </a:r>
          </a:p>
        </p:txBody>
      </p:sp>
    </p:spTree>
    <p:extLst>
      <p:ext uri="{BB962C8B-B14F-4D97-AF65-F5344CB8AC3E}">
        <p14:creationId xmlns:p14="http://schemas.microsoft.com/office/powerpoint/2010/main" val="1409490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78AA5-82DE-428E-851C-B53E72533C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1AADD5-97D5-4FF0-9525-AC2AB62B34A0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AA151-4C00-4B13-856B-FBB77590DBF7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482CB-700D-4567-B50D-F86D05F7A4C4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Լրիվ տիրույթից բարձր ազդանշանը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8D4055-9B65-4AAA-85F2-35A9BCBE14A0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E7500-99BF-4C1D-88DA-3AC5BA0E6572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Ձգողությունն արդեն զբաղեցնում է տիրույթի 1 g մասը, ապա սկսվում է մեքենայի տատանումը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D998D0-0DBE-47B4-8ED2-6DA9706BA420}"/>
              </a:ext>
            </a:extLst>
          </p:cNvPr>
          <p:cNvSpPr>
            <a:spLocks noGrp="1"/>
          </p:cNvSpPr>
          <p:nvPr/>
        </p:nvSpPr>
        <p:spPr>
          <a:xfrm>
            <a:off x="932688" y="4709160"/>
            <a:ext cx="6766560" cy="1270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799A44-58F0-4B3A-A76F-572A6E92BD21}"/>
              </a:ext>
            </a:extLst>
          </p:cNvPr>
          <p:cNvSpPr>
            <a:spLocks noGrp="1"/>
          </p:cNvSpPr>
          <p:nvPr/>
        </p:nvSpPr>
        <p:spPr>
          <a:xfrm>
            <a:off x="932688" y="2057400"/>
            <a:ext cx="12700" cy="2651760"/>
          </a:xfrm>
          <a:prstGeom prst="rect">
            <a:avLst/>
          </a:prstGeom>
          <a:solidFill>
            <a:srgbClr val="6B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3B3E4-8A06-40AB-8F24-92145256C245}"/>
              </a:ext>
            </a:extLst>
          </p:cNvPr>
          <p:cNvSpPr>
            <a:spLocks noGrp="1"/>
          </p:cNvSpPr>
          <p:nvPr/>
        </p:nvSpPr>
        <p:spPr>
          <a:xfrm>
            <a:off x="932688" y="4764024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ժամանակ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70D64-F1F3-4DC6-9D0A-C13193528FB2}"/>
              </a:ext>
            </a:extLst>
          </p:cNvPr>
          <p:cNvSpPr>
            <a:spLocks noGrp="1"/>
          </p:cNvSpPr>
          <p:nvPr/>
        </p:nvSpPr>
        <p:spPr>
          <a:xfrm>
            <a:off x="1005840" y="1746504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Z, 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7582C-B24C-4AB1-8299-57D3292DC580}"/>
              </a:ext>
            </a:extLst>
          </p:cNvPr>
          <p:cNvSpPr>
            <a:spLocks noGrp="1"/>
          </p:cNvSpPr>
          <p:nvPr/>
        </p:nvSpPr>
        <p:spPr>
          <a:xfrm>
            <a:off x="932688" y="2966574"/>
            <a:ext cx="6766560" cy="158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337D28-FA2C-4576-9952-38F8353C563C}"/>
              </a:ext>
            </a:extLst>
          </p:cNvPr>
          <p:cNvSpPr>
            <a:spLocks noGrp="1"/>
          </p:cNvSpPr>
          <p:nvPr/>
        </p:nvSpPr>
        <p:spPr>
          <a:xfrm>
            <a:off x="7772400" y="28294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+2 g լրիվ տիրույթ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91A316-0507-4C0A-9F46-605D852552D9}"/>
              </a:ext>
            </a:extLst>
          </p:cNvPr>
          <p:cNvSpPr>
            <a:spLocks noGrp="1"/>
          </p:cNvSpPr>
          <p:nvPr/>
        </p:nvSpPr>
        <p:spPr>
          <a:xfrm>
            <a:off x="932688" y="4481866"/>
            <a:ext cx="6766560" cy="1587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8811-CD82-450B-8A7F-E5B752C5FE7D}"/>
              </a:ext>
            </a:extLst>
          </p:cNvPr>
          <p:cNvSpPr>
            <a:spLocks noGrp="1"/>
          </p:cNvSpPr>
          <p:nvPr/>
        </p:nvSpPr>
        <p:spPr>
          <a:xfrm>
            <a:off x="7772400" y="434470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C0392B"/>
                </a:solidFill>
                <a:latin typeface="Arial"/>
                <a:ea typeface="Arial"/>
                <a:cs typeface="Arial"/>
              </a:rPr>
              <a:t>−2 g լրիվ տիրույթ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59C632-807F-4740-A0F7-AEFC9960F4B3}"/>
              </a:ext>
            </a:extLst>
          </p:cNvPr>
          <p:cNvSpPr>
            <a:spLocks noGrp="1"/>
          </p:cNvSpPr>
          <p:nvPr/>
        </p:nvSpPr>
        <p:spPr>
          <a:xfrm>
            <a:off x="932688" y="3345397"/>
            <a:ext cx="6766560" cy="15875"/>
          </a:xfrm>
          <a:prstGeom prst="rect">
            <a:avLst/>
          </a:prstGeom>
          <a:solidFill>
            <a:srgbClr val="E4E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B1BF3-A4F5-483C-92B4-9D67823E31FA}"/>
              </a:ext>
            </a:extLst>
          </p:cNvPr>
          <p:cNvSpPr>
            <a:spLocks noGrp="1"/>
          </p:cNvSpPr>
          <p:nvPr/>
        </p:nvSpPr>
        <p:spPr>
          <a:xfrm>
            <a:off x="7772400" y="3208237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 g՝ ձգողություն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AE6A6EC-25EE-4B15-A060-B7DE37EAB97E}"/>
              </a:ext>
            </a:extLst>
          </p:cNvPr>
          <p:cNvSpPr>
            <a:spLocks noGrp="1"/>
          </p:cNvSpPr>
          <p:nvPr/>
        </p:nvSpPr>
        <p:spPr>
          <a:xfrm>
            <a:off x="932688" y="2208929"/>
            <a:ext cx="6766560" cy="2272937"/>
          </a:xfrm>
          <a:custGeom>
            <a:avLst/>
            <a:gdLst/>
            <a:ahLst/>
            <a:cxnLst/>
            <a:rect l="l" t="t" r="r" b="b"/>
            <a:pathLst>
              <a:path w="6766560" h="2272937">
                <a:moveTo>
                  <a:pt x="0" y="1136468"/>
                </a:moveTo>
                <a:lnTo>
                  <a:pt x="28194" y="1047302"/>
                </a:lnTo>
                <a:lnTo>
                  <a:pt x="56388" y="958685"/>
                </a:lnTo>
                <a:lnTo>
                  <a:pt x="84582" y="871165"/>
                </a:lnTo>
                <a:lnTo>
                  <a:pt x="112776" y="785280"/>
                </a:lnTo>
                <a:lnTo>
                  <a:pt x="140970" y="701561"/>
                </a:lnTo>
                <a:lnTo>
                  <a:pt x="169164" y="620522"/>
                </a:lnTo>
                <a:lnTo>
                  <a:pt x="197358" y="542665"/>
                </a:lnTo>
                <a:lnTo>
                  <a:pt x="225552" y="468469"/>
                </a:lnTo>
                <a:lnTo>
                  <a:pt x="253746" y="398391"/>
                </a:lnTo>
                <a:lnTo>
                  <a:pt x="281940" y="332864"/>
                </a:lnTo>
                <a:lnTo>
                  <a:pt x="310134" y="272291"/>
                </a:lnTo>
                <a:lnTo>
                  <a:pt x="338328" y="217046"/>
                </a:lnTo>
                <a:lnTo>
                  <a:pt x="366522" y="167469"/>
                </a:lnTo>
                <a:lnTo>
                  <a:pt x="394716" y="123867"/>
                </a:lnTo>
                <a:lnTo>
                  <a:pt x="422910" y="86508"/>
                </a:lnTo>
                <a:lnTo>
                  <a:pt x="451104" y="55622"/>
                </a:lnTo>
                <a:lnTo>
                  <a:pt x="479298" y="31400"/>
                </a:lnTo>
                <a:lnTo>
                  <a:pt x="507492" y="13991"/>
                </a:lnTo>
                <a:lnTo>
                  <a:pt x="535686" y="3503"/>
                </a:lnTo>
                <a:lnTo>
                  <a:pt x="563880" y="0"/>
                </a:lnTo>
                <a:lnTo>
                  <a:pt x="592074" y="3503"/>
                </a:lnTo>
                <a:lnTo>
                  <a:pt x="620268" y="13991"/>
                </a:lnTo>
                <a:lnTo>
                  <a:pt x="648462" y="31400"/>
                </a:lnTo>
                <a:lnTo>
                  <a:pt x="676656" y="55622"/>
                </a:lnTo>
                <a:lnTo>
                  <a:pt x="704850" y="86508"/>
                </a:lnTo>
                <a:lnTo>
                  <a:pt x="733044" y="123867"/>
                </a:lnTo>
                <a:lnTo>
                  <a:pt x="761238" y="167469"/>
                </a:lnTo>
                <a:lnTo>
                  <a:pt x="789432" y="217046"/>
                </a:lnTo>
                <a:lnTo>
                  <a:pt x="817626" y="272291"/>
                </a:lnTo>
                <a:lnTo>
                  <a:pt x="845820" y="332864"/>
                </a:lnTo>
                <a:lnTo>
                  <a:pt x="874014" y="398391"/>
                </a:lnTo>
                <a:lnTo>
                  <a:pt x="902208" y="468469"/>
                </a:lnTo>
                <a:lnTo>
                  <a:pt x="930402" y="542665"/>
                </a:lnTo>
                <a:lnTo>
                  <a:pt x="958596" y="620522"/>
                </a:lnTo>
                <a:lnTo>
                  <a:pt x="986790" y="701561"/>
                </a:lnTo>
                <a:lnTo>
                  <a:pt x="1014984" y="785280"/>
                </a:lnTo>
                <a:lnTo>
                  <a:pt x="1043178" y="871165"/>
                </a:lnTo>
                <a:lnTo>
                  <a:pt x="1071372" y="958685"/>
                </a:lnTo>
                <a:lnTo>
                  <a:pt x="1099566" y="1047302"/>
                </a:lnTo>
                <a:lnTo>
                  <a:pt x="1127760" y="1136468"/>
                </a:lnTo>
                <a:lnTo>
                  <a:pt x="1155954" y="1225635"/>
                </a:lnTo>
                <a:lnTo>
                  <a:pt x="1184148" y="1314251"/>
                </a:lnTo>
                <a:lnTo>
                  <a:pt x="1212342" y="1401772"/>
                </a:lnTo>
                <a:lnTo>
                  <a:pt x="1240536" y="1487656"/>
                </a:lnTo>
                <a:lnTo>
                  <a:pt x="1268730" y="1571376"/>
                </a:lnTo>
                <a:lnTo>
                  <a:pt x="1296924" y="1652414"/>
                </a:lnTo>
                <a:lnTo>
                  <a:pt x="1325118" y="1730271"/>
                </a:lnTo>
                <a:lnTo>
                  <a:pt x="1353312" y="1804468"/>
                </a:lnTo>
                <a:lnTo>
                  <a:pt x="1381506" y="1874546"/>
                </a:lnTo>
                <a:lnTo>
                  <a:pt x="1409700" y="1940073"/>
                </a:lnTo>
                <a:lnTo>
                  <a:pt x="1437894" y="2000646"/>
                </a:lnTo>
                <a:lnTo>
                  <a:pt x="1466088" y="2055891"/>
                </a:lnTo>
                <a:lnTo>
                  <a:pt x="1494282" y="2105467"/>
                </a:lnTo>
                <a:lnTo>
                  <a:pt x="1522476" y="2149069"/>
                </a:lnTo>
                <a:lnTo>
                  <a:pt x="1550670" y="2186428"/>
                </a:lnTo>
                <a:lnTo>
                  <a:pt x="1578864" y="2217314"/>
                </a:lnTo>
                <a:lnTo>
                  <a:pt x="1607058" y="2241536"/>
                </a:lnTo>
                <a:lnTo>
                  <a:pt x="1635252" y="2258945"/>
                </a:lnTo>
                <a:lnTo>
                  <a:pt x="1663446" y="2269433"/>
                </a:lnTo>
                <a:lnTo>
                  <a:pt x="1691640" y="2272937"/>
                </a:lnTo>
                <a:lnTo>
                  <a:pt x="1719834" y="2269433"/>
                </a:lnTo>
                <a:lnTo>
                  <a:pt x="1748028" y="2258945"/>
                </a:lnTo>
                <a:lnTo>
                  <a:pt x="1776222" y="2241536"/>
                </a:lnTo>
                <a:lnTo>
                  <a:pt x="1804416" y="2217314"/>
                </a:lnTo>
                <a:lnTo>
                  <a:pt x="1832610" y="2186428"/>
                </a:lnTo>
                <a:lnTo>
                  <a:pt x="1860804" y="2149069"/>
                </a:lnTo>
                <a:lnTo>
                  <a:pt x="1888998" y="2105467"/>
                </a:lnTo>
                <a:lnTo>
                  <a:pt x="1917192" y="2055891"/>
                </a:lnTo>
                <a:lnTo>
                  <a:pt x="1945386" y="2000646"/>
                </a:lnTo>
                <a:lnTo>
                  <a:pt x="1973580" y="1940073"/>
                </a:lnTo>
                <a:lnTo>
                  <a:pt x="2001774" y="1874546"/>
                </a:lnTo>
                <a:lnTo>
                  <a:pt x="2029968" y="1804468"/>
                </a:lnTo>
                <a:lnTo>
                  <a:pt x="2058162" y="1730271"/>
                </a:lnTo>
                <a:lnTo>
                  <a:pt x="2086356" y="1652414"/>
                </a:lnTo>
                <a:lnTo>
                  <a:pt x="2114550" y="1571376"/>
                </a:lnTo>
                <a:lnTo>
                  <a:pt x="2142744" y="1487656"/>
                </a:lnTo>
                <a:lnTo>
                  <a:pt x="2170938" y="1401772"/>
                </a:lnTo>
                <a:lnTo>
                  <a:pt x="2199132" y="1314251"/>
                </a:lnTo>
                <a:lnTo>
                  <a:pt x="2227326" y="1225635"/>
                </a:lnTo>
                <a:lnTo>
                  <a:pt x="2255520" y="1136468"/>
                </a:lnTo>
                <a:lnTo>
                  <a:pt x="2283714" y="1047302"/>
                </a:lnTo>
                <a:lnTo>
                  <a:pt x="2311908" y="958685"/>
                </a:lnTo>
                <a:lnTo>
                  <a:pt x="2340102" y="871165"/>
                </a:lnTo>
                <a:lnTo>
                  <a:pt x="2368296" y="785280"/>
                </a:lnTo>
                <a:lnTo>
                  <a:pt x="2396490" y="701561"/>
                </a:lnTo>
                <a:lnTo>
                  <a:pt x="2424684" y="620522"/>
                </a:lnTo>
                <a:lnTo>
                  <a:pt x="2452878" y="542665"/>
                </a:lnTo>
                <a:lnTo>
                  <a:pt x="2481072" y="468469"/>
                </a:lnTo>
                <a:lnTo>
                  <a:pt x="2509266" y="398391"/>
                </a:lnTo>
                <a:lnTo>
                  <a:pt x="2537460" y="332864"/>
                </a:lnTo>
                <a:lnTo>
                  <a:pt x="2565654" y="272291"/>
                </a:lnTo>
                <a:lnTo>
                  <a:pt x="2593848" y="217046"/>
                </a:lnTo>
                <a:lnTo>
                  <a:pt x="2622042" y="167469"/>
                </a:lnTo>
                <a:lnTo>
                  <a:pt x="2650236" y="123867"/>
                </a:lnTo>
                <a:lnTo>
                  <a:pt x="2678430" y="86508"/>
                </a:lnTo>
                <a:lnTo>
                  <a:pt x="2706624" y="55622"/>
                </a:lnTo>
                <a:lnTo>
                  <a:pt x="2734818" y="31400"/>
                </a:lnTo>
                <a:lnTo>
                  <a:pt x="2763012" y="13991"/>
                </a:lnTo>
                <a:lnTo>
                  <a:pt x="2791206" y="3503"/>
                </a:lnTo>
                <a:lnTo>
                  <a:pt x="2819400" y="0"/>
                </a:lnTo>
                <a:lnTo>
                  <a:pt x="2847594" y="3503"/>
                </a:lnTo>
                <a:lnTo>
                  <a:pt x="2875788" y="13991"/>
                </a:lnTo>
                <a:lnTo>
                  <a:pt x="2903982" y="31400"/>
                </a:lnTo>
                <a:lnTo>
                  <a:pt x="2932176" y="55622"/>
                </a:lnTo>
                <a:lnTo>
                  <a:pt x="2960370" y="86508"/>
                </a:lnTo>
                <a:lnTo>
                  <a:pt x="2988564" y="123867"/>
                </a:lnTo>
                <a:lnTo>
                  <a:pt x="3016758" y="167469"/>
                </a:lnTo>
                <a:lnTo>
                  <a:pt x="3044952" y="217046"/>
                </a:lnTo>
                <a:lnTo>
                  <a:pt x="3073146" y="272291"/>
                </a:lnTo>
                <a:lnTo>
                  <a:pt x="3101340" y="332864"/>
                </a:lnTo>
                <a:lnTo>
                  <a:pt x="3129534" y="398391"/>
                </a:lnTo>
                <a:lnTo>
                  <a:pt x="3157728" y="468469"/>
                </a:lnTo>
                <a:lnTo>
                  <a:pt x="3185922" y="542665"/>
                </a:lnTo>
                <a:lnTo>
                  <a:pt x="3214116" y="620522"/>
                </a:lnTo>
                <a:lnTo>
                  <a:pt x="3242310" y="701561"/>
                </a:lnTo>
                <a:lnTo>
                  <a:pt x="3270504" y="785280"/>
                </a:lnTo>
                <a:lnTo>
                  <a:pt x="3298698" y="871165"/>
                </a:lnTo>
                <a:lnTo>
                  <a:pt x="3326892" y="958685"/>
                </a:lnTo>
                <a:lnTo>
                  <a:pt x="3355086" y="1047302"/>
                </a:lnTo>
                <a:lnTo>
                  <a:pt x="3383280" y="1136468"/>
                </a:lnTo>
                <a:lnTo>
                  <a:pt x="3411474" y="1225635"/>
                </a:lnTo>
                <a:lnTo>
                  <a:pt x="3439668" y="1314251"/>
                </a:lnTo>
                <a:lnTo>
                  <a:pt x="3467862" y="1401772"/>
                </a:lnTo>
                <a:lnTo>
                  <a:pt x="3496056" y="1487656"/>
                </a:lnTo>
                <a:lnTo>
                  <a:pt x="3524250" y="1571376"/>
                </a:lnTo>
                <a:lnTo>
                  <a:pt x="3552444" y="1652414"/>
                </a:lnTo>
                <a:lnTo>
                  <a:pt x="3580638" y="1730271"/>
                </a:lnTo>
                <a:lnTo>
                  <a:pt x="3608832" y="1804468"/>
                </a:lnTo>
                <a:lnTo>
                  <a:pt x="3637026" y="1874546"/>
                </a:lnTo>
                <a:lnTo>
                  <a:pt x="3665220" y="1940073"/>
                </a:lnTo>
                <a:lnTo>
                  <a:pt x="3693414" y="2000646"/>
                </a:lnTo>
                <a:lnTo>
                  <a:pt x="3721608" y="2055891"/>
                </a:lnTo>
                <a:lnTo>
                  <a:pt x="3749802" y="2105467"/>
                </a:lnTo>
                <a:lnTo>
                  <a:pt x="3777996" y="2149069"/>
                </a:lnTo>
                <a:lnTo>
                  <a:pt x="3806190" y="2186428"/>
                </a:lnTo>
                <a:lnTo>
                  <a:pt x="3834384" y="2217314"/>
                </a:lnTo>
                <a:lnTo>
                  <a:pt x="3862578" y="2241536"/>
                </a:lnTo>
                <a:lnTo>
                  <a:pt x="3890772" y="2258945"/>
                </a:lnTo>
                <a:lnTo>
                  <a:pt x="3918966" y="2269433"/>
                </a:lnTo>
                <a:lnTo>
                  <a:pt x="3947160" y="2272937"/>
                </a:lnTo>
                <a:lnTo>
                  <a:pt x="3975354" y="2269433"/>
                </a:lnTo>
                <a:lnTo>
                  <a:pt x="4003548" y="2258945"/>
                </a:lnTo>
                <a:lnTo>
                  <a:pt x="4031742" y="2241536"/>
                </a:lnTo>
                <a:lnTo>
                  <a:pt x="4059936" y="2217314"/>
                </a:lnTo>
                <a:lnTo>
                  <a:pt x="4088130" y="2186428"/>
                </a:lnTo>
                <a:lnTo>
                  <a:pt x="4116324" y="2149069"/>
                </a:lnTo>
                <a:lnTo>
                  <a:pt x="4144518" y="2105467"/>
                </a:lnTo>
                <a:lnTo>
                  <a:pt x="4172712" y="2055891"/>
                </a:lnTo>
                <a:lnTo>
                  <a:pt x="4200906" y="2000646"/>
                </a:lnTo>
                <a:lnTo>
                  <a:pt x="4229100" y="1940073"/>
                </a:lnTo>
                <a:lnTo>
                  <a:pt x="4257294" y="1874546"/>
                </a:lnTo>
                <a:lnTo>
                  <a:pt x="4285488" y="1804468"/>
                </a:lnTo>
                <a:lnTo>
                  <a:pt x="4313682" y="1730271"/>
                </a:lnTo>
                <a:lnTo>
                  <a:pt x="4341876" y="1652414"/>
                </a:lnTo>
                <a:lnTo>
                  <a:pt x="4370070" y="1571376"/>
                </a:lnTo>
                <a:lnTo>
                  <a:pt x="4398264" y="1487656"/>
                </a:lnTo>
                <a:lnTo>
                  <a:pt x="4426458" y="1401772"/>
                </a:lnTo>
                <a:lnTo>
                  <a:pt x="4454652" y="1314251"/>
                </a:lnTo>
                <a:lnTo>
                  <a:pt x="4482846" y="1225635"/>
                </a:lnTo>
                <a:lnTo>
                  <a:pt x="4511040" y="1136468"/>
                </a:lnTo>
                <a:lnTo>
                  <a:pt x="4539234" y="1047302"/>
                </a:lnTo>
                <a:lnTo>
                  <a:pt x="4567428" y="958685"/>
                </a:lnTo>
                <a:lnTo>
                  <a:pt x="4595622" y="871165"/>
                </a:lnTo>
                <a:lnTo>
                  <a:pt x="4623816" y="785280"/>
                </a:lnTo>
                <a:lnTo>
                  <a:pt x="4652010" y="701561"/>
                </a:lnTo>
                <a:lnTo>
                  <a:pt x="4680204" y="620522"/>
                </a:lnTo>
                <a:lnTo>
                  <a:pt x="4708398" y="542665"/>
                </a:lnTo>
                <a:lnTo>
                  <a:pt x="4736592" y="468469"/>
                </a:lnTo>
                <a:lnTo>
                  <a:pt x="4764786" y="398391"/>
                </a:lnTo>
                <a:lnTo>
                  <a:pt x="4792980" y="332864"/>
                </a:lnTo>
                <a:lnTo>
                  <a:pt x="4821174" y="272291"/>
                </a:lnTo>
                <a:lnTo>
                  <a:pt x="4849368" y="217046"/>
                </a:lnTo>
                <a:lnTo>
                  <a:pt x="4877562" y="167469"/>
                </a:lnTo>
                <a:lnTo>
                  <a:pt x="4905756" y="123867"/>
                </a:lnTo>
                <a:lnTo>
                  <a:pt x="4933950" y="86508"/>
                </a:lnTo>
                <a:lnTo>
                  <a:pt x="4962144" y="55622"/>
                </a:lnTo>
                <a:lnTo>
                  <a:pt x="4990338" y="31400"/>
                </a:lnTo>
                <a:lnTo>
                  <a:pt x="5018532" y="13991"/>
                </a:lnTo>
                <a:lnTo>
                  <a:pt x="5046726" y="3503"/>
                </a:lnTo>
                <a:lnTo>
                  <a:pt x="5074920" y="0"/>
                </a:lnTo>
                <a:lnTo>
                  <a:pt x="5103114" y="3503"/>
                </a:lnTo>
                <a:lnTo>
                  <a:pt x="5131308" y="13991"/>
                </a:lnTo>
                <a:lnTo>
                  <a:pt x="5159502" y="31400"/>
                </a:lnTo>
                <a:lnTo>
                  <a:pt x="5187696" y="55622"/>
                </a:lnTo>
                <a:lnTo>
                  <a:pt x="5215890" y="86508"/>
                </a:lnTo>
                <a:lnTo>
                  <a:pt x="5244084" y="123867"/>
                </a:lnTo>
                <a:lnTo>
                  <a:pt x="5272278" y="167469"/>
                </a:lnTo>
                <a:lnTo>
                  <a:pt x="5300472" y="217046"/>
                </a:lnTo>
                <a:lnTo>
                  <a:pt x="5328666" y="272291"/>
                </a:lnTo>
                <a:lnTo>
                  <a:pt x="5356860" y="332864"/>
                </a:lnTo>
                <a:lnTo>
                  <a:pt x="5385054" y="398391"/>
                </a:lnTo>
                <a:lnTo>
                  <a:pt x="5413248" y="468469"/>
                </a:lnTo>
                <a:lnTo>
                  <a:pt x="5441442" y="542665"/>
                </a:lnTo>
                <a:lnTo>
                  <a:pt x="5469636" y="620522"/>
                </a:lnTo>
                <a:lnTo>
                  <a:pt x="5497830" y="701561"/>
                </a:lnTo>
                <a:lnTo>
                  <a:pt x="5526024" y="785280"/>
                </a:lnTo>
                <a:lnTo>
                  <a:pt x="5554218" y="871165"/>
                </a:lnTo>
                <a:lnTo>
                  <a:pt x="5582412" y="958685"/>
                </a:lnTo>
                <a:lnTo>
                  <a:pt x="5610606" y="1047302"/>
                </a:lnTo>
                <a:lnTo>
                  <a:pt x="5638800" y="1136468"/>
                </a:lnTo>
                <a:lnTo>
                  <a:pt x="5666994" y="1225635"/>
                </a:lnTo>
                <a:lnTo>
                  <a:pt x="5695188" y="1314251"/>
                </a:lnTo>
                <a:lnTo>
                  <a:pt x="5723382" y="1401772"/>
                </a:lnTo>
                <a:lnTo>
                  <a:pt x="5751576" y="1487656"/>
                </a:lnTo>
                <a:lnTo>
                  <a:pt x="5779770" y="1571376"/>
                </a:lnTo>
                <a:lnTo>
                  <a:pt x="5807964" y="1652414"/>
                </a:lnTo>
                <a:lnTo>
                  <a:pt x="5836158" y="1730271"/>
                </a:lnTo>
                <a:lnTo>
                  <a:pt x="5864352" y="1804468"/>
                </a:lnTo>
                <a:lnTo>
                  <a:pt x="5892546" y="1874546"/>
                </a:lnTo>
                <a:lnTo>
                  <a:pt x="5920740" y="1940073"/>
                </a:lnTo>
                <a:lnTo>
                  <a:pt x="5948934" y="2000646"/>
                </a:lnTo>
                <a:lnTo>
                  <a:pt x="5977128" y="2055891"/>
                </a:lnTo>
                <a:lnTo>
                  <a:pt x="6005322" y="2105467"/>
                </a:lnTo>
                <a:lnTo>
                  <a:pt x="6033516" y="2149069"/>
                </a:lnTo>
                <a:lnTo>
                  <a:pt x="6061710" y="2186428"/>
                </a:lnTo>
                <a:lnTo>
                  <a:pt x="6089904" y="2217314"/>
                </a:lnTo>
                <a:lnTo>
                  <a:pt x="6118098" y="2241536"/>
                </a:lnTo>
                <a:lnTo>
                  <a:pt x="6146292" y="2258945"/>
                </a:lnTo>
                <a:lnTo>
                  <a:pt x="6174486" y="2269433"/>
                </a:lnTo>
                <a:lnTo>
                  <a:pt x="6202680" y="2272937"/>
                </a:lnTo>
                <a:lnTo>
                  <a:pt x="6230874" y="2269433"/>
                </a:lnTo>
                <a:lnTo>
                  <a:pt x="6259068" y="2258945"/>
                </a:lnTo>
                <a:lnTo>
                  <a:pt x="6287262" y="2241536"/>
                </a:lnTo>
                <a:lnTo>
                  <a:pt x="6315456" y="2217314"/>
                </a:lnTo>
                <a:lnTo>
                  <a:pt x="6343650" y="2186428"/>
                </a:lnTo>
                <a:lnTo>
                  <a:pt x="6371844" y="2149069"/>
                </a:lnTo>
                <a:lnTo>
                  <a:pt x="6400038" y="2105467"/>
                </a:lnTo>
                <a:lnTo>
                  <a:pt x="6428232" y="2055891"/>
                </a:lnTo>
                <a:lnTo>
                  <a:pt x="6456426" y="2000646"/>
                </a:lnTo>
                <a:lnTo>
                  <a:pt x="6484620" y="1940073"/>
                </a:lnTo>
                <a:lnTo>
                  <a:pt x="6512814" y="1874546"/>
                </a:lnTo>
                <a:lnTo>
                  <a:pt x="6541008" y="1804468"/>
                </a:lnTo>
                <a:lnTo>
                  <a:pt x="6569202" y="1730271"/>
                </a:lnTo>
                <a:lnTo>
                  <a:pt x="6597396" y="1652414"/>
                </a:lnTo>
                <a:lnTo>
                  <a:pt x="6625590" y="1571376"/>
                </a:lnTo>
                <a:lnTo>
                  <a:pt x="6653784" y="1487656"/>
                </a:lnTo>
                <a:lnTo>
                  <a:pt x="6681978" y="1401772"/>
                </a:lnTo>
                <a:lnTo>
                  <a:pt x="6710172" y="1314251"/>
                </a:lnTo>
                <a:lnTo>
                  <a:pt x="6738366" y="1225635"/>
                </a:lnTo>
                <a:lnTo>
                  <a:pt x="6766560" y="1136468"/>
                </a:lnTo>
              </a:path>
            </a:pathLst>
          </a:custGeom>
          <a:noFill/>
          <a:ln w="19050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32CEAB4-0D79-45B5-9E02-614BC81AB994}"/>
              </a:ext>
            </a:extLst>
          </p:cNvPr>
          <p:cNvSpPr>
            <a:spLocks noGrp="1"/>
          </p:cNvSpPr>
          <p:nvPr/>
        </p:nvSpPr>
        <p:spPr>
          <a:xfrm>
            <a:off x="932688" y="2966574"/>
            <a:ext cx="6766560" cy="1515292"/>
          </a:xfrm>
          <a:custGeom>
            <a:avLst/>
            <a:gdLst/>
            <a:ahLst/>
            <a:cxnLst/>
            <a:rect l="l" t="t" r="r" b="b"/>
            <a:pathLst>
              <a:path w="6766560" h="1515292">
                <a:moveTo>
                  <a:pt x="0" y="378823"/>
                </a:moveTo>
                <a:lnTo>
                  <a:pt x="28194" y="289657"/>
                </a:lnTo>
                <a:lnTo>
                  <a:pt x="56388" y="201040"/>
                </a:lnTo>
                <a:lnTo>
                  <a:pt x="84582" y="113520"/>
                </a:lnTo>
                <a:lnTo>
                  <a:pt x="112776" y="27635"/>
                </a:lnTo>
                <a:lnTo>
                  <a:pt x="140970" y="0"/>
                </a:lnTo>
                <a:lnTo>
                  <a:pt x="169164" y="0"/>
                </a:lnTo>
                <a:lnTo>
                  <a:pt x="197358" y="0"/>
                </a:lnTo>
                <a:lnTo>
                  <a:pt x="225552" y="0"/>
                </a:lnTo>
                <a:lnTo>
                  <a:pt x="253746" y="0"/>
                </a:lnTo>
                <a:lnTo>
                  <a:pt x="281940" y="0"/>
                </a:lnTo>
                <a:lnTo>
                  <a:pt x="310134" y="0"/>
                </a:lnTo>
                <a:lnTo>
                  <a:pt x="338328" y="0"/>
                </a:lnTo>
                <a:lnTo>
                  <a:pt x="366522" y="0"/>
                </a:lnTo>
                <a:lnTo>
                  <a:pt x="394716" y="0"/>
                </a:lnTo>
                <a:lnTo>
                  <a:pt x="422910" y="0"/>
                </a:lnTo>
                <a:lnTo>
                  <a:pt x="451104" y="0"/>
                </a:lnTo>
                <a:lnTo>
                  <a:pt x="479298" y="0"/>
                </a:lnTo>
                <a:lnTo>
                  <a:pt x="507492" y="0"/>
                </a:lnTo>
                <a:lnTo>
                  <a:pt x="535686" y="0"/>
                </a:lnTo>
                <a:lnTo>
                  <a:pt x="563880" y="0"/>
                </a:lnTo>
                <a:lnTo>
                  <a:pt x="592074" y="0"/>
                </a:lnTo>
                <a:lnTo>
                  <a:pt x="620268" y="0"/>
                </a:lnTo>
                <a:lnTo>
                  <a:pt x="648462" y="0"/>
                </a:lnTo>
                <a:lnTo>
                  <a:pt x="676656" y="0"/>
                </a:lnTo>
                <a:lnTo>
                  <a:pt x="704850" y="0"/>
                </a:lnTo>
                <a:lnTo>
                  <a:pt x="733044" y="0"/>
                </a:lnTo>
                <a:lnTo>
                  <a:pt x="761238" y="0"/>
                </a:lnTo>
                <a:lnTo>
                  <a:pt x="789432" y="0"/>
                </a:lnTo>
                <a:lnTo>
                  <a:pt x="817626" y="0"/>
                </a:lnTo>
                <a:lnTo>
                  <a:pt x="845820" y="0"/>
                </a:lnTo>
                <a:lnTo>
                  <a:pt x="874014" y="0"/>
                </a:lnTo>
                <a:lnTo>
                  <a:pt x="902208" y="0"/>
                </a:lnTo>
                <a:lnTo>
                  <a:pt x="930402" y="0"/>
                </a:lnTo>
                <a:lnTo>
                  <a:pt x="958596" y="0"/>
                </a:lnTo>
                <a:lnTo>
                  <a:pt x="986790" y="0"/>
                </a:lnTo>
                <a:lnTo>
                  <a:pt x="1014984" y="27635"/>
                </a:lnTo>
                <a:lnTo>
                  <a:pt x="1043178" y="113520"/>
                </a:lnTo>
                <a:lnTo>
                  <a:pt x="1071372" y="201040"/>
                </a:lnTo>
                <a:lnTo>
                  <a:pt x="1099566" y="289657"/>
                </a:lnTo>
                <a:lnTo>
                  <a:pt x="1127760" y="378823"/>
                </a:lnTo>
                <a:lnTo>
                  <a:pt x="1155954" y="467990"/>
                </a:lnTo>
                <a:lnTo>
                  <a:pt x="1184148" y="556606"/>
                </a:lnTo>
                <a:lnTo>
                  <a:pt x="1212342" y="644127"/>
                </a:lnTo>
                <a:lnTo>
                  <a:pt x="1240536" y="730011"/>
                </a:lnTo>
                <a:lnTo>
                  <a:pt x="1268730" y="813731"/>
                </a:lnTo>
                <a:lnTo>
                  <a:pt x="1296924" y="894769"/>
                </a:lnTo>
                <a:lnTo>
                  <a:pt x="1325118" y="972626"/>
                </a:lnTo>
                <a:lnTo>
                  <a:pt x="1353312" y="1046823"/>
                </a:lnTo>
                <a:lnTo>
                  <a:pt x="1381506" y="1116901"/>
                </a:lnTo>
                <a:lnTo>
                  <a:pt x="1409700" y="1182428"/>
                </a:lnTo>
                <a:lnTo>
                  <a:pt x="1437894" y="1243001"/>
                </a:lnTo>
                <a:lnTo>
                  <a:pt x="1466088" y="1298246"/>
                </a:lnTo>
                <a:lnTo>
                  <a:pt x="1494282" y="1347822"/>
                </a:lnTo>
                <a:lnTo>
                  <a:pt x="1522476" y="1391424"/>
                </a:lnTo>
                <a:lnTo>
                  <a:pt x="1550670" y="1428783"/>
                </a:lnTo>
                <a:lnTo>
                  <a:pt x="1578864" y="1459669"/>
                </a:lnTo>
                <a:lnTo>
                  <a:pt x="1607058" y="1483891"/>
                </a:lnTo>
                <a:lnTo>
                  <a:pt x="1635252" y="1501300"/>
                </a:lnTo>
                <a:lnTo>
                  <a:pt x="1663446" y="1511788"/>
                </a:lnTo>
                <a:lnTo>
                  <a:pt x="1691640" y="1515292"/>
                </a:lnTo>
                <a:lnTo>
                  <a:pt x="1719834" y="1511788"/>
                </a:lnTo>
                <a:lnTo>
                  <a:pt x="1748028" y="1501300"/>
                </a:lnTo>
                <a:lnTo>
                  <a:pt x="1776222" y="1483891"/>
                </a:lnTo>
                <a:lnTo>
                  <a:pt x="1804416" y="1459669"/>
                </a:lnTo>
                <a:lnTo>
                  <a:pt x="1832610" y="1428783"/>
                </a:lnTo>
                <a:lnTo>
                  <a:pt x="1860804" y="1391424"/>
                </a:lnTo>
                <a:lnTo>
                  <a:pt x="1888998" y="1347822"/>
                </a:lnTo>
                <a:lnTo>
                  <a:pt x="1917192" y="1298246"/>
                </a:lnTo>
                <a:lnTo>
                  <a:pt x="1945386" y="1243001"/>
                </a:lnTo>
                <a:lnTo>
                  <a:pt x="1973580" y="1182428"/>
                </a:lnTo>
                <a:lnTo>
                  <a:pt x="2001774" y="1116901"/>
                </a:lnTo>
                <a:lnTo>
                  <a:pt x="2029968" y="1046823"/>
                </a:lnTo>
                <a:lnTo>
                  <a:pt x="2058162" y="972626"/>
                </a:lnTo>
                <a:lnTo>
                  <a:pt x="2086356" y="894769"/>
                </a:lnTo>
                <a:lnTo>
                  <a:pt x="2114550" y="813731"/>
                </a:lnTo>
                <a:lnTo>
                  <a:pt x="2142744" y="730011"/>
                </a:lnTo>
                <a:lnTo>
                  <a:pt x="2170938" y="644127"/>
                </a:lnTo>
                <a:lnTo>
                  <a:pt x="2199132" y="556606"/>
                </a:lnTo>
                <a:lnTo>
                  <a:pt x="2227326" y="467990"/>
                </a:lnTo>
                <a:lnTo>
                  <a:pt x="2255520" y="378823"/>
                </a:lnTo>
                <a:lnTo>
                  <a:pt x="2283714" y="289657"/>
                </a:lnTo>
                <a:lnTo>
                  <a:pt x="2311908" y="201040"/>
                </a:lnTo>
                <a:lnTo>
                  <a:pt x="2340102" y="113520"/>
                </a:lnTo>
                <a:lnTo>
                  <a:pt x="2368296" y="27635"/>
                </a:lnTo>
                <a:lnTo>
                  <a:pt x="2396490" y="0"/>
                </a:lnTo>
                <a:lnTo>
                  <a:pt x="2424684" y="0"/>
                </a:lnTo>
                <a:lnTo>
                  <a:pt x="2452878" y="0"/>
                </a:lnTo>
                <a:lnTo>
                  <a:pt x="2481072" y="0"/>
                </a:lnTo>
                <a:lnTo>
                  <a:pt x="2509266" y="0"/>
                </a:lnTo>
                <a:lnTo>
                  <a:pt x="2537460" y="0"/>
                </a:lnTo>
                <a:lnTo>
                  <a:pt x="2565654" y="0"/>
                </a:lnTo>
                <a:lnTo>
                  <a:pt x="2593848" y="0"/>
                </a:lnTo>
                <a:lnTo>
                  <a:pt x="2622042" y="0"/>
                </a:lnTo>
                <a:lnTo>
                  <a:pt x="2650236" y="0"/>
                </a:lnTo>
                <a:lnTo>
                  <a:pt x="2678430" y="0"/>
                </a:lnTo>
                <a:lnTo>
                  <a:pt x="2706624" y="0"/>
                </a:lnTo>
                <a:lnTo>
                  <a:pt x="2734818" y="0"/>
                </a:lnTo>
                <a:lnTo>
                  <a:pt x="2763012" y="0"/>
                </a:lnTo>
                <a:lnTo>
                  <a:pt x="2791206" y="0"/>
                </a:lnTo>
                <a:lnTo>
                  <a:pt x="2819400" y="0"/>
                </a:lnTo>
                <a:lnTo>
                  <a:pt x="2847594" y="0"/>
                </a:lnTo>
                <a:lnTo>
                  <a:pt x="2875788" y="0"/>
                </a:lnTo>
                <a:lnTo>
                  <a:pt x="2903982" y="0"/>
                </a:lnTo>
                <a:lnTo>
                  <a:pt x="2932176" y="0"/>
                </a:lnTo>
                <a:lnTo>
                  <a:pt x="2960370" y="0"/>
                </a:lnTo>
                <a:lnTo>
                  <a:pt x="2988564" y="0"/>
                </a:lnTo>
                <a:lnTo>
                  <a:pt x="3016758" y="0"/>
                </a:lnTo>
                <a:lnTo>
                  <a:pt x="3044952" y="0"/>
                </a:lnTo>
                <a:lnTo>
                  <a:pt x="3073146" y="0"/>
                </a:lnTo>
                <a:lnTo>
                  <a:pt x="3101340" y="0"/>
                </a:lnTo>
                <a:lnTo>
                  <a:pt x="3129534" y="0"/>
                </a:lnTo>
                <a:lnTo>
                  <a:pt x="3157728" y="0"/>
                </a:lnTo>
                <a:lnTo>
                  <a:pt x="3185922" y="0"/>
                </a:lnTo>
                <a:lnTo>
                  <a:pt x="3214116" y="0"/>
                </a:lnTo>
                <a:lnTo>
                  <a:pt x="3242310" y="0"/>
                </a:lnTo>
                <a:lnTo>
                  <a:pt x="3270504" y="27635"/>
                </a:lnTo>
                <a:lnTo>
                  <a:pt x="3298698" y="113520"/>
                </a:lnTo>
                <a:lnTo>
                  <a:pt x="3326892" y="201040"/>
                </a:lnTo>
                <a:lnTo>
                  <a:pt x="3355086" y="289657"/>
                </a:lnTo>
                <a:lnTo>
                  <a:pt x="3383280" y="378823"/>
                </a:lnTo>
                <a:lnTo>
                  <a:pt x="3411474" y="467990"/>
                </a:lnTo>
                <a:lnTo>
                  <a:pt x="3439668" y="556606"/>
                </a:lnTo>
                <a:lnTo>
                  <a:pt x="3467862" y="644127"/>
                </a:lnTo>
                <a:lnTo>
                  <a:pt x="3496056" y="730011"/>
                </a:lnTo>
                <a:lnTo>
                  <a:pt x="3524250" y="813731"/>
                </a:lnTo>
                <a:lnTo>
                  <a:pt x="3552444" y="894769"/>
                </a:lnTo>
                <a:lnTo>
                  <a:pt x="3580638" y="972626"/>
                </a:lnTo>
                <a:lnTo>
                  <a:pt x="3608832" y="1046823"/>
                </a:lnTo>
                <a:lnTo>
                  <a:pt x="3637026" y="1116901"/>
                </a:lnTo>
                <a:lnTo>
                  <a:pt x="3665220" y="1182428"/>
                </a:lnTo>
                <a:lnTo>
                  <a:pt x="3693414" y="1243001"/>
                </a:lnTo>
                <a:lnTo>
                  <a:pt x="3721608" y="1298246"/>
                </a:lnTo>
                <a:lnTo>
                  <a:pt x="3749802" y="1347822"/>
                </a:lnTo>
                <a:lnTo>
                  <a:pt x="3777996" y="1391424"/>
                </a:lnTo>
                <a:lnTo>
                  <a:pt x="3806190" y="1428783"/>
                </a:lnTo>
                <a:lnTo>
                  <a:pt x="3834384" y="1459669"/>
                </a:lnTo>
                <a:lnTo>
                  <a:pt x="3862578" y="1483891"/>
                </a:lnTo>
                <a:lnTo>
                  <a:pt x="3890772" y="1501300"/>
                </a:lnTo>
                <a:lnTo>
                  <a:pt x="3918966" y="1511788"/>
                </a:lnTo>
                <a:lnTo>
                  <a:pt x="3947160" y="1515292"/>
                </a:lnTo>
                <a:lnTo>
                  <a:pt x="3975354" y="1511788"/>
                </a:lnTo>
                <a:lnTo>
                  <a:pt x="4003548" y="1501300"/>
                </a:lnTo>
                <a:lnTo>
                  <a:pt x="4031742" y="1483891"/>
                </a:lnTo>
                <a:lnTo>
                  <a:pt x="4059936" y="1459669"/>
                </a:lnTo>
                <a:lnTo>
                  <a:pt x="4088130" y="1428783"/>
                </a:lnTo>
                <a:lnTo>
                  <a:pt x="4116324" y="1391424"/>
                </a:lnTo>
                <a:lnTo>
                  <a:pt x="4144518" y="1347822"/>
                </a:lnTo>
                <a:lnTo>
                  <a:pt x="4172712" y="1298246"/>
                </a:lnTo>
                <a:lnTo>
                  <a:pt x="4200906" y="1243001"/>
                </a:lnTo>
                <a:lnTo>
                  <a:pt x="4229100" y="1182428"/>
                </a:lnTo>
                <a:lnTo>
                  <a:pt x="4257294" y="1116901"/>
                </a:lnTo>
                <a:lnTo>
                  <a:pt x="4285488" y="1046823"/>
                </a:lnTo>
                <a:lnTo>
                  <a:pt x="4313682" y="972626"/>
                </a:lnTo>
                <a:lnTo>
                  <a:pt x="4341876" y="894769"/>
                </a:lnTo>
                <a:lnTo>
                  <a:pt x="4370070" y="813731"/>
                </a:lnTo>
                <a:lnTo>
                  <a:pt x="4398264" y="730011"/>
                </a:lnTo>
                <a:lnTo>
                  <a:pt x="4426458" y="644127"/>
                </a:lnTo>
                <a:lnTo>
                  <a:pt x="4454652" y="556606"/>
                </a:lnTo>
                <a:lnTo>
                  <a:pt x="4482846" y="467990"/>
                </a:lnTo>
                <a:lnTo>
                  <a:pt x="4511040" y="378823"/>
                </a:lnTo>
                <a:lnTo>
                  <a:pt x="4539234" y="289657"/>
                </a:lnTo>
                <a:lnTo>
                  <a:pt x="4567428" y="201040"/>
                </a:lnTo>
                <a:lnTo>
                  <a:pt x="4595622" y="113520"/>
                </a:lnTo>
                <a:lnTo>
                  <a:pt x="4623816" y="27635"/>
                </a:lnTo>
                <a:lnTo>
                  <a:pt x="4652010" y="0"/>
                </a:lnTo>
                <a:lnTo>
                  <a:pt x="4680204" y="0"/>
                </a:lnTo>
                <a:lnTo>
                  <a:pt x="4708398" y="0"/>
                </a:lnTo>
                <a:lnTo>
                  <a:pt x="4736592" y="0"/>
                </a:lnTo>
                <a:lnTo>
                  <a:pt x="4764786" y="0"/>
                </a:lnTo>
                <a:lnTo>
                  <a:pt x="4792980" y="0"/>
                </a:lnTo>
                <a:lnTo>
                  <a:pt x="4821174" y="0"/>
                </a:lnTo>
                <a:lnTo>
                  <a:pt x="4849368" y="0"/>
                </a:lnTo>
                <a:lnTo>
                  <a:pt x="4877562" y="0"/>
                </a:lnTo>
                <a:lnTo>
                  <a:pt x="4905756" y="0"/>
                </a:lnTo>
                <a:lnTo>
                  <a:pt x="4933950" y="0"/>
                </a:lnTo>
                <a:lnTo>
                  <a:pt x="4962144" y="0"/>
                </a:lnTo>
                <a:lnTo>
                  <a:pt x="4990338" y="0"/>
                </a:lnTo>
                <a:lnTo>
                  <a:pt x="5018532" y="0"/>
                </a:lnTo>
                <a:lnTo>
                  <a:pt x="5046726" y="0"/>
                </a:lnTo>
                <a:lnTo>
                  <a:pt x="5074920" y="0"/>
                </a:lnTo>
                <a:lnTo>
                  <a:pt x="5103114" y="0"/>
                </a:lnTo>
                <a:lnTo>
                  <a:pt x="5131308" y="0"/>
                </a:lnTo>
                <a:lnTo>
                  <a:pt x="5159502" y="0"/>
                </a:lnTo>
                <a:lnTo>
                  <a:pt x="5187696" y="0"/>
                </a:lnTo>
                <a:lnTo>
                  <a:pt x="5215890" y="0"/>
                </a:lnTo>
                <a:lnTo>
                  <a:pt x="5244084" y="0"/>
                </a:lnTo>
                <a:lnTo>
                  <a:pt x="5272278" y="0"/>
                </a:lnTo>
                <a:lnTo>
                  <a:pt x="5300472" y="0"/>
                </a:lnTo>
                <a:lnTo>
                  <a:pt x="5328666" y="0"/>
                </a:lnTo>
                <a:lnTo>
                  <a:pt x="5356860" y="0"/>
                </a:lnTo>
                <a:lnTo>
                  <a:pt x="5385054" y="0"/>
                </a:lnTo>
                <a:lnTo>
                  <a:pt x="5413248" y="0"/>
                </a:lnTo>
                <a:lnTo>
                  <a:pt x="5441442" y="0"/>
                </a:lnTo>
                <a:lnTo>
                  <a:pt x="5469636" y="0"/>
                </a:lnTo>
                <a:lnTo>
                  <a:pt x="5497830" y="0"/>
                </a:lnTo>
                <a:lnTo>
                  <a:pt x="5526024" y="27635"/>
                </a:lnTo>
                <a:lnTo>
                  <a:pt x="5554218" y="113520"/>
                </a:lnTo>
                <a:lnTo>
                  <a:pt x="5582412" y="201040"/>
                </a:lnTo>
                <a:lnTo>
                  <a:pt x="5610606" y="289657"/>
                </a:lnTo>
                <a:lnTo>
                  <a:pt x="5638800" y="378823"/>
                </a:lnTo>
                <a:lnTo>
                  <a:pt x="5666994" y="467990"/>
                </a:lnTo>
                <a:lnTo>
                  <a:pt x="5695188" y="556606"/>
                </a:lnTo>
                <a:lnTo>
                  <a:pt x="5723382" y="644127"/>
                </a:lnTo>
                <a:lnTo>
                  <a:pt x="5751576" y="730011"/>
                </a:lnTo>
                <a:lnTo>
                  <a:pt x="5779770" y="813731"/>
                </a:lnTo>
                <a:lnTo>
                  <a:pt x="5807964" y="894769"/>
                </a:lnTo>
                <a:lnTo>
                  <a:pt x="5836158" y="972626"/>
                </a:lnTo>
                <a:lnTo>
                  <a:pt x="5864352" y="1046823"/>
                </a:lnTo>
                <a:lnTo>
                  <a:pt x="5892546" y="1116901"/>
                </a:lnTo>
                <a:lnTo>
                  <a:pt x="5920740" y="1182428"/>
                </a:lnTo>
                <a:lnTo>
                  <a:pt x="5948934" y="1243001"/>
                </a:lnTo>
                <a:lnTo>
                  <a:pt x="5977128" y="1298246"/>
                </a:lnTo>
                <a:lnTo>
                  <a:pt x="6005322" y="1347822"/>
                </a:lnTo>
                <a:lnTo>
                  <a:pt x="6033516" y="1391424"/>
                </a:lnTo>
                <a:lnTo>
                  <a:pt x="6061710" y="1428783"/>
                </a:lnTo>
                <a:lnTo>
                  <a:pt x="6089904" y="1459669"/>
                </a:lnTo>
                <a:lnTo>
                  <a:pt x="6118098" y="1483891"/>
                </a:lnTo>
                <a:lnTo>
                  <a:pt x="6146292" y="1501300"/>
                </a:lnTo>
                <a:lnTo>
                  <a:pt x="6174486" y="1511788"/>
                </a:lnTo>
                <a:lnTo>
                  <a:pt x="6202680" y="1515292"/>
                </a:lnTo>
                <a:lnTo>
                  <a:pt x="6230874" y="1511788"/>
                </a:lnTo>
                <a:lnTo>
                  <a:pt x="6259068" y="1501300"/>
                </a:lnTo>
                <a:lnTo>
                  <a:pt x="6287262" y="1483891"/>
                </a:lnTo>
                <a:lnTo>
                  <a:pt x="6315456" y="1459669"/>
                </a:lnTo>
                <a:lnTo>
                  <a:pt x="6343650" y="1428783"/>
                </a:lnTo>
                <a:lnTo>
                  <a:pt x="6371844" y="1391424"/>
                </a:lnTo>
                <a:lnTo>
                  <a:pt x="6400038" y="1347822"/>
                </a:lnTo>
                <a:lnTo>
                  <a:pt x="6428232" y="1298246"/>
                </a:lnTo>
                <a:lnTo>
                  <a:pt x="6456426" y="1243001"/>
                </a:lnTo>
                <a:lnTo>
                  <a:pt x="6484620" y="1182428"/>
                </a:lnTo>
                <a:lnTo>
                  <a:pt x="6512814" y="1116901"/>
                </a:lnTo>
                <a:lnTo>
                  <a:pt x="6541008" y="1046823"/>
                </a:lnTo>
                <a:lnTo>
                  <a:pt x="6569202" y="972626"/>
                </a:lnTo>
                <a:lnTo>
                  <a:pt x="6597396" y="894769"/>
                </a:lnTo>
                <a:lnTo>
                  <a:pt x="6625590" y="813731"/>
                </a:lnTo>
                <a:lnTo>
                  <a:pt x="6653784" y="730011"/>
                </a:lnTo>
                <a:lnTo>
                  <a:pt x="6681978" y="644127"/>
                </a:lnTo>
                <a:lnTo>
                  <a:pt x="6710172" y="556606"/>
                </a:lnTo>
                <a:lnTo>
                  <a:pt x="6738366" y="467990"/>
                </a:lnTo>
                <a:lnTo>
                  <a:pt x="6766560" y="378823"/>
                </a:lnTo>
              </a:path>
            </a:pathLst>
          </a:custGeom>
          <a:noFill/>
          <a:ln w="317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7D28D2-0856-4FAE-9C90-320DDBDF9ACC}"/>
              </a:ext>
            </a:extLst>
          </p:cNvPr>
          <p:cNvSpPr>
            <a:spLocks noGrp="1"/>
          </p:cNvSpPr>
          <p:nvPr/>
        </p:nvSpPr>
        <p:spPr>
          <a:xfrm>
            <a:off x="1024128" y="20391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իրական շարժում՝ 1 g + 3 g գագաթային տատանում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172E40-65AE-44E8-8305-57B009A9BB3B}"/>
              </a:ext>
            </a:extLst>
          </p:cNvPr>
          <p:cNvSpPr>
            <a:spLocks noGrp="1"/>
          </p:cNvSpPr>
          <p:nvPr/>
        </p:nvSpPr>
        <p:spPr>
          <a:xfrm>
            <a:off x="9555480" y="32461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ՏՎԻՉԸ ՀԱՂՈՐԴՈՒՄ Է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06EA51-F5F2-4AA3-9EFD-86FC3E39137B}"/>
              </a:ext>
            </a:extLst>
          </p:cNvPr>
          <p:cNvSpPr>
            <a:spLocks noGrp="1"/>
          </p:cNvSpPr>
          <p:nvPr/>
        </p:nvSpPr>
        <p:spPr>
          <a:xfrm>
            <a:off x="9555480" y="3520440"/>
            <a:ext cx="2011680" cy="1783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դրական գագաթները կտրված են,</a:t>
            </a:r>
          </a:p>
          <a:p>
            <a:pPr algn="l">
              <a:lnSpc>
                <a:spcPct val="130000"/>
              </a:lnSpc>
              <a:buNone/>
            </a:pPr>
            <a:r>
              <a:rPr sz="15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իսկ բացասականները՝ ոչ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8CD4B5F-DBFD-4052-A279-C0A433E42619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20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Տվիչի տիրույթը ±2 g է, իսկ ձգողությանը գումարվող տատանումը հասնում է +4 g-ի։</a:t>
            </a:r>
          </a:p>
        </p:txBody>
      </p:sp>
    </p:spTree>
    <p:extLst>
      <p:ext uri="{BB962C8B-B14F-4D97-AF65-F5344CB8AC3E}">
        <p14:creationId xmlns:p14="http://schemas.microsoft.com/office/powerpoint/2010/main" val="1856609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D5504B-A1BE-43F7-B2A1-BA032ABCBA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463F9-D0C0-4798-802C-863498826E99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06916-4A14-40C7-9865-66D4F8B058F6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F6D6C-2D58-4381-B60D-DCFACA64FEF9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ՀԱՐՑՈՒՄ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6CEF4-5BCB-4C9D-BF5F-61EE9C7ACB63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Կտրված ազդանշանը մեկ վայրկյան միջինացվում է մեքենայի թեքությունը որոշելու համար։ Մեքենան իրականում հորիզոնական է, հետևաբար Z-ի իրական միջինը 1 g է։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Միջինացված ցուցմունքը կլինի՝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D8BC-D25C-40A7-A5F9-2D83FA9AD213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46C31-5E6C-4503-A499-3B04ABE692F1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965FB-F292-4BFB-834C-8145131AB1C6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g․ հագեցումը միայն աղմուկ է ավելացնում, իսկ միջինացումն այն հեռացնում է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CDD551-94A9-4B80-887D-C5A59ED60550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15C4A-2E0F-4CA7-A836-784625B927E7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A5160-EE85-438D-9FA6-40FEBF7D8747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g-ից մեծ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AFE8C76-F7D5-4482-A330-111DB905D235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79D3B-A4F7-46FE-A32B-8F86C67F6776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BF04A9-1D23-457F-8B33-405DF8569D7E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g-ից փոքր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6F03E4A-52F0-4B51-B5A2-1EB73C7B9034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9B382-AA3A-4302-85E0-2EBD9E58E191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26B7FB-5B40-47FE-A4FF-E6BF6911EB33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 g․ տվիչը հագենում և դադարում է տվյալ տալ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EEF3F-6CFB-46A5-ACE3-5904D7863FC8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Քվեարկեք, ապա կրկին դիտեք գրաֆիկը․ ալիքաձևի ո՞ր հատվածներն են հեռացվել։</a:t>
            </a:r>
          </a:p>
        </p:txBody>
      </p:sp>
    </p:spTree>
    <p:extLst>
      <p:ext uri="{BB962C8B-B14F-4D97-AF65-F5344CB8AC3E}">
        <p14:creationId xmlns:p14="http://schemas.microsoft.com/office/powerpoint/2010/main" val="2000222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722199-51B9-438F-A5E9-7E3E284DA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31493-ED45-4214-B2C1-82F27B9DB866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E6C4F-6F60-4F50-945D-43D4BA7034E7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CD8AC-7001-4C99-BEAD-A0B67800ED52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ՀԱՐՑՈՒՄ 3  ·  ՊԱՏԱՍԽԱՆ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0F868-0550-43D1-AE3C-6515FBB17CB0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Կտրված ազդանշանը մեկ վայրկյան միջինացվում է մեքենայի թեքությունը որոշելու համար։ Մեքենան իրականում հորիզոնական է, հետևաբար Z-ի իրական միջինը 1 g է։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Միջինացված ցուցմունքը կլինի՝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C645AF-8953-42C3-A37E-69E7AA1CC2FF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6F862-CFD8-40D0-B768-1E3AA1013FA9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3DADB-A376-4CF6-B5DC-32B175FECED9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g․ հագեցումը միայն աղմուկ է ավելացնում, իսկ միջինացումն այն հեռացնում է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34A6F5-7767-42CA-B7A2-3281D90B3F38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4E1E5C-43D7-499F-9F7F-E00C257214CF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76B99D-D3CF-4716-B621-CBCE44033DC3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g-ից մեծ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CD8FB7-E057-46C1-80ED-D4F406C6DB1C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24CB46-1B38-484B-BFBD-F317A7E8EC0E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A4840-7EE7-4562-83B3-03B6527B9AAD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1 g-ից փոքր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D6BB5E4-62DF-44C2-BEFF-667770E31C3C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F3ED5-38EF-49E5-A29B-1EBDFDDA0E7D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09DC2C-FF5C-4BA1-83B8-C30C2B6D5DCA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0 g․ տվիչը հագենում և դադարում է տվյալ տալ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FF84FE-2C32-400B-874A-38BF924807FF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0.49 g։ Կտրվել են միայն դրական գագաթները, ուստի միջինը նվազել է։ Այդ արժեքը համապատասխանում է arccos(0.49) = 60.6° թեքության, թեև մեքենան հորիզոնական է։ Հագեցումը աղմուկ չէ, այլ մեքենայի աշխատանքի պահին առաջացող շեղում։</a:t>
            </a:r>
          </a:p>
        </p:txBody>
      </p:sp>
    </p:spTree>
    <p:extLst>
      <p:ext uri="{BB962C8B-B14F-4D97-AF65-F5344CB8AC3E}">
        <p14:creationId xmlns:p14="http://schemas.microsoft.com/office/powerpoint/2010/main" val="415862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5C5D1-B368-44D6-BE97-DADA9DD6D7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5E2B-5035-4838-97DD-30C02467657D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D38CF-3911-4C3A-AE82-41147C904737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12163-687E-409B-837C-0B8AA8D1E9EE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Չափման տիրույթի ընտրությունը գագաթային արժեքից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5746D3-4ED3-4AD8-8177-EBAD9D212FE1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62ED27-58AE-4855-91F2-57C1B85FAFC6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Տիրույթը որոշվում է առավելագույն ազդեցությամբ, իսկ թողունակությունը՝ չափվող մեծությամբ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="658368" y="1920240"/>
          <a:ext cx="1087495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9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Տիրույթ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Պաշար ձգողությունից վեր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Քվանտացում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Դիմանո՞ւմ է 3 g գագաթին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±2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+1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C0392B"/>
                          </a:solidFill>
                          <a:latin typeface="Arial"/>
                          <a:ea typeface="Arial"/>
                          <a:cs typeface="Arial"/>
                        </a:rPr>
                        <a:t>ՈՉ՝ հագենում է</a:t>
                      </a:r>
                    </a:p>
                  </a:txBody>
                  <a:tcPr marT="27432" marB="27432" anchor="ctr">
                    <a:solidFill>
                      <a:srgbClr val="F7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±4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+3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0.035 mg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միայն սահմանին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±8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+7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0.070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այո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±16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+15 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0.141 mg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այո՝ հարվածային պաշարով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6548BA0-DE27-468F-A41B-89C36F9055EA}"/>
              </a:ext>
            </a:extLst>
          </p:cNvPr>
          <p:cNvSpPr>
            <a:spLocks noGrp="1"/>
          </p:cNvSpPr>
          <p:nvPr/>
        </p:nvSpPr>
        <p:spPr>
          <a:xfrm>
            <a:off x="658368" y="4389120"/>
            <a:ext cx="10874978" cy="476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աղմուկ = 60 µg/√Hz × √52 Hz = 0.43 mg բն.      0.72 mg՝ 100 µg/√Hz առավելագույն արժեքի դեպքում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04CDAA5-D32F-4981-9747-4BD6451E233D}"/>
              </a:ext>
            </a:extLst>
          </p:cNvPr>
          <p:cNvSpPr>
            <a:spLocks noGrp="1"/>
          </p:cNvSpPr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Տիրույթը պաշտպանում է առավելագույն ազդանշանից, իսկ թողունակությունը սահմանում է ընդունվող աղմուկը։ Դրանք անկախ կարգավորումներ են։</a:t>
            </a:r>
          </a:p>
        </p:txBody>
      </p:sp>
    </p:spTree>
    <p:extLst>
      <p:ext uri="{BB962C8B-B14F-4D97-AF65-F5344CB8AC3E}">
        <p14:creationId xmlns:p14="http://schemas.microsoft.com/office/powerpoint/2010/main" val="228158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7E082-469C-44D0-B0CD-3B85465D9F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CB458-FE76-446D-9FCB-73C3BA226678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AA6D7-44C3-4F3E-8694-A26B4480A74C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F150A-7DF2-40BF-9DC2-52FCAF27E3CD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ԲԱԺԻՆ 4  ·  ՄԻՋԵՐԵՍ ԵՎ ՉԱՓԱԲԵՐՈՒՄ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379A9-6DB8-49B2-A053-17233A617C03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Մուտքում մեկ բայթ,</a:t>
            </a:r>
          </a:p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ելքում՝ երկու պարամետր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B5C540-45A8-4CAB-B14B-6DE0DA5744E4}"/>
              </a:ext>
            </a:extLst>
          </p:cNvPr>
          <p:cNvSpPr>
            <a:spLocks noGrp="1"/>
          </p:cNvSpPr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73B28-4C86-44BE-B7C2-08B4E88E8DCC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Գրել գրանցամատյանը, ապա ձգողության անվճար հենակետով գտնել b-ն և S-ը։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ACC50-C104-4D68-9CAF-F3A1E70ACB7C}"/>
              </a:ext>
            </a:extLst>
          </p:cNvPr>
          <p:cNvSpPr>
            <a:spLocks noGrp="1"/>
          </p:cNvSpPr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4FF28-19B1-4564-9D2A-B5B6AB22A4B4}"/>
              </a:ext>
            </a:extLst>
          </p:cNvPr>
          <p:cNvSpPr>
            <a:spLocks noGrp="1"/>
          </p:cNvSpPr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2368C-9421-4A97-9D1C-67C628361706}"/>
              </a:ext>
            </a:extLst>
          </p:cNvPr>
          <p:cNvSpPr>
            <a:spLocks noGrp="1"/>
          </p:cNvSpPr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E5456-72E1-4F40-98BA-36D061FEEF1F}"/>
              </a:ext>
            </a:extLst>
          </p:cNvPr>
          <p:cNvSpPr>
            <a:spLocks noGrp="1"/>
          </p:cNvSpPr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BB0ADA-3AFE-4756-8FFD-3691E257226B}"/>
              </a:ext>
            </a:extLst>
          </p:cNvPr>
          <p:cNvSpPr>
            <a:spLocks noGrp="1"/>
          </p:cNvSpPr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03CEAA-B74C-41CE-84A6-57AD109D1D62}"/>
              </a:ext>
            </a:extLst>
          </p:cNvPr>
          <p:cNvSpPr>
            <a:spLocks noGrp="1"/>
          </p:cNvSpPr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1CFF71-F13C-4F25-BD69-F07C558D1D4D}"/>
              </a:ext>
            </a:extLst>
          </p:cNvPr>
          <p:cNvSpPr>
            <a:spLocks noGrp="1"/>
          </p:cNvSpPr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844563-69DE-4F0E-9617-03DD773154D2}"/>
              </a:ext>
            </a:extLst>
          </p:cNvPr>
          <p:cNvSpPr>
            <a:spLocks noGrp="1"/>
          </p:cNvSpPr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1A1F24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</p:spTree>
    <p:extLst>
      <p:ext uri="{BB962C8B-B14F-4D97-AF65-F5344CB8AC3E}">
        <p14:creationId xmlns:p14="http://schemas.microsoft.com/office/powerpoint/2010/main" val="378278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27465B-7692-45D2-89A7-280FED2FD3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54E30-658A-410B-B8E6-074A9AF97B13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C898F-EBB7-4B87-A962-17EFE4564B50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42F07-2068-4E62-8880-8290E3E6EFEC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Մինչև գրանցամատյանի արժեքը՝ CTRL1_XL (0x10)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2B0A68-DE0D-43BA-A252-E2C003529A96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ABD21-657A-40BD-9D82-22B97C7509F9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Երկու կիրառություն և երկու բայթ՝ կազմված առանձին բիթերից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A8362-F542-4620-B7EF-653C301FC5F1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ԹԵՔՈՒԹՅԱՆ ՏՎԻՉ  ·  104 Հց, ±2 g, LPF2 միացված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0716F-3FB6-40E9-82F3-D0CAC6C54FC2}"/>
              </a:ext>
            </a:extLst>
          </p:cNvPr>
          <p:cNvSpPr>
            <a:spLocks noGrp="1"/>
          </p:cNvSpPr>
          <p:nvPr/>
        </p:nvSpPr>
        <p:spPr>
          <a:xfrm>
            <a:off x="65836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3F268F-45FD-4772-AFE6-C0E12EA8DCDE}"/>
              </a:ext>
            </a:extLst>
          </p:cNvPr>
          <p:cNvSpPr>
            <a:spLocks noGrp="1"/>
          </p:cNvSpPr>
          <p:nvPr/>
        </p:nvSpPr>
        <p:spPr>
          <a:xfrm>
            <a:off x="65836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D6BBBE-3262-4813-BDD6-6FF9E3DD9C53}"/>
              </a:ext>
            </a:extLst>
          </p:cNvPr>
          <p:cNvSpPr>
            <a:spLocks noGrp="1"/>
          </p:cNvSpPr>
          <p:nvPr/>
        </p:nvSpPr>
        <p:spPr>
          <a:xfrm>
            <a:off x="184708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845D95-07D5-48C0-A4C5-82CDBBCBA413}"/>
              </a:ext>
            </a:extLst>
          </p:cNvPr>
          <p:cNvSpPr>
            <a:spLocks noGrp="1"/>
          </p:cNvSpPr>
          <p:nvPr/>
        </p:nvSpPr>
        <p:spPr>
          <a:xfrm>
            <a:off x="184708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7828E0-E839-4C6F-A32C-87B675B577D6}"/>
              </a:ext>
            </a:extLst>
          </p:cNvPr>
          <p:cNvSpPr>
            <a:spLocks noGrp="1"/>
          </p:cNvSpPr>
          <p:nvPr/>
        </p:nvSpPr>
        <p:spPr>
          <a:xfrm>
            <a:off x="303580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28186C-3B3A-41BC-B84E-4263653333C1}"/>
              </a:ext>
            </a:extLst>
          </p:cNvPr>
          <p:cNvSpPr>
            <a:spLocks noGrp="1"/>
          </p:cNvSpPr>
          <p:nvPr/>
        </p:nvSpPr>
        <p:spPr>
          <a:xfrm>
            <a:off x="303580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B5C7B5-9FAC-4C21-A036-8D4AF4C0406A}"/>
              </a:ext>
            </a:extLst>
          </p:cNvPr>
          <p:cNvSpPr>
            <a:spLocks noGrp="1"/>
          </p:cNvSpPr>
          <p:nvPr/>
        </p:nvSpPr>
        <p:spPr>
          <a:xfrm>
            <a:off x="422452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7AF1FC-C794-44DC-9331-5BD501E09355}"/>
              </a:ext>
            </a:extLst>
          </p:cNvPr>
          <p:cNvSpPr>
            <a:spLocks noGrp="1"/>
          </p:cNvSpPr>
          <p:nvPr/>
        </p:nvSpPr>
        <p:spPr>
          <a:xfrm>
            <a:off x="422452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EC6799-7C6C-4B22-AA57-C4E1A9272FD4}"/>
              </a:ext>
            </a:extLst>
          </p:cNvPr>
          <p:cNvSpPr>
            <a:spLocks noGrp="1"/>
          </p:cNvSpPr>
          <p:nvPr/>
        </p:nvSpPr>
        <p:spPr>
          <a:xfrm>
            <a:off x="541324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FS1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C70339-D169-4A4D-BBED-4E75025E7826}"/>
              </a:ext>
            </a:extLst>
          </p:cNvPr>
          <p:cNvSpPr>
            <a:spLocks noGrp="1"/>
          </p:cNvSpPr>
          <p:nvPr/>
        </p:nvSpPr>
        <p:spPr>
          <a:xfrm>
            <a:off x="541324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C088A7-C9E0-48FF-9DF6-6C85BF95A346}"/>
              </a:ext>
            </a:extLst>
          </p:cNvPr>
          <p:cNvSpPr>
            <a:spLocks noGrp="1"/>
          </p:cNvSpPr>
          <p:nvPr/>
        </p:nvSpPr>
        <p:spPr>
          <a:xfrm>
            <a:off x="660196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FS0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DEED8B-04F1-4995-8273-7ECD5928ACF4}"/>
              </a:ext>
            </a:extLst>
          </p:cNvPr>
          <p:cNvSpPr>
            <a:spLocks noGrp="1"/>
          </p:cNvSpPr>
          <p:nvPr/>
        </p:nvSpPr>
        <p:spPr>
          <a:xfrm>
            <a:off x="660196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FA7EB2-8BAE-43CA-9FB9-3AD394542ECC}"/>
              </a:ext>
            </a:extLst>
          </p:cNvPr>
          <p:cNvSpPr>
            <a:spLocks noGrp="1"/>
          </p:cNvSpPr>
          <p:nvPr/>
        </p:nvSpPr>
        <p:spPr>
          <a:xfrm>
            <a:off x="779068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LPF2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65DBD-C29B-47BC-8954-DDDFFF6D0FAE}"/>
              </a:ext>
            </a:extLst>
          </p:cNvPr>
          <p:cNvSpPr>
            <a:spLocks noGrp="1"/>
          </p:cNvSpPr>
          <p:nvPr/>
        </p:nvSpPr>
        <p:spPr>
          <a:xfrm>
            <a:off x="779068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A1B176-6F31-40D0-85BD-1B8B98F4F8DB}"/>
              </a:ext>
            </a:extLst>
          </p:cNvPr>
          <p:cNvSpPr>
            <a:spLocks noGrp="1"/>
          </p:cNvSpPr>
          <p:nvPr/>
        </p:nvSpPr>
        <p:spPr>
          <a:xfrm>
            <a:off x="8979408" y="2212848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4D8703-6A24-4DB3-9245-7101A0F541E0}"/>
              </a:ext>
            </a:extLst>
          </p:cNvPr>
          <p:cNvSpPr>
            <a:spLocks noGrp="1"/>
          </p:cNvSpPr>
          <p:nvPr/>
        </p:nvSpPr>
        <p:spPr>
          <a:xfrm>
            <a:off x="8979408" y="2578608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3027046-24B9-4252-8427-4C49C2F2D2F4}"/>
              </a:ext>
            </a:extLst>
          </p:cNvPr>
          <p:cNvSpPr>
            <a:spLocks noGrp="1"/>
          </p:cNvSpPr>
          <p:nvPr/>
        </p:nvSpPr>
        <p:spPr>
          <a:xfrm>
            <a:off x="10305288" y="2578608"/>
            <a:ext cx="1216152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0x42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8CC99F-3DB9-4EBE-90A6-8134451FF657}"/>
              </a:ext>
            </a:extLst>
          </p:cNvPr>
          <p:cNvSpPr>
            <a:spLocks noGrp="1"/>
          </p:cNvSpPr>
          <p:nvPr/>
        </p:nvSpPr>
        <p:spPr>
          <a:xfrm>
            <a:off x="658368" y="34015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ՄԵՔԵՆԱՅԻ ՏԱՏԱՆՈՒՄ  ·  1.66 կՀց, ±16 g, LPF2 անջատված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D4B2C0-BC82-41EB-B4C7-4F25B35C61A5}"/>
              </a:ext>
            </a:extLst>
          </p:cNvPr>
          <p:cNvSpPr>
            <a:spLocks noGrp="1"/>
          </p:cNvSpPr>
          <p:nvPr/>
        </p:nvSpPr>
        <p:spPr>
          <a:xfrm>
            <a:off x="65836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C43539-4A1E-4C58-95BC-686D97E31FD2}"/>
              </a:ext>
            </a:extLst>
          </p:cNvPr>
          <p:cNvSpPr>
            <a:spLocks noGrp="1"/>
          </p:cNvSpPr>
          <p:nvPr/>
        </p:nvSpPr>
        <p:spPr>
          <a:xfrm>
            <a:off x="65836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7DBDDEB-B637-4475-B1F0-FB84A8864CED}"/>
              </a:ext>
            </a:extLst>
          </p:cNvPr>
          <p:cNvSpPr>
            <a:spLocks noGrp="1"/>
          </p:cNvSpPr>
          <p:nvPr/>
        </p:nvSpPr>
        <p:spPr>
          <a:xfrm>
            <a:off x="184708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310462-D5F2-472D-B117-E652282D9694}"/>
              </a:ext>
            </a:extLst>
          </p:cNvPr>
          <p:cNvSpPr>
            <a:spLocks noGrp="1"/>
          </p:cNvSpPr>
          <p:nvPr/>
        </p:nvSpPr>
        <p:spPr>
          <a:xfrm>
            <a:off x="184708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349AC1-3E21-4F17-BEDA-941F5C865947}"/>
              </a:ext>
            </a:extLst>
          </p:cNvPr>
          <p:cNvSpPr>
            <a:spLocks noGrp="1"/>
          </p:cNvSpPr>
          <p:nvPr/>
        </p:nvSpPr>
        <p:spPr>
          <a:xfrm>
            <a:off x="303580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91485C-A45C-4356-857D-0D34EB29DFCA}"/>
              </a:ext>
            </a:extLst>
          </p:cNvPr>
          <p:cNvSpPr>
            <a:spLocks noGrp="1"/>
          </p:cNvSpPr>
          <p:nvPr/>
        </p:nvSpPr>
        <p:spPr>
          <a:xfrm>
            <a:off x="303580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1AB3F4-AADE-46B4-A4BF-9105F310D893}"/>
              </a:ext>
            </a:extLst>
          </p:cNvPr>
          <p:cNvSpPr>
            <a:spLocks noGrp="1"/>
          </p:cNvSpPr>
          <p:nvPr/>
        </p:nvSpPr>
        <p:spPr>
          <a:xfrm>
            <a:off x="422452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ODR0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D8F288-01E5-466C-A452-76213D00D4F4}"/>
              </a:ext>
            </a:extLst>
          </p:cNvPr>
          <p:cNvSpPr>
            <a:spLocks noGrp="1"/>
          </p:cNvSpPr>
          <p:nvPr/>
        </p:nvSpPr>
        <p:spPr>
          <a:xfrm>
            <a:off x="422452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CF60F6-79E5-4BCC-A95E-94B10470C284}"/>
              </a:ext>
            </a:extLst>
          </p:cNvPr>
          <p:cNvSpPr>
            <a:spLocks noGrp="1"/>
          </p:cNvSpPr>
          <p:nvPr/>
        </p:nvSpPr>
        <p:spPr>
          <a:xfrm>
            <a:off x="541324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FS1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E34A14A-2A91-4A28-8E3F-2F9DE4C46FCA}"/>
              </a:ext>
            </a:extLst>
          </p:cNvPr>
          <p:cNvSpPr>
            <a:spLocks noGrp="1"/>
          </p:cNvSpPr>
          <p:nvPr/>
        </p:nvSpPr>
        <p:spPr>
          <a:xfrm>
            <a:off x="541324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C0392B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30A57B-7AE1-4E17-BB33-26F05CF7AE06}"/>
              </a:ext>
            </a:extLst>
          </p:cNvPr>
          <p:cNvSpPr>
            <a:spLocks noGrp="1"/>
          </p:cNvSpPr>
          <p:nvPr/>
        </p:nvSpPr>
        <p:spPr>
          <a:xfrm>
            <a:off x="660196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FS0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954793-9729-4BF4-80A7-BD85ADE0B9C9}"/>
              </a:ext>
            </a:extLst>
          </p:cNvPr>
          <p:cNvSpPr>
            <a:spLocks noGrp="1"/>
          </p:cNvSpPr>
          <p:nvPr/>
        </p:nvSpPr>
        <p:spPr>
          <a:xfrm>
            <a:off x="660196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C0392B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AA64C2-C6C6-44DA-ABBC-BFEB544B89F4}"/>
              </a:ext>
            </a:extLst>
          </p:cNvPr>
          <p:cNvSpPr>
            <a:spLocks noGrp="1"/>
          </p:cNvSpPr>
          <p:nvPr/>
        </p:nvSpPr>
        <p:spPr>
          <a:xfrm>
            <a:off x="779068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LPF2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98BBD7-3458-4F48-9914-603E57E0A8B0}"/>
              </a:ext>
            </a:extLst>
          </p:cNvPr>
          <p:cNvSpPr>
            <a:spLocks noGrp="1"/>
          </p:cNvSpPr>
          <p:nvPr/>
        </p:nvSpPr>
        <p:spPr>
          <a:xfrm>
            <a:off x="779068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EA28FA-9D75-484A-9EB5-19C9433BE628}"/>
              </a:ext>
            </a:extLst>
          </p:cNvPr>
          <p:cNvSpPr>
            <a:spLocks noGrp="1"/>
          </p:cNvSpPr>
          <p:nvPr/>
        </p:nvSpPr>
        <p:spPr>
          <a:xfrm>
            <a:off x="8979408" y="3694176"/>
            <a:ext cx="1152144" cy="329184"/>
          </a:xfrm>
          <a:prstGeom prst="rect">
            <a:avLst/>
          </a:prstGeom>
          <a:solidFill>
            <a:srgbClr val="F7F5F1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050" b="1">
                <a:solidFill>
                  <a:srgbClr val="6B768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9B799CB-16EB-4C67-8D1F-443D1A6B7514}"/>
              </a:ext>
            </a:extLst>
          </p:cNvPr>
          <p:cNvSpPr>
            <a:spLocks noGrp="1"/>
          </p:cNvSpPr>
          <p:nvPr/>
        </p:nvSpPr>
        <p:spPr>
          <a:xfrm>
            <a:off x="8979408" y="4059936"/>
            <a:ext cx="1152144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400" b="1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4E26DA8-795F-4A19-B477-62B2A8C1CB88}"/>
              </a:ext>
            </a:extLst>
          </p:cNvPr>
          <p:cNvSpPr>
            <a:spLocks noGrp="1"/>
          </p:cNvSpPr>
          <p:nvPr/>
        </p:nvSpPr>
        <p:spPr>
          <a:xfrm>
            <a:off x="10305288" y="4059936"/>
            <a:ext cx="1216152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22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0x84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0D99661-3699-4BD7-8FEB-236C492FCBF2}"/>
              </a:ext>
            </a:extLst>
          </p:cNvPr>
          <p:cNvSpPr>
            <a:spLocks noGrp="1"/>
          </p:cNvSpPr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FS = 01 նշանակում է ±16 g և կոդերի աճման կարգով չէ։ 0-րդ բիթը պետք է գրել 0։ Երկու պահանջներն էլ սահմանվում են միայն տվյալների թերթիկով։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A440D1-81CD-40FB-8B58-60C82C45FB71}"/>
              </a:ext>
            </a:extLst>
          </p:cNvPr>
          <p:cNvSpPr>
            <a:spLocks noGrp="1"/>
          </p:cNvSpPr>
          <p:nvPr/>
        </p:nvSpPr>
        <p:spPr>
          <a:xfrm>
            <a:off x="658368" y="5925312"/>
            <a:ext cx="10874978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0x42-ը 2-րդ լաբորատոր աշխատանքի բայթն է, որն արդեն գրանցել եք սարքում։</a:t>
            </a:r>
          </a:p>
        </p:txBody>
      </p:sp>
    </p:spTree>
    <p:extLst>
      <p:ext uri="{BB962C8B-B14F-4D97-AF65-F5344CB8AC3E}">
        <p14:creationId xmlns:p14="http://schemas.microsoft.com/office/powerpoint/2010/main" val="3979471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03B58E-3CBC-4CE0-926D-E389FBC10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67606-2B29-4EC9-AD3F-A0DDAB3CCC77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8ABB5-D0F2-4930-85C1-25517215A0DC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0A798-E7D2-4F1C-B3BF-F4915A2CB040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Չափաբերում ձգողությամբ՝ անվճար հենակետ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9B65CA-E260-43ED-B612-4DC132AC7F85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38430-890B-4199-95A7-E4E321F37F87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Առանցքն ուղղեք վեր, ապա ներքև․ երկու դիրքում էլ ձգողությունը ճշգրիտ ±1 g հենակետ է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A7D31-C9F4-43F1-A2B7-2908E36DF254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108749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b  =  (up + down) / 2</a:t>
            </a:r>
            <a:r>
              <a:rPr sz="24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24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S  =  (up − down) / 2</a:t>
            </a:r>
          </a:p>
        </p:txBody>
      </p:sp>
      <p:graphicFrame>
        <p:nvGraphicFramePr>
          <p:cNvPr id="22" name="Table 8"/>
          <p:cNvGraphicFramePr/>
          <p:nvPr/>
        </p:nvGraphicFramePr>
        <p:xfrm>
          <a:off x="658368" y="2697480"/>
          <a:ext cx="6949439" cy="228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1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Z առանցք՝ երկու դիրք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Ցուցմունք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Z դեպի վեր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+1015.0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= +S + 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Z դեպի ներքև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−991.0 mg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= −S + b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զրոյական շեղում 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+12.0 mg</a:t>
                      </a:r>
                    </a:p>
                  </a:txBody>
                  <a:tcPr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թույլատրելի է ±65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մասշտաբ S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1003.0 mg/g</a:t>
                      </a:r>
                    </a:p>
                  </a:txBody>
                  <a:tcPr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+0.30 %, թույլատրելի է ±2 %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AE71019-7B36-425C-B0A2-FC6746A993EA}"/>
              </a:ext>
            </a:extLst>
          </p:cNvPr>
          <p:cNvSpPr>
            <a:spLocks noGrp="1"/>
          </p:cNvSpPr>
          <p:nvPr/>
        </p:nvSpPr>
        <p:spPr>
          <a:xfrm>
            <a:off x="8001000" y="26974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ՎԵՑ ԴԻՐՔ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35C46-F727-4535-8894-B1D78E4C3E48}"/>
              </a:ext>
            </a:extLst>
          </p:cNvPr>
          <p:cNvSpPr>
            <a:spLocks noGrp="1"/>
          </p:cNvSpPr>
          <p:nvPr/>
        </p:nvSpPr>
        <p:spPr>
          <a:xfrm>
            <a:off x="8001000" y="2971800"/>
            <a:ext cx="3566160" cy="1000125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8982"/>
          </a:bodyPr>
          <a:lstStyle/>
          <a:p>
            <a:pPr algn="l">
              <a:lnSpc>
                <a:spcPct val="130000"/>
              </a:lnSpc>
              <a:buNone/>
            </a:pPr>
            <a:r>
              <a:rPr sz="1275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Հարթ մակերևույթի նկատմամբ ±X, ±Y և ±Z դիրքերը տալիս են բոլոր երեք առանցքների b-ն և S-ը՝ առանց հատուկ հենակետային սարքի։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1F9EFC-35D8-468A-9134-91D14442144E}"/>
              </a:ext>
            </a:extLst>
          </p:cNvPr>
          <p:cNvSpPr>
            <a:spLocks noGrp="1"/>
          </p:cNvSpPr>
          <p:nvPr/>
        </p:nvSpPr>
        <p:spPr>
          <a:xfrm>
            <a:off x="8001000" y="405765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125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Երևանում g ≈ 9.799 մ/վ² է՝ ստանդարտից 0.08 % պակաս։ Տարբերությունը փոքր է ±2 %-ից, սակայն «1 g»-ն տեղանքից կախված է։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06D82BB-1C58-4F89-A76B-E2B3E18BA081}"/>
              </a:ext>
            </a:extLst>
          </p:cNvPr>
          <p:cNvSpPr>
            <a:spLocks noGrp="1"/>
          </p:cNvSpPr>
          <p:nvPr/>
        </p:nvSpPr>
        <p:spPr>
          <a:xfrm>
            <a:off x="658368" y="51206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92346"/>
          </a:bodyPr>
          <a:lstStyle/>
          <a:p>
            <a:pPr algn="ctr">
              <a:buNone/>
            </a:pPr>
            <a:r>
              <a:rPr sz="20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Յուրաքանչյուր առանցքի երկու ցուցմունքը հեռացնում է 12 mg սխալը, որը մեծ է ամբողջ թեքության ազդանշանից։ Սա 3-րդ լաբորատոր աշխատանքի առաջին փուլն է։</a:t>
            </a:r>
          </a:p>
        </p:txBody>
      </p:sp>
    </p:spTree>
    <p:extLst>
      <p:ext uri="{BB962C8B-B14F-4D97-AF65-F5344CB8AC3E}">
        <p14:creationId xmlns:p14="http://schemas.microsoft.com/office/powerpoint/2010/main" val="1814665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375717-4FF2-4D8B-89F1-7792225E19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07BEA-3F51-4E1B-AFB7-23D0CFD9335B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F3589A-ED29-4450-B6B6-F2D4DED2D2F7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6449A-E873-4B2D-83D3-E9DE41F67512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ՀԱՐՑՈՒՄ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698E6-3A99-48A3-9A79-73FD490D6B76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Արագաչափը աշխատասեղանի վրա չափաբերում եք վեց դիրքով՝ որոշելով յուրաքանչյուր առանցքի b-ն և S-ը։ Այնուհետև տպասալը պտուտակով ամրացնում եք նախագծի պատյանում։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Սխալի մոդելի ո՞ր անդամն է ամենայն հավանականությամբ փոխվել։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A723F9-79F9-4EF2-8B94-266658F7442B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F0A95-BE58-42C0-984F-F3B79F97572C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80F6B-D81B-4E9E-A642-72182A386220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ոչ մեկը․ չափաբերման տվյալները պահպանված են ծրագրում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BE6683A-03E4-487C-8C57-D914188CC7A8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989C5-7233-4C20-A74A-98CE6F72DBF7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EAC856-B9EE-42ED-9FDF-9C83782E5B0E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զրոյական շեղումը 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BDC0330-E553-4657-9365-EAAE565C78DF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E10F9A-C9F5-4592-B2FA-6123A99C118D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9EDA6-48AA-42D5-9447-FC736E373F62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աղմուկը 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4B5191-6BA4-4921-AA7E-04D51C370ADB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28DD95-E9D5-4680-862F-3368A3C6585A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30E491-85A0-4BB9-A567-ADFA9898949F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մասշտաբային գործակիցը s՝ երկու անգամ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74A59D-6BB2-402F-935F-2A95DE83DC89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Փոխանցման հարց․ 4-րդ դասախոսության մեխանիկական լարումների շղթան՝ կիրառված այսօրվա հավասարման նկատմամբ։</a:t>
            </a:r>
          </a:p>
        </p:txBody>
      </p:sp>
    </p:spTree>
    <p:extLst>
      <p:ext uri="{BB962C8B-B14F-4D97-AF65-F5344CB8AC3E}">
        <p14:creationId xmlns:p14="http://schemas.microsoft.com/office/powerpoint/2010/main" val="1834376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A07E00-241F-4110-AD46-2B135920E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F3D68-58B4-4FA2-9259-C1D7941D0D27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AA35B-98F4-45B7-A65F-965DCD6F6014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83A58-F2A9-4090-A4C8-4A29383C0701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ՀԱՐՑՈՒՄ 4  ·  ՊԱՏԱՍԽԱՆ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135C7-ABBD-4DBF-A7B2-179A0FCFD1AD}"/>
              </a:ext>
            </a:extLst>
          </p:cNvPr>
          <p:cNvSpPr>
            <a:spLocks noGrp="1"/>
          </p:cNvSpPr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Արագաչափը աշխատասեղանի վրա չափաբերում եք վեց դիրքով՝ որոշելով յուրաքանչյուր առանցքի b-ն և S-ը։ Այնուհետև տպասալը պտուտակով ամրացնում եք նախագծի պատյանում։</a:t>
            </a:r>
          </a:p>
          <a:p>
            <a:pPr algn="l">
              <a:lnSpc>
                <a:spcPct val="120000"/>
              </a:lnSpc>
              <a:buNone/>
            </a:pPr>
            <a:r>
              <a:rPr sz="205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Սխալի մոդելի ո՞ր անդամն է ամենայն հավանականությամբ փոխվել։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3DE792-3702-4D72-82DE-73B83D132E47}"/>
              </a:ext>
            </a:extLst>
          </p:cNvPr>
          <p:cNvSpPr>
            <a:spLocks noGrp="1"/>
          </p:cNvSpPr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E9047-812C-47BD-8214-C88C5AD5FDE6}"/>
              </a:ext>
            </a:extLst>
          </p:cNvPr>
          <p:cNvSpPr>
            <a:spLocks noGrp="1"/>
          </p:cNvSpPr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92539-906E-4E01-89C6-009C786E8993}"/>
              </a:ext>
            </a:extLst>
          </p:cNvPr>
          <p:cNvSpPr>
            <a:spLocks noGrp="1"/>
          </p:cNvSpPr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ոչ մեկը․ չափաբերման տվյալները պահպանված են ծրագրում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8D0708-1B93-403F-BD7A-3937A5D5B68E}"/>
              </a:ext>
            </a:extLst>
          </p:cNvPr>
          <p:cNvSpPr>
            <a:spLocks noGrp="1"/>
          </p:cNvSpPr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F861D-F243-4BEC-AF96-19ABD75CC1F0}"/>
              </a:ext>
            </a:extLst>
          </p:cNvPr>
          <p:cNvSpPr>
            <a:spLocks noGrp="1"/>
          </p:cNvSpPr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FA4F0-F66C-4AF2-95E1-2838162A8ED7}"/>
              </a:ext>
            </a:extLst>
          </p:cNvPr>
          <p:cNvSpPr>
            <a:spLocks noGrp="1"/>
          </p:cNvSpPr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զրոյական շեղումը b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CDC4155-BE08-4449-9AC8-51A0ECDB6774}"/>
              </a:ext>
            </a:extLst>
          </p:cNvPr>
          <p:cNvSpPr>
            <a:spLocks noGrp="1"/>
          </p:cNvSpPr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C0732A-BED1-43F2-938A-42969038CF77}"/>
              </a:ext>
            </a:extLst>
          </p:cNvPr>
          <p:cNvSpPr>
            <a:spLocks noGrp="1"/>
          </p:cNvSpPr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DB25E0-2BE7-4CCF-ADD9-74ACBD99D1F7}"/>
              </a:ext>
            </a:extLst>
          </p:cNvPr>
          <p:cNvSpPr>
            <a:spLocks noGrp="1"/>
          </p:cNvSpPr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աղմուկը 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5B0DC2C-5C93-41FD-B860-8A1A877B98EA}"/>
              </a:ext>
            </a:extLst>
          </p:cNvPr>
          <p:cNvSpPr>
            <a:spLocks noGrp="1"/>
          </p:cNvSpPr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47575-694F-469E-92B3-CA3C40F40E6E}"/>
              </a:ext>
            </a:extLst>
          </p:cNvPr>
          <p:cNvSpPr>
            <a:spLocks noGrp="1"/>
          </p:cNvSpPr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AEF43A-05E8-48AA-AE0E-575A23803B71}"/>
              </a:ext>
            </a:extLst>
          </p:cNvPr>
          <p:cNvSpPr>
            <a:spLocks noGrp="1"/>
          </p:cNvSpPr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մասշտաբային գործակիցը s՝ երկու անգամ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8D8F6-0D33-4524-9BC5-82F94188DB3F}"/>
              </a:ext>
            </a:extLst>
          </p:cNvPr>
          <p:cNvSpPr>
            <a:spLocks noGrp="1"/>
          </p:cNvSpPr>
          <p:nvPr/>
        </p:nvSpPr>
        <p:spPr>
          <a:xfrm>
            <a:off x="658368" y="5541264"/>
            <a:ext cx="10874959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Arial"/>
                <a:ea typeface="Arial"/>
                <a:cs typeface="Arial"/>
              </a:rPr>
              <a:t>Փոխվել է զրոյական շեղումը։ Պտուտակի ձգումը ծռում է տպասալն ու պատյանը, իսկ լարումը փոխում է զրոյական արագացման մակարդակը։ Չափաբերումը պետք է կատարել վերջնական հավաքումից ՀԵՏՈ և կրկնել պտուտակների միջամտությունից հետո։</a:t>
            </a:r>
          </a:p>
        </p:txBody>
      </p:sp>
    </p:spTree>
    <p:extLst>
      <p:ext uri="{BB962C8B-B14F-4D97-AF65-F5344CB8AC3E}">
        <p14:creationId xmlns:p14="http://schemas.microsoft.com/office/powerpoint/2010/main" val="961113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E7353D-E843-47D3-B9B1-BA9A02967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EA4BD-9E5D-4745-BB2C-4804468F4C2B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14774-083A-4E40-9ECA-DE601056E9FC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D5A59-D2A8-4D22-9E0F-0116A22865A3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Տեղադրման կողմնորոշումը և առանցքների ուղղությունները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656580-A439-4456-ABFB-E901073CFA41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CE82A-442D-4B30-B9C9-4EE4A0C707E4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518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35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Տվյալների թերթիկը ցույց է տալիս պատյանի առանցքները, իսկ դրանց համակարգային ուղղությունը որոշում է տեղադրումը։</a:t>
            </a:r>
          </a:p>
        </p:txBody>
      </p:sp>
      <p:graphicFrame>
        <p:nvGraphicFramePr>
          <p:cNvPr id="25" name="Table 7"/>
          <p:cNvGraphicFramePr/>
          <p:nvPr/>
        </p:nvGraphicFramePr>
        <p:xfrm>
          <a:off x="658368" y="1920240"/>
          <a:ext cx="6675120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Տպասալը շեղված է իրական ուղղությունից 1°-ով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ձգողության արտահոսքը X առանցք՝ sin(1°) × 1 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17.5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արտահայտված որպես միջառանցքային սխալ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C0392B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1.75 %</a:t>
                      </a:r>
                    </a:p>
                  </a:txBody>
                  <a:tcPr marT="27432" marB="27432" anchor="ctr">
                    <a:solidFill>
                      <a:srgbClr val="F7DF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տվյալների թերթիկի միջառանցքային զգայունություն՝ պատյանի մակարդակում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±0.5 %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5F761B6-183F-4A5B-80B1-3FB480C32E8C}"/>
              </a:ext>
            </a:extLst>
          </p:cNvPr>
          <p:cNvSpPr>
            <a:spLocks noGrp="1"/>
          </p:cNvSpPr>
          <p:nvPr/>
        </p:nvSpPr>
        <p:spPr>
          <a:xfrm>
            <a:off x="7726679" y="19202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ԵՐԵՔ ՍՏՈՒԳՈՒՄ՝ ՄԻՆՉԵՎ ԾՐԱԳՐԱՎՈՐՈՒՄԸ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FCF9D0-C94A-4AAB-A475-9FAF706686D6}"/>
              </a:ext>
            </a:extLst>
          </p:cNvPr>
          <p:cNvSpPr>
            <a:spLocks noGrp="1"/>
          </p:cNvSpPr>
          <p:nvPr/>
        </p:nvSpPr>
        <p:spPr>
          <a:xfrm>
            <a:off x="7726679" y="2240280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6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D7363D-0AFA-4ADE-B4AA-0B2961BC64C1}"/>
              </a:ext>
            </a:extLst>
          </p:cNvPr>
          <p:cNvSpPr>
            <a:spLocks noGrp="1"/>
          </p:cNvSpPr>
          <p:nvPr/>
        </p:nvSpPr>
        <p:spPr>
          <a:xfrm>
            <a:off x="8275320" y="2258568"/>
            <a:ext cx="3291840" cy="7955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Գտնել 1-ին արտանցիչը և առանցքների գծագիրը։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735D474-7CED-4B21-9100-38A1145A7340}"/>
              </a:ext>
            </a:extLst>
          </p:cNvPr>
          <p:cNvSpPr>
            <a:spLocks noGrp="1"/>
          </p:cNvSpPr>
          <p:nvPr/>
        </p:nvSpPr>
        <p:spPr>
          <a:xfrm>
            <a:off x="7726679" y="2898648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6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D8945-F1D3-4FA7-BE78-67E0B3527F82}"/>
              </a:ext>
            </a:extLst>
          </p:cNvPr>
          <p:cNvSpPr>
            <a:spLocks noGrp="1"/>
          </p:cNvSpPr>
          <p:nvPr/>
        </p:nvSpPr>
        <p:spPr>
          <a:xfrm>
            <a:off x="8275320" y="2916936"/>
            <a:ext cx="3291840" cy="7955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Կանխատեսել նշանները, ապա թեքելով տպասալը՝ հաստատել։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DDF7FB4-87DE-4DBF-A435-80C4375A0459}"/>
              </a:ext>
            </a:extLst>
          </p:cNvPr>
          <p:cNvSpPr>
            <a:spLocks noGrp="1"/>
          </p:cNvSpPr>
          <p:nvPr/>
        </p:nvSpPr>
        <p:spPr>
          <a:xfrm>
            <a:off x="7726679" y="3557016"/>
            <a:ext cx="420624" cy="42062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/>
          <a:lstStyle/>
          <a:p>
            <a:pPr algn="ctr">
              <a:buNone/>
            </a:pPr>
            <a:r>
              <a:rPr sz="16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12FE3-4D1C-40B3-9E6C-436E52EBBF52}"/>
              </a:ext>
            </a:extLst>
          </p:cNvPr>
          <p:cNvSpPr>
            <a:spLocks noGrp="1"/>
          </p:cNvSpPr>
          <p:nvPr/>
        </p:nvSpPr>
        <p:spPr>
          <a:xfrm>
            <a:off x="8275320" y="3575304"/>
            <a:ext cx="3291840" cy="7955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Գրանցել տվիչից մարմնի համակարգ անցման պտույտը։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8980B3-D4AF-49CB-A1E2-62BED9BE327D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 fontScale="85423"/>
          </a:bodyPr>
          <a:lstStyle/>
          <a:p>
            <a:pPr algn="ctr">
              <a:buNone/>
            </a:pPr>
            <a:r>
              <a:rPr sz="19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Տեղադրման 1° սխալը տվյալների թերթիկի միջառանցքային ամբողջ սահմանաչափից 3.5 անգամ մեծ է։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B737FB3-6B41-40BD-8859-2E961BB504C8}"/>
              </a:ext>
            </a:extLst>
          </p:cNvPr>
          <p:cNvSpPr>
            <a:spLocks noGrp="1"/>
          </p:cNvSpPr>
          <p:nvPr/>
        </p:nvSpPr>
        <p:spPr>
          <a:xfrm>
            <a:off x="658368" y="521208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Ապակողմնորոշումը տվյալների թերթիկում չկա, քանի որ այն տվիչի հատկություն չէ։ Այն առաջանում է գծագրից, ամրակից և հավաքումից։</a:t>
            </a:r>
          </a:p>
        </p:txBody>
      </p:sp>
    </p:spTree>
    <p:extLst>
      <p:ext uri="{BB962C8B-B14F-4D97-AF65-F5344CB8AC3E}">
        <p14:creationId xmlns:p14="http://schemas.microsoft.com/office/powerpoint/2010/main" val="363962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AF4EC8-2C70-4224-B0A7-E71BC58AA1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198DC-4B51-454C-B125-5DB3A436FD55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C64FF-5D89-4847-9CFF-1D1EC1FBC3F2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B3A6B-CA99-47FB-96E6-7F4F7BA1E671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ԲԱԺԻՆ 5  ·  ԽԱՓԱՆՄԱՆ ՁԵՎԵՐ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10F4A-4A69-48B8-9552-2759D8081DD1}"/>
              </a:ext>
            </a:extLst>
          </p:cNvPr>
          <p:cNvSpPr>
            <a:spLocks noGrp="1"/>
          </p:cNvSpPr>
          <p:nvPr/>
        </p:nvSpPr>
        <p:spPr>
          <a:xfrm>
            <a:off x="658368" y="1737360"/>
            <a:ext cx="9046159" cy="23134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Արագաչափերի համակարգային</a:t>
            </a:r>
          </a:p>
          <a:p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խափանումները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C51B9-18CD-4C8B-96DC-02941036AD47}"/>
              </a:ext>
            </a:extLst>
          </p:cNvPr>
          <p:cNvSpPr>
            <a:spLocks noGrp="1"/>
          </p:cNvSpPr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BB622-FCD9-4E39-A8AE-FA3F4F324E9B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Պատճառը հազվադեպ է սիլիցիումային բյուրեղը։ Ավելի հաճախ սխալ են ընտրված տիրույթը, կոորդինատային համակարգը կամ ամրացումը։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13A60E-5754-4BC9-8713-78007F68F74A}"/>
              </a:ext>
            </a:extLst>
          </p:cNvPr>
          <p:cNvSpPr>
            <a:spLocks noGrp="1"/>
          </p:cNvSpPr>
          <p:nvPr/>
        </p:nvSpPr>
        <p:spPr>
          <a:xfrm>
            <a:off x="658368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ՉԱՓՎՈՂ ՄԵԾՈՒԹՅՈՒՆ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2FA47-5C21-4BC1-8863-FC17A78234EE}"/>
              </a:ext>
            </a:extLst>
          </p:cNvPr>
          <p:cNvSpPr>
            <a:spLocks noGrp="1"/>
          </p:cNvSpPr>
          <p:nvPr/>
        </p:nvSpPr>
        <p:spPr>
          <a:xfrm>
            <a:off x="2029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ՓՈԽԱԿԵՐՊՈՒՄ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62FB1D-C338-43EF-9033-A9FE99562B68}"/>
              </a:ext>
            </a:extLst>
          </p:cNvPr>
          <p:cNvSpPr>
            <a:spLocks noGrp="1"/>
          </p:cNvSpPr>
          <p:nvPr/>
        </p:nvSpPr>
        <p:spPr>
          <a:xfrm>
            <a:off x="33999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ԿԱՌՈՒՑՎԱԾՔ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CDA22F-91B2-4A46-BA2F-E81535DCCE58}"/>
              </a:ext>
            </a:extLst>
          </p:cNvPr>
          <p:cNvSpPr>
            <a:spLocks noGrp="1"/>
          </p:cNvSpPr>
          <p:nvPr/>
        </p:nvSpPr>
        <p:spPr>
          <a:xfrm>
            <a:off x="47707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ԵԼՔ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24F298-7838-4BB6-854F-B4F5C952DF1E}"/>
              </a:ext>
            </a:extLst>
          </p:cNvPr>
          <p:cNvSpPr>
            <a:spLocks noGrp="1"/>
          </p:cNvSpPr>
          <p:nvPr/>
        </p:nvSpPr>
        <p:spPr>
          <a:xfrm>
            <a:off x="61415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ԲՆՈՒԹԱԳՐԵՐ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3C0A5-2F37-40EB-B71A-BB649D72E429}"/>
              </a:ext>
            </a:extLst>
          </p:cNvPr>
          <p:cNvSpPr>
            <a:spLocks noGrp="1"/>
          </p:cNvSpPr>
          <p:nvPr/>
        </p:nvSpPr>
        <p:spPr>
          <a:xfrm>
            <a:off x="75123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ՄԻՋԵՐԵՍ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DC704-A038-47B6-A7F8-B410EC142529}"/>
              </a:ext>
            </a:extLst>
          </p:cNvPr>
          <p:cNvSpPr>
            <a:spLocks noGrp="1"/>
          </p:cNvSpPr>
          <p:nvPr/>
        </p:nvSpPr>
        <p:spPr>
          <a:xfrm>
            <a:off x="8883167" y="5532120"/>
            <a:ext cx="1279359" cy="384048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ՉԱՓԱԲԵՐՈՒՄ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BCD80D-8309-45B3-9040-FFBE9F75DC4F}"/>
              </a:ext>
            </a:extLst>
          </p:cNvPr>
          <p:cNvSpPr>
            <a:spLocks noGrp="1"/>
          </p:cNvSpPr>
          <p:nvPr/>
        </p:nvSpPr>
        <p:spPr>
          <a:xfrm>
            <a:off x="10253967" y="5532120"/>
            <a:ext cx="1279359" cy="384048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05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ԽԱՓԱՆՄԱՆ ՁԵՎԵՐ</a:t>
            </a:r>
          </a:p>
        </p:txBody>
      </p:sp>
    </p:spTree>
    <p:extLst>
      <p:ext uri="{BB962C8B-B14F-4D97-AF65-F5344CB8AC3E}">
        <p14:creationId xmlns:p14="http://schemas.microsoft.com/office/powerpoint/2010/main" val="1507065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5FA736-F964-4D5D-B794-174278B07B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80F89-50D8-4678-950D-1720A836BB8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FBD15-E9A8-423F-B94C-56CE60FD8FDA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FB4E7-460F-4317-A193-6BA9993C2A5A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1036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Համակարգային խափանում․ «թեքվող» ջարդիչը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12AEA-CCC5-4808-AD08-932B79BFD337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DA1B1-C1A0-4230-B5E1-D4DA2C9048A7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Դաշտային խնդիրների տարածված դասի օրինակ՝ 3-րդ հարցման թվերով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80178F-572E-4251-BEBE-F5DC357C03BD}"/>
              </a:ext>
            </a:extLst>
          </p:cNvPr>
          <p:cNvSpPr>
            <a:spLocks noGrp="1"/>
          </p:cNvSpPr>
          <p:nvPr/>
        </p:nvSpPr>
        <p:spPr>
          <a:xfrm>
            <a:off x="658368" y="1920240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4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ԻՆՉ ԷՐ ԿԱՏԱՐՎՈՒՄ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8ECAF-8EF9-47BD-BB60-A46C23FCC36E}"/>
              </a:ext>
            </a:extLst>
          </p:cNvPr>
          <p:cNvSpPr>
            <a:spLocks noGrp="1"/>
          </p:cNvSpPr>
          <p:nvPr/>
        </p:nvSpPr>
        <p:spPr>
          <a:xfrm>
            <a:off x="3264408" y="1993392"/>
            <a:ext cx="8268919" cy="942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Շարժիչը գործարկելիս ջարդիչի շրջանակի թեքության տվիչը ցույց էր տալիս ≈60°, կանգից հետո՝ նորմալ արժեք։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883073-CDA3-4C3A-9EFC-07B174192493}"/>
              </a:ext>
            </a:extLst>
          </p:cNvPr>
          <p:cNvSpPr>
            <a:spLocks noGrp="1"/>
          </p:cNvSpPr>
          <p:nvPr/>
        </p:nvSpPr>
        <p:spPr>
          <a:xfrm>
            <a:off x="658368" y="2724912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6B7680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4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ԻՆՉՆ ԷԻՆ ԿԱՍԿԱԾՈՒՄ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A5763-7BF8-4DBB-A082-355116FEF48C}"/>
              </a:ext>
            </a:extLst>
          </p:cNvPr>
          <p:cNvSpPr>
            <a:spLocks noGrp="1"/>
          </p:cNvSpPr>
          <p:nvPr/>
        </p:nvSpPr>
        <p:spPr>
          <a:xfrm>
            <a:off x="3264408" y="2798064"/>
            <a:ext cx="8268919" cy="942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Տվիչը երկու անգամ փոխարինեցին, ապա երկարացրին միջինացման պատուհանը։ Արդյունք չեղավ։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8DBF31-A9D2-4FB5-A3B0-103696573C3A}"/>
              </a:ext>
            </a:extLst>
          </p:cNvPr>
          <p:cNvSpPr>
            <a:spLocks noGrp="1"/>
          </p:cNvSpPr>
          <p:nvPr/>
        </p:nvSpPr>
        <p:spPr>
          <a:xfrm>
            <a:off x="658368" y="3529584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4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ՊԱՏՃԱՌԸ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79C171-F470-41D7-B7FD-F30FD6C0F62C}"/>
              </a:ext>
            </a:extLst>
          </p:cNvPr>
          <p:cNvSpPr>
            <a:spLocks noGrp="1"/>
          </p:cNvSpPr>
          <p:nvPr/>
        </p:nvSpPr>
        <p:spPr>
          <a:xfrm>
            <a:off x="3264408" y="3602736"/>
            <a:ext cx="8268919" cy="9429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Տիրույթը մնացել էր ±2 g։ Մոտ 3 g գագաթային տատանումը կտրում էր դրական գագաթները, և միջինը նվազում էր 0.49 g-ի։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7E531B-D84F-4966-9834-7AA96D2263D1}"/>
              </a:ext>
            </a:extLst>
          </p:cNvPr>
          <p:cNvSpPr>
            <a:spLocks noGrp="1"/>
          </p:cNvSpPr>
          <p:nvPr/>
        </p:nvSpPr>
        <p:spPr>
          <a:xfrm>
            <a:off x="658368" y="4334256"/>
            <a:ext cx="2377440" cy="676656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4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ԼՈՒԾՈՒՄԸ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0F3F25-8674-4815-BAFB-CB7B94148236}"/>
              </a:ext>
            </a:extLst>
          </p:cNvPr>
          <p:cNvSpPr>
            <a:spLocks noGrp="1"/>
          </p:cNvSpPr>
          <p:nvPr/>
        </p:nvSpPr>
        <p:spPr>
          <a:xfrm>
            <a:off x="3264408" y="4407408"/>
            <a:ext cx="8268919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135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FS_XL = 01՝ ±16 g։ Քվանտացումը՝ 0.14 mg, օգտակար ազդանշանից ≈60 անգամ փոքր։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06FF167-62CE-4E72-918E-E68619176B15}"/>
              </a:ext>
            </a:extLst>
          </p:cNvPr>
          <p:cNvSpPr>
            <a:spLocks noGrp="1"/>
          </p:cNvSpPr>
          <p:nvPr/>
        </p:nvSpPr>
        <p:spPr>
          <a:xfrm>
            <a:off x="658368" y="525780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5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Երկար միջինացումը չի ուղղում շեղված նմուշները։ Նախ դիտեք ՉՄՇԱԿՎԱԾ կոդերը․ կրկնվող 32 767 արժեքը հագեցման ակնհայտ նշան է։</a:t>
            </a:r>
          </a:p>
        </p:txBody>
      </p:sp>
    </p:spTree>
    <p:extLst>
      <p:ext uri="{BB962C8B-B14F-4D97-AF65-F5344CB8AC3E}">
        <p14:creationId xmlns:p14="http://schemas.microsoft.com/office/powerpoint/2010/main" val="842631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87587C-C887-44FC-B245-DAF0E93177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733E73-7F63-429A-8801-EC8F207DA92A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DFB72-578E-479B-BEAB-810450E11AB9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85FA3-6E5C-4D1E-91F4-174E3EE34C4B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Համակարգային սխալներն ըստ ախտանշանի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2BD05-8E7D-47CB-A31F-4FFB6017285B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74F31-A317-4EB6-BAEC-21FC1936C83B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Յուրաքանչյուր տող վերլուծության շղթայի մեկ սխալ կիրառված քայլ է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="658368" y="1920240"/>
          <a:ext cx="10874956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Ախտանշան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Պատճառ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Քայլ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Լուծում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|a|-ն հանգիստ վիճակում ≈250 mg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FS կոդավորումը ենթադրվել է աճման կարգով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4 · ելք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կարդալ աղյուսակը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թեքությունը ցատկում է մեքենայի աշխատանքի պահին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հագեցում՝ փոքր տիրույթ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5 · բնութագրեր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տիրույթն ընտրել գագաթից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թեքությունը սահում է օրվա ընթացքում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զրոյական շեղման ջերմաստիճանային գործակից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7 · չափաբերում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գրանցել T-ն, փոխհատուցել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թեքության նշանը սխալ է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տվիչի և մարմնի համակարգերը չեն համընկնում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6 · միջերես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կանխատեսել, թեքել, հաստատել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հավաքումից հետո շեղումը փոխվել է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տեղադրման մեխանիկական լարում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7 · չափաբերում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չափաբերել հավաքվածքը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կեղծ տատանման գագաթ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ամրակի ռեզոնանս կամ վերածածկում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2 · կապակցում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կոշտացնել, միացնել LPF2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06B2F5-24F6-49F1-96A0-66DB73DF00E4}"/>
              </a:ext>
            </a:extLst>
          </p:cNvPr>
          <p:cNvSpPr>
            <a:spLocks noGrp="1"/>
          </p:cNvSpPr>
          <p:nvPr/>
        </p:nvSpPr>
        <p:spPr>
          <a:xfrm>
            <a:off x="658368" y="539496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9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Վեց սխալներից հինգը չեն երևում տվյալների թերթիկում, բայց ակնհայտ են չմշակված տվյալների գրաֆիկում։</a:t>
            </a:r>
          </a:p>
        </p:txBody>
      </p:sp>
    </p:spTree>
    <p:extLst>
      <p:ext uri="{BB962C8B-B14F-4D97-AF65-F5344CB8AC3E}">
        <p14:creationId xmlns:p14="http://schemas.microsoft.com/office/powerpoint/2010/main" val="856169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5781F-1E67-4A50-8308-39F72C2ECF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C5F6E-9234-47DE-B988-62277AA4C43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AAA94-9EE1-4CB1-8164-B12C6011EC82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75E7F-05EE-46D8-B90B-4600399006D1}"/>
              </a:ext>
            </a:extLst>
          </p:cNvPr>
          <p:cNvSpPr>
            <a:spLocks noGrp="1"/>
          </p:cNvSpPr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ԴԱՍԱԽՈՍՈՒԹՅԱՆ ՀԻՄՆԱԿԱՆ ԵԶՐԱԿԱՑՈՒԹՅՈՒՆԸ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83002-B868-4619-AE7E-15F9F31985E8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</a:pPr>
            <a:r>
              <a:rPr sz="38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Արագաչափը չի տարբերակում</a:t>
            </a:r>
          </a:p>
          <a:p>
            <a:pPr algn="l">
              <a:lnSpc>
                <a:spcPct val="118000"/>
              </a:lnSpc>
              <a:buNone/>
            </a:pPr>
            <a:r>
              <a:rPr sz="3800" b="1" i="0">
                <a:solidFill>
                  <a:srgbClr val="F7F5F1"/>
                </a:solidFill>
                <a:latin typeface="Arial"/>
                <a:ea typeface="Arial"/>
                <a:cs typeface="Arial"/>
              </a:rPr>
              <a:t>թեքությունը հորիզոնական արագացումից։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D20F0F-A91A-4A83-88CF-2C97B272EE17}"/>
              </a:ext>
            </a:extLst>
          </p:cNvPr>
          <p:cNvSpPr>
            <a:spLocks noGrp="1"/>
          </p:cNvSpPr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53848-09F6-4A46-AED0-92C15B82528F}"/>
              </a:ext>
            </a:extLst>
          </p:cNvPr>
          <p:cNvSpPr>
            <a:spLocks noGrp="1"/>
          </p:cNvSpPr>
          <p:nvPr/>
        </p:nvSpPr>
        <p:spPr>
          <a:xfrm>
            <a:off x="658368" y="4892040"/>
            <a:ext cx="9960559" cy="18821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Arial"/>
                <a:ea typeface="Arial"/>
                <a:cs typeface="Arial"/>
              </a:rPr>
              <a:t>Այն չափում է ձգողությունից անկախ բոլոր մեխանիկական ազդեցությունները։ Այդ պատճառով հանգիստ վիճակում ձգողությունը երևում է որպես ներքևից ուղղված հակազդեցություն, ինչպես ցանկացած այլ հրում։ Հաճախականությամբ բաժանումը գործում է միայն հստակ տարբեր տիրույթների դեպքում։ Մնացած դեպքերում անհրաժեշտ է երկրորդ տվիչ։</a:t>
            </a:r>
          </a:p>
        </p:txBody>
      </p:sp>
    </p:spTree>
    <p:extLst>
      <p:ext uri="{BB962C8B-B14F-4D97-AF65-F5344CB8AC3E}">
        <p14:creationId xmlns:p14="http://schemas.microsoft.com/office/powerpoint/2010/main" val="1878625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CBB956-A6E6-4B29-96DD-E64C807645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F6CA9-9226-4168-A22B-21DBB4A004A6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846F68-3878-47B6-80E2-0905AC569641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AFAF6-A658-4DFD-A404-65D709768B1E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Ութ քայլերի լրացված օրինակը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1E52BB-81DF-415A-ADCF-BDFD51820CAB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7CED7-F1E5-4A88-9417-48527ACCE6A5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Կառուցվածք 1 և սկզբունք 1․ հաջորդ վեց շաբաթների վերլուծական ձևանմուշը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="658368" y="1874519"/>
          <a:ext cx="10874958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Քայլ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Արագաչափի համար</a:t>
                      </a:r>
                    </a:p>
                  </a:txBody>
                  <a:tcPr marT="27432" marB="27432" anchor="ctr">
                    <a:solidFill>
                      <a:srgbClr val="1A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1  Չափվող մեծություն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տեսակարար ուժ՝ հանգիստ վիճակում +1 g, ազատ անկման դեպքում 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2  Փոխակերպում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ունակային տարբերակային, մեծ g-երի համար՝ պիեզոռեզիստիվ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3  Կառուցվածք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առաձգական կախոցի վրա իներտ զանգված՝ x = a/ω₀²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4  Ելք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16-բիթանոց կոդ × mg/LSB, սահմանվում է տիրույթով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5  Բնութագրեր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b, s, c, n՝ մեկ հավասարման չորս անդամ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6  Միջերես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CTRL1_XL՝ ODR, FS և LPF2 մեկ բայթում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7  Չափաբերում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ձգողությամբ, յուրաքանչյուր առանցքի երկու դիրքով, հավաքվածքի վրա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8  Խափանման ձևեր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հագեցում, կոորդինատային համակարգ, ամրացում․ հազվադեպ՝ բյուրեղ</a:t>
                      </a:r>
                    </a:p>
                  </a:txBody>
                  <a:tcPr marT="27432" marB="27432" anchor="ctr">
                    <a:solidFill>
                      <a:srgbClr val="F7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A90550-10A8-4294-A1E4-1CCD68E536AB}"/>
              </a:ext>
            </a:extLst>
          </p:cNvPr>
          <p:cNvSpPr>
            <a:spLocks noGrp="1"/>
          </p:cNvSpPr>
          <p:nvPr/>
        </p:nvSpPr>
        <p:spPr>
          <a:xfrm>
            <a:off x="658368" y="5852160"/>
            <a:ext cx="10874978" cy="3619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275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ՀԱՋՈՐԴԸ․ Դասախոսություն 6՝ գիրոսկոպ։ Այն չի արձագանքում գծային հրումներին, սակայն ունի դրեյֆ։</a:t>
            </a:r>
          </a:p>
        </p:txBody>
      </p:sp>
    </p:spTree>
    <p:extLst>
      <p:ext uri="{BB962C8B-B14F-4D97-AF65-F5344CB8AC3E}">
        <p14:creationId xmlns:p14="http://schemas.microsoft.com/office/powerpoint/2010/main" val="1427097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95D61C-4297-487C-9DF9-BE1C28BAEC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3C301-703C-43D5-99F4-7F346BDE015F}"/>
              </a:ext>
            </a:extLst>
          </p:cNvPr>
          <p:cNvSpPr>
            <a:spLocks noGrp="1"/>
          </p:cNvSpPr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MEMS և տվիչներ  ·  Դասախոսություն 5  ·  MEMS արագաչափեր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2A699-1B60-42A6-9D47-5B4F72CFBF82}"/>
              </a:ext>
            </a:extLst>
          </p:cNvPr>
          <p:cNvSpPr>
            <a:spLocks noGrp="1"/>
          </p:cNvSpPr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BDAF4-FD2E-41B0-A449-809418FBC9A4}"/>
              </a:ext>
            </a:extLst>
          </p:cNvPr>
          <p:cNvSpPr>
            <a:spLocks noGrp="1"/>
          </p:cNvSpPr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Եզրափակիչ առաջադրանք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DFD643-1015-44DC-B433-28DE03D0A0EE}"/>
              </a:ext>
            </a:extLst>
          </p:cNvPr>
          <p:cNvSpPr>
            <a:spLocks noGrp="1"/>
          </p:cNvSpPr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C92DE-9B87-4EFE-BABF-31EB746EC6E2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Երկու հարց · 90 վայրկյան · գրավոր պատասխան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915B73-1EC2-4664-A37C-99DD90A515BA}"/>
              </a:ext>
            </a:extLst>
          </p:cNvPr>
          <p:cNvSpPr>
            <a:spLocks noGrp="1"/>
          </p:cNvSpPr>
          <p:nvPr/>
        </p:nvSpPr>
        <p:spPr>
          <a:xfrm>
            <a:off x="65836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700" b="1">
                <a:solidFill>
                  <a:srgbClr val="F7F5F1"/>
                </a:solidFill>
                <a:latin typeface="Arial"/>
                <a:ea typeface="Arial"/>
                <a:cs typeface="Arial"/>
              </a:rPr>
              <a:t>1  ·  ՁԵՐ ՆԱԽԱԳԻԾԸ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3986D-86EC-47CF-9F6A-5D8091B79FAA}"/>
              </a:ext>
            </a:extLst>
          </p:cNvPr>
          <p:cNvSpPr>
            <a:spLocks noGrp="1"/>
          </p:cNvSpPr>
          <p:nvPr/>
        </p:nvSpPr>
        <p:spPr>
          <a:xfrm>
            <a:off x="786384" y="2834640"/>
            <a:ext cx="5074920" cy="293903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Ընտրեք ձեր նախագծի արագաչափի լրիվ տիրույթն ու թողունակությունը և յուրաքանչյուր ընտրության համար նշեք մեկ հիմնավորում։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1CE734-A1AC-4D55-B2CE-BFF8BBF0FD15}"/>
              </a:ext>
            </a:extLst>
          </p:cNvPr>
          <p:cNvSpPr>
            <a:spLocks noGrp="1"/>
          </p:cNvSpPr>
          <p:nvPr/>
        </p:nvSpPr>
        <p:spPr>
          <a:xfrm>
            <a:off x="632764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7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2  ·  ՖԻԶԻԿԱԿԱՆ ՍԿԶԲՈՒՆՔԸ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CDF56-8648-4A5E-9B0C-2696E6623589}"/>
              </a:ext>
            </a:extLst>
          </p:cNvPr>
          <p:cNvSpPr>
            <a:spLocks noGrp="1"/>
          </p:cNvSpPr>
          <p:nvPr/>
        </p:nvSpPr>
        <p:spPr>
          <a:xfrm>
            <a:off x="6455664" y="2834640"/>
            <a:ext cx="5074920" cy="251917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  <a:buNone/>
            </a:pPr>
            <a:r>
              <a:rPr sz="19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Ինչո՞ւ սեղանին հանգիստ դրված արագաչափը ցույց է տալիս +1 g, և ի՞նչ ցույց կտա ազատ անկման ժամանակ։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D49579-B9CD-435C-AA54-F8E5E54DEC0B}"/>
              </a:ext>
            </a:extLst>
          </p:cNvPr>
          <p:cNvSpPr>
            <a:spLocks noGrp="1"/>
          </p:cNvSpPr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anchor="ctr">
            <a:normAutofit/>
          </a:bodyPr>
          <a:lstStyle/>
          <a:p>
            <a:pPr algn="ctr">
              <a:buNone/>
            </a:pPr>
            <a:r>
              <a:rPr sz="1800" b="1">
                <a:solidFill>
                  <a:srgbClr val="1A1F24"/>
                </a:solidFill>
                <a:latin typeface="Arial"/>
                <a:ea typeface="Arial"/>
                <a:cs typeface="Arial"/>
              </a:rPr>
              <a:t>Հաջորդ շաբաթ՝ Լաբորատոր աշխատանք 3․ վեց դիրք, երեք առանցքների b և S՝ ձեր վերջնական հավաքվածքի վրա։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76ADB5-B8E4-4F8A-94B2-6DDF6522E90E}"/>
              </a:ext>
            </a:extLst>
          </p:cNvPr>
          <p:cNvSpPr>
            <a:spLocks noGrp="1"/>
          </p:cNvSpPr>
          <p:nvPr/>
        </p:nvSpPr>
        <p:spPr>
          <a:xfrm>
            <a:off x="658368" y="6053328"/>
            <a:ext cx="10874978" cy="285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sz="1125" b="0" i="1">
                <a:solidFill>
                  <a:srgbClr val="6B7680"/>
                </a:solidFill>
                <a:latin typeface="Arial"/>
                <a:ea typeface="Arial"/>
                <a:cs typeface="Arial"/>
              </a:rPr>
              <a:t>Ընթերցանություն․ ուսումնական ձեռնարկ, գլուխ 5՝ «Արագաչափեր»։ Վարժություններում՝ հագեցած ջարդիչի ամբողջական օրինակը։</a:t>
            </a:r>
          </a:p>
        </p:txBody>
      </p:sp>
    </p:spTree>
    <p:extLst>
      <p:ext uri="{BB962C8B-B14F-4D97-AF65-F5344CB8AC3E}">
        <p14:creationId xmlns:p14="http://schemas.microsoft.com/office/powerpoint/2010/main" val="173687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7507</Words>
  <Application>Microsoft Office PowerPoint</Application>
  <DocSecurity>0</DocSecurity>
  <PresentationFormat>Widescreen</PresentationFormat>
  <Paragraphs>961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Հովհաննիսյան Վարդան Դավիթի</cp:lastModifiedBy>
  <cp:revision>3</cp:revision>
  <dcterms:created xsi:type="dcterms:W3CDTF">2026-09-27T18:51:12Z</dcterms:created>
  <dcterms:modified xsi:type="dcterms:W3CDTF">2026-09-29T17:28:02Z</dcterms:modified>
</cp:coreProperties>
</file>