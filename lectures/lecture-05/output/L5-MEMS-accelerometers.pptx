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0:00. BEFORE THE BELL: the L4 exit tickets sorted into "stated the pattern"</a:t>
            </a:r>
          </a:p>
          <a:p>
            <a:r>
              <a:t>and "did not", one Nucleo + IMU running the Lab 1 console on your bench and mirrored</a:t>
            </a:r>
          </a:p>
          <a:p>
            <a:r>
              <a:t>to the projector, and the ISM330DHCX datasheet open at the accelerometer</a:t>
            </a:r>
          </a:p>
          <a:p>
            <a:r>
              <a:t>mechanical-characteristics table.</a:t>
            </a:r>
          </a:p>
          <a:p/>
          <a:p>
            <a:r>
              <a:t>Write 8.73 mg on the board again. It is still the signal, and it comes back twice.</a:t>
            </a:r>
          </a:p>
          <a:p/>
          <a:p>
            <a:r>
              <a:t>First Module B lecture. Say so: "For four weeks you learned a method. From today</a:t>
            </a:r>
          </a:p>
          <a:p>
            <a:r>
              <a:t>you use it, one sensor family per week, and this is the first."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0:00–0:02. TEMPLATE SLIDE — fill it in before class.</a:t>
            </a:r>
          </a:p>
          <a:p/>
          <a:p>
            <a:r>
              <a:t>Lecture 4's exit ticket asked for (1) one specification of their project sensor</a:t>
            </a:r>
          </a:p>
          <a:p>
            <a:r>
              <a:t>they must measure themselves and (2) the pattern Lectures 5–11 repeat. Question 2</a:t>
            </a:r>
          </a:p>
          <a:p>
            <a:r>
              <a:t>is answered on the next slide whatever the tickets said, so use these three rows</a:t>
            </a:r>
          </a:p>
          <a:p>
            <a:r>
              <a:t>for question 1 confusions — most likely "after soldering" and the two tens of</a:t>
            </a:r>
          </a:p>
          <a:p>
            <a:r>
              <a:t>milli-g.</a:t>
            </a:r>
          </a:p>
          <a:p/>
          <a:p>
            <a:r>
              <a:t>If the tickets were useless, delete this slide rather than improvising.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0:02–0:05. RETRIEVAL PRACTICE. Ask before you show — the slide builds the</a:t>
            </a:r>
          </a:p>
          <a:p>
            <a:r>
              <a:t>strip but you should cover it, or ask with the projector blanked.</a:t>
            </a:r>
          </a:p>
          <a:p/>
          <a:p>
            <a:r>
              <a:t>"Lecture 4's exit ticket asked for the pattern. Give it to me, one step each."</a:t>
            </a:r>
          </a:p>
          <a:p>
            <a:r>
              <a:t>Take eight students. Correct the order out loud if needed; the order matters,</a:t>
            </a:r>
          </a:p>
          <a:p>
            <a:r>
              <a:t>because each step's answer constrains the next.</a:t>
            </a:r>
          </a:p>
          <a:p/>
          <a:p>
            <a:r>
              <a:t>If fewer than half the exit tickets stated it, spend an extra ninety seconds here</a:t>
            </a:r>
          </a:p>
          <a:p>
            <a:r>
              <a:t>and cut slide 19 later. The L4 notes promised this and it is the right trade.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0:05–0:06. Put your own phone flat on the desk as you show this. If you have</a:t>
            </a:r>
          </a:p>
          <a:p>
            <a:r>
              <a:t>a sensor-logger app, have it open and projected: the Z trace sits at +9.8 m/s².</a:t>
            </a:r>
          </a:p>
          <a:p/>
          <a:p>
            <a:r>
              <a:t>Ask: "Is my phone accelerating?" Wait for the "no". "Then why does it say nine</a:t>
            </a:r>
          </a:p>
          <a:p>
            <a:r>
              <a:t>point eight?" Take one answer, accept none. Go straight to the vote.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0:06–0:08. Hands up simultaneously. Record the split; it is the baseline for</a:t>
            </a:r>
          </a:p>
          <a:p>
            <a:r>
              <a:t>the chunk. Expect A 25–40 %, C 25–40 %, B 20–35 %, D under 10 %.</a:t>
            </a:r>
          </a:p>
          <a:p/>
          <a:p>
            <a:r>
              <a:t>A is misconception M1 — "an accelerometer measures acceleration". C is the student</a:t>
            </a:r>
          </a:p>
          <a:p>
            <a:r>
              <a:t>who has the right physics with the wrong sign — the most productive wrong answer.</a:t>
            </a:r>
          </a:p>
          <a:p>
            <a:r>
              <a:t>D is the Lab 1 student who remembers that offsets exist.</a:t>
            </a:r>
          </a:p>
          <a:p/>
          <a:p>
            <a:r>
              <a:t>DO NOT REVEAL. The next two slides let them derive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0:08. Section marker, fifteen seconds. Point at the strip: "step one,</a:t>
            </a:r>
          </a:p>
          <a:p>
            <a:r>
              <a:t>measurand. For this device it is not the word on the box."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0:08–0:11. Build it column by column. The free-fall column does the work.</a:t>
            </a:r>
          </a:p>
          <a:p/>
          <a:p>
            <a:r>
              <a:t>"Drop the phone. For the half second it falls, what does the accelerometer read?"</a:t>
            </a:r>
          </a:p>
          <a:p>
            <a:r>
              <a:t>Most of the room will now say 1 g, because they have just decided the sensor sees</a:t>
            </a:r>
          </a:p>
          <a:p>
            <a:r>
              <a:t>gravity. It reads zero — mass and frame fall together and the springs are relaxed.</a:t>
            </a:r>
          </a:p>
          <a:p>
            <a:r>
              <a:t>This is Einstein's equivalence principle and it is the whole of the chunk: gravity</a:t>
            </a:r>
          </a:p>
          <a:p>
            <a:r>
              <a:t>cannot be felt locally. What can be felt is the table.</a:t>
            </a:r>
          </a:p>
          <a:p/>
          <a:p>
            <a:r>
              <a:t>Phone free-fall detection works exactly like this: all three axes collapse toward</a:t>
            </a:r>
          </a:p>
          <a:p>
            <a:r>
              <a:t>zero at once. That is a real application — hard-disk head parking, drop logging.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0:11–0:12. Reveal. Then go straight to the C voters, kindly: "You had the</a:t>
            </a:r>
          </a:p>
          <a:p>
            <a:r>
              <a:t>physics and flipped the sign. The sensor does not report gravity pulling down; it</a:t>
            </a:r>
          </a:p>
          <a:p>
            <a:r>
              <a:t>reports the table pushing up. That is why it is plus."</a:t>
            </a:r>
          </a:p>
          <a:p/>
          <a:p>
            <a:r>
              <a:t>Then the A voters: "You were right that nothing accelerates. What you have learned</a:t>
            </a:r>
          </a:p>
          <a:p>
            <a:r>
              <a:t>is that this device was never measuring acceleration."</a:t>
            </a:r>
          </a:p>
          <a:p/>
          <a:p>
            <a:r>
              <a:t>Lab 1 already showed them +16 400 counts on a flat board. Say so — they have seen</a:t>
            </a:r>
          </a:p>
          <a:p>
            <a:r>
              <a:t>this number with their own hands and never asked why it was positive.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0:12–0:14. The two columns are the applications survey the semester plan</a:t>
            </a:r>
          </a:p>
          <a:p>
            <a:r>
              <a:t>asks for; do not list more of them than are on the slide.</a:t>
            </a:r>
          </a:p>
          <a:p/>
          <a:p>
            <a:r>
              <a:t>The sentence to land: "one number, two causes, and the device cannot separate</a:t>
            </a:r>
          </a:p>
          <a:p>
            <a:r>
              <a:t>them." Then plant the frequency idea — a low-pass filter keeps tilt and throws away</a:t>
            </a:r>
          </a:p>
          <a:p>
            <a:r>
              <a:t>vibration — and say where it breaks: a car accelerating for three seconds is slow</a:t>
            </a:r>
          </a:p>
          <a:p>
            <a:r>
              <a:t>motion, and a low-pass filter cannot tell it from a hill. Slide 14 comes back to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0:14–0:17. Draw the two curves on the board as well; the slide is the</a:t>
            </a:r>
          </a:p>
          <a:p>
            <a:r>
              <a:t>clean copy.</a:t>
            </a:r>
          </a:p>
          <a:p/>
          <a:p>
            <a:r>
              <a:t>Do not show the table first. Point at the curves: "Which curve is steep near zero</a:t>
            </a:r>
          </a:p>
          <a:p>
            <a:r>
              <a:t>degrees?" The sine. "Which is flat?" The cosine. "So which axis would you rather</a:t>
            </a:r>
          </a:p>
          <a:p>
            <a:r>
              <a:t>use to measure a small tilt from level?" — and then STOP, because that is Poll 2.</a:t>
            </a:r>
          </a:p>
          <a:p/>
          <a:p>
            <a:r>
              <a:t>Hide the table with your hand or blank the screen for the poll if you can. If not,</a:t>
            </a:r>
          </a:p>
          <a:p>
            <a:r>
              <a:t>move straight on: the poll still works, because most of the room will not have</a:t>
            </a:r>
          </a:p>
          <a:p>
            <a:r>
              <a:t>read the right-hand side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0:17–0:20. Peer instruction. Expect 35–50 % B on the first vote, 70–85 %</a:t>
            </a:r>
          </a:p>
          <a:p>
            <a:r>
              <a:t>after pairs.</a:t>
            </a:r>
          </a:p>
          <a:p/>
          <a:p>
            <a:r>
              <a:t>A is the productive wrong answer and the point of the poll: a large signal is not</a:t>
            </a:r>
          </a:p>
          <a:p>
            <a:r>
              <a:t>a sensitive one. C is L2's sensitivity-versus-accuracy confusion in a new form —</a:t>
            </a:r>
          </a:p>
          <a:p>
            <a:r>
              <a:t>mg/LSB is the same for both axes, but the tilt-per-mg is not. D is a reach for a</a:t>
            </a:r>
          </a:p>
          <a:p>
            <a:r>
              <a:t>register; dismiss it gently.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0:20–0:21. Reveal, then do the division on the board: 8.73 over 0.038 is</a:t>
            </a:r>
          </a:p>
          <a:p>
            <a:r>
              <a:t>229.</a:t>
            </a:r>
          </a:p>
          <a:p/>
          <a:p>
            <a:r>
              <a:t>Connect to mounting orientation, which the semester plan lists as a topic: "How</a:t>
            </a:r>
          </a:p>
          <a:p>
            <a:r>
              <a:t>you ORIENT the part on the board decides which axis does the work. If your</a:t>
            </a:r>
          </a:p>
          <a:p>
            <a:r>
              <a:t>enclosure puts the sensitive axis along gravity, no datasheet can rescue you."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0:21–0:23. atan2, not atan: it keeps the quadrant and never divides by</a:t>
            </a:r>
          </a:p>
          <a:p>
            <a:r>
              <a:t>zero. Say that in one sentence, not more.</a:t>
            </a:r>
          </a:p>
          <a:p/>
          <a:p>
            <a:r>
              <a:t>The middle card is the idea students do not expect: a ratio forgives a scale</a:t>
            </a:r>
          </a:p>
          <a:p>
            <a:r>
              <a:t>error common to both axes. Ask: "if both axes read 2 % high, what happens to the</a:t>
            </a:r>
          </a:p>
          <a:p>
            <a:r>
              <a:t>angle?" Nothing. "If only X reads 12 mg high?" At level, that is a tilt of</a:t>
            </a:r>
          </a:p>
          <a:p>
            <a:r>
              <a:t>arcsin(0.012) = 0.69°, already outside the requirement.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0:23–0:25. The punchline of chunk 1, and the debt this lecture hands to the</a:t>
            </a:r>
          </a:p>
          <a:p>
            <a:r>
              <a:t>next one.</a:t>
            </a:r>
          </a:p>
          <a:p/>
          <a:p>
            <a:r>
              <a:t>Numbers checked: atan(0.05) = 2.86°, atan(0.1) = 5.71°, atan(0.2) = 11.31°,</a:t>
            </a:r>
          </a:p>
          <a:p>
            <a:r>
              <a:t>atan(0.3) = 16.70°. And the red line: atan(0.01) = 0.57°, so one hundredth of a g</a:t>
            </a:r>
          </a:p>
          <a:p>
            <a:r>
              <a:t>of shove already exceeds half a degree.</a:t>
            </a:r>
          </a:p>
          <a:p/>
          <a:p>
            <a:r>
              <a:t>Say it as a debt, deliberately, the way Lecture 2 did: "I am leaving this unpaid.</a:t>
            </a:r>
          </a:p>
          <a:p>
            <a:r>
              <a:t>Next week you meet the sensor that pays it — and it has its own problem."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0:25. Section marker. "Steps two and three together, because for this device</a:t>
            </a:r>
          </a:p>
          <a:p>
            <a:r>
              <a:t>you cannot separate them: the structure is the transducer."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0:25–0:28. The figure students remember from this lecture. Do the</a:t>
            </a:r>
          </a:p>
          <a:p>
            <a:r>
              <a:t>arithmetic on the board, not just on the slide.</a:t>
            </a:r>
          </a:p>
          <a:p/>
          <a:p>
            <a:r>
              <a:t>9.81 / (2π·5000)² = 9.94 nm per g. Times 0.00873 = 0.087 nm. A silicon-silicon</a:t>
            </a:r>
          </a:p>
          <a:p>
            <a:r>
              <a:t>bond is 0.235 nm. So the tilt they will measure in Lab 3 moves the proof mass by</a:t>
            </a:r>
          </a:p>
          <a:p>
            <a:r>
              <a:t>about a third of an atomic bond.</a:t>
            </a:r>
          </a:p>
          <a:p/>
          <a:p>
            <a:r>
              <a:t>Pre-empt the objection: "How can you measure less than an atom?" Because the plate</a:t>
            </a:r>
          </a:p>
          <a:p>
            <a:r>
              <a:t>is a hundred micrometres across and the gap is averaged over all of it. The mean</a:t>
            </a:r>
          </a:p>
          <a:p>
            <a:r>
              <a:t>position of a million atoms is a perfectly good number. f₀ = 5 kHz is</a:t>
            </a:r>
          </a:p>
          <a:p>
            <a:r>
              <a:t>representative, not the ISM330DHCX's published value — say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0:28–0:31. Lecture 4 said sensitivity and bandwidth share m and k. This is</a:t>
            </a:r>
          </a:p>
          <a:p>
            <a:r>
              <a:t>that sentence with a curve.</a:t>
            </a:r>
          </a:p>
          <a:p/>
          <a:p>
            <a:r>
              <a:t>Read the table right to left: halving f₀ quadruples the signal (1/f₀²) and halves</a:t>
            </a:r>
          </a:p>
          <a:p>
            <a:r>
              <a:t>the band. Nobody gets both — the mask decided, once.</a:t>
            </a:r>
          </a:p>
          <a:p/>
          <a:p>
            <a:r>
              <a:t>The amber line matters for the failure chunk: a machine vibration near the</a:t>
            </a:r>
          </a:p>
          <a:p>
            <a:r>
              <a:t>structure's resonance is amplified mechanically, before the digital filter, so no</a:t>
            </a:r>
          </a:p>
          <a:p>
            <a:r>
              <a:t>register setting removes it. Accelerometers are damped deliberately (Q below 1)</a:t>
            </a:r>
          </a:p>
          <a:p>
            <a:r>
              <a:t>for exactly this reason; gyroscopes, next week, are the opposite.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0:31–0:33. Two gaps, one grows and one shrinks. The difference is linear in</a:t>
            </a:r>
          </a:p>
          <a:p>
            <a:r>
              <a:t>x and immune to anything that moves both together.</a:t>
            </a:r>
          </a:p>
          <a:p/>
          <a:p>
            <a:r>
              <a:t>That second property is a partial answer to Lecture 4's stress chain: symmetric</a:t>
            </a:r>
          </a:p>
          <a:p>
            <a:r>
              <a:t>stress cancels, asymmetric stress does not. Solder joints are asymmetric. So say</a:t>
            </a:r>
          </a:p>
          <a:p>
            <a:r>
              <a:t>it: "differential sensing is why a symmetric package is quiet, and why an</a:t>
            </a:r>
          </a:p>
          <a:p>
            <a:r>
              <a:t>asymmetric solder fillet is not."</a:t>
            </a:r>
          </a:p>
          <a:p/>
          <a:p>
            <a:r>
              <a:t>x/d = 9.9 nm / 1.5 µm = 0.66 % at a full g. At 8.73 mg it is 58 parts per million.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0:33–0:35. DESIGNATED CUT if you are behind — keep only the shrink-by-2</a:t>
            </a:r>
          </a:p>
          <a:p>
            <a:r>
              <a:t>line.</a:t>
            </a:r>
          </a:p>
          <a:p/>
          <a:p>
            <a:r>
              <a:t>The formula is not examinable; its shape is. Mass is in the denominator, so a</a:t>
            </a:r>
          </a:p>
          <a:p>
            <a:r>
              <a:t>heavier mass is quieter. That closes the loop from Lecture 1 (m ∝ L³) through</a:t>
            </a:r>
          </a:p>
          <a:p>
            <a:r>
              <a:t>Lecture 4 (bulk is quieter than surface) to a number.</a:t>
            </a:r>
          </a:p>
          <a:p/>
          <a:p>
            <a:r>
              <a:t>Computed: 4·kB·T·ω₀ = 4 × 1.38e-23 × 300 × 31 416 = 5.2e-16. Divide by m·Q = 1e-8,</a:t>
            </a:r>
          </a:p>
          <a:p>
            <a:r>
              <a:t>square-root: 2.28e-4 m/s²/√Hz = 23 µg/√Hz. The 10 µg mass is representative, not</a:t>
            </a:r>
          </a:p>
          <a:p>
            <a:r>
              <a:t>ST's figure — say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0:35–0:37. The semester plan asks for capacitive and piezoresistive; the</a:t>
            </a:r>
          </a:p>
          <a:p>
            <a:r>
              <a:t>piezoelectric column is Lecture 4's Poll 3, repeated so that the comparison is</a:t>
            </a:r>
          </a:p>
          <a:p>
            <a:r>
              <a:t>complete.</a:t>
            </a:r>
          </a:p>
          <a:p/>
          <a:p>
            <a:r>
              <a:t>Piezoresistive in one sentence: implanted resistors on the flexure, four of them in</a:t>
            </a:r>
          </a:p>
          <a:p>
            <a:r>
              <a:t>a bridge, millivolts out; the stiff structure survives thousands of g, which is why</a:t>
            </a:r>
          </a:p>
          <a:p>
            <a:r>
              <a:t>crash recorders use it, and the bridge drifts with temperature, which is why it</a:t>
            </a:r>
          </a:p>
          <a:p>
            <a:r>
              <a:t>needs compensation (Lecture 8).</a:t>
            </a:r>
          </a:p>
          <a:p/>
          <a:p>
            <a:r>
              <a:t>Ranges are representative of each family, not one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0:37. Section marker. "Steps four and five: what comes out, and what the</a:t>
            </a:r>
          </a:p>
          <a:p>
            <a:r>
              <a:t>manufacturer promises about it. You met most of these rows in Lecture 2; today each</a:t>
            </a:r>
          </a:p>
          <a:p>
            <a:r>
              <a:t>one gets a place in an equation."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0:37–0:39. Table rows are in encoding order so that the Lab 1 trap is</a:t>
            </a:r>
          </a:p>
          <a:p>
            <a:r>
              <a:t>visible: 01 is ±16 g, highlighted. Somebody in the room fell into it in week two;</a:t>
            </a:r>
          </a:p>
          <a:p>
            <a:r>
              <a:t>say "you know why this row is amber".</a:t>
            </a:r>
          </a:p>
          <a:p/>
          <a:p>
            <a:r>
              <a:t>Check the third column aloud once: 1000 / 0.061 = 16 393 — the number they saw on</a:t>
            </a:r>
          </a:p>
          <a:p>
            <a:r>
              <a:t>the console. Quantisation 0.488/√12 = 0.141 mg.</a:t>
            </a:r>
          </a:p>
          <a:p/>
          <a:p>
            <a:r>
              <a:t>The teal line is Lecture 2's verdict — resolution was never the deciding variable —</a:t>
            </a:r>
          </a:p>
          <a:p>
            <a:r>
              <a:t>reappearing as a range decision. It sets up the saturation poll.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0:39–0:42. THE DATASHEET CASE for this lecture. Walk the four boxes against</a:t>
            </a:r>
          </a:p>
          <a:p>
            <a:r>
              <a:t>the real datasheet on the projector if you can; the numbers are the part in their</a:t>
            </a:r>
          </a:p>
          <a:p>
            <a:r>
              <a:t>kit.</a:t>
            </a:r>
          </a:p>
          <a:p/>
          <a:p>
            <a:r>
              <a:t>The point to insist on: a datasheet looks like a list, but it is really four terms</a:t>
            </a:r>
          </a:p>
          <a:p>
            <a:r>
              <a:t>of one equation. Once a student sees that, "which rows matter" becomes "which term</a:t>
            </a:r>
          </a:p>
          <a:p>
            <a:r>
              <a:t>is largest after I calibrate" — Lecture 2's rule again.</a:t>
            </a:r>
          </a:p>
          <a:p/>
          <a:p>
            <a:r>
              <a:t>Temperature is hiding inside b: the bias has a coefficient, which is why b is the</a:t>
            </a:r>
          </a:p>
          <a:p>
            <a:r>
              <a:t>term that comes back after calibration. Say "the same 0.5 mg/°C that ended Part A".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0:42–0:44. A tilt monitor on a vibrating machine, sensor left at its reset</a:t>
            </a:r>
          </a:p>
          <a:p>
            <a:r>
              <a:t>range of ±2 g. The machine adds 3 g peak at some tens of hertz. Z should swing from</a:t>
            </a:r>
          </a:p>
          <a:p>
            <a:r>
              <a:t>−2 to +4 g around the 1 g of gravity.</a:t>
            </a:r>
          </a:p>
          <a:p/>
          <a:p>
            <a:r>
              <a:t>Point: the waveform is ASYMMETRIC about zero because gravity has already used 1 g</a:t>
            </a:r>
          </a:p>
          <a:p>
            <a:r>
              <a:t>of the range. The tops clip at +2, the bottoms just touch −2.</a:t>
            </a:r>
          </a:p>
          <a:p/>
          <a:p>
            <a:r>
              <a:t>Do not say what the average does. That is Poll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0:44–0:46. Quick vote, no peer phase unless the split is 30–70 %. Expect A</a:t>
            </a:r>
          </a:p>
          <a:p>
            <a:r>
              <a:t>at 35–50 % — "averaging fixes it" is the misconception this poll exists for.</a:t>
            </a:r>
          </a:p>
          <a:p/>
          <a:p>
            <a:r>
              <a:t>B is the student who thinks the top is "stuck high". D is a reasonable guess about</a:t>
            </a:r>
          </a:p>
          <a:p>
            <a:r>
              <a:t>saturation that the picture already contradicts.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0:46–0:48. Reveal, then the number, computed numerically: the mean of</a:t>
            </a:r>
          </a:p>
          <a:p>
            <a:r>
              <a:t>clip(1 + 3·sin, −2, +2) over a cycle is 0.4915 g. arccos(0.4915) = 60.56°.</a:t>
            </a:r>
          </a:p>
          <a:p/>
          <a:p>
            <a:r>
              <a:t>"A level machine, a correct sensor, a correct formula, and a tilt alarm at sixty</a:t>
            </a:r>
          </a:p>
          <a:p>
            <a:r>
              <a:t>degrees every time the motor starts." That is the war story on slide 35 — tell them</a:t>
            </a:r>
          </a:p>
          <a:p>
            <a:r>
              <a:t>it is coming.</a:t>
            </a:r>
          </a:p>
          <a:p/>
          <a:p>
            <a:r>
              <a:t>The fix is one register field: ±16 g.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0:48–0:50. Two knobs, two rules.</a:t>
            </a:r>
          </a:p>
          <a:p/>
          <a:p>
            <a:r>
              <a:t>Range from the worst-case peak you can imagine, including shocks. On this part it</a:t>
            </a:r>
          </a:p>
          <a:p>
            <a:r>
              <a:t>costs almost nothing — 0.141 mg of quantisation is still 60× below the tilt signal.</a:t>
            </a:r>
          </a:p>
          <a:p/>
          <a:p>
            <a:r>
              <a:t>Bandwidth from the measurand, because noise density × √BW. At 104 Hz ODR without</a:t>
            </a:r>
          </a:p>
          <a:p>
            <a:r>
              <a:t>LPF2, Lab 2 used BW ≈ 52 Hz: 0.43 mg typical, 0.72 mg at the maximum density. Lab 2</a:t>
            </a:r>
          </a:p>
          <a:p>
            <a:r>
              <a:t>measured it. If you have their Lab 2 σ values, put one on the board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0:50. Section marker. "Lecture 4 promised: down to a register value. Here it</a:t>
            </a:r>
          </a:p>
          <a:p>
            <a:r>
              <a:t>is."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0:50–0:53. Build the first byte with the room: ODR 104 Hz = 0100, FS ±2 g =</a:t>
            </a:r>
          </a:p>
          <a:p>
            <a:r>
              <a:t>00, LPF2 on = 1, bit 0 = 0. 0100 0010 = 0x42. Somebody will recognise it from Lab 2.</a:t>
            </a:r>
          </a:p>
          <a:p/>
          <a:p>
            <a:r>
              <a:t>Then the second, faster: ODR 1.66 kHz = 1000, FS ±16 g = 01, LPF2 off, 0 →</a:t>
            </a:r>
          </a:p>
          <a:p>
            <a:r>
              <a:t>1000 0100 = 0x84. Verify the 1.66 kHz ODR code (1000) against Table 43 of your</a:t>
            </a:r>
          </a:p>
          <a:p>
            <a:r>
              <a:t>datasheet revision before class, as the lab notes ask for every register value.</a:t>
            </a:r>
          </a:p>
          <a:p/>
          <a:p>
            <a:r>
              <a:t>Why LPF2 off at 1.66 kHz: the machine's vibration IS the measurand here, so you</a:t>
            </a:r>
          </a:p>
          <a:p>
            <a:r>
              <a:t>want the band, not the filter. Same part, same register, opposite choices — because</a:t>
            </a:r>
          </a:p>
          <a:p>
            <a:r>
              <a:t>the measurand 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0:53–0:57. THE WORKED CALCULATION. Do it on the board.</a:t>
            </a:r>
          </a:p>
          <a:p/>
          <a:p>
            <a:r>
              <a:t>Up reads +1015.0 mg, down reads −991.0 mg. Add: 24.0, halve: b = +12.0 mg. Subtract:</a:t>
            </a:r>
          </a:p>
          <a:p>
            <a:r>
              <a:t>2006.0, halve: S = 1003.0 mg per g, a scale error of +0.30 %. Both are inside the</a:t>
            </a:r>
          </a:p>
          <a:p>
            <a:r>
              <a:t>datasheet limits; both are larger than they look — 12 mg is 1.4× the tilt signal.</a:t>
            </a:r>
          </a:p>
          <a:p/>
          <a:p>
            <a:r>
              <a:t>The Yerevan line is a genuine subtlety, not a digression: local g at 40.2° N,</a:t>
            </a:r>
          </a:p>
          <a:p>
            <a:r>
              <a:t>~990 m is about 9.7988 m/s², 0.08 % below 9.80665. It is far below the ±2 % scale</a:t>
            </a:r>
          </a:p>
          <a:p>
            <a:r>
              <a:t>tolerance, so it does not matter here; it will matter in a precision lab.</a:t>
            </a:r>
          </a:p>
          <a:p/>
          <a:p>
            <a:r>
              <a:t>Averaging each position over a few seconds is what makes the numbers repeatable;</a:t>
            </a:r>
          </a:p>
          <a:p>
            <a:r>
              <a:t>noise at 0.4 mg per sample averages down fast.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0:57–0:59. Quick vote. Target 55–75 % B. This is a check that the stress</a:t>
            </a:r>
          </a:p>
          <a:p>
            <a:r>
              <a:t>chain from Lecture 4 has attached to a term, not a new discrimination.</a:t>
            </a:r>
          </a:p>
          <a:p/>
          <a:p>
            <a:r>
              <a:t>A is the student who thinks a stored number is a property of the device. C is a</a:t>
            </a:r>
          </a:p>
          <a:p>
            <a:r>
              <a:t>guess. D is a range-encoding memory from Lab 1 surfacing in the wrong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0:59–1:00. Reveal. One rule to write down: calibrate the assembly, not the</a:t>
            </a:r>
          </a:p>
          <a:p>
            <a:r>
              <a:t>component. The six-position test in Lab 3 is done with the board in its final</a:t>
            </a:r>
          </a:p>
          <a:p>
            <a:r>
              <a:t>mounting for exactly this reason.</a:t>
            </a:r>
          </a:p>
          <a:p/>
          <a:p>
            <a:r>
              <a:t>Cross-axis c also changes, which is the next slide — but b changes first and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1:00–1:03. This pays the rest of Lecture 2's cross-axis debt in a number:</a:t>
            </a:r>
          </a:p>
          <a:p>
            <a:r>
              <a:t>sin(1°) = 0.01745, so a one-degree mounting error puts 17.5 mg of gravity into the</a:t>
            </a:r>
          </a:p>
          <a:p>
            <a:r>
              <a:t>wrong axis, 1.75 % — three and a half times the ±0.5 % the datasheet quotes.</a:t>
            </a:r>
          </a:p>
          <a:p/>
          <a:p>
            <a:r>
              <a:t>The three checks are Lab 1's check-off question 4 ("predict the axis before</a:t>
            </a:r>
          </a:p>
          <a:p>
            <a:r>
              <a:t>turning") promoted to a design rule. The third — writing down the rotation from</a:t>
            </a:r>
          </a:p>
          <a:p>
            <a:r>
              <a:t>sensor frame to body frame — is what Lecture 7's coordinate frames build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1:03. Last step of the pattern. "Step eight is where the other seven get</a:t>
            </a:r>
          </a:p>
          <a:p>
            <a:r>
              <a:t>tested, and it is where the stories come from."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1:03–1:06. Tell it as a story, in order, and make the room guess the cause</a:t>
            </a:r>
          </a:p>
          <a:p>
            <a:r>
              <a:t>at "what was blamed" before you reveal the third row. Someone will say "clipping" —</a:t>
            </a:r>
          </a:p>
          <a:p>
            <a:r>
              <a:t>they voted on it twenty minutes ago.</a:t>
            </a:r>
          </a:p>
          <a:p/>
          <a:p>
            <a:r>
              <a:t>The engineering lesson is the dark box: the cure for a biased reading is never more</a:t>
            </a:r>
          </a:p>
          <a:p>
            <a:r>
              <a:t>averaging. The raw codes pinned at +32 767 (the top of the 16-bit range) would have</a:t>
            </a:r>
          </a:p>
          <a:p>
            <a:r>
              <a:t>identified the fault in ten seconds. That is Lecture 3's "keep the raw column"</a:t>
            </a:r>
          </a:p>
          <a:p>
            <a:r>
              <a:t>paying out.</a:t>
            </a:r>
          </a:p>
          <a:p/>
          <a:p>
            <a:r>
              <a:t>The story is representative, not a named incident; say so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1:06–1:09. A reference slide; it is in the reader, Section 5.8. Do not read</a:t>
            </a:r>
          </a:p>
          <a:p>
            <a:r>
              <a:t>all six. Pick two the room has not seen — the sign error and the bracket resonance —</a:t>
            </a:r>
          </a:p>
          <a:p>
            <a:r>
              <a:t>and say one sentence each.</a:t>
            </a:r>
          </a:p>
          <a:p/>
          <a:p>
            <a:r>
              <a:t>Bracket resonance is Lecture 1's mechanical coupling stage returning: a cantilevered</a:t>
            </a:r>
          </a:p>
          <a:p>
            <a:r>
              <a:t>sensor bracket with a resonance at 200 Hz will amplify machine vibration there, and</a:t>
            </a:r>
          </a:p>
          <a:p>
            <a:r>
              <a:t>without LPF2 it will alias into the band (Lecture 3's arithmetic).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1:09–1:10. Read it once. Stop for three seconds.</a:t>
            </a:r>
          </a:p>
          <a:p/>
          <a:p>
            <a:r>
              <a:t>This is the sentence they should be able to say in Lecture 6's opening retrieval.</a:t>
            </a:r>
          </a:p>
          <a:p>
            <a:r>
              <a:t>It is also misconception M1 — "it measures acceleration" — answered completely.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1:10–1:14. Ask for each row before showing it, if the clock allows. This is</a:t>
            </a:r>
          </a:p>
          <a:p>
            <a:r>
              <a:t>the first time the eight-step pattern has been completed for a real device; the</a:t>
            </a:r>
          </a:p>
          <a:p>
            <a:r>
              <a:t>next six lectures produce one of these tables each, and the capstone selection</a:t>
            </a:r>
          </a:p>
          <a:p>
            <a:r>
              <a:t>matrix is built from them.</a:t>
            </a:r>
          </a:p>
          <a:p/>
          <a:p>
            <a:r>
              <a:t>Tell them the table is in the reader, Section 5.10, so nobody copies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1:14–1:20. The exit ticket has six minutes today, not two: the clock has</a:t>
            </a:r>
          </a:p>
          <a:p>
            <a:r>
              <a:t>slack built in for the peer-instruction rounds. If you are on time, use four of</a:t>
            </a:r>
          </a:p>
          <a:p>
            <a:r>
              <a:t>them for questions and hand out the slips at 1:18.</a:t>
            </a:r>
          </a:p>
          <a:p/>
          <a:p>
            <a:r>
              <a:t>Q1 tests L5.4. Accept any range with a stated peak (±2 g for a still tilt monitor is</a:t>
            </a:r>
          </a:p>
          <a:p>
            <a:r>
              <a:t>fine if they say why) and any bandwidth tied to the measurand.</a:t>
            </a:r>
          </a:p>
          <a:p/>
          <a:p>
            <a:r>
              <a:t>Q2 tests L5.1 — the equivalence argument. "The table pushes up" or "it measures</a:t>
            </a:r>
          </a:p>
          <a:p>
            <a:r>
              <a:t>specific force" earn full marks; "free fall reads zero" is required.</a:t>
            </a:r>
          </a:p>
          <a:p/>
          <a:p>
            <a:r>
              <a:t>These are the input to Lecture 6's opening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371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7C86"/>
                </a:solidFill>
                <a:latin typeface="Arial"/>
              </a:rPr>
              <a:t>MICROELECTROMECHANICAL SYSTEMS AND SENSORS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057400"/>
            <a:ext cx="103327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7F5F1"/>
                </a:solidFill>
                <a:latin typeface="Arial"/>
              </a:rPr>
              <a:t>MEMS accelerometers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4315968"/>
            <a:ext cx="1371600" cy="50800"/>
          </a:xfrm>
          <a:prstGeom prst="rect">
            <a:avLst/>
          </a:prstGeom>
          <a:solidFill>
            <a:srgbClr val="D98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617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B8C0C6"/>
                </a:solidFill>
                <a:latin typeface="Arial"/>
              </a:rPr>
              <a:t>Lecture 5 of 16   ·   80 minutes   ·   Module B: Sensor families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25780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6B7680"/>
                </a:solidFill>
                <a:latin typeface="Arial"/>
              </a:rPr>
              <a:t>The part on your bench, from the physics down to the byte you write into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5  ·  MEMS accelerometers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Last week's muddiest 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From Lecture 4's exit tickets — answered before we start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57400"/>
            <a:ext cx="566928" cy="566928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F7F5F1"/>
                </a:solidFill>
                <a:latin typeface="Courier New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527048" y="2057400"/>
            <a:ext cx="1005840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017520"/>
            <a:ext cx="566928" cy="566928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F7F5F1"/>
                </a:solidFill>
                <a:latin typeface="Courier New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27048" y="3017520"/>
            <a:ext cx="1005840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977640"/>
            <a:ext cx="566928" cy="566928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F7F5F1"/>
                </a:solidFill>
                <a:latin typeface="Courier New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27048" y="3977640"/>
            <a:ext cx="1005840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9928" y="2212848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E4E2DE"/>
                </a:solidFill>
                <a:latin typeface="Arial"/>
              </a:rPr>
              <a:t>INSTRUCTOR: fill these three in from the Lecture 4 exit tickets before class.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212080"/>
            <a:ext cx="10874959" cy="777240"/>
          </a:xfrm>
          <a:prstGeom prst="roundRect">
            <a:avLst>
              <a:gd name="adj" fmla="val 10000"/>
            </a:avLst>
          </a:prstGeom>
          <a:solidFill>
            <a:srgbClr val="FAECD8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1A1F24"/>
                </a:solidFill>
                <a:latin typeface="Arial"/>
              </a:rPr>
              <a:t>Refer to concepts, never to students. Ninety seconds total, then move 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5  ·  MEMS accelerometers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Retrieval, unaided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Lecture 4's last slide — say the eight steps before I show them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1279359" cy="566928"/>
          </a:xfrm>
          <a:prstGeom prst="rect">
            <a:avLst/>
          </a:prstGeom>
          <a:solidFill>
            <a:srgbClr val="DCEDE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1A1F24"/>
                </a:solidFill>
                <a:latin typeface="Arial"/>
              </a:rPr>
              <a:t>MEASURAND</a:t>
            </a:r>
          </a:p>
        </p:txBody>
      </p:sp>
      <p:sp>
        <p:nvSpPr>
          <p:cNvPr id="9" name="Rectangle 8"/>
          <p:cNvSpPr/>
          <p:nvPr/>
        </p:nvSpPr>
        <p:spPr>
          <a:xfrm>
            <a:off x="2029167" y="2103120"/>
            <a:ext cx="1279359" cy="566928"/>
          </a:xfrm>
          <a:prstGeom prst="rect">
            <a:avLst/>
          </a:prstGeom>
          <a:solidFill>
            <a:srgbClr val="DCEDE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1A1F24"/>
                </a:solidFill>
                <a:latin typeface="Arial"/>
              </a:rPr>
              <a:t>TRANSDUCTION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99967" y="2103120"/>
            <a:ext cx="1279359" cy="566928"/>
          </a:xfrm>
          <a:prstGeom prst="rect">
            <a:avLst/>
          </a:prstGeom>
          <a:solidFill>
            <a:srgbClr val="DCEDE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1A1F24"/>
                </a:solidFill>
                <a:latin typeface="Arial"/>
              </a:rPr>
              <a:t>STRUCTURE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70767" y="2103120"/>
            <a:ext cx="1279359" cy="566928"/>
          </a:xfrm>
          <a:prstGeom prst="rect">
            <a:avLst/>
          </a:prstGeom>
          <a:solidFill>
            <a:srgbClr val="DCEDE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1A1F24"/>
                </a:solidFill>
                <a:latin typeface="Arial"/>
              </a:rPr>
              <a:t>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1567" y="2103120"/>
            <a:ext cx="1279359" cy="566928"/>
          </a:xfrm>
          <a:prstGeom prst="rect">
            <a:avLst/>
          </a:prstGeom>
          <a:solidFill>
            <a:srgbClr val="DCEDE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1A1F24"/>
                </a:solidFill>
                <a:latin typeface="Arial"/>
              </a:rPr>
              <a:t>SPECIFICATIONS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12367" y="2103120"/>
            <a:ext cx="1279359" cy="566928"/>
          </a:xfrm>
          <a:prstGeom prst="rect">
            <a:avLst/>
          </a:prstGeom>
          <a:solidFill>
            <a:srgbClr val="DCEDE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1A1F24"/>
                </a:solidFill>
                <a:latin typeface="Arial"/>
              </a:rPr>
              <a:t>INTERFACE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83167" y="2103120"/>
            <a:ext cx="1279359" cy="566928"/>
          </a:xfrm>
          <a:prstGeom prst="rect">
            <a:avLst/>
          </a:prstGeom>
          <a:solidFill>
            <a:srgbClr val="DCEDE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1A1F24"/>
                </a:solidFill>
                <a:latin typeface="Arial"/>
              </a:rPr>
              <a:t>CALIBRATION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53967" y="2103120"/>
            <a:ext cx="1279359" cy="566928"/>
          </a:xfrm>
          <a:prstGeom prst="rect">
            <a:avLst/>
          </a:prstGeom>
          <a:solidFill>
            <a:srgbClr val="DCEDE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1A1F24"/>
                </a:solidFill>
                <a:latin typeface="Arial"/>
              </a:rPr>
              <a:t>FAILURE MODES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13055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84031" y="213055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4831" y="213055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5631" y="213055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6431" y="213055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67231" y="213055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38031" y="213055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08831" y="213055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154680"/>
            <a:ext cx="10874959" cy="786384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100" b="1">
                <a:solidFill>
                  <a:srgbClr val="F7F5F1"/>
                </a:solidFill>
                <a:latin typeface="Arial"/>
              </a:rPr>
              <a:t>Today: all eight steps, for one device — structure 1 with principle 1. The proof mass on a flexure, read capacitively.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206240"/>
            <a:ext cx="10874959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0" i="0">
                <a:solidFill>
                  <a:srgbClr val="1A1F24"/>
                </a:solidFill>
                <a:latin typeface="Arial"/>
              </a:rPr>
              <a:t>▸  The same eight headings are the columns of your project's sensor-selection matrix.</a:t>
            </a:r>
          </a:p>
          <a:p>
            <a:pPr algn="l">
              <a:lnSpc>
                <a:spcPct val="150000"/>
              </a:lnSpc>
            </a:pPr>
            <a:r>
              <a:rPr sz="1900" b="0" i="0">
                <a:solidFill>
                  <a:srgbClr val="1A1F24"/>
                </a:solidFill>
                <a:latin typeface="Arial"/>
              </a:rPr>
              <a:t>▸  By minute 60 we will have written a byte into the part on your bench.</a:t>
            </a:r>
          </a:p>
          <a:p>
            <a:pPr algn="l">
              <a:lnSpc>
                <a:spcPct val="150000"/>
              </a:lnSpc>
            </a:pPr>
            <a:r>
              <a:rPr sz="1900" b="0" i="0">
                <a:solidFill>
                  <a:srgbClr val="1A1F24"/>
                </a:solidFill>
                <a:latin typeface="Arial"/>
              </a:rPr>
              <a:t>▸  The strip comes back at every section, so you always know which step we are 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48C"/>
                </a:solidFill>
                <a:latin typeface="Arial"/>
              </a:rPr>
              <a:t>MEMS &amp; Sensors  ·  Lecture 5  ·  MEMS accelerometers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7A848C"/>
                </a:solidFill>
                <a:latin typeface="Arial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8324"/>
                </a:solidFill>
                <a:latin typeface="Arial"/>
              </a:rPr>
              <a:t>THE HOOK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65960"/>
            <a:ext cx="10874959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 i="0">
                <a:solidFill>
                  <a:srgbClr val="F7F5F1"/>
                </a:solidFill>
                <a:latin typeface="Arial"/>
              </a:rPr>
              <a:t>Put your phone flat on the desk.</a:t>
            </a:r>
          </a:p>
          <a:p>
            <a:pPr algn="l">
              <a:lnSpc>
                <a:spcPct val="118000"/>
              </a:lnSpc>
            </a:pPr>
            <a:r>
              <a:rPr sz="3400" b="1" i="0">
                <a:solidFill>
                  <a:srgbClr val="F7F5F1"/>
                </a:solidFill>
                <a:latin typeface="Arial"/>
              </a:rPr>
              <a:t>Its accelerometer reads 1 g —</a:t>
            </a:r>
          </a:p>
          <a:p>
            <a:pPr algn="l">
              <a:lnSpc>
                <a:spcPct val="118000"/>
              </a:lnSpc>
            </a:pPr>
            <a:r>
              <a:rPr sz="3400" b="1" i="0">
                <a:solidFill>
                  <a:srgbClr val="F7F5F1"/>
                </a:solidFill>
                <a:latin typeface="Arial"/>
              </a:rPr>
              <a:t>and nothing is accelerating.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4617720"/>
            <a:ext cx="1371600" cy="50800"/>
          </a:xfrm>
          <a:prstGeom prst="rect">
            <a:avLst/>
          </a:prstGeom>
          <a:solidFill>
            <a:srgbClr val="D98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892040"/>
            <a:ext cx="996055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0" i="0">
                <a:solidFill>
                  <a:srgbClr val="B8C0C6"/>
                </a:solidFill>
                <a:latin typeface="Arial"/>
              </a:rPr>
              <a:t>Not a calibration error. Not an offset. The single most useful fact about this sensor, and the one most engineers get backwards.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5  ·  MEMS accelerometers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8324"/>
                </a:solidFill>
                <a:latin typeface="Arial"/>
              </a:rPr>
              <a:t>POLL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495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i="0">
                <a:solidFill>
                  <a:srgbClr val="1A1F24"/>
                </a:solidFill>
                <a:latin typeface="Arial"/>
              </a:rPr>
              <a:t>An accelerometer lies flat and motionless on a table, Z axis pointing up.</a:t>
            </a:r>
          </a:p>
          <a:p>
            <a:pPr algn="l">
              <a:lnSpc>
                <a:spcPct val="120000"/>
              </a:lnSpc>
            </a:pPr>
            <a:r>
              <a:rPr sz="2300" b="1" i="0">
                <a:solidFill>
                  <a:srgbClr val="1A1F24"/>
                </a:solidFill>
                <a:latin typeface="Arial"/>
              </a:rPr>
              <a:t>What does its Z output read?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28600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404872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414016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0 g — nothing is accelerating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090672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209544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218688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+1 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895344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014216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023360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−1 g — gravity points down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700016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4818888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828032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It depends on how it was calibrated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541264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6B7680"/>
                </a:solidFill>
                <a:latin typeface="Arial"/>
              </a:rPr>
              <a:t>Vote alone, on my count. Then I will show you what the proof mass actually feels.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48C"/>
                </a:solidFill>
                <a:latin typeface="Arial"/>
              </a:rPr>
              <a:t>MEMS &amp; Sensors  ·  Lecture 5  ·  MEMS accelerometers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7A848C"/>
                </a:solidFill>
                <a:latin typeface="Arial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Arial"/>
              </a:rPr>
              <a:t>CHUNK 1  ·  MEASURAND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37360"/>
            <a:ext cx="904615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7F5F1"/>
                </a:solidFill>
                <a:latin typeface="Arial"/>
              </a:rPr>
              <a:t>What an accelerometer</a:t>
            </a:r>
          </a:p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7F5F1"/>
                </a:solidFill>
                <a:latin typeface="Arial"/>
              </a:rPr>
              <a:t>actually measures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794760"/>
            <a:ext cx="1371600" cy="508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160520"/>
            <a:ext cx="1087495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0" i="0">
                <a:solidFill>
                  <a:srgbClr val="B8C0C6"/>
                </a:solidFill>
                <a:latin typeface="Arial"/>
              </a:rPr>
              <a:t>Not acceleration — specific force. Gravity is invisible to it, so it reports everything except gravity.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5532120"/>
            <a:ext cx="1279359" cy="384048"/>
          </a:xfrm>
          <a:prstGeom prst="rect">
            <a:avLst/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1A1F24"/>
                </a:solidFill>
                <a:latin typeface="Arial"/>
              </a:rPr>
              <a:t>MEASURAND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29167" y="5532120"/>
            <a:ext cx="1279359" cy="384048"/>
          </a:xfrm>
          <a:prstGeom prst="rect">
            <a:avLst/>
          </a:prstGeom>
          <a:solidFill>
            <a:srgbClr val="1A1F24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6B7680"/>
                </a:solidFill>
                <a:latin typeface="Arial"/>
              </a:rPr>
              <a:t>TRANSDUCTION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99967" y="5532120"/>
            <a:ext cx="1279359" cy="384048"/>
          </a:xfrm>
          <a:prstGeom prst="rect">
            <a:avLst/>
          </a:prstGeom>
          <a:solidFill>
            <a:srgbClr val="1A1F24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6B7680"/>
                </a:solidFill>
                <a:latin typeface="Arial"/>
              </a:rPr>
              <a:t>STRUCTURE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70767" y="5532120"/>
            <a:ext cx="1279359" cy="384048"/>
          </a:xfrm>
          <a:prstGeom prst="rect">
            <a:avLst/>
          </a:prstGeom>
          <a:solidFill>
            <a:srgbClr val="1A1F24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6B7680"/>
                </a:solidFill>
                <a:latin typeface="Arial"/>
              </a:rPr>
              <a:t>OUTPUT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1567" y="5532120"/>
            <a:ext cx="1279359" cy="384048"/>
          </a:xfrm>
          <a:prstGeom prst="rect">
            <a:avLst/>
          </a:prstGeom>
          <a:solidFill>
            <a:srgbClr val="1A1F24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6B7680"/>
                </a:solidFill>
                <a:latin typeface="Arial"/>
              </a:rPr>
              <a:t>SPECIFICATIONS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12367" y="5532120"/>
            <a:ext cx="1279359" cy="384048"/>
          </a:xfrm>
          <a:prstGeom prst="rect">
            <a:avLst/>
          </a:prstGeom>
          <a:solidFill>
            <a:srgbClr val="1A1F24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6B7680"/>
                </a:solidFill>
                <a:latin typeface="Arial"/>
              </a:rPr>
              <a:t>INTERFACE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83167" y="5532120"/>
            <a:ext cx="1279359" cy="384048"/>
          </a:xfrm>
          <a:prstGeom prst="rect">
            <a:avLst/>
          </a:prstGeom>
          <a:solidFill>
            <a:srgbClr val="1A1F24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6B7680"/>
                </a:solidFill>
                <a:latin typeface="Arial"/>
              </a:rPr>
              <a:t>CALIBRATION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53967" y="5532120"/>
            <a:ext cx="1279359" cy="384048"/>
          </a:xfrm>
          <a:prstGeom prst="rect">
            <a:avLst/>
          </a:prstGeom>
          <a:solidFill>
            <a:srgbClr val="1A1F24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6B7680"/>
                </a:solidFill>
                <a:latin typeface="Arial"/>
              </a:rPr>
              <a:t>FAILURE MODES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5  ·  MEMS accelerometers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What the proof mass can feel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Gravity pulls the mass and the frame equally — so the springs never notice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65960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7F5F1"/>
                </a:solidFill>
                <a:latin typeface="Arial"/>
              </a:rPr>
              <a:t>RESTING ON A 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478024"/>
            <a:ext cx="3493008" cy="2057400"/>
          </a:xfrm>
          <a:prstGeom prst="rect">
            <a:avLst/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596896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6B7680"/>
                </a:solidFill>
                <a:latin typeface="Arial"/>
              </a:rPr>
              <a:t>TRUE ACCELERATION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81635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F24"/>
                </a:solidFill>
                <a:latin typeface="Courier New"/>
              </a:rPr>
              <a:t>a =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24612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6B7680"/>
                </a:solidFill>
                <a:latin typeface="Arial"/>
              </a:rPr>
              <a:t>the table pushes the frame UP;</a:t>
            </a:r>
          </a:p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6B7680"/>
                </a:solidFill>
                <a:latin typeface="Arial"/>
              </a:rPr>
              <a:t>the springs carry that push to the mass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0233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B7680"/>
                </a:solidFill>
                <a:latin typeface="Arial"/>
              </a:rPr>
              <a:t>Z READS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38528" y="3913632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E7C86"/>
                </a:solidFill>
                <a:latin typeface="Courier New"/>
              </a:rPr>
              <a:t>+1 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2544" y="1965960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7F5F1"/>
                </a:solidFill>
                <a:latin typeface="Arial"/>
              </a:rPr>
              <a:t>IN FREE FALL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52544" y="2478024"/>
            <a:ext cx="3493008" cy="2057400"/>
          </a:xfrm>
          <a:prstGeom prst="rect">
            <a:avLst/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2596896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6B7680"/>
                </a:solidFill>
                <a:latin typeface="Arial"/>
              </a:rPr>
              <a:t>TRUE ACCELERATION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281635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F24"/>
                </a:solidFill>
                <a:latin typeface="Courier New"/>
              </a:rPr>
              <a:t>a = g, down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324612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6B7680"/>
                </a:solidFill>
                <a:latin typeface="Arial"/>
              </a:rPr>
              <a:t>nothing pushes anything;</a:t>
            </a:r>
          </a:p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6B7680"/>
                </a:solidFill>
                <a:latin typeface="Arial"/>
              </a:rPr>
              <a:t>mass and frame fall together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40233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B7680"/>
                </a:solidFill>
                <a:latin typeface="Arial"/>
              </a:rPr>
              <a:t>Z READS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32704" y="3913632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C0392B"/>
                </a:solidFill>
                <a:latin typeface="Courier New"/>
              </a:rPr>
              <a:t>0 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1965960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7F5F1"/>
                </a:solidFill>
                <a:latin typeface="Arial"/>
              </a:rPr>
              <a:t>LIFT ACCELERATING UP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2478024"/>
            <a:ext cx="3493008" cy="2057400"/>
          </a:xfrm>
          <a:prstGeom prst="rect">
            <a:avLst/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4" y="2596896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6B7680"/>
                </a:solidFill>
                <a:latin typeface="Arial"/>
              </a:rPr>
              <a:t>TRUE ACCELERATION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024" y="281635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F24"/>
                </a:solidFill>
                <a:latin typeface="Courier New"/>
              </a:rPr>
              <a:t>a = 0.2 g, 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3024" y="324612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6B7680"/>
                </a:solidFill>
                <a:latin typeface="Arial"/>
              </a:rPr>
              <a:t>the floor pushes harder than gravity</a:t>
            </a:r>
          </a:p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6B7680"/>
                </a:solidFill>
                <a:latin typeface="Arial"/>
              </a:rPr>
              <a:t>needs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3024" y="40233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B7680"/>
                </a:solidFill>
                <a:latin typeface="Arial"/>
              </a:rPr>
              <a:t>Z READS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3913632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E7C86"/>
                </a:solidFill>
                <a:latin typeface="Courier New"/>
              </a:rPr>
              <a:t>+1.2 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4754880"/>
            <a:ext cx="1087495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2000" b="1" i="0">
                <a:solidFill>
                  <a:srgbClr val="1A1F24"/>
                </a:solidFill>
                <a:latin typeface="Arial"/>
              </a:rPr>
              <a:t>specific force   </a:t>
            </a:r>
            <a:r>
              <a:rPr sz="2600" b="1" i="0">
                <a:solidFill>
                  <a:srgbClr val="0E7C86"/>
                </a:solidFill>
                <a:latin typeface="Courier New"/>
              </a:rPr>
              <a:t>f  =  a − g</a:t>
            </a:r>
            <a:r>
              <a:rPr sz="1800" b="0" i="0">
                <a:solidFill>
                  <a:srgbClr val="6B7680"/>
                </a:solidFill>
                <a:latin typeface="Arial"/>
              </a:rPr>
              <a:t>      with g pointing down, so at rest  f = +1 g, up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04688"/>
            <a:ext cx="10874959" cy="713232"/>
          </a:xfrm>
          <a:prstGeom prst="roundRect">
            <a:avLst>
              <a:gd name="adj" fmla="val 10000"/>
            </a:avLst>
          </a:prstGeom>
          <a:solidFill>
            <a:srgbClr val="FAECD8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900" b="1">
                <a:solidFill>
                  <a:srgbClr val="1A1F24"/>
                </a:solidFill>
                <a:latin typeface="Arial"/>
              </a:rPr>
              <a:t>An accelerometer measures every force except gravity, divided by mass. At rest, the only such force is the table.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5  ·  MEMS accelerometers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Arial"/>
              </a:rPr>
              <a:t>POLL 1   ·  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495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i="0">
                <a:solidFill>
                  <a:srgbClr val="1A1F24"/>
                </a:solidFill>
                <a:latin typeface="Arial"/>
              </a:rPr>
              <a:t>An accelerometer lies flat and motionless on a table, Z axis pointing up.</a:t>
            </a:r>
          </a:p>
          <a:p>
            <a:pPr algn="l">
              <a:lnSpc>
                <a:spcPct val="120000"/>
              </a:lnSpc>
            </a:pPr>
            <a:r>
              <a:rPr sz="2300" b="1" i="0">
                <a:solidFill>
                  <a:srgbClr val="1A1F24"/>
                </a:solidFill>
                <a:latin typeface="Arial"/>
              </a:rPr>
              <a:t>What does its Z output read?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28600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404872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414016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0 g — nothing is accelerating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090672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DCEDEF"/>
          </a:solidFill>
          <a:ln w="317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209544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E7C86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218688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F24"/>
                </a:solidFill>
                <a:latin typeface="Arial"/>
              </a:rPr>
              <a:t>+1 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895344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014216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023360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−1 g — gravity points down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700016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4818888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828032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It depends on how it was calibrated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541264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0E7C86"/>
                </a:solidFill>
                <a:latin typeface="Arial"/>
              </a:rPr>
              <a:t>+1 g, UP. The table pushes the frame up with a force mg, and that push is all the springs can feel. Free fall would read zero. The sign is not a convention — it is the direction of the push.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5  ·  MEMS accelerometers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Two quantities in one number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Static (gravity, so tilt) and dynamic (motion) arrive added together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65960"/>
            <a:ext cx="5349240" cy="566928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900" b="1">
                <a:solidFill>
                  <a:srgbClr val="F7F5F1"/>
                </a:solidFill>
                <a:latin typeface="Arial"/>
              </a:rPr>
              <a:t>STATIC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532888"/>
            <a:ext cx="5349240" cy="1874519"/>
          </a:xfrm>
          <a:prstGeom prst="rect">
            <a:avLst/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6974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F24"/>
                </a:solidFill>
                <a:latin typeface="Arial"/>
              </a:rPr>
              <a:t>gravity's projection on each axis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1546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6B7680"/>
                </a:solidFill>
                <a:latin typeface="Arial"/>
              </a:rPr>
              <a:t>changes when the device TILTS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639312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6B7680"/>
                </a:solidFill>
                <a:latin typeface="Arial"/>
              </a:rPr>
              <a:t>APPLICATIONS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877056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E7C86"/>
                </a:solidFill>
                <a:latin typeface="Arial"/>
              </a:rPr>
              <a:t>tilt · level · orientation · free-fall detect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965960"/>
            <a:ext cx="5349240" cy="566928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900" b="1">
                <a:solidFill>
                  <a:srgbClr val="1A1F24"/>
                </a:solidFill>
                <a:latin typeface="Arial"/>
              </a:rPr>
              <a:t>DYNAMIC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27648" y="2532888"/>
            <a:ext cx="5349240" cy="1874519"/>
          </a:xfrm>
          <a:prstGeom prst="rect">
            <a:avLst/>
          </a:prstGeom>
          <a:solidFill>
            <a:srgbClr val="FFFFFF"/>
          </a:solidFill>
          <a:ln w="19050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6974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F24"/>
                </a:solidFill>
                <a:latin typeface="Arial"/>
              </a:rPr>
              <a:t>every push that is not gravity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31546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6B7680"/>
                </a:solidFill>
                <a:latin typeface="Arial"/>
              </a:rPr>
              <a:t>changes when the device MOVES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3639312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6B7680"/>
                </a:solidFill>
                <a:latin typeface="Arial"/>
              </a:rPr>
              <a:t>APPLICATIONS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3877056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98324"/>
                </a:solidFill>
                <a:latin typeface="Arial"/>
              </a:rPr>
              <a:t>step counting · impact · vibration · crash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663440"/>
            <a:ext cx="10874959" cy="786384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100" b="1">
                <a:solidFill>
                  <a:srgbClr val="F7F5F1"/>
                </a:solidFill>
                <a:latin typeface="Arial"/>
              </a:rPr>
              <a:t>The sensor delivers their SUM. Nothing in the silicon can tell you which part is which.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59552"/>
            <a:ext cx="1087495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6B7680"/>
                </a:solidFill>
                <a:latin typeface="Arial"/>
              </a:rPr>
              <a:t>The only lever you have is frequency: tilt is slow, most motion is fast. Where they overlap, you need a second sensor — that is Lecture 6.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5  ·  MEMS accelerometers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Tilt from gravity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One axis sees g·sin θ — and its sensitivity to tilt depends on where it points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4343400"/>
            <a:ext cx="4937760" cy="12700"/>
          </a:xfrm>
          <a:prstGeom prst="rect">
            <a:avLst/>
          </a:prstGeom>
          <a:solidFill>
            <a:srgbClr val="6B7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32688" y="2240280"/>
            <a:ext cx="12700" cy="2103120"/>
          </a:xfrm>
          <a:prstGeom prst="rect">
            <a:avLst/>
          </a:prstGeom>
          <a:solidFill>
            <a:srgbClr val="6B7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4398264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7680"/>
                </a:solidFill>
                <a:latin typeface="Arial"/>
              </a:rPr>
              <a:t>tilt θ, 0° → 90°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929384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B7680"/>
                </a:solidFill>
                <a:latin typeface="Arial"/>
              </a:rPr>
              <a:t>output, g</a:t>
            </a:r>
          </a:p>
        </p:txBody>
      </p:sp>
      <p:sp>
        <p:nvSpPr>
          <p:cNvPr id="12" name="Freeform 11"/>
          <p:cNvSpPr/>
          <p:nvPr/>
        </p:nvSpPr>
        <p:spPr>
          <a:xfrm>
            <a:off x="932688" y="2340428"/>
            <a:ext cx="4937760" cy="2002972"/>
          </a:xfrm>
          <a:custGeom>
            <a:avLst/>
            <a:gdLst/>
            <a:ahLst/>
            <a:cxnLst/>
            <a:rect l="l" t="t" r="r" b="b"/>
            <a:pathLst>
              <a:path w="4937760" h="2002972">
                <a:moveTo>
                  <a:pt x="0" y="2002972"/>
                </a:moveTo>
                <a:lnTo>
                  <a:pt x="20574" y="1989862"/>
                </a:lnTo>
                <a:lnTo>
                  <a:pt x="41148" y="1976753"/>
                </a:lnTo>
                <a:lnTo>
                  <a:pt x="61722" y="1963646"/>
                </a:lnTo>
                <a:lnTo>
                  <a:pt x="82296" y="1950540"/>
                </a:lnTo>
                <a:lnTo>
                  <a:pt x="102870" y="1937436"/>
                </a:lnTo>
                <a:lnTo>
                  <a:pt x="123444" y="1924335"/>
                </a:lnTo>
                <a:lnTo>
                  <a:pt x="144018" y="1911238"/>
                </a:lnTo>
                <a:lnTo>
                  <a:pt x="164592" y="1898144"/>
                </a:lnTo>
                <a:lnTo>
                  <a:pt x="185166" y="1885055"/>
                </a:lnTo>
                <a:lnTo>
                  <a:pt x="205740" y="1871971"/>
                </a:lnTo>
                <a:lnTo>
                  <a:pt x="226314" y="1858892"/>
                </a:lnTo>
                <a:lnTo>
                  <a:pt x="246888" y="1845820"/>
                </a:lnTo>
                <a:lnTo>
                  <a:pt x="267462" y="1832755"/>
                </a:lnTo>
                <a:lnTo>
                  <a:pt x="288036" y="1819696"/>
                </a:lnTo>
                <a:lnTo>
                  <a:pt x="308610" y="1806646"/>
                </a:lnTo>
                <a:lnTo>
                  <a:pt x="329184" y="1793604"/>
                </a:lnTo>
                <a:lnTo>
                  <a:pt x="349758" y="1780571"/>
                </a:lnTo>
                <a:lnTo>
                  <a:pt x="370332" y="1767547"/>
                </a:lnTo>
                <a:lnTo>
                  <a:pt x="390906" y="1754534"/>
                </a:lnTo>
                <a:lnTo>
                  <a:pt x="411480" y="1741531"/>
                </a:lnTo>
                <a:lnTo>
                  <a:pt x="432054" y="1728540"/>
                </a:lnTo>
                <a:lnTo>
                  <a:pt x="452628" y="1715560"/>
                </a:lnTo>
                <a:lnTo>
                  <a:pt x="473202" y="1702592"/>
                </a:lnTo>
                <a:lnTo>
                  <a:pt x="493776" y="1689638"/>
                </a:lnTo>
                <a:lnTo>
                  <a:pt x="514350" y="1676697"/>
                </a:lnTo>
                <a:lnTo>
                  <a:pt x="534924" y="1663769"/>
                </a:lnTo>
                <a:lnTo>
                  <a:pt x="555498" y="1650857"/>
                </a:lnTo>
                <a:lnTo>
                  <a:pt x="576072" y="1637959"/>
                </a:lnTo>
                <a:lnTo>
                  <a:pt x="596646" y="1625077"/>
                </a:lnTo>
                <a:lnTo>
                  <a:pt x="617220" y="1612211"/>
                </a:lnTo>
                <a:lnTo>
                  <a:pt x="637794" y="1599362"/>
                </a:lnTo>
                <a:lnTo>
                  <a:pt x="658368" y="1586530"/>
                </a:lnTo>
                <a:lnTo>
                  <a:pt x="678942" y="1573716"/>
                </a:lnTo>
                <a:lnTo>
                  <a:pt x="699516" y="1560921"/>
                </a:lnTo>
                <a:lnTo>
                  <a:pt x="720090" y="1548144"/>
                </a:lnTo>
                <a:lnTo>
                  <a:pt x="740664" y="1535387"/>
                </a:lnTo>
                <a:lnTo>
                  <a:pt x="761238" y="1522650"/>
                </a:lnTo>
                <a:lnTo>
                  <a:pt x="781812" y="1509933"/>
                </a:lnTo>
                <a:lnTo>
                  <a:pt x="802386" y="1497238"/>
                </a:lnTo>
                <a:lnTo>
                  <a:pt x="822960" y="1484564"/>
                </a:lnTo>
                <a:lnTo>
                  <a:pt x="843534" y="1471913"/>
                </a:lnTo>
                <a:lnTo>
                  <a:pt x="864108" y="1459284"/>
                </a:lnTo>
                <a:lnTo>
                  <a:pt x="884682" y="1446679"/>
                </a:lnTo>
                <a:lnTo>
                  <a:pt x="905256" y="1434097"/>
                </a:lnTo>
                <a:lnTo>
                  <a:pt x="925830" y="1421540"/>
                </a:lnTo>
                <a:lnTo>
                  <a:pt x="946404" y="1409007"/>
                </a:lnTo>
                <a:lnTo>
                  <a:pt x="966978" y="1396500"/>
                </a:lnTo>
                <a:lnTo>
                  <a:pt x="987552" y="1384019"/>
                </a:lnTo>
                <a:lnTo>
                  <a:pt x="1008126" y="1371565"/>
                </a:lnTo>
                <a:lnTo>
                  <a:pt x="1028700" y="1359137"/>
                </a:lnTo>
                <a:lnTo>
                  <a:pt x="1049274" y="1346738"/>
                </a:lnTo>
                <a:lnTo>
                  <a:pt x="1069848" y="1334366"/>
                </a:lnTo>
                <a:lnTo>
                  <a:pt x="1090422" y="1322023"/>
                </a:lnTo>
                <a:lnTo>
                  <a:pt x="1110996" y="1309709"/>
                </a:lnTo>
                <a:lnTo>
                  <a:pt x="1131570" y="1297425"/>
                </a:lnTo>
                <a:lnTo>
                  <a:pt x="1152144" y="1285171"/>
                </a:lnTo>
                <a:lnTo>
                  <a:pt x="1172718" y="1272948"/>
                </a:lnTo>
                <a:lnTo>
                  <a:pt x="1193292" y="1260756"/>
                </a:lnTo>
                <a:lnTo>
                  <a:pt x="1213866" y="1248595"/>
                </a:lnTo>
                <a:lnTo>
                  <a:pt x="1234440" y="1236468"/>
                </a:lnTo>
                <a:lnTo>
                  <a:pt x="1255014" y="1224373"/>
                </a:lnTo>
                <a:lnTo>
                  <a:pt x="1275588" y="1212311"/>
                </a:lnTo>
                <a:lnTo>
                  <a:pt x="1296162" y="1200283"/>
                </a:lnTo>
                <a:lnTo>
                  <a:pt x="1316736" y="1188290"/>
                </a:lnTo>
                <a:lnTo>
                  <a:pt x="1337310" y="1176331"/>
                </a:lnTo>
                <a:lnTo>
                  <a:pt x="1357884" y="1164408"/>
                </a:lnTo>
                <a:lnTo>
                  <a:pt x="1378458" y="1152521"/>
                </a:lnTo>
                <a:lnTo>
                  <a:pt x="1399032" y="1140670"/>
                </a:lnTo>
                <a:lnTo>
                  <a:pt x="1419606" y="1128856"/>
                </a:lnTo>
                <a:lnTo>
                  <a:pt x="1440180" y="1117080"/>
                </a:lnTo>
                <a:lnTo>
                  <a:pt x="1460754" y="1105341"/>
                </a:lnTo>
                <a:lnTo>
                  <a:pt x="1481328" y="1093642"/>
                </a:lnTo>
                <a:lnTo>
                  <a:pt x="1501902" y="1081980"/>
                </a:lnTo>
                <a:lnTo>
                  <a:pt x="1522476" y="1070359"/>
                </a:lnTo>
                <a:lnTo>
                  <a:pt x="1543050" y="1058777"/>
                </a:lnTo>
                <a:lnTo>
                  <a:pt x="1563624" y="1047236"/>
                </a:lnTo>
                <a:lnTo>
                  <a:pt x="1584198" y="1035736"/>
                </a:lnTo>
                <a:lnTo>
                  <a:pt x="1604772" y="1024277"/>
                </a:lnTo>
                <a:lnTo>
                  <a:pt x="1625346" y="1012860"/>
                </a:lnTo>
                <a:lnTo>
                  <a:pt x="1645920" y="1001486"/>
                </a:lnTo>
                <a:lnTo>
                  <a:pt x="1666494" y="990154"/>
                </a:lnTo>
                <a:lnTo>
                  <a:pt x="1687068" y="978866"/>
                </a:lnTo>
                <a:lnTo>
                  <a:pt x="1707642" y="967622"/>
                </a:lnTo>
                <a:lnTo>
                  <a:pt x="1728216" y="956422"/>
                </a:lnTo>
                <a:lnTo>
                  <a:pt x="1748790" y="945267"/>
                </a:lnTo>
                <a:lnTo>
                  <a:pt x="1769364" y="934157"/>
                </a:lnTo>
                <a:lnTo>
                  <a:pt x="1789938" y="923093"/>
                </a:lnTo>
                <a:lnTo>
                  <a:pt x="1810512" y="912075"/>
                </a:lnTo>
                <a:lnTo>
                  <a:pt x="1831086" y="901104"/>
                </a:lnTo>
                <a:lnTo>
                  <a:pt x="1851660" y="890180"/>
                </a:lnTo>
                <a:lnTo>
                  <a:pt x="1872234" y="879304"/>
                </a:lnTo>
                <a:lnTo>
                  <a:pt x="1892808" y="868476"/>
                </a:lnTo>
                <a:lnTo>
                  <a:pt x="1913382" y="857697"/>
                </a:lnTo>
                <a:lnTo>
                  <a:pt x="1933956" y="846966"/>
                </a:lnTo>
                <a:lnTo>
                  <a:pt x="1954530" y="836285"/>
                </a:lnTo>
                <a:lnTo>
                  <a:pt x="1975104" y="825654"/>
                </a:lnTo>
                <a:lnTo>
                  <a:pt x="1995678" y="815074"/>
                </a:lnTo>
                <a:lnTo>
                  <a:pt x="2016252" y="804544"/>
                </a:lnTo>
                <a:lnTo>
                  <a:pt x="2036826" y="794066"/>
                </a:lnTo>
                <a:lnTo>
                  <a:pt x="2057400" y="783640"/>
                </a:lnTo>
                <a:lnTo>
                  <a:pt x="2077974" y="773266"/>
                </a:lnTo>
                <a:lnTo>
                  <a:pt x="2098548" y="762944"/>
                </a:lnTo>
                <a:lnTo>
                  <a:pt x="2119122" y="752676"/>
                </a:lnTo>
                <a:lnTo>
                  <a:pt x="2139696" y="742461"/>
                </a:lnTo>
                <a:lnTo>
                  <a:pt x="2160270" y="732300"/>
                </a:lnTo>
                <a:lnTo>
                  <a:pt x="2180844" y="722193"/>
                </a:lnTo>
                <a:lnTo>
                  <a:pt x="2201418" y="712142"/>
                </a:lnTo>
                <a:lnTo>
                  <a:pt x="2221992" y="702146"/>
                </a:lnTo>
                <a:lnTo>
                  <a:pt x="2242566" y="692205"/>
                </a:lnTo>
                <a:lnTo>
                  <a:pt x="2263140" y="682321"/>
                </a:lnTo>
                <a:lnTo>
                  <a:pt x="2283714" y="672493"/>
                </a:lnTo>
                <a:lnTo>
                  <a:pt x="2304288" y="662722"/>
                </a:lnTo>
                <a:lnTo>
                  <a:pt x="2324862" y="653009"/>
                </a:lnTo>
                <a:lnTo>
                  <a:pt x="2345436" y="643353"/>
                </a:lnTo>
                <a:lnTo>
                  <a:pt x="2366010" y="633756"/>
                </a:lnTo>
                <a:lnTo>
                  <a:pt x="2386584" y="624217"/>
                </a:lnTo>
                <a:lnTo>
                  <a:pt x="2407158" y="614737"/>
                </a:lnTo>
                <a:lnTo>
                  <a:pt x="2427732" y="605317"/>
                </a:lnTo>
                <a:lnTo>
                  <a:pt x="2448306" y="595957"/>
                </a:lnTo>
                <a:lnTo>
                  <a:pt x="2468880" y="586657"/>
                </a:lnTo>
                <a:lnTo>
                  <a:pt x="2489454" y="577417"/>
                </a:lnTo>
                <a:lnTo>
                  <a:pt x="2510028" y="568239"/>
                </a:lnTo>
                <a:lnTo>
                  <a:pt x="2530602" y="559122"/>
                </a:lnTo>
                <a:lnTo>
                  <a:pt x="2551176" y="550067"/>
                </a:lnTo>
                <a:lnTo>
                  <a:pt x="2571750" y="541075"/>
                </a:lnTo>
                <a:lnTo>
                  <a:pt x="2592324" y="532144"/>
                </a:lnTo>
                <a:lnTo>
                  <a:pt x="2612898" y="523277"/>
                </a:lnTo>
                <a:lnTo>
                  <a:pt x="2633472" y="514474"/>
                </a:lnTo>
                <a:lnTo>
                  <a:pt x="2654046" y="505734"/>
                </a:lnTo>
                <a:lnTo>
                  <a:pt x="2674620" y="497058"/>
                </a:lnTo>
                <a:lnTo>
                  <a:pt x="2695194" y="488447"/>
                </a:lnTo>
                <a:lnTo>
                  <a:pt x="2715768" y="479900"/>
                </a:lnTo>
                <a:lnTo>
                  <a:pt x="2736342" y="471419"/>
                </a:lnTo>
                <a:lnTo>
                  <a:pt x="2756916" y="463003"/>
                </a:lnTo>
                <a:lnTo>
                  <a:pt x="2777490" y="454654"/>
                </a:lnTo>
                <a:lnTo>
                  <a:pt x="2798064" y="446370"/>
                </a:lnTo>
                <a:lnTo>
                  <a:pt x="2818638" y="438154"/>
                </a:lnTo>
                <a:lnTo>
                  <a:pt x="2839212" y="430004"/>
                </a:lnTo>
                <a:lnTo>
                  <a:pt x="2859786" y="421922"/>
                </a:lnTo>
                <a:lnTo>
                  <a:pt x="2880360" y="413907"/>
                </a:lnTo>
                <a:lnTo>
                  <a:pt x="2900934" y="405961"/>
                </a:lnTo>
                <a:lnTo>
                  <a:pt x="2921508" y="398083"/>
                </a:lnTo>
                <a:lnTo>
                  <a:pt x="2942082" y="390274"/>
                </a:lnTo>
                <a:lnTo>
                  <a:pt x="2962656" y="382534"/>
                </a:lnTo>
                <a:lnTo>
                  <a:pt x="2983230" y="374863"/>
                </a:lnTo>
                <a:lnTo>
                  <a:pt x="3003804" y="367262"/>
                </a:lnTo>
                <a:lnTo>
                  <a:pt x="3024378" y="359731"/>
                </a:lnTo>
                <a:lnTo>
                  <a:pt x="3044952" y="352270"/>
                </a:lnTo>
                <a:lnTo>
                  <a:pt x="3065526" y="344880"/>
                </a:lnTo>
                <a:lnTo>
                  <a:pt x="3086100" y="337562"/>
                </a:lnTo>
                <a:lnTo>
                  <a:pt x="3106674" y="330314"/>
                </a:lnTo>
                <a:lnTo>
                  <a:pt x="3127248" y="323138"/>
                </a:lnTo>
                <a:lnTo>
                  <a:pt x="3147822" y="316034"/>
                </a:lnTo>
                <a:lnTo>
                  <a:pt x="3168396" y="309003"/>
                </a:lnTo>
                <a:lnTo>
                  <a:pt x="3188970" y="302044"/>
                </a:lnTo>
                <a:lnTo>
                  <a:pt x="3209544" y="295158"/>
                </a:lnTo>
                <a:lnTo>
                  <a:pt x="3230118" y="288345"/>
                </a:lnTo>
                <a:lnTo>
                  <a:pt x="3250692" y="281605"/>
                </a:lnTo>
                <a:lnTo>
                  <a:pt x="3271266" y="274939"/>
                </a:lnTo>
                <a:lnTo>
                  <a:pt x="3291840" y="268347"/>
                </a:lnTo>
                <a:lnTo>
                  <a:pt x="3312414" y="261830"/>
                </a:lnTo>
                <a:lnTo>
                  <a:pt x="3332988" y="255387"/>
                </a:lnTo>
                <a:lnTo>
                  <a:pt x="3353562" y="249019"/>
                </a:lnTo>
                <a:lnTo>
                  <a:pt x="3374136" y="242726"/>
                </a:lnTo>
                <a:lnTo>
                  <a:pt x="3394710" y="236508"/>
                </a:lnTo>
                <a:lnTo>
                  <a:pt x="3415284" y="230367"/>
                </a:lnTo>
                <a:lnTo>
                  <a:pt x="3435858" y="224301"/>
                </a:lnTo>
                <a:lnTo>
                  <a:pt x="3456432" y="218311"/>
                </a:lnTo>
                <a:lnTo>
                  <a:pt x="3477006" y="212398"/>
                </a:lnTo>
                <a:lnTo>
                  <a:pt x="3497580" y="206561"/>
                </a:lnTo>
                <a:lnTo>
                  <a:pt x="3518154" y="200801"/>
                </a:lnTo>
                <a:lnTo>
                  <a:pt x="3538728" y="195119"/>
                </a:lnTo>
                <a:lnTo>
                  <a:pt x="3559302" y="189514"/>
                </a:lnTo>
                <a:lnTo>
                  <a:pt x="3579876" y="183987"/>
                </a:lnTo>
                <a:lnTo>
                  <a:pt x="3600450" y="178537"/>
                </a:lnTo>
                <a:lnTo>
                  <a:pt x="3621024" y="173166"/>
                </a:lnTo>
                <a:lnTo>
                  <a:pt x="3641598" y="167873"/>
                </a:lnTo>
                <a:lnTo>
                  <a:pt x="3662172" y="162659"/>
                </a:lnTo>
                <a:lnTo>
                  <a:pt x="3682746" y="157524"/>
                </a:lnTo>
                <a:lnTo>
                  <a:pt x="3703320" y="152467"/>
                </a:lnTo>
                <a:lnTo>
                  <a:pt x="3723894" y="147490"/>
                </a:lnTo>
                <a:lnTo>
                  <a:pt x="3744468" y="142593"/>
                </a:lnTo>
                <a:lnTo>
                  <a:pt x="3765042" y="137775"/>
                </a:lnTo>
                <a:lnTo>
                  <a:pt x="3785616" y="133037"/>
                </a:lnTo>
                <a:lnTo>
                  <a:pt x="3806190" y="128379"/>
                </a:lnTo>
                <a:lnTo>
                  <a:pt x="3826764" y="123801"/>
                </a:lnTo>
                <a:lnTo>
                  <a:pt x="3847338" y="119304"/>
                </a:lnTo>
                <a:lnTo>
                  <a:pt x="3867912" y="114888"/>
                </a:lnTo>
                <a:lnTo>
                  <a:pt x="3888486" y="110552"/>
                </a:lnTo>
                <a:lnTo>
                  <a:pt x="3909060" y="106298"/>
                </a:lnTo>
                <a:lnTo>
                  <a:pt x="3929634" y="102124"/>
                </a:lnTo>
                <a:lnTo>
                  <a:pt x="3950208" y="98032"/>
                </a:lnTo>
                <a:lnTo>
                  <a:pt x="3970782" y="94022"/>
                </a:lnTo>
                <a:lnTo>
                  <a:pt x="3991356" y="90094"/>
                </a:lnTo>
                <a:lnTo>
                  <a:pt x="4011930" y="86247"/>
                </a:lnTo>
                <a:lnTo>
                  <a:pt x="4032504" y="82483"/>
                </a:lnTo>
                <a:lnTo>
                  <a:pt x="4053078" y="78801"/>
                </a:lnTo>
                <a:lnTo>
                  <a:pt x="4073652" y="75201"/>
                </a:lnTo>
                <a:lnTo>
                  <a:pt x="4094226" y="71684"/>
                </a:lnTo>
                <a:lnTo>
                  <a:pt x="4114800" y="68250"/>
                </a:lnTo>
                <a:lnTo>
                  <a:pt x="4135374" y="64898"/>
                </a:lnTo>
                <a:lnTo>
                  <a:pt x="4155948" y="61630"/>
                </a:lnTo>
                <a:lnTo>
                  <a:pt x="4176522" y="58444"/>
                </a:lnTo>
                <a:lnTo>
                  <a:pt x="4197096" y="55342"/>
                </a:lnTo>
                <a:lnTo>
                  <a:pt x="4217670" y="52324"/>
                </a:lnTo>
                <a:lnTo>
                  <a:pt x="4238244" y="49389"/>
                </a:lnTo>
                <a:lnTo>
                  <a:pt x="4258818" y="46537"/>
                </a:lnTo>
                <a:lnTo>
                  <a:pt x="4279392" y="43770"/>
                </a:lnTo>
                <a:lnTo>
                  <a:pt x="4299966" y="41086"/>
                </a:lnTo>
                <a:lnTo>
                  <a:pt x="4320540" y="38487"/>
                </a:lnTo>
                <a:lnTo>
                  <a:pt x="4341114" y="35971"/>
                </a:lnTo>
                <a:lnTo>
                  <a:pt x="4361688" y="33540"/>
                </a:lnTo>
                <a:lnTo>
                  <a:pt x="4382262" y="31193"/>
                </a:lnTo>
                <a:lnTo>
                  <a:pt x="4402836" y="28931"/>
                </a:lnTo>
                <a:lnTo>
                  <a:pt x="4423410" y="26753"/>
                </a:lnTo>
                <a:lnTo>
                  <a:pt x="4443984" y="24660"/>
                </a:lnTo>
                <a:lnTo>
                  <a:pt x="4464558" y="22652"/>
                </a:lnTo>
                <a:lnTo>
                  <a:pt x="4485132" y="20728"/>
                </a:lnTo>
                <a:lnTo>
                  <a:pt x="4505706" y="18889"/>
                </a:lnTo>
                <a:lnTo>
                  <a:pt x="4526280" y="17136"/>
                </a:lnTo>
                <a:lnTo>
                  <a:pt x="4546854" y="15467"/>
                </a:lnTo>
                <a:lnTo>
                  <a:pt x="4567428" y="13884"/>
                </a:lnTo>
                <a:lnTo>
                  <a:pt x="4588002" y="12386"/>
                </a:lnTo>
                <a:lnTo>
                  <a:pt x="4608576" y="10973"/>
                </a:lnTo>
                <a:lnTo>
                  <a:pt x="4629150" y="9645"/>
                </a:lnTo>
                <a:lnTo>
                  <a:pt x="4649724" y="8403"/>
                </a:lnTo>
                <a:lnTo>
                  <a:pt x="4670298" y="7246"/>
                </a:lnTo>
                <a:lnTo>
                  <a:pt x="4690872" y="6175"/>
                </a:lnTo>
                <a:lnTo>
                  <a:pt x="4711446" y="5189"/>
                </a:lnTo>
                <a:lnTo>
                  <a:pt x="4732020" y="4289"/>
                </a:lnTo>
                <a:lnTo>
                  <a:pt x="4752594" y="3474"/>
                </a:lnTo>
                <a:lnTo>
                  <a:pt x="4773168" y="2745"/>
                </a:lnTo>
                <a:lnTo>
                  <a:pt x="4793742" y="2102"/>
                </a:lnTo>
                <a:lnTo>
                  <a:pt x="4814316" y="1544"/>
                </a:lnTo>
                <a:lnTo>
                  <a:pt x="4834890" y="1072"/>
                </a:lnTo>
                <a:lnTo>
                  <a:pt x="4855464" y="686"/>
                </a:lnTo>
                <a:lnTo>
                  <a:pt x="4876038" y="386"/>
                </a:lnTo>
                <a:lnTo>
                  <a:pt x="4896612" y="172"/>
                </a:lnTo>
                <a:lnTo>
                  <a:pt x="4917186" y="43"/>
                </a:lnTo>
                <a:lnTo>
                  <a:pt x="4937760" y="0"/>
                </a:lnTo>
              </a:path>
            </a:pathLst>
          </a:custGeom>
          <a:noFill/>
          <a:ln w="285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932688" y="2340428"/>
            <a:ext cx="4937760" cy="2002972"/>
          </a:xfrm>
          <a:custGeom>
            <a:avLst/>
            <a:gdLst/>
            <a:ahLst/>
            <a:cxnLst/>
            <a:rect l="l" t="t" r="r" b="b"/>
            <a:pathLst>
              <a:path w="4937760" h="2002972">
                <a:moveTo>
                  <a:pt x="0" y="0"/>
                </a:moveTo>
                <a:lnTo>
                  <a:pt x="20574" y="43"/>
                </a:lnTo>
                <a:lnTo>
                  <a:pt x="41148" y="172"/>
                </a:lnTo>
                <a:lnTo>
                  <a:pt x="61722" y="386"/>
                </a:lnTo>
                <a:lnTo>
                  <a:pt x="82296" y="686"/>
                </a:lnTo>
                <a:lnTo>
                  <a:pt x="102870" y="1072"/>
                </a:lnTo>
                <a:lnTo>
                  <a:pt x="123444" y="1544"/>
                </a:lnTo>
                <a:lnTo>
                  <a:pt x="144018" y="2102"/>
                </a:lnTo>
                <a:lnTo>
                  <a:pt x="164592" y="2745"/>
                </a:lnTo>
                <a:lnTo>
                  <a:pt x="185166" y="3474"/>
                </a:lnTo>
                <a:lnTo>
                  <a:pt x="205740" y="4289"/>
                </a:lnTo>
                <a:lnTo>
                  <a:pt x="226314" y="5189"/>
                </a:lnTo>
                <a:lnTo>
                  <a:pt x="246888" y="6175"/>
                </a:lnTo>
                <a:lnTo>
                  <a:pt x="267462" y="7246"/>
                </a:lnTo>
                <a:lnTo>
                  <a:pt x="288036" y="8403"/>
                </a:lnTo>
                <a:lnTo>
                  <a:pt x="308610" y="9645"/>
                </a:lnTo>
                <a:lnTo>
                  <a:pt x="329184" y="10973"/>
                </a:lnTo>
                <a:lnTo>
                  <a:pt x="349758" y="12386"/>
                </a:lnTo>
                <a:lnTo>
                  <a:pt x="370332" y="13884"/>
                </a:lnTo>
                <a:lnTo>
                  <a:pt x="390906" y="15467"/>
                </a:lnTo>
                <a:lnTo>
                  <a:pt x="411480" y="17136"/>
                </a:lnTo>
                <a:lnTo>
                  <a:pt x="432054" y="18889"/>
                </a:lnTo>
                <a:lnTo>
                  <a:pt x="452628" y="20728"/>
                </a:lnTo>
                <a:lnTo>
                  <a:pt x="473202" y="22652"/>
                </a:lnTo>
                <a:lnTo>
                  <a:pt x="493776" y="24660"/>
                </a:lnTo>
                <a:lnTo>
                  <a:pt x="514350" y="26753"/>
                </a:lnTo>
                <a:lnTo>
                  <a:pt x="534924" y="28931"/>
                </a:lnTo>
                <a:lnTo>
                  <a:pt x="555498" y="31193"/>
                </a:lnTo>
                <a:lnTo>
                  <a:pt x="576072" y="33540"/>
                </a:lnTo>
                <a:lnTo>
                  <a:pt x="596646" y="35971"/>
                </a:lnTo>
                <a:lnTo>
                  <a:pt x="617220" y="38487"/>
                </a:lnTo>
                <a:lnTo>
                  <a:pt x="637794" y="41086"/>
                </a:lnTo>
                <a:lnTo>
                  <a:pt x="658368" y="43770"/>
                </a:lnTo>
                <a:lnTo>
                  <a:pt x="678942" y="46537"/>
                </a:lnTo>
                <a:lnTo>
                  <a:pt x="699516" y="49389"/>
                </a:lnTo>
                <a:lnTo>
                  <a:pt x="720090" y="52324"/>
                </a:lnTo>
                <a:lnTo>
                  <a:pt x="740664" y="55342"/>
                </a:lnTo>
                <a:lnTo>
                  <a:pt x="761238" y="58444"/>
                </a:lnTo>
                <a:lnTo>
                  <a:pt x="781812" y="61630"/>
                </a:lnTo>
                <a:lnTo>
                  <a:pt x="802386" y="64898"/>
                </a:lnTo>
                <a:lnTo>
                  <a:pt x="822960" y="68250"/>
                </a:lnTo>
                <a:lnTo>
                  <a:pt x="843534" y="71684"/>
                </a:lnTo>
                <a:lnTo>
                  <a:pt x="864108" y="75201"/>
                </a:lnTo>
                <a:lnTo>
                  <a:pt x="884682" y="78801"/>
                </a:lnTo>
                <a:lnTo>
                  <a:pt x="905256" y="82483"/>
                </a:lnTo>
                <a:lnTo>
                  <a:pt x="925830" y="86247"/>
                </a:lnTo>
                <a:lnTo>
                  <a:pt x="946404" y="90094"/>
                </a:lnTo>
                <a:lnTo>
                  <a:pt x="966978" y="94022"/>
                </a:lnTo>
                <a:lnTo>
                  <a:pt x="987552" y="98032"/>
                </a:lnTo>
                <a:lnTo>
                  <a:pt x="1008126" y="102124"/>
                </a:lnTo>
                <a:lnTo>
                  <a:pt x="1028700" y="106298"/>
                </a:lnTo>
                <a:lnTo>
                  <a:pt x="1049274" y="110552"/>
                </a:lnTo>
                <a:lnTo>
                  <a:pt x="1069848" y="114888"/>
                </a:lnTo>
                <a:lnTo>
                  <a:pt x="1090422" y="119304"/>
                </a:lnTo>
                <a:lnTo>
                  <a:pt x="1110996" y="123801"/>
                </a:lnTo>
                <a:lnTo>
                  <a:pt x="1131570" y="128379"/>
                </a:lnTo>
                <a:lnTo>
                  <a:pt x="1152144" y="133037"/>
                </a:lnTo>
                <a:lnTo>
                  <a:pt x="1172718" y="137775"/>
                </a:lnTo>
                <a:lnTo>
                  <a:pt x="1193292" y="142593"/>
                </a:lnTo>
                <a:lnTo>
                  <a:pt x="1213866" y="147490"/>
                </a:lnTo>
                <a:lnTo>
                  <a:pt x="1234440" y="152467"/>
                </a:lnTo>
                <a:lnTo>
                  <a:pt x="1255014" y="157524"/>
                </a:lnTo>
                <a:lnTo>
                  <a:pt x="1275588" y="162659"/>
                </a:lnTo>
                <a:lnTo>
                  <a:pt x="1296162" y="167873"/>
                </a:lnTo>
                <a:lnTo>
                  <a:pt x="1316736" y="173166"/>
                </a:lnTo>
                <a:lnTo>
                  <a:pt x="1337310" y="178537"/>
                </a:lnTo>
                <a:lnTo>
                  <a:pt x="1357884" y="183987"/>
                </a:lnTo>
                <a:lnTo>
                  <a:pt x="1378458" y="189514"/>
                </a:lnTo>
                <a:lnTo>
                  <a:pt x="1399032" y="195119"/>
                </a:lnTo>
                <a:lnTo>
                  <a:pt x="1419606" y="200801"/>
                </a:lnTo>
                <a:lnTo>
                  <a:pt x="1440180" y="206561"/>
                </a:lnTo>
                <a:lnTo>
                  <a:pt x="1460754" y="212398"/>
                </a:lnTo>
                <a:lnTo>
                  <a:pt x="1481328" y="218311"/>
                </a:lnTo>
                <a:lnTo>
                  <a:pt x="1501902" y="224301"/>
                </a:lnTo>
                <a:lnTo>
                  <a:pt x="1522476" y="230367"/>
                </a:lnTo>
                <a:lnTo>
                  <a:pt x="1543050" y="236508"/>
                </a:lnTo>
                <a:lnTo>
                  <a:pt x="1563624" y="242726"/>
                </a:lnTo>
                <a:lnTo>
                  <a:pt x="1584198" y="249019"/>
                </a:lnTo>
                <a:lnTo>
                  <a:pt x="1604772" y="255387"/>
                </a:lnTo>
                <a:lnTo>
                  <a:pt x="1625346" y="261830"/>
                </a:lnTo>
                <a:lnTo>
                  <a:pt x="1645920" y="268347"/>
                </a:lnTo>
                <a:lnTo>
                  <a:pt x="1666494" y="274939"/>
                </a:lnTo>
                <a:lnTo>
                  <a:pt x="1687068" y="281605"/>
                </a:lnTo>
                <a:lnTo>
                  <a:pt x="1707642" y="288345"/>
                </a:lnTo>
                <a:lnTo>
                  <a:pt x="1728216" y="295158"/>
                </a:lnTo>
                <a:lnTo>
                  <a:pt x="1748790" y="302044"/>
                </a:lnTo>
                <a:lnTo>
                  <a:pt x="1769364" y="309003"/>
                </a:lnTo>
                <a:lnTo>
                  <a:pt x="1789938" y="316034"/>
                </a:lnTo>
                <a:lnTo>
                  <a:pt x="1810512" y="323138"/>
                </a:lnTo>
                <a:lnTo>
                  <a:pt x="1831086" y="330314"/>
                </a:lnTo>
                <a:lnTo>
                  <a:pt x="1851660" y="337562"/>
                </a:lnTo>
                <a:lnTo>
                  <a:pt x="1872234" y="344880"/>
                </a:lnTo>
                <a:lnTo>
                  <a:pt x="1892808" y="352270"/>
                </a:lnTo>
                <a:lnTo>
                  <a:pt x="1913382" y="359731"/>
                </a:lnTo>
                <a:lnTo>
                  <a:pt x="1933956" y="367262"/>
                </a:lnTo>
                <a:lnTo>
                  <a:pt x="1954530" y="374863"/>
                </a:lnTo>
                <a:lnTo>
                  <a:pt x="1975104" y="382534"/>
                </a:lnTo>
                <a:lnTo>
                  <a:pt x="1995678" y="390274"/>
                </a:lnTo>
                <a:lnTo>
                  <a:pt x="2016252" y="398083"/>
                </a:lnTo>
                <a:lnTo>
                  <a:pt x="2036826" y="405961"/>
                </a:lnTo>
                <a:lnTo>
                  <a:pt x="2057400" y="413907"/>
                </a:lnTo>
                <a:lnTo>
                  <a:pt x="2077974" y="421922"/>
                </a:lnTo>
                <a:lnTo>
                  <a:pt x="2098548" y="430004"/>
                </a:lnTo>
                <a:lnTo>
                  <a:pt x="2119122" y="438154"/>
                </a:lnTo>
                <a:lnTo>
                  <a:pt x="2139696" y="446370"/>
                </a:lnTo>
                <a:lnTo>
                  <a:pt x="2160270" y="454654"/>
                </a:lnTo>
                <a:lnTo>
                  <a:pt x="2180844" y="463003"/>
                </a:lnTo>
                <a:lnTo>
                  <a:pt x="2201418" y="471419"/>
                </a:lnTo>
                <a:lnTo>
                  <a:pt x="2221992" y="479900"/>
                </a:lnTo>
                <a:lnTo>
                  <a:pt x="2242566" y="488447"/>
                </a:lnTo>
                <a:lnTo>
                  <a:pt x="2263140" y="497058"/>
                </a:lnTo>
                <a:lnTo>
                  <a:pt x="2283714" y="505734"/>
                </a:lnTo>
                <a:lnTo>
                  <a:pt x="2304288" y="514474"/>
                </a:lnTo>
                <a:lnTo>
                  <a:pt x="2324862" y="523277"/>
                </a:lnTo>
                <a:lnTo>
                  <a:pt x="2345436" y="532144"/>
                </a:lnTo>
                <a:lnTo>
                  <a:pt x="2366010" y="541075"/>
                </a:lnTo>
                <a:lnTo>
                  <a:pt x="2386584" y="550067"/>
                </a:lnTo>
                <a:lnTo>
                  <a:pt x="2407158" y="559122"/>
                </a:lnTo>
                <a:lnTo>
                  <a:pt x="2427732" y="568239"/>
                </a:lnTo>
                <a:lnTo>
                  <a:pt x="2448306" y="577417"/>
                </a:lnTo>
                <a:lnTo>
                  <a:pt x="2468880" y="586657"/>
                </a:lnTo>
                <a:lnTo>
                  <a:pt x="2489454" y="595957"/>
                </a:lnTo>
                <a:lnTo>
                  <a:pt x="2510028" y="605317"/>
                </a:lnTo>
                <a:lnTo>
                  <a:pt x="2530602" y="614737"/>
                </a:lnTo>
                <a:lnTo>
                  <a:pt x="2551176" y="624217"/>
                </a:lnTo>
                <a:lnTo>
                  <a:pt x="2571750" y="633756"/>
                </a:lnTo>
                <a:lnTo>
                  <a:pt x="2592324" y="643353"/>
                </a:lnTo>
                <a:lnTo>
                  <a:pt x="2612898" y="653009"/>
                </a:lnTo>
                <a:lnTo>
                  <a:pt x="2633472" y="662722"/>
                </a:lnTo>
                <a:lnTo>
                  <a:pt x="2654046" y="672493"/>
                </a:lnTo>
                <a:lnTo>
                  <a:pt x="2674620" y="682321"/>
                </a:lnTo>
                <a:lnTo>
                  <a:pt x="2695194" y="692205"/>
                </a:lnTo>
                <a:lnTo>
                  <a:pt x="2715768" y="702146"/>
                </a:lnTo>
                <a:lnTo>
                  <a:pt x="2736342" y="712142"/>
                </a:lnTo>
                <a:lnTo>
                  <a:pt x="2756916" y="722193"/>
                </a:lnTo>
                <a:lnTo>
                  <a:pt x="2777490" y="732300"/>
                </a:lnTo>
                <a:lnTo>
                  <a:pt x="2798064" y="742461"/>
                </a:lnTo>
                <a:lnTo>
                  <a:pt x="2818638" y="752676"/>
                </a:lnTo>
                <a:lnTo>
                  <a:pt x="2839212" y="762944"/>
                </a:lnTo>
                <a:lnTo>
                  <a:pt x="2859786" y="773266"/>
                </a:lnTo>
                <a:lnTo>
                  <a:pt x="2880360" y="783640"/>
                </a:lnTo>
                <a:lnTo>
                  <a:pt x="2900934" y="794066"/>
                </a:lnTo>
                <a:lnTo>
                  <a:pt x="2921508" y="804544"/>
                </a:lnTo>
                <a:lnTo>
                  <a:pt x="2942082" y="815074"/>
                </a:lnTo>
                <a:lnTo>
                  <a:pt x="2962656" y="825654"/>
                </a:lnTo>
                <a:lnTo>
                  <a:pt x="2983230" y="836285"/>
                </a:lnTo>
                <a:lnTo>
                  <a:pt x="3003804" y="846966"/>
                </a:lnTo>
                <a:lnTo>
                  <a:pt x="3024378" y="857697"/>
                </a:lnTo>
                <a:lnTo>
                  <a:pt x="3044952" y="868476"/>
                </a:lnTo>
                <a:lnTo>
                  <a:pt x="3065526" y="879304"/>
                </a:lnTo>
                <a:lnTo>
                  <a:pt x="3086100" y="890180"/>
                </a:lnTo>
                <a:lnTo>
                  <a:pt x="3106674" y="901104"/>
                </a:lnTo>
                <a:lnTo>
                  <a:pt x="3127248" y="912075"/>
                </a:lnTo>
                <a:lnTo>
                  <a:pt x="3147822" y="923093"/>
                </a:lnTo>
                <a:lnTo>
                  <a:pt x="3168396" y="934157"/>
                </a:lnTo>
                <a:lnTo>
                  <a:pt x="3188970" y="945267"/>
                </a:lnTo>
                <a:lnTo>
                  <a:pt x="3209544" y="956422"/>
                </a:lnTo>
                <a:lnTo>
                  <a:pt x="3230118" y="967622"/>
                </a:lnTo>
                <a:lnTo>
                  <a:pt x="3250692" y="978866"/>
                </a:lnTo>
                <a:lnTo>
                  <a:pt x="3271266" y="990154"/>
                </a:lnTo>
                <a:lnTo>
                  <a:pt x="3291840" y="1001486"/>
                </a:lnTo>
                <a:lnTo>
                  <a:pt x="3312414" y="1012860"/>
                </a:lnTo>
                <a:lnTo>
                  <a:pt x="3332988" y="1024277"/>
                </a:lnTo>
                <a:lnTo>
                  <a:pt x="3353562" y="1035736"/>
                </a:lnTo>
                <a:lnTo>
                  <a:pt x="3374136" y="1047236"/>
                </a:lnTo>
                <a:lnTo>
                  <a:pt x="3394710" y="1058777"/>
                </a:lnTo>
                <a:lnTo>
                  <a:pt x="3415284" y="1070359"/>
                </a:lnTo>
                <a:lnTo>
                  <a:pt x="3435858" y="1081980"/>
                </a:lnTo>
                <a:lnTo>
                  <a:pt x="3456432" y="1093642"/>
                </a:lnTo>
                <a:lnTo>
                  <a:pt x="3477006" y="1105341"/>
                </a:lnTo>
                <a:lnTo>
                  <a:pt x="3497580" y="1117080"/>
                </a:lnTo>
                <a:lnTo>
                  <a:pt x="3518154" y="1128856"/>
                </a:lnTo>
                <a:lnTo>
                  <a:pt x="3538728" y="1140670"/>
                </a:lnTo>
                <a:lnTo>
                  <a:pt x="3559302" y="1152521"/>
                </a:lnTo>
                <a:lnTo>
                  <a:pt x="3579876" y="1164408"/>
                </a:lnTo>
                <a:lnTo>
                  <a:pt x="3600450" y="1176331"/>
                </a:lnTo>
                <a:lnTo>
                  <a:pt x="3621024" y="1188290"/>
                </a:lnTo>
                <a:lnTo>
                  <a:pt x="3641598" y="1200283"/>
                </a:lnTo>
                <a:lnTo>
                  <a:pt x="3662172" y="1212311"/>
                </a:lnTo>
                <a:lnTo>
                  <a:pt x="3682746" y="1224373"/>
                </a:lnTo>
                <a:lnTo>
                  <a:pt x="3703320" y="1236468"/>
                </a:lnTo>
                <a:lnTo>
                  <a:pt x="3723894" y="1248595"/>
                </a:lnTo>
                <a:lnTo>
                  <a:pt x="3744468" y="1260756"/>
                </a:lnTo>
                <a:lnTo>
                  <a:pt x="3765042" y="1272948"/>
                </a:lnTo>
                <a:lnTo>
                  <a:pt x="3785616" y="1285171"/>
                </a:lnTo>
                <a:lnTo>
                  <a:pt x="3806190" y="1297425"/>
                </a:lnTo>
                <a:lnTo>
                  <a:pt x="3826764" y="1309709"/>
                </a:lnTo>
                <a:lnTo>
                  <a:pt x="3847338" y="1322023"/>
                </a:lnTo>
                <a:lnTo>
                  <a:pt x="3867912" y="1334366"/>
                </a:lnTo>
                <a:lnTo>
                  <a:pt x="3888486" y="1346738"/>
                </a:lnTo>
                <a:lnTo>
                  <a:pt x="3909060" y="1359137"/>
                </a:lnTo>
                <a:lnTo>
                  <a:pt x="3929634" y="1371565"/>
                </a:lnTo>
                <a:lnTo>
                  <a:pt x="3950208" y="1384019"/>
                </a:lnTo>
                <a:lnTo>
                  <a:pt x="3970782" y="1396500"/>
                </a:lnTo>
                <a:lnTo>
                  <a:pt x="3991356" y="1409007"/>
                </a:lnTo>
                <a:lnTo>
                  <a:pt x="4011930" y="1421540"/>
                </a:lnTo>
                <a:lnTo>
                  <a:pt x="4032504" y="1434097"/>
                </a:lnTo>
                <a:lnTo>
                  <a:pt x="4053078" y="1446679"/>
                </a:lnTo>
                <a:lnTo>
                  <a:pt x="4073652" y="1459284"/>
                </a:lnTo>
                <a:lnTo>
                  <a:pt x="4094226" y="1471913"/>
                </a:lnTo>
                <a:lnTo>
                  <a:pt x="4114800" y="1484564"/>
                </a:lnTo>
                <a:lnTo>
                  <a:pt x="4135374" y="1497238"/>
                </a:lnTo>
                <a:lnTo>
                  <a:pt x="4155948" y="1509933"/>
                </a:lnTo>
                <a:lnTo>
                  <a:pt x="4176522" y="1522650"/>
                </a:lnTo>
                <a:lnTo>
                  <a:pt x="4197096" y="1535387"/>
                </a:lnTo>
                <a:lnTo>
                  <a:pt x="4217670" y="1548144"/>
                </a:lnTo>
                <a:lnTo>
                  <a:pt x="4238244" y="1560921"/>
                </a:lnTo>
                <a:lnTo>
                  <a:pt x="4258818" y="1573716"/>
                </a:lnTo>
                <a:lnTo>
                  <a:pt x="4279392" y="1586530"/>
                </a:lnTo>
                <a:lnTo>
                  <a:pt x="4299966" y="1599362"/>
                </a:lnTo>
                <a:lnTo>
                  <a:pt x="4320540" y="1612211"/>
                </a:lnTo>
                <a:lnTo>
                  <a:pt x="4341114" y="1625077"/>
                </a:lnTo>
                <a:lnTo>
                  <a:pt x="4361688" y="1637959"/>
                </a:lnTo>
                <a:lnTo>
                  <a:pt x="4382262" y="1650857"/>
                </a:lnTo>
                <a:lnTo>
                  <a:pt x="4402836" y="1663769"/>
                </a:lnTo>
                <a:lnTo>
                  <a:pt x="4423410" y="1676697"/>
                </a:lnTo>
                <a:lnTo>
                  <a:pt x="4443984" y="1689638"/>
                </a:lnTo>
                <a:lnTo>
                  <a:pt x="4464558" y="1702592"/>
                </a:lnTo>
                <a:lnTo>
                  <a:pt x="4485132" y="1715560"/>
                </a:lnTo>
                <a:lnTo>
                  <a:pt x="4505706" y="1728540"/>
                </a:lnTo>
                <a:lnTo>
                  <a:pt x="4526280" y="1741531"/>
                </a:lnTo>
                <a:lnTo>
                  <a:pt x="4546854" y="1754534"/>
                </a:lnTo>
                <a:lnTo>
                  <a:pt x="4567428" y="1767547"/>
                </a:lnTo>
                <a:lnTo>
                  <a:pt x="4588002" y="1780571"/>
                </a:lnTo>
                <a:lnTo>
                  <a:pt x="4608576" y="1793604"/>
                </a:lnTo>
                <a:lnTo>
                  <a:pt x="4629150" y="1806646"/>
                </a:lnTo>
                <a:lnTo>
                  <a:pt x="4649724" y="1819696"/>
                </a:lnTo>
                <a:lnTo>
                  <a:pt x="4670298" y="1832755"/>
                </a:lnTo>
                <a:lnTo>
                  <a:pt x="4690872" y="1845820"/>
                </a:lnTo>
                <a:lnTo>
                  <a:pt x="4711446" y="1858892"/>
                </a:lnTo>
                <a:lnTo>
                  <a:pt x="4732020" y="1871971"/>
                </a:lnTo>
                <a:lnTo>
                  <a:pt x="4752594" y="1885055"/>
                </a:lnTo>
                <a:lnTo>
                  <a:pt x="4773168" y="1898144"/>
                </a:lnTo>
                <a:lnTo>
                  <a:pt x="4793742" y="1911238"/>
                </a:lnTo>
                <a:lnTo>
                  <a:pt x="4814316" y="1924335"/>
                </a:lnTo>
                <a:lnTo>
                  <a:pt x="4834890" y="1937436"/>
                </a:lnTo>
                <a:lnTo>
                  <a:pt x="4855464" y="1950540"/>
                </a:lnTo>
                <a:lnTo>
                  <a:pt x="4876038" y="1963646"/>
                </a:lnTo>
                <a:lnTo>
                  <a:pt x="4896612" y="1976753"/>
                </a:lnTo>
                <a:lnTo>
                  <a:pt x="4917186" y="1989862"/>
                </a:lnTo>
                <a:lnTo>
                  <a:pt x="4937760" y="2002972"/>
                </a:lnTo>
              </a:path>
            </a:pathLst>
          </a:custGeom>
          <a:noFill/>
          <a:ln w="285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67258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E7C86"/>
                </a:solidFill>
                <a:latin typeface="Arial"/>
              </a:rPr>
              <a:t>━ X axis: g·sin θ — steep at 0°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467258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D98324"/>
                </a:solidFill>
                <a:latin typeface="Arial"/>
              </a:rPr>
              <a:t>━ Z axis: g·cos θ — flat at 0°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537960" y="2240280"/>
          <a:ext cx="4983479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0418"/>
                <a:gridCol w="2093061"/>
              </a:tblGrid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>0.5° tilt from level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>changes by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X — horizontal axis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8.73 mg</a:t>
                      </a:r>
                    </a:p>
                  </a:txBody>
                  <a:tcPr marL="91440" marR="91440" marT="27432" marB="27432" anchor="ctr">
                    <a:solidFill>
                      <a:srgbClr val="DCEDE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Z — vertical axis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0.038 mg</a:t>
                      </a:r>
                    </a:p>
                  </a:txBody>
                  <a:tcPr marL="91440" marR="91440" marT="27432" marB="27432" anchor="ctr">
                    <a:solidFill>
                      <a:srgbClr val="FAECD8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537960" y="3886200"/>
            <a:ext cx="4983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7680"/>
                </a:solidFill>
                <a:latin typeface="Courier New"/>
              </a:rPr>
              <a:t>sin(0.5°)     = 0.00873</a:t>
            </a:r>
          </a:p>
          <a:p>
            <a:pPr algn="l"/>
            <a:r>
              <a:rPr sz="1400" b="0" i="0">
                <a:solidFill>
                  <a:srgbClr val="6B7680"/>
                </a:solidFill>
                <a:latin typeface="Courier New"/>
              </a:rPr>
              <a:t>1 − cos(0.5°) = 0.000038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074920"/>
            <a:ext cx="10874959" cy="786384"/>
          </a:xfrm>
          <a:prstGeom prst="roundRect">
            <a:avLst>
              <a:gd name="adj" fmla="val 10000"/>
            </a:avLst>
          </a:prstGeom>
          <a:solidFill>
            <a:srgbClr val="FAECD8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000" b="1">
                <a:solidFill>
                  <a:srgbClr val="1A1F24"/>
                </a:solidFill>
                <a:latin typeface="Arial"/>
              </a:rPr>
              <a:t>Sensitivity to tilt is g·cos θ: largest when the axis is horizontal, zero when it points straight along gravity.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5  ·  MEMS accelerometers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8324"/>
                </a:solidFill>
                <a:latin typeface="Arial"/>
              </a:rPr>
              <a:t>POLL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4959" cy="1755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50" b="1" i="0">
                <a:solidFill>
                  <a:srgbClr val="1A1F24"/>
                </a:solidFill>
                <a:latin typeface="Arial"/>
              </a:rPr>
              <a:t>A solar-tracker frame sits near level and must report tilt to ±0.5°. You can read either the horizontal X axis or the vertical Z axis.</a:t>
            </a:r>
          </a:p>
          <a:p>
            <a:pPr algn="l">
              <a:lnSpc>
                <a:spcPct val="120000"/>
              </a:lnSpc>
            </a:pPr>
            <a:r>
              <a:rPr sz="2050" b="1" i="0">
                <a:solidFill>
                  <a:srgbClr val="1A1F24"/>
                </a:solidFill>
                <a:latin typeface="Arial"/>
              </a:rPr>
              <a:t>Which is the better measurement of small tilts?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87168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606040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15184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Z — it carries the full 1 g, so it has the most signal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9184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410712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419856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X — its output changes fastest with angle near level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096512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215384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24528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Both equally — they share the same sensitivity in mg/LSB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01184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5020056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029200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It depends on the full-scale range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541264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6B7680"/>
                </a:solidFill>
                <a:latin typeface="Arial"/>
              </a:rPr>
              <a:t>Vote, then two minutes with your neighbour. If you disagree, one of you is confusing the size of a signal with its sensitivity to change.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5  ·  MEMS accelerometers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Arial"/>
              </a:rPr>
              <a:t>POLL 2   ·  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4959" cy="1755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50" b="1" i="0">
                <a:solidFill>
                  <a:srgbClr val="1A1F24"/>
                </a:solidFill>
                <a:latin typeface="Arial"/>
              </a:rPr>
              <a:t>A solar-tracker frame sits near level and must report tilt to ±0.5°. You can read either the horizontal X axis or the vertical Z axis.</a:t>
            </a:r>
          </a:p>
          <a:p>
            <a:pPr algn="l">
              <a:lnSpc>
                <a:spcPct val="120000"/>
              </a:lnSpc>
            </a:pPr>
            <a:r>
              <a:rPr sz="2050" b="1" i="0">
                <a:solidFill>
                  <a:srgbClr val="1A1F24"/>
                </a:solidFill>
                <a:latin typeface="Arial"/>
              </a:rPr>
              <a:t>Which is the better measurement of small tilts?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87168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606040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15184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Z — it carries the full 1 g, so it has the most signal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9184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DCEDEF"/>
          </a:solidFill>
          <a:ln w="317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410712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E7C86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419856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F24"/>
                </a:solidFill>
                <a:latin typeface="Arial"/>
              </a:rPr>
              <a:t>X — its output changes fastest with angle near level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096512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215384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24528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Both equally — they share the same sensitivity in mg/LSB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01184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5020056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029200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It depends on the full-scale range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541264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0E7C86"/>
                </a:solidFill>
                <a:latin typeface="Arial"/>
              </a:rPr>
              <a:t>X changes by 8.73 mg for 0.5° of tilt; Z changes by 0.038 mg. That is a factor of 229. Z would need a noise floor 229 times lower to do the same job — the ‘most signal’ axis is the worst tilt sensor on the board.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5  ·  MEMS accelerometers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Use both axes: atan2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The ratio fixes the sensitivity problem — and forgives one kind of 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65960"/>
            <a:ext cx="1087495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3000" b="1" i="0">
                <a:solidFill>
                  <a:srgbClr val="0E7C86"/>
                </a:solidFill>
                <a:latin typeface="Courier New"/>
              </a:rPr>
              <a:t>θ  =  atan2( a</a:t>
            </a:r>
            <a:r>
              <a:rPr sz="2200" b="1" i="0">
                <a:solidFill>
                  <a:srgbClr val="0E7C86"/>
                </a:solidFill>
                <a:latin typeface="Courier New"/>
              </a:rPr>
              <a:t>x</a:t>
            </a:r>
            <a:r>
              <a:rPr sz="3000" b="1" i="0">
                <a:solidFill>
                  <a:srgbClr val="0E7C86"/>
                </a:solidFill>
                <a:latin typeface="Courier New"/>
              </a:rPr>
              <a:t> ,  a</a:t>
            </a:r>
            <a:r>
              <a:rPr sz="2200" b="1" i="0">
                <a:solidFill>
                  <a:srgbClr val="0E7C86"/>
                </a:solidFill>
                <a:latin typeface="Courier New"/>
              </a:rPr>
              <a:t>z</a:t>
            </a:r>
            <a:r>
              <a:rPr sz="3000" b="1" i="0">
                <a:solidFill>
                  <a:srgbClr val="0E7C86"/>
                </a:solidFill>
                <a:latin typeface="Courier New"/>
              </a:rPr>
              <a:t> 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834640"/>
            <a:ext cx="3493008" cy="530352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50" b="1">
                <a:solidFill>
                  <a:srgbClr val="F7F5F1"/>
                </a:solidFill>
                <a:latin typeface="Arial"/>
              </a:rPr>
              <a:t>SENSITIVITY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364992"/>
            <a:ext cx="3493008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0">
                <a:solidFill>
                  <a:srgbClr val="1A1F24"/>
                </a:solidFill>
                <a:latin typeface="Arial"/>
              </a:rPr>
              <a:t>uniform at every angle —</a:t>
            </a:r>
          </a:p>
          <a:p>
            <a:pPr algn="ctr"/>
            <a:r>
              <a:rPr sz="1600" b="0">
                <a:solidFill>
                  <a:srgbClr val="1A1F24"/>
                </a:solidFill>
                <a:latin typeface="Arial"/>
              </a:rPr>
              <a:t>one axis is steep wherever</a:t>
            </a:r>
          </a:p>
          <a:p>
            <a:pPr algn="ctr"/>
            <a:r>
              <a:rPr sz="1600" b="0">
                <a:solidFill>
                  <a:srgbClr val="1A1F24"/>
                </a:solidFill>
                <a:latin typeface="Arial"/>
              </a:rPr>
              <a:t>the other is flat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2834640"/>
            <a:ext cx="3493008" cy="530352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50" b="1">
                <a:solidFill>
                  <a:srgbClr val="F7F5F1"/>
                </a:solidFill>
                <a:latin typeface="Arial"/>
              </a:rPr>
              <a:t>COMMON SCALE ERROR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2544" y="3364992"/>
            <a:ext cx="3493008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0">
                <a:solidFill>
                  <a:srgbClr val="1A1F24"/>
                </a:solidFill>
                <a:latin typeface="Arial"/>
              </a:rPr>
              <a:t>cancels in the ratio —</a:t>
            </a:r>
          </a:p>
          <a:p>
            <a:pPr algn="ctr"/>
            <a:r>
              <a:rPr sz="1600" b="0">
                <a:solidFill>
                  <a:srgbClr val="1A1F24"/>
                </a:solidFill>
                <a:latin typeface="Arial"/>
              </a:rPr>
              <a:t>+2 % on both axes gives</a:t>
            </a:r>
          </a:p>
          <a:p>
            <a:pPr algn="ctr"/>
            <a:r>
              <a:rPr sz="1600" b="0">
                <a:solidFill>
                  <a:srgbClr val="1A1F24"/>
                </a:solidFill>
                <a:latin typeface="Arial"/>
              </a:rPr>
              <a:t>the same angle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834640"/>
            <a:ext cx="3493008" cy="530352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50" b="1">
                <a:solidFill>
                  <a:srgbClr val="F7F5F1"/>
                </a:solidFill>
                <a:latin typeface="Arial"/>
              </a:rPr>
              <a:t>OFFSET, OR ONE AXIS OFF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3364992"/>
            <a:ext cx="3493008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0">
                <a:solidFill>
                  <a:srgbClr val="1A1F24"/>
                </a:solidFill>
                <a:latin typeface="Arial"/>
              </a:rPr>
              <a:t>does NOT cancel —</a:t>
            </a:r>
          </a:p>
          <a:p>
            <a:pPr algn="ctr"/>
            <a:r>
              <a:rPr sz="1600" b="0">
                <a:solidFill>
                  <a:srgbClr val="1A1F24"/>
                </a:solidFill>
                <a:latin typeface="Arial"/>
              </a:rPr>
              <a:t>a bias on X is a tilt</a:t>
            </a:r>
          </a:p>
          <a:p>
            <a:pPr algn="ctr"/>
            <a:r>
              <a:rPr sz="1600" b="0">
                <a:solidFill>
                  <a:srgbClr val="1A1F24"/>
                </a:solidFill>
                <a:latin typeface="Arial"/>
              </a:rPr>
              <a:t>error at every angle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937760"/>
            <a:ext cx="10874959" cy="786384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000" b="1">
                <a:solidFill>
                  <a:srgbClr val="F7F5F1"/>
                </a:solidFill>
                <a:latin typeface="Arial"/>
              </a:rPr>
              <a:t>Tilt needs the OFFSETS calibrated and the axes MATCHED. The absolute scale matters much less than you would think.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870448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6B7680"/>
                </a:solidFill>
                <a:latin typeface="Arial"/>
              </a:rPr>
              <a:t>This is why calibration in chunk 4 cares about offset first.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5  ·  MEMS accelerometers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A slope, or a shove?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The same number, and the sensor cannot tell you which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65960"/>
            <a:ext cx="5349240" cy="566928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F7F5F1"/>
                </a:solidFill>
                <a:latin typeface="Arial"/>
              </a:rPr>
              <a:t>THE ROAD TILTS 11.3°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532888"/>
            <a:ext cx="534924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900" b="0">
                <a:solidFill>
                  <a:srgbClr val="1A1F24"/>
                </a:solidFill>
                <a:latin typeface="Arial"/>
              </a:rPr>
              <a:t>gravity projects</a:t>
            </a:r>
          </a:p>
          <a:p>
            <a:pPr algn="ctr"/>
            <a:r>
              <a:rPr sz="1900" b="0">
                <a:solidFill>
                  <a:srgbClr val="1A1F24"/>
                </a:solidFill>
                <a:latin typeface="Arial"/>
              </a:rPr>
              <a:t>0.20 g onto 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7648" y="1965960"/>
            <a:ext cx="5349240" cy="566928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1A1F24"/>
                </a:solidFill>
                <a:latin typeface="Arial"/>
              </a:rPr>
              <a:t>THE CAR ACCELERATES AT 0.2 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27648" y="2532888"/>
            <a:ext cx="534924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900" b="0">
                <a:solidFill>
                  <a:srgbClr val="1A1F24"/>
                </a:solidFill>
                <a:latin typeface="Arial"/>
              </a:rPr>
              <a:t>the seat pushes</a:t>
            </a:r>
          </a:p>
          <a:p>
            <a:pPr algn="ctr"/>
            <a:r>
              <a:rPr sz="1900" b="0">
                <a:solidFill>
                  <a:srgbClr val="1A1F24"/>
                </a:solidFill>
                <a:latin typeface="Arial"/>
              </a:rPr>
              <a:t>0.20 g onto 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2697480"/>
            <a:ext cx="548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 i="0">
                <a:solidFill>
                  <a:srgbClr val="1A1F24"/>
                </a:solidFill>
                <a:latin typeface="Arial"/>
              </a:rPr>
              <a:t>=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58368" y="3840480"/>
          <a:ext cx="10874958" cy="950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9986"/>
                <a:gridCol w="1848743"/>
                <a:gridCol w="1848743"/>
                <a:gridCol w="1848743"/>
                <a:gridCol w="1848743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>Horizontal acceleration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>0.05 g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>0.10 g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>0.20 g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>0.30 g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A1F24"/>
                          </a:solidFill>
                          <a:latin typeface="Arial"/>
                        </a:rPr>
                        <a:t>Reported tilt, atan(a/g)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2.9°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5.7°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11.3°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16.7°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658368" y="5074920"/>
            <a:ext cx="10874959" cy="786384"/>
          </a:xfrm>
          <a:prstGeom prst="roundRect">
            <a:avLst>
              <a:gd name="adj" fmla="val 10000"/>
            </a:avLst>
          </a:prstGeom>
          <a:solidFill>
            <a:srgbClr val="F7DFDC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000" b="1">
                <a:solidFill>
                  <a:srgbClr val="1A1F24"/>
                </a:solidFill>
                <a:latin typeface="Arial"/>
              </a:rPr>
              <a:t>Against a ±0.5° requirement, a 0.01 g push is already fatal. No filter fixes a push that lasts as long as a tilt.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94360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E7C86"/>
                </a:solidFill>
                <a:latin typeface="Arial"/>
              </a:rPr>
              <a:t>Unpaid until Lecture 6: a sensor that measures rotation and is blind to pushes.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48C"/>
                </a:solidFill>
                <a:latin typeface="Arial"/>
              </a:rPr>
              <a:t>MEMS &amp; Sensors  ·  Lecture 5  ·  MEMS accelerometers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7A848C"/>
                </a:solidFill>
                <a:latin typeface="Arial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Arial"/>
              </a:rPr>
              <a:t>CHUNK 2  ·  TRANSDUCTION AND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37360"/>
            <a:ext cx="904615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7F5F1"/>
                </a:solidFill>
                <a:latin typeface="Arial"/>
              </a:rPr>
              <a:t>A mass, two springs,</a:t>
            </a:r>
          </a:p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7F5F1"/>
                </a:solidFill>
                <a:latin typeface="Arial"/>
              </a:rPr>
              <a:t>and a gap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794760"/>
            <a:ext cx="1371600" cy="508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160520"/>
            <a:ext cx="1087495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0" i="0">
                <a:solidFill>
                  <a:srgbClr val="B8C0C6"/>
                </a:solidFill>
                <a:latin typeface="Arial"/>
              </a:rPr>
              <a:t>x = a/ω₀² — the one equation, and the trade inside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5532120"/>
            <a:ext cx="1279359" cy="384048"/>
          </a:xfrm>
          <a:prstGeom prst="rect">
            <a:avLst/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F7F5F1"/>
                </a:solidFill>
                <a:latin typeface="Arial"/>
              </a:rPr>
              <a:t>MEASURAND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29167" y="5532120"/>
            <a:ext cx="1279359" cy="384048"/>
          </a:xfrm>
          <a:prstGeom prst="rect">
            <a:avLst/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1A1F24"/>
                </a:solidFill>
                <a:latin typeface="Arial"/>
              </a:rPr>
              <a:t>TRANSDUCTION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99967" y="5532120"/>
            <a:ext cx="1279359" cy="384048"/>
          </a:xfrm>
          <a:prstGeom prst="rect">
            <a:avLst/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1A1F24"/>
                </a:solidFill>
                <a:latin typeface="Arial"/>
              </a:rPr>
              <a:t>STRUCTURE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70767" y="5532120"/>
            <a:ext cx="1279359" cy="384048"/>
          </a:xfrm>
          <a:prstGeom prst="rect">
            <a:avLst/>
          </a:prstGeom>
          <a:solidFill>
            <a:srgbClr val="1A1F24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6B7680"/>
                </a:solidFill>
                <a:latin typeface="Arial"/>
              </a:rPr>
              <a:t>OUTPUT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1567" y="5532120"/>
            <a:ext cx="1279359" cy="384048"/>
          </a:xfrm>
          <a:prstGeom prst="rect">
            <a:avLst/>
          </a:prstGeom>
          <a:solidFill>
            <a:srgbClr val="1A1F24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6B7680"/>
                </a:solidFill>
                <a:latin typeface="Arial"/>
              </a:rPr>
              <a:t>SPECIFICATIONS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12367" y="5532120"/>
            <a:ext cx="1279359" cy="384048"/>
          </a:xfrm>
          <a:prstGeom prst="rect">
            <a:avLst/>
          </a:prstGeom>
          <a:solidFill>
            <a:srgbClr val="1A1F24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6B7680"/>
                </a:solidFill>
                <a:latin typeface="Arial"/>
              </a:rPr>
              <a:t>INTERFACE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83167" y="5532120"/>
            <a:ext cx="1279359" cy="384048"/>
          </a:xfrm>
          <a:prstGeom prst="rect">
            <a:avLst/>
          </a:prstGeom>
          <a:solidFill>
            <a:srgbClr val="1A1F24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6B7680"/>
                </a:solidFill>
                <a:latin typeface="Arial"/>
              </a:rPr>
              <a:t>CALIBRATION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53967" y="5532120"/>
            <a:ext cx="1279359" cy="384048"/>
          </a:xfrm>
          <a:prstGeom prst="rect">
            <a:avLst/>
          </a:prstGeom>
          <a:solidFill>
            <a:srgbClr val="1A1F24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6B7680"/>
                </a:solidFill>
                <a:latin typeface="Arial"/>
              </a:rPr>
              <a:t>FAILURE MODES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5  ·  MEMS accelerometers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How far does the mass move?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Divide x = ma/k by m, and the spring and mass collapse into one number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20240"/>
            <a:ext cx="1087495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3000" b="1" i="0">
                <a:solidFill>
                  <a:srgbClr val="0E7C86"/>
                </a:solidFill>
                <a:latin typeface="Courier New"/>
              </a:rPr>
              <a:t>x  =  ma / k  =  a / ω₀²</a:t>
            </a:r>
            <a:r>
              <a:rPr sz="2000" b="0" i="0">
                <a:solidFill>
                  <a:srgbClr val="6B7680"/>
                </a:solidFill>
                <a:latin typeface="Courier New"/>
              </a:rPr>
              <a:t>        ω₀ = 2π f₀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2697480"/>
          <a:ext cx="6583679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45228"/>
                <a:gridCol w="2238451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>A representative device, f₀ = 5 kHz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>displacement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1 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9.9 nm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8.73 mg — our half-degree tilt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F24"/>
                          </a:solidFill>
                          <a:latin typeface="Courier New"/>
                        </a:rPr>
                        <a:t>0.087 nm</a:t>
                      </a:r>
                    </a:p>
                  </a:txBody>
                  <a:tcPr marL="91440" marR="91440" marT="27432" marB="27432" anchor="ctr">
                    <a:solidFill>
                      <a:srgbClr val="DCEDE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for scale: one silicon–silicon bond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0.235 nm</a:t>
                      </a:r>
                    </a:p>
                  </a:txBody>
                  <a:tcPr marL="91440" marR="91440" marT="27432" marB="27432" anchor="ctr">
                    <a:solidFill>
                      <a:srgbClr val="E4E2DE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635240" y="2697480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B7680"/>
                </a:solidFill>
                <a:latin typeface="Arial"/>
              </a:rPr>
              <a:t>THE ARITHMETIC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2971800"/>
            <a:ext cx="39319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1A1F24"/>
                </a:solidFill>
                <a:latin typeface="Courier New"/>
              </a:rPr>
              <a:t>ω₀ = 2π × 5000</a:t>
            </a:r>
          </a:p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1A1F24"/>
                </a:solidFill>
                <a:latin typeface="Courier New"/>
              </a:rPr>
              <a:t>   = 31 416 rad/s</a:t>
            </a:r>
          </a:p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1A1F24"/>
                </a:solidFill>
                <a:latin typeface="Courier New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1A1F24"/>
                </a:solidFill>
                <a:latin typeface="Courier New"/>
              </a:rPr>
              <a:t>x = 9.81 / 31 416²</a:t>
            </a:r>
          </a:p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1A1F24"/>
                </a:solidFill>
                <a:latin typeface="Courier New"/>
              </a:rPr>
              <a:t>  = 9.9 × 10⁻⁹ 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846320"/>
            <a:ext cx="10874959" cy="786384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000" b="1">
                <a:solidFill>
                  <a:srgbClr val="F7F5F1"/>
                </a:solidFill>
                <a:latin typeface="Arial"/>
              </a:rPr>
              <a:t>Half a degree of tilt moves the mass by less than one atomic bond. It is measurable only because the plate is millions of atoms wide.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80644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6B7680"/>
                </a:solidFill>
                <a:latin typeface="Arial"/>
              </a:rPr>
              <a:t>The ASIC averages the gap over the whole plate, so sub-atomic mean motion is a real, repeatable signal.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5  ·  MEMS accelerometers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The trade inside x = a/ω₀²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Sensitivity goes as 1/f₀²; the flat band ends near f₀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4572000"/>
            <a:ext cx="5669280" cy="12700"/>
          </a:xfrm>
          <a:prstGeom prst="rect">
            <a:avLst/>
          </a:prstGeom>
          <a:solidFill>
            <a:srgbClr val="6B7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32688" y="2240280"/>
            <a:ext cx="12700" cy="2331720"/>
          </a:xfrm>
          <a:prstGeom prst="rect">
            <a:avLst/>
          </a:prstGeom>
          <a:solidFill>
            <a:srgbClr val="6B7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4626864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7680"/>
                </a:solidFill>
                <a:latin typeface="Arial"/>
              </a:rPr>
              <a:t>frequency / f₀,  0 →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929384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B7680"/>
                </a:solidFill>
                <a:latin typeface="Arial"/>
              </a:rPr>
              <a:t>response</a:t>
            </a:r>
          </a:p>
        </p:txBody>
      </p:sp>
      <p:sp>
        <p:nvSpPr>
          <p:cNvPr id="12" name="Freeform 11"/>
          <p:cNvSpPr/>
          <p:nvPr/>
        </p:nvSpPr>
        <p:spPr>
          <a:xfrm>
            <a:off x="932688" y="3886200"/>
            <a:ext cx="5669280" cy="520262"/>
          </a:xfrm>
          <a:custGeom>
            <a:avLst/>
            <a:gdLst/>
            <a:ahLst/>
            <a:cxnLst/>
            <a:rect l="l" t="t" r="r" b="b"/>
            <a:pathLst>
              <a:path w="5669280" h="520262">
                <a:moveTo>
                  <a:pt x="0" y="0"/>
                </a:moveTo>
                <a:lnTo>
                  <a:pt x="23622" y="0"/>
                </a:lnTo>
                <a:lnTo>
                  <a:pt x="47244" y="3"/>
                </a:lnTo>
                <a:lnTo>
                  <a:pt x="70866" y="8"/>
                </a:lnTo>
                <a:lnTo>
                  <a:pt x="94488" y="15"/>
                </a:lnTo>
                <a:lnTo>
                  <a:pt x="118110" y="25"/>
                </a:lnTo>
                <a:lnTo>
                  <a:pt x="141732" y="37"/>
                </a:lnTo>
                <a:lnTo>
                  <a:pt x="165354" y="51"/>
                </a:lnTo>
                <a:lnTo>
                  <a:pt x="188976" y="68"/>
                </a:lnTo>
                <a:lnTo>
                  <a:pt x="212598" y="89"/>
                </a:lnTo>
                <a:lnTo>
                  <a:pt x="236220" y="113"/>
                </a:lnTo>
                <a:lnTo>
                  <a:pt x="259842" y="141"/>
                </a:lnTo>
                <a:lnTo>
                  <a:pt x="283464" y="174"/>
                </a:lnTo>
                <a:lnTo>
                  <a:pt x="307086" y="211"/>
                </a:lnTo>
                <a:lnTo>
                  <a:pt x="330708" y="253"/>
                </a:lnTo>
                <a:lnTo>
                  <a:pt x="354330" y="302"/>
                </a:lnTo>
                <a:lnTo>
                  <a:pt x="377952" y="356"/>
                </a:lnTo>
                <a:lnTo>
                  <a:pt x="401574" y="418"/>
                </a:lnTo>
                <a:lnTo>
                  <a:pt x="425196" y="487"/>
                </a:lnTo>
                <a:lnTo>
                  <a:pt x="448818" y="565"/>
                </a:lnTo>
                <a:lnTo>
                  <a:pt x="472440" y="652"/>
                </a:lnTo>
                <a:lnTo>
                  <a:pt x="496062" y="748"/>
                </a:lnTo>
                <a:lnTo>
                  <a:pt x="519684" y="856"/>
                </a:lnTo>
                <a:lnTo>
                  <a:pt x="543306" y="974"/>
                </a:lnTo>
                <a:lnTo>
                  <a:pt x="566928" y="1105"/>
                </a:lnTo>
                <a:lnTo>
                  <a:pt x="590550" y="1249"/>
                </a:lnTo>
                <a:lnTo>
                  <a:pt x="614172" y="1408"/>
                </a:lnTo>
                <a:lnTo>
                  <a:pt x="637794" y="1581"/>
                </a:lnTo>
                <a:lnTo>
                  <a:pt x="661416" y="1771"/>
                </a:lnTo>
                <a:lnTo>
                  <a:pt x="685038" y="1978"/>
                </a:lnTo>
                <a:lnTo>
                  <a:pt x="708660" y="2203"/>
                </a:lnTo>
                <a:lnTo>
                  <a:pt x="732282" y="2448"/>
                </a:lnTo>
                <a:lnTo>
                  <a:pt x="755904" y="2713"/>
                </a:lnTo>
                <a:lnTo>
                  <a:pt x="779526" y="2999"/>
                </a:lnTo>
                <a:lnTo>
                  <a:pt x="803148" y="3309"/>
                </a:lnTo>
                <a:lnTo>
                  <a:pt x="826770" y="3642"/>
                </a:lnTo>
                <a:lnTo>
                  <a:pt x="850392" y="4001"/>
                </a:lnTo>
                <a:lnTo>
                  <a:pt x="874014" y="4387"/>
                </a:lnTo>
                <a:lnTo>
                  <a:pt x="897636" y="4800"/>
                </a:lnTo>
                <a:lnTo>
                  <a:pt x="921258" y="5243"/>
                </a:lnTo>
                <a:lnTo>
                  <a:pt x="944880" y="5716"/>
                </a:lnTo>
                <a:lnTo>
                  <a:pt x="968502" y="6220"/>
                </a:lnTo>
                <a:lnTo>
                  <a:pt x="992124" y="6758"/>
                </a:lnTo>
                <a:lnTo>
                  <a:pt x="1015746" y="7331"/>
                </a:lnTo>
                <a:lnTo>
                  <a:pt x="1039368" y="7939"/>
                </a:lnTo>
                <a:lnTo>
                  <a:pt x="1062990" y="8585"/>
                </a:lnTo>
                <a:lnTo>
                  <a:pt x="1086612" y="9269"/>
                </a:lnTo>
                <a:lnTo>
                  <a:pt x="1110234" y="9993"/>
                </a:lnTo>
                <a:lnTo>
                  <a:pt x="1133856" y="10759"/>
                </a:lnTo>
                <a:lnTo>
                  <a:pt x="1157478" y="11567"/>
                </a:lnTo>
                <a:lnTo>
                  <a:pt x="1181100" y="12419"/>
                </a:lnTo>
                <a:lnTo>
                  <a:pt x="1204722" y="13317"/>
                </a:lnTo>
                <a:lnTo>
                  <a:pt x="1228344" y="14261"/>
                </a:lnTo>
                <a:lnTo>
                  <a:pt x="1251966" y="15253"/>
                </a:lnTo>
                <a:lnTo>
                  <a:pt x="1275588" y="16295"/>
                </a:lnTo>
                <a:lnTo>
                  <a:pt x="1299210" y="17387"/>
                </a:lnTo>
                <a:lnTo>
                  <a:pt x="1322832" y="18531"/>
                </a:lnTo>
                <a:lnTo>
                  <a:pt x="1346454" y="19728"/>
                </a:lnTo>
                <a:lnTo>
                  <a:pt x="1370076" y="20979"/>
                </a:lnTo>
                <a:lnTo>
                  <a:pt x="1393698" y="22285"/>
                </a:lnTo>
                <a:lnTo>
                  <a:pt x="1417320" y="23648"/>
                </a:lnTo>
                <a:lnTo>
                  <a:pt x="1440942" y="25068"/>
                </a:lnTo>
                <a:lnTo>
                  <a:pt x="1464564" y="26546"/>
                </a:lnTo>
                <a:lnTo>
                  <a:pt x="1488186" y="28083"/>
                </a:lnTo>
                <a:lnTo>
                  <a:pt x="1511808" y="29680"/>
                </a:lnTo>
                <a:lnTo>
                  <a:pt x="1535430" y="31338"/>
                </a:lnTo>
                <a:lnTo>
                  <a:pt x="1559052" y="33057"/>
                </a:lnTo>
                <a:lnTo>
                  <a:pt x="1582674" y="34839"/>
                </a:lnTo>
                <a:lnTo>
                  <a:pt x="1606296" y="36683"/>
                </a:lnTo>
                <a:lnTo>
                  <a:pt x="1629918" y="38590"/>
                </a:lnTo>
                <a:lnTo>
                  <a:pt x="1653540" y="40561"/>
                </a:lnTo>
                <a:lnTo>
                  <a:pt x="1677162" y="42596"/>
                </a:lnTo>
                <a:lnTo>
                  <a:pt x="1700784" y="44695"/>
                </a:lnTo>
                <a:lnTo>
                  <a:pt x="1724406" y="46859"/>
                </a:lnTo>
                <a:lnTo>
                  <a:pt x="1748028" y="49087"/>
                </a:lnTo>
                <a:lnTo>
                  <a:pt x="1771650" y="51379"/>
                </a:lnTo>
                <a:lnTo>
                  <a:pt x="1795272" y="53736"/>
                </a:lnTo>
                <a:lnTo>
                  <a:pt x="1818894" y="56157"/>
                </a:lnTo>
                <a:lnTo>
                  <a:pt x="1842516" y="58641"/>
                </a:lnTo>
                <a:lnTo>
                  <a:pt x="1866138" y="61190"/>
                </a:lnTo>
                <a:lnTo>
                  <a:pt x="1889760" y="63801"/>
                </a:lnTo>
                <a:lnTo>
                  <a:pt x="1913382" y="66475"/>
                </a:lnTo>
                <a:lnTo>
                  <a:pt x="1937004" y="69211"/>
                </a:lnTo>
                <a:lnTo>
                  <a:pt x="1960626" y="72007"/>
                </a:lnTo>
                <a:lnTo>
                  <a:pt x="1984248" y="74865"/>
                </a:lnTo>
                <a:lnTo>
                  <a:pt x="2007870" y="77781"/>
                </a:lnTo>
                <a:lnTo>
                  <a:pt x="2031492" y="80756"/>
                </a:lnTo>
                <a:lnTo>
                  <a:pt x="2055114" y="83789"/>
                </a:lnTo>
                <a:lnTo>
                  <a:pt x="2078736" y="86877"/>
                </a:lnTo>
                <a:lnTo>
                  <a:pt x="2102358" y="90021"/>
                </a:lnTo>
                <a:lnTo>
                  <a:pt x="2125980" y="93218"/>
                </a:lnTo>
                <a:lnTo>
                  <a:pt x="2149602" y="96468"/>
                </a:lnTo>
                <a:lnTo>
                  <a:pt x="2173224" y="99768"/>
                </a:lnTo>
                <a:lnTo>
                  <a:pt x="2196846" y="103118"/>
                </a:lnTo>
                <a:lnTo>
                  <a:pt x="2220468" y="106516"/>
                </a:lnTo>
                <a:lnTo>
                  <a:pt x="2244090" y="109960"/>
                </a:lnTo>
                <a:lnTo>
                  <a:pt x="2267712" y="113449"/>
                </a:lnTo>
                <a:lnTo>
                  <a:pt x="2291334" y="116980"/>
                </a:lnTo>
                <a:lnTo>
                  <a:pt x="2314956" y="120553"/>
                </a:lnTo>
                <a:lnTo>
                  <a:pt x="2338578" y="124165"/>
                </a:lnTo>
                <a:lnTo>
                  <a:pt x="2362200" y="127814"/>
                </a:lnTo>
                <a:lnTo>
                  <a:pt x="2385822" y="131499"/>
                </a:lnTo>
                <a:lnTo>
                  <a:pt x="2409444" y="135217"/>
                </a:lnTo>
                <a:lnTo>
                  <a:pt x="2433066" y="138968"/>
                </a:lnTo>
                <a:lnTo>
                  <a:pt x="2456688" y="142748"/>
                </a:lnTo>
                <a:lnTo>
                  <a:pt x="2480310" y="146557"/>
                </a:lnTo>
                <a:lnTo>
                  <a:pt x="2503932" y="150391"/>
                </a:lnTo>
                <a:lnTo>
                  <a:pt x="2527554" y="154249"/>
                </a:lnTo>
                <a:lnTo>
                  <a:pt x="2551176" y="158130"/>
                </a:lnTo>
                <a:lnTo>
                  <a:pt x="2574798" y="162031"/>
                </a:lnTo>
                <a:lnTo>
                  <a:pt x="2598420" y="165950"/>
                </a:lnTo>
                <a:lnTo>
                  <a:pt x="2622042" y="169886"/>
                </a:lnTo>
                <a:lnTo>
                  <a:pt x="2645664" y="173836"/>
                </a:lnTo>
                <a:lnTo>
                  <a:pt x="2669286" y="177799"/>
                </a:lnTo>
                <a:lnTo>
                  <a:pt x="2692908" y="181772"/>
                </a:lnTo>
                <a:lnTo>
                  <a:pt x="2716530" y="185755"/>
                </a:lnTo>
                <a:lnTo>
                  <a:pt x="2740152" y="189744"/>
                </a:lnTo>
                <a:lnTo>
                  <a:pt x="2763774" y="193739"/>
                </a:lnTo>
                <a:lnTo>
                  <a:pt x="2787396" y="197738"/>
                </a:lnTo>
                <a:lnTo>
                  <a:pt x="2811018" y="201739"/>
                </a:lnTo>
                <a:lnTo>
                  <a:pt x="2834640" y="205740"/>
                </a:lnTo>
                <a:lnTo>
                  <a:pt x="2858262" y="209739"/>
                </a:lnTo>
                <a:lnTo>
                  <a:pt x="2881884" y="213736"/>
                </a:lnTo>
                <a:lnTo>
                  <a:pt x="2905506" y="217728"/>
                </a:lnTo>
                <a:lnTo>
                  <a:pt x="2929128" y="221714"/>
                </a:lnTo>
                <a:lnTo>
                  <a:pt x="2952750" y="225693"/>
                </a:lnTo>
                <a:lnTo>
                  <a:pt x="2976372" y="229663"/>
                </a:lnTo>
                <a:lnTo>
                  <a:pt x="2999994" y="233623"/>
                </a:lnTo>
                <a:lnTo>
                  <a:pt x="3023616" y="237572"/>
                </a:lnTo>
                <a:lnTo>
                  <a:pt x="3047238" y="241507"/>
                </a:lnTo>
                <a:lnTo>
                  <a:pt x="3070860" y="245429"/>
                </a:lnTo>
                <a:lnTo>
                  <a:pt x="3094482" y="249336"/>
                </a:lnTo>
                <a:lnTo>
                  <a:pt x="3118104" y="253227"/>
                </a:lnTo>
                <a:lnTo>
                  <a:pt x="3141726" y="257100"/>
                </a:lnTo>
                <a:lnTo>
                  <a:pt x="3165348" y="260955"/>
                </a:lnTo>
                <a:lnTo>
                  <a:pt x="3188970" y="264791"/>
                </a:lnTo>
                <a:lnTo>
                  <a:pt x="3212592" y="268607"/>
                </a:lnTo>
                <a:lnTo>
                  <a:pt x="3236214" y="272401"/>
                </a:lnTo>
                <a:lnTo>
                  <a:pt x="3259836" y="276174"/>
                </a:lnTo>
                <a:lnTo>
                  <a:pt x="3283458" y="279924"/>
                </a:lnTo>
                <a:lnTo>
                  <a:pt x="3307080" y="283651"/>
                </a:lnTo>
                <a:lnTo>
                  <a:pt x="3330702" y="287353"/>
                </a:lnTo>
                <a:lnTo>
                  <a:pt x="3354324" y="291031"/>
                </a:lnTo>
                <a:lnTo>
                  <a:pt x="3377946" y="294683"/>
                </a:lnTo>
                <a:lnTo>
                  <a:pt x="3401568" y="298309"/>
                </a:lnTo>
                <a:lnTo>
                  <a:pt x="3425190" y="301909"/>
                </a:lnTo>
                <a:lnTo>
                  <a:pt x="3448812" y="305482"/>
                </a:lnTo>
                <a:lnTo>
                  <a:pt x="3472434" y="309028"/>
                </a:lnTo>
                <a:lnTo>
                  <a:pt x="3496056" y="312545"/>
                </a:lnTo>
                <a:lnTo>
                  <a:pt x="3519678" y="316034"/>
                </a:lnTo>
                <a:lnTo>
                  <a:pt x="3543300" y="319495"/>
                </a:lnTo>
                <a:lnTo>
                  <a:pt x="3566922" y="322927"/>
                </a:lnTo>
                <a:lnTo>
                  <a:pt x="3590544" y="326329"/>
                </a:lnTo>
                <a:lnTo>
                  <a:pt x="3614166" y="329702"/>
                </a:lnTo>
                <a:lnTo>
                  <a:pt x="3637788" y="333046"/>
                </a:lnTo>
                <a:lnTo>
                  <a:pt x="3661410" y="336359"/>
                </a:lnTo>
                <a:lnTo>
                  <a:pt x="3685032" y="339642"/>
                </a:lnTo>
                <a:lnTo>
                  <a:pt x="3708654" y="342896"/>
                </a:lnTo>
                <a:lnTo>
                  <a:pt x="3732276" y="346118"/>
                </a:lnTo>
                <a:lnTo>
                  <a:pt x="3755898" y="349311"/>
                </a:lnTo>
                <a:lnTo>
                  <a:pt x="3779520" y="352473"/>
                </a:lnTo>
                <a:lnTo>
                  <a:pt x="3803142" y="355604"/>
                </a:lnTo>
                <a:lnTo>
                  <a:pt x="3826764" y="358705"/>
                </a:lnTo>
                <a:lnTo>
                  <a:pt x="3850386" y="361775"/>
                </a:lnTo>
                <a:lnTo>
                  <a:pt x="3874008" y="364814"/>
                </a:lnTo>
                <a:lnTo>
                  <a:pt x="3897630" y="367823"/>
                </a:lnTo>
                <a:lnTo>
                  <a:pt x="3921252" y="370802"/>
                </a:lnTo>
                <a:lnTo>
                  <a:pt x="3944874" y="373750"/>
                </a:lnTo>
                <a:lnTo>
                  <a:pt x="3968496" y="376667"/>
                </a:lnTo>
                <a:lnTo>
                  <a:pt x="3992118" y="379555"/>
                </a:lnTo>
                <a:lnTo>
                  <a:pt x="4015740" y="382412"/>
                </a:lnTo>
                <a:lnTo>
                  <a:pt x="4039362" y="385239"/>
                </a:lnTo>
                <a:lnTo>
                  <a:pt x="4062984" y="388036"/>
                </a:lnTo>
                <a:lnTo>
                  <a:pt x="4086606" y="390804"/>
                </a:lnTo>
                <a:lnTo>
                  <a:pt x="4110228" y="393541"/>
                </a:lnTo>
                <a:lnTo>
                  <a:pt x="4133850" y="396250"/>
                </a:lnTo>
                <a:lnTo>
                  <a:pt x="4157472" y="398929"/>
                </a:lnTo>
                <a:lnTo>
                  <a:pt x="4181094" y="401579"/>
                </a:lnTo>
                <a:lnTo>
                  <a:pt x="4204716" y="404200"/>
                </a:lnTo>
                <a:lnTo>
                  <a:pt x="4228338" y="406792"/>
                </a:lnTo>
                <a:lnTo>
                  <a:pt x="4251960" y="409356"/>
                </a:lnTo>
                <a:lnTo>
                  <a:pt x="4275582" y="411891"/>
                </a:lnTo>
                <a:lnTo>
                  <a:pt x="4299204" y="414399"/>
                </a:lnTo>
                <a:lnTo>
                  <a:pt x="4322826" y="416878"/>
                </a:lnTo>
                <a:lnTo>
                  <a:pt x="4346448" y="419330"/>
                </a:lnTo>
                <a:lnTo>
                  <a:pt x="4370070" y="421754"/>
                </a:lnTo>
                <a:lnTo>
                  <a:pt x="4393692" y="424152"/>
                </a:lnTo>
                <a:lnTo>
                  <a:pt x="4417314" y="426522"/>
                </a:lnTo>
                <a:lnTo>
                  <a:pt x="4440936" y="428866"/>
                </a:lnTo>
                <a:lnTo>
                  <a:pt x="4464558" y="431183"/>
                </a:lnTo>
                <a:lnTo>
                  <a:pt x="4488180" y="433474"/>
                </a:lnTo>
                <a:lnTo>
                  <a:pt x="4511802" y="435739"/>
                </a:lnTo>
                <a:lnTo>
                  <a:pt x="4535424" y="437979"/>
                </a:lnTo>
                <a:lnTo>
                  <a:pt x="4559046" y="440193"/>
                </a:lnTo>
                <a:lnTo>
                  <a:pt x="4582668" y="442382"/>
                </a:lnTo>
                <a:lnTo>
                  <a:pt x="4606290" y="444546"/>
                </a:lnTo>
                <a:lnTo>
                  <a:pt x="4629912" y="446685"/>
                </a:lnTo>
                <a:lnTo>
                  <a:pt x="4653534" y="448801"/>
                </a:lnTo>
                <a:lnTo>
                  <a:pt x="4677156" y="450891"/>
                </a:lnTo>
                <a:lnTo>
                  <a:pt x="4700778" y="452958"/>
                </a:lnTo>
                <a:lnTo>
                  <a:pt x="4724400" y="455002"/>
                </a:lnTo>
                <a:lnTo>
                  <a:pt x="4748022" y="457022"/>
                </a:lnTo>
                <a:lnTo>
                  <a:pt x="4771644" y="459019"/>
                </a:lnTo>
                <a:lnTo>
                  <a:pt x="4795266" y="460993"/>
                </a:lnTo>
                <a:lnTo>
                  <a:pt x="4818888" y="462945"/>
                </a:lnTo>
                <a:lnTo>
                  <a:pt x="4842510" y="464875"/>
                </a:lnTo>
                <a:lnTo>
                  <a:pt x="4866132" y="466782"/>
                </a:lnTo>
                <a:lnTo>
                  <a:pt x="4889754" y="468668"/>
                </a:lnTo>
                <a:lnTo>
                  <a:pt x="4913376" y="470532"/>
                </a:lnTo>
                <a:lnTo>
                  <a:pt x="4936998" y="472375"/>
                </a:lnTo>
                <a:lnTo>
                  <a:pt x="4960620" y="474196"/>
                </a:lnTo>
                <a:lnTo>
                  <a:pt x="4984242" y="475997"/>
                </a:lnTo>
                <a:lnTo>
                  <a:pt x="5007864" y="477778"/>
                </a:lnTo>
                <a:lnTo>
                  <a:pt x="5031486" y="479538"/>
                </a:lnTo>
                <a:lnTo>
                  <a:pt x="5055108" y="481279"/>
                </a:lnTo>
                <a:lnTo>
                  <a:pt x="5078730" y="482999"/>
                </a:lnTo>
                <a:lnTo>
                  <a:pt x="5102352" y="484700"/>
                </a:lnTo>
                <a:lnTo>
                  <a:pt x="5125974" y="486382"/>
                </a:lnTo>
                <a:lnTo>
                  <a:pt x="5149596" y="488045"/>
                </a:lnTo>
                <a:lnTo>
                  <a:pt x="5173218" y="489689"/>
                </a:lnTo>
                <a:lnTo>
                  <a:pt x="5196840" y="491314"/>
                </a:lnTo>
                <a:lnTo>
                  <a:pt x="5220462" y="492921"/>
                </a:lnTo>
                <a:lnTo>
                  <a:pt x="5244084" y="494510"/>
                </a:lnTo>
                <a:lnTo>
                  <a:pt x="5267706" y="496081"/>
                </a:lnTo>
                <a:lnTo>
                  <a:pt x="5291328" y="497634"/>
                </a:lnTo>
                <a:lnTo>
                  <a:pt x="5314950" y="499170"/>
                </a:lnTo>
                <a:lnTo>
                  <a:pt x="5338572" y="500689"/>
                </a:lnTo>
                <a:lnTo>
                  <a:pt x="5362194" y="502190"/>
                </a:lnTo>
                <a:lnTo>
                  <a:pt x="5385816" y="503675"/>
                </a:lnTo>
                <a:lnTo>
                  <a:pt x="5409438" y="505144"/>
                </a:lnTo>
                <a:lnTo>
                  <a:pt x="5433060" y="506596"/>
                </a:lnTo>
                <a:lnTo>
                  <a:pt x="5456682" y="508031"/>
                </a:lnTo>
                <a:lnTo>
                  <a:pt x="5480304" y="509451"/>
                </a:lnTo>
                <a:lnTo>
                  <a:pt x="5503926" y="510856"/>
                </a:lnTo>
                <a:lnTo>
                  <a:pt x="5527548" y="512244"/>
                </a:lnTo>
                <a:lnTo>
                  <a:pt x="5551170" y="513618"/>
                </a:lnTo>
                <a:lnTo>
                  <a:pt x="5574792" y="514976"/>
                </a:lnTo>
                <a:lnTo>
                  <a:pt x="5598414" y="516319"/>
                </a:lnTo>
                <a:lnTo>
                  <a:pt x="5622036" y="517648"/>
                </a:lnTo>
                <a:lnTo>
                  <a:pt x="5645658" y="518962"/>
                </a:lnTo>
                <a:lnTo>
                  <a:pt x="5669280" y="520262"/>
                </a:lnTo>
              </a:path>
            </a:pathLst>
          </a:custGeom>
          <a:noFill/>
          <a:ln w="285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932688" y="2485784"/>
            <a:ext cx="5669280" cy="1863059"/>
          </a:xfrm>
          <a:custGeom>
            <a:avLst/>
            <a:gdLst/>
            <a:ahLst/>
            <a:cxnLst/>
            <a:rect l="l" t="t" r="r" b="b"/>
            <a:pathLst>
              <a:path w="5669280" h="1863059">
                <a:moveTo>
                  <a:pt x="0" y="1400416"/>
                </a:moveTo>
                <a:lnTo>
                  <a:pt x="23622" y="1400371"/>
                </a:lnTo>
                <a:lnTo>
                  <a:pt x="47244" y="1400236"/>
                </a:lnTo>
                <a:lnTo>
                  <a:pt x="70866" y="1400010"/>
                </a:lnTo>
                <a:lnTo>
                  <a:pt x="94488" y="1399695"/>
                </a:lnTo>
                <a:lnTo>
                  <a:pt x="118110" y="1399289"/>
                </a:lnTo>
                <a:lnTo>
                  <a:pt x="141732" y="1398793"/>
                </a:lnTo>
                <a:lnTo>
                  <a:pt x="165354" y="1398205"/>
                </a:lnTo>
                <a:lnTo>
                  <a:pt x="188976" y="1397525"/>
                </a:lnTo>
                <a:lnTo>
                  <a:pt x="212598" y="1396754"/>
                </a:lnTo>
                <a:lnTo>
                  <a:pt x="236220" y="1395890"/>
                </a:lnTo>
                <a:lnTo>
                  <a:pt x="259842" y="1394932"/>
                </a:lnTo>
                <a:lnTo>
                  <a:pt x="283464" y="1393881"/>
                </a:lnTo>
                <a:lnTo>
                  <a:pt x="307086" y="1392734"/>
                </a:lnTo>
                <a:lnTo>
                  <a:pt x="330708" y="1391492"/>
                </a:lnTo>
                <a:lnTo>
                  <a:pt x="354330" y="1390153"/>
                </a:lnTo>
                <a:lnTo>
                  <a:pt x="377952" y="1388717"/>
                </a:lnTo>
                <a:lnTo>
                  <a:pt x="401574" y="1387181"/>
                </a:lnTo>
                <a:lnTo>
                  <a:pt x="425196" y="1385546"/>
                </a:lnTo>
                <a:lnTo>
                  <a:pt x="448818" y="1383809"/>
                </a:lnTo>
                <a:lnTo>
                  <a:pt x="472440" y="1381970"/>
                </a:lnTo>
                <a:lnTo>
                  <a:pt x="496062" y="1380027"/>
                </a:lnTo>
                <a:lnTo>
                  <a:pt x="519684" y="1377978"/>
                </a:lnTo>
                <a:lnTo>
                  <a:pt x="543306" y="1375822"/>
                </a:lnTo>
                <a:lnTo>
                  <a:pt x="566928" y="1373557"/>
                </a:lnTo>
                <a:lnTo>
                  <a:pt x="590550" y="1371181"/>
                </a:lnTo>
                <a:lnTo>
                  <a:pt x="614172" y="1368692"/>
                </a:lnTo>
                <a:lnTo>
                  <a:pt x="637794" y="1366089"/>
                </a:lnTo>
                <a:lnTo>
                  <a:pt x="661416" y="1363369"/>
                </a:lnTo>
                <a:lnTo>
                  <a:pt x="685038" y="1360529"/>
                </a:lnTo>
                <a:lnTo>
                  <a:pt x="708660" y="1357568"/>
                </a:lnTo>
                <a:lnTo>
                  <a:pt x="732282" y="1354483"/>
                </a:lnTo>
                <a:lnTo>
                  <a:pt x="755904" y="1351271"/>
                </a:lnTo>
                <a:lnTo>
                  <a:pt x="779526" y="1347930"/>
                </a:lnTo>
                <a:lnTo>
                  <a:pt x="803148" y="1344456"/>
                </a:lnTo>
                <a:lnTo>
                  <a:pt x="826770" y="1340847"/>
                </a:lnTo>
                <a:lnTo>
                  <a:pt x="850392" y="1337099"/>
                </a:lnTo>
                <a:lnTo>
                  <a:pt x="874014" y="1333208"/>
                </a:lnTo>
                <a:lnTo>
                  <a:pt x="897636" y="1329172"/>
                </a:lnTo>
                <a:lnTo>
                  <a:pt x="921258" y="1324987"/>
                </a:lnTo>
                <a:lnTo>
                  <a:pt x="944880" y="1320648"/>
                </a:lnTo>
                <a:lnTo>
                  <a:pt x="968502" y="1316152"/>
                </a:lnTo>
                <a:lnTo>
                  <a:pt x="992124" y="1311494"/>
                </a:lnTo>
                <a:lnTo>
                  <a:pt x="1015746" y="1306670"/>
                </a:lnTo>
                <a:lnTo>
                  <a:pt x="1039368" y="1301675"/>
                </a:lnTo>
                <a:lnTo>
                  <a:pt x="1062990" y="1296504"/>
                </a:lnTo>
                <a:lnTo>
                  <a:pt x="1086612" y="1291152"/>
                </a:lnTo>
                <a:lnTo>
                  <a:pt x="1110234" y="1285613"/>
                </a:lnTo>
                <a:lnTo>
                  <a:pt x="1133856" y="1279882"/>
                </a:lnTo>
                <a:lnTo>
                  <a:pt x="1157478" y="1273952"/>
                </a:lnTo>
                <a:lnTo>
                  <a:pt x="1181100" y="1267818"/>
                </a:lnTo>
                <a:lnTo>
                  <a:pt x="1204722" y="1261472"/>
                </a:lnTo>
                <a:lnTo>
                  <a:pt x="1228344" y="1254909"/>
                </a:lnTo>
                <a:lnTo>
                  <a:pt x="1251966" y="1248119"/>
                </a:lnTo>
                <a:lnTo>
                  <a:pt x="1275588" y="1241097"/>
                </a:lnTo>
                <a:lnTo>
                  <a:pt x="1299210" y="1233834"/>
                </a:lnTo>
                <a:lnTo>
                  <a:pt x="1322832" y="1226321"/>
                </a:lnTo>
                <a:lnTo>
                  <a:pt x="1346454" y="1218549"/>
                </a:lnTo>
                <a:lnTo>
                  <a:pt x="1370076" y="1210510"/>
                </a:lnTo>
                <a:lnTo>
                  <a:pt x="1393698" y="1202194"/>
                </a:lnTo>
                <a:lnTo>
                  <a:pt x="1417320" y="1193590"/>
                </a:lnTo>
                <a:lnTo>
                  <a:pt x="1440942" y="1184688"/>
                </a:lnTo>
                <a:lnTo>
                  <a:pt x="1464564" y="1175476"/>
                </a:lnTo>
                <a:lnTo>
                  <a:pt x="1488186" y="1165943"/>
                </a:lnTo>
                <a:lnTo>
                  <a:pt x="1511808" y="1156076"/>
                </a:lnTo>
                <a:lnTo>
                  <a:pt x="1535430" y="1145863"/>
                </a:lnTo>
                <a:lnTo>
                  <a:pt x="1559052" y="1135289"/>
                </a:lnTo>
                <a:lnTo>
                  <a:pt x="1582674" y="1124341"/>
                </a:lnTo>
                <a:lnTo>
                  <a:pt x="1606296" y="1113003"/>
                </a:lnTo>
                <a:lnTo>
                  <a:pt x="1629918" y="1101260"/>
                </a:lnTo>
                <a:lnTo>
                  <a:pt x="1653540" y="1089095"/>
                </a:lnTo>
                <a:lnTo>
                  <a:pt x="1677162" y="1076491"/>
                </a:lnTo>
                <a:lnTo>
                  <a:pt x="1700784" y="1063431"/>
                </a:lnTo>
                <a:lnTo>
                  <a:pt x="1724406" y="1049894"/>
                </a:lnTo>
                <a:lnTo>
                  <a:pt x="1748028" y="1035862"/>
                </a:lnTo>
                <a:lnTo>
                  <a:pt x="1771650" y="1021315"/>
                </a:lnTo>
                <a:lnTo>
                  <a:pt x="1795272" y="1006230"/>
                </a:lnTo>
                <a:lnTo>
                  <a:pt x="1818894" y="990586"/>
                </a:lnTo>
                <a:lnTo>
                  <a:pt x="1842516" y="974360"/>
                </a:lnTo>
                <a:lnTo>
                  <a:pt x="1866138" y="957528"/>
                </a:lnTo>
                <a:lnTo>
                  <a:pt x="1889760" y="940067"/>
                </a:lnTo>
                <a:lnTo>
                  <a:pt x="1913382" y="921950"/>
                </a:lnTo>
                <a:lnTo>
                  <a:pt x="1937004" y="903153"/>
                </a:lnTo>
                <a:lnTo>
                  <a:pt x="1960626" y="883649"/>
                </a:lnTo>
                <a:lnTo>
                  <a:pt x="1984248" y="863413"/>
                </a:lnTo>
                <a:lnTo>
                  <a:pt x="2007870" y="842418"/>
                </a:lnTo>
                <a:lnTo>
                  <a:pt x="2031492" y="820639"/>
                </a:lnTo>
                <a:lnTo>
                  <a:pt x="2055114" y="798051"/>
                </a:lnTo>
                <a:lnTo>
                  <a:pt x="2078736" y="774631"/>
                </a:lnTo>
                <a:lnTo>
                  <a:pt x="2102358" y="750356"/>
                </a:lnTo>
                <a:lnTo>
                  <a:pt x="2125980" y="725207"/>
                </a:lnTo>
                <a:lnTo>
                  <a:pt x="2149602" y="699168"/>
                </a:lnTo>
                <a:lnTo>
                  <a:pt x="2173224" y="672227"/>
                </a:lnTo>
                <a:lnTo>
                  <a:pt x="2196846" y="644379"/>
                </a:lnTo>
                <a:lnTo>
                  <a:pt x="2220468" y="615623"/>
                </a:lnTo>
                <a:lnTo>
                  <a:pt x="2244090" y="585969"/>
                </a:lnTo>
                <a:lnTo>
                  <a:pt x="2267712" y="555439"/>
                </a:lnTo>
                <a:lnTo>
                  <a:pt x="2291334" y="524065"/>
                </a:lnTo>
                <a:lnTo>
                  <a:pt x="2314956" y="491896"/>
                </a:lnTo>
                <a:lnTo>
                  <a:pt x="2338578" y="459000"/>
                </a:lnTo>
                <a:lnTo>
                  <a:pt x="2362200" y="425467"/>
                </a:lnTo>
                <a:lnTo>
                  <a:pt x="2385822" y="391411"/>
                </a:lnTo>
                <a:lnTo>
                  <a:pt x="2409444" y="356976"/>
                </a:lnTo>
                <a:lnTo>
                  <a:pt x="2433066" y="322338"/>
                </a:lnTo>
                <a:lnTo>
                  <a:pt x="2456688" y="287711"/>
                </a:lnTo>
                <a:lnTo>
                  <a:pt x="2480310" y="253345"/>
                </a:lnTo>
                <a:lnTo>
                  <a:pt x="2503932" y="219534"/>
                </a:lnTo>
                <a:lnTo>
                  <a:pt x="2527554" y="186613"/>
                </a:lnTo>
                <a:lnTo>
                  <a:pt x="2551176" y="154959"/>
                </a:lnTo>
                <a:lnTo>
                  <a:pt x="2574798" y="124986"/>
                </a:lnTo>
                <a:lnTo>
                  <a:pt x="2598420" y="97139"/>
                </a:lnTo>
                <a:lnTo>
                  <a:pt x="2622042" y="71887"/>
                </a:lnTo>
                <a:lnTo>
                  <a:pt x="2645664" y="49707"/>
                </a:lnTo>
                <a:lnTo>
                  <a:pt x="2669286" y="31069"/>
                </a:lnTo>
                <a:lnTo>
                  <a:pt x="2692908" y="16418"/>
                </a:lnTo>
                <a:lnTo>
                  <a:pt x="2716530" y="6150"/>
                </a:lnTo>
                <a:lnTo>
                  <a:pt x="2740152" y="596"/>
                </a:lnTo>
                <a:lnTo>
                  <a:pt x="2763774" y="0"/>
                </a:lnTo>
                <a:lnTo>
                  <a:pt x="2787396" y="4503"/>
                </a:lnTo>
                <a:lnTo>
                  <a:pt x="2811018" y="14137"/>
                </a:lnTo>
                <a:lnTo>
                  <a:pt x="2834640" y="28816"/>
                </a:lnTo>
                <a:lnTo>
                  <a:pt x="2858262" y="48344"/>
                </a:lnTo>
                <a:lnTo>
                  <a:pt x="2881884" y="72424"/>
                </a:lnTo>
                <a:lnTo>
                  <a:pt x="2905506" y="100674"/>
                </a:lnTo>
                <a:lnTo>
                  <a:pt x="2929128" y="132645"/>
                </a:lnTo>
                <a:lnTo>
                  <a:pt x="2952750" y="167848"/>
                </a:lnTo>
                <a:lnTo>
                  <a:pt x="2976372" y="205767"/>
                </a:lnTo>
                <a:lnTo>
                  <a:pt x="2999994" y="245888"/>
                </a:lnTo>
                <a:lnTo>
                  <a:pt x="3023616" y="287711"/>
                </a:lnTo>
                <a:lnTo>
                  <a:pt x="3047238" y="330763"/>
                </a:lnTo>
                <a:lnTo>
                  <a:pt x="3070860" y="374612"/>
                </a:lnTo>
                <a:lnTo>
                  <a:pt x="3094482" y="418870"/>
                </a:lnTo>
                <a:lnTo>
                  <a:pt x="3118104" y="463194"/>
                </a:lnTo>
                <a:lnTo>
                  <a:pt x="3141726" y="507292"/>
                </a:lnTo>
                <a:lnTo>
                  <a:pt x="3165348" y="550919"/>
                </a:lnTo>
                <a:lnTo>
                  <a:pt x="3188970" y="593870"/>
                </a:lnTo>
                <a:lnTo>
                  <a:pt x="3212592" y="635983"/>
                </a:lnTo>
                <a:lnTo>
                  <a:pt x="3236214" y="677131"/>
                </a:lnTo>
                <a:lnTo>
                  <a:pt x="3259836" y="717216"/>
                </a:lnTo>
                <a:lnTo>
                  <a:pt x="3283458" y="756170"/>
                </a:lnTo>
                <a:lnTo>
                  <a:pt x="3307080" y="793945"/>
                </a:lnTo>
                <a:lnTo>
                  <a:pt x="3330702" y="830513"/>
                </a:lnTo>
                <a:lnTo>
                  <a:pt x="3354324" y="865863"/>
                </a:lnTo>
                <a:lnTo>
                  <a:pt x="3377946" y="899994"/>
                </a:lnTo>
                <a:lnTo>
                  <a:pt x="3401568" y="932918"/>
                </a:lnTo>
                <a:lnTo>
                  <a:pt x="3425190" y="964653"/>
                </a:lnTo>
                <a:lnTo>
                  <a:pt x="3448812" y="995225"/>
                </a:lnTo>
                <a:lnTo>
                  <a:pt x="3472434" y="1024663"/>
                </a:lnTo>
                <a:lnTo>
                  <a:pt x="3496056" y="1053001"/>
                </a:lnTo>
                <a:lnTo>
                  <a:pt x="3519678" y="1080274"/>
                </a:lnTo>
                <a:lnTo>
                  <a:pt x="3543300" y="1106519"/>
                </a:lnTo>
                <a:lnTo>
                  <a:pt x="3566922" y="1131773"/>
                </a:lnTo>
                <a:lnTo>
                  <a:pt x="3590544" y="1156076"/>
                </a:lnTo>
                <a:lnTo>
                  <a:pt x="3614166" y="1179466"/>
                </a:lnTo>
                <a:lnTo>
                  <a:pt x="3637788" y="1201979"/>
                </a:lnTo>
                <a:lnTo>
                  <a:pt x="3661410" y="1223653"/>
                </a:lnTo>
                <a:lnTo>
                  <a:pt x="3685032" y="1244523"/>
                </a:lnTo>
                <a:lnTo>
                  <a:pt x="3708654" y="1264625"/>
                </a:lnTo>
                <a:lnTo>
                  <a:pt x="3732276" y="1283992"/>
                </a:lnTo>
                <a:lnTo>
                  <a:pt x="3755898" y="1302656"/>
                </a:lnTo>
                <a:lnTo>
                  <a:pt x="3779520" y="1320648"/>
                </a:lnTo>
                <a:lnTo>
                  <a:pt x="3803142" y="1337999"/>
                </a:lnTo>
                <a:lnTo>
                  <a:pt x="3826764" y="1354737"/>
                </a:lnTo>
                <a:lnTo>
                  <a:pt x="3850386" y="1370889"/>
                </a:lnTo>
                <a:lnTo>
                  <a:pt x="3874008" y="1386481"/>
                </a:lnTo>
                <a:lnTo>
                  <a:pt x="3897630" y="1401538"/>
                </a:lnTo>
                <a:lnTo>
                  <a:pt x="3921252" y="1416084"/>
                </a:lnTo>
                <a:lnTo>
                  <a:pt x="3944874" y="1430141"/>
                </a:lnTo>
                <a:lnTo>
                  <a:pt x="3968496" y="1443730"/>
                </a:lnTo>
                <a:lnTo>
                  <a:pt x="3992118" y="1456871"/>
                </a:lnTo>
                <a:lnTo>
                  <a:pt x="4015740" y="1469585"/>
                </a:lnTo>
                <a:lnTo>
                  <a:pt x="4039362" y="1481890"/>
                </a:lnTo>
                <a:lnTo>
                  <a:pt x="4062984" y="1493802"/>
                </a:lnTo>
                <a:lnTo>
                  <a:pt x="4086606" y="1505339"/>
                </a:lnTo>
                <a:lnTo>
                  <a:pt x="4110228" y="1516516"/>
                </a:lnTo>
                <a:lnTo>
                  <a:pt x="4133850" y="1527349"/>
                </a:lnTo>
                <a:lnTo>
                  <a:pt x="4157472" y="1537851"/>
                </a:lnTo>
                <a:lnTo>
                  <a:pt x="4181094" y="1548036"/>
                </a:lnTo>
                <a:lnTo>
                  <a:pt x="4204716" y="1557917"/>
                </a:lnTo>
                <a:lnTo>
                  <a:pt x="4228338" y="1567507"/>
                </a:lnTo>
                <a:lnTo>
                  <a:pt x="4251960" y="1576816"/>
                </a:lnTo>
                <a:lnTo>
                  <a:pt x="4275582" y="1585856"/>
                </a:lnTo>
                <a:lnTo>
                  <a:pt x="4299204" y="1594638"/>
                </a:lnTo>
                <a:lnTo>
                  <a:pt x="4322826" y="1603172"/>
                </a:lnTo>
                <a:lnTo>
                  <a:pt x="4346448" y="1611467"/>
                </a:lnTo>
                <a:lnTo>
                  <a:pt x="4370070" y="1619532"/>
                </a:lnTo>
                <a:lnTo>
                  <a:pt x="4393692" y="1627376"/>
                </a:lnTo>
                <a:lnTo>
                  <a:pt x="4417314" y="1635008"/>
                </a:lnTo>
                <a:lnTo>
                  <a:pt x="4440936" y="1642434"/>
                </a:lnTo>
                <a:lnTo>
                  <a:pt x="4464558" y="1649664"/>
                </a:lnTo>
                <a:lnTo>
                  <a:pt x="4488180" y="1656703"/>
                </a:lnTo>
                <a:lnTo>
                  <a:pt x="4511802" y="1663559"/>
                </a:lnTo>
                <a:lnTo>
                  <a:pt x="4535424" y="1670239"/>
                </a:lnTo>
                <a:lnTo>
                  <a:pt x="4559046" y="1676748"/>
                </a:lnTo>
                <a:lnTo>
                  <a:pt x="4582668" y="1683093"/>
                </a:lnTo>
                <a:lnTo>
                  <a:pt x="4606290" y="1689279"/>
                </a:lnTo>
                <a:lnTo>
                  <a:pt x="4629912" y="1695312"/>
                </a:lnTo>
                <a:lnTo>
                  <a:pt x="4653534" y="1701197"/>
                </a:lnTo>
                <a:lnTo>
                  <a:pt x="4677156" y="1706939"/>
                </a:lnTo>
                <a:lnTo>
                  <a:pt x="4700778" y="1712543"/>
                </a:lnTo>
                <a:lnTo>
                  <a:pt x="4724400" y="1718013"/>
                </a:lnTo>
                <a:lnTo>
                  <a:pt x="4748022" y="1723354"/>
                </a:lnTo>
                <a:lnTo>
                  <a:pt x="4771644" y="1728571"/>
                </a:lnTo>
                <a:lnTo>
                  <a:pt x="4795266" y="1733666"/>
                </a:lnTo>
                <a:lnTo>
                  <a:pt x="4818888" y="1738645"/>
                </a:lnTo>
                <a:lnTo>
                  <a:pt x="4842510" y="1743510"/>
                </a:lnTo>
                <a:lnTo>
                  <a:pt x="4866132" y="1748265"/>
                </a:lnTo>
                <a:lnTo>
                  <a:pt x="4889754" y="1752915"/>
                </a:lnTo>
                <a:lnTo>
                  <a:pt x="4913376" y="1757461"/>
                </a:lnTo>
                <a:lnTo>
                  <a:pt x="4936998" y="1761907"/>
                </a:lnTo>
                <a:lnTo>
                  <a:pt x="4960620" y="1766257"/>
                </a:lnTo>
                <a:lnTo>
                  <a:pt x="4984242" y="1770513"/>
                </a:lnTo>
                <a:lnTo>
                  <a:pt x="5007864" y="1774678"/>
                </a:lnTo>
                <a:lnTo>
                  <a:pt x="5031486" y="1778755"/>
                </a:lnTo>
                <a:lnTo>
                  <a:pt x="5055108" y="1782746"/>
                </a:lnTo>
                <a:lnTo>
                  <a:pt x="5078730" y="1786653"/>
                </a:lnTo>
                <a:lnTo>
                  <a:pt x="5102352" y="1790480"/>
                </a:lnTo>
                <a:lnTo>
                  <a:pt x="5125974" y="1794229"/>
                </a:lnTo>
                <a:lnTo>
                  <a:pt x="5149596" y="1797901"/>
                </a:lnTo>
                <a:lnTo>
                  <a:pt x="5173218" y="1801499"/>
                </a:lnTo>
                <a:lnTo>
                  <a:pt x="5196840" y="1805025"/>
                </a:lnTo>
                <a:lnTo>
                  <a:pt x="5220462" y="1808481"/>
                </a:lnTo>
                <a:lnTo>
                  <a:pt x="5244084" y="1811869"/>
                </a:lnTo>
                <a:lnTo>
                  <a:pt x="5267706" y="1815191"/>
                </a:lnTo>
                <a:lnTo>
                  <a:pt x="5291328" y="1818448"/>
                </a:lnTo>
                <a:lnTo>
                  <a:pt x="5314950" y="1821643"/>
                </a:lnTo>
                <a:lnTo>
                  <a:pt x="5338572" y="1824776"/>
                </a:lnTo>
                <a:lnTo>
                  <a:pt x="5362194" y="1827851"/>
                </a:lnTo>
                <a:lnTo>
                  <a:pt x="5385816" y="1830867"/>
                </a:lnTo>
                <a:lnTo>
                  <a:pt x="5409438" y="1833827"/>
                </a:lnTo>
                <a:lnTo>
                  <a:pt x="5433060" y="1836733"/>
                </a:lnTo>
                <a:lnTo>
                  <a:pt x="5456682" y="1839585"/>
                </a:lnTo>
                <a:lnTo>
                  <a:pt x="5480304" y="1842384"/>
                </a:lnTo>
                <a:lnTo>
                  <a:pt x="5503926" y="1845134"/>
                </a:lnTo>
                <a:lnTo>
                  <a:pt x="5527548" y="1847833"/>
                </a:lnTo>
                <a:lnTo>
                  <a:pt x="5551170" y="1850485"/>
                </a:lnTo>
                <a:lnTo>
                  <a:pt x="5574792" y="1853089"/>
                </a:lnTo>
                <a:lnTo>
                  <a:pt x="5598414" y="1855648"/>
                </a:lnTo>
                <a:lnTo>
                  <a:pt x="5622036" y="1858161"/>
                </a:lnTo>
                <a:lnTo>
                  <a:pt x="5645658" y="1860632"/>
                </a:lnTo>
                <a:lnTo>
                  <a:pt x="5669280" y="1863059"/>
                </a:lnTo>
              </a:path>
            </a:pathLst>
          </a:custGeom>
          <a:noFill/>
          <a:ln w="222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402336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E7C86"/>
                </a:solidFill>
                <a:latin typeface="Arial"/>
              </a:rPr>
              <a:t>damped, Q ≈ 0.7: flat to ~f₀/3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33088" y="24688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Arial"/>
              </a:rPr>
              <a:t>under-damped, Q = 3: ×3 at f₀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462686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F24"/>
                </a:solidFill>
                <a:latin typeface="Courier New"/>
              </a:rPr>
              <a:t>f₀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903720" y="2240280"/>
          <a:ext cx="4617719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1214"/>
                <a:gridCol w="2216505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>Halve f₀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>effect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displacement per 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×4 — more signal</a:t>
                      </a:r>
                    </a:p>
                  </a:txBody>
                  <a:tcPr marL="91440" marR="91440" marT="27432" marB="27432" anchor="ctr">
                    <a:solidFill>
                      <a:srgbClr val="DCEDE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usable bandwidth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÷2</a:t>
                      </a:r>
                    </a:p>
                  </a:txBody>
                  <a:tcPr marL="91440" marR="91440" marT="27432" marB="27432" anchor="ctr">
                    <a:solidFill>
                      <a:srgbClr val="FAECD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shock survival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worse — softer springs</a:t>
                      </a:r>
                    </a:p>
                  </a:txBody>
                  <a:tcPr marL="91440" marR="91440" marT="27432" marB="27432" anchor="ctr">
                    <a:solidFill>
                      <a:srgbClr val="FAECD8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658368" y="5074920"/>
            <a:ext cx="10874959" cy="786384"/>
          </a:xfrm>
          <a:prstGeom prst="roundRect">
            <a:avLst>
              <a:gd name="adj" fmla="val 10000"/>
            </a:avLst>
          </a:prstGeom>
          <a:solidFill>
            <a:srgbClr val="FAECD8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950" b="1">
                <a:solidFill>
                  <a:srgbClr val="1A1F24"/>
                </a:solidFill>
                <a:latin typeface="Arial"/>
              </a:rPr>
              <a:t>The cavity gas (Lecture 4) sets the damping, the damping sets the peak — and a vibration near f₀ is amplified before any filter sees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5  ·  MEMS accelerometers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Reading the gap: differential capacitance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Principle 1 from Lecture 4, and why there are always two gaps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057400"/>
            <a:ext cx="4206240" cy="329184"/>
          </a:xfrm>
          <a:prstGeom prst="rect">
            <a:avLst/>
          </a:prstGeom>
          <a:solidFill>
            <a:srgbClr val="E4E2DE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A1F24"/>
                </a:solidFill>
                <a:latin typeface="Arial"/>
              </a:rPr>
              <a:t>FIXED PLATE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3977639"/>
            <a:ext cx="4206240" cy="329184"/>
          </a:xfrm>
          <a:prstGeom prst="rect">
            <a:avLst/>
          </a:prstGeom>
          <a:solidFill>
            <a:srgbClr val="E4E2DE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A1F24"/>
                </a:solidFill>
                <a:latin typeface="Arial"/>
              </a:rPr>
              <a:t>FIXED PLATE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08760" y="2788920"/>
            <a:ext cx="3108960" cy="658368"/>
          </a:xfrm>
          <a:prstGeom prst="rect">
            <a:avLst/>
          </a:prstGeom>
          <a:solidFill>
            <a:srgbClr val="DCEDEF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1A1F24"/>
                </a:solidFill>
                <a:latin typeface="Arial"/>
              </a:rPr>
              <a:t>PROOF MASS  ↑ 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39572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7C86"/>
                </a:solidFill>
                <a:latin typeface="Courier New"/>
              </a:rPr>
              <a:t>C₁ = εA/(d − 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354787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98324"/>
                </a:solidFill>
                <a:latin typeface="Courier New"/>
              </a:rPr>
              <a:t>C₂ = εA/(d + 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057400"/>
            <a:ext cx="37490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B7680"/>
                </a:solidFill>
                <a:latin typeface="Arial"/>
              </a:rPr>
              <a:t>WHY DIFFERENTIAL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331720"/>
            <a:ext cx="3749039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 i="0">
                <a:solidFill>
                  <a:srgbClr val="0E7C86"/>
                </a:solidFill>
                <a:latin typeface="Courier New"/>
              </a:rPr>
              <a:t>C₁ − C₂  ≈  2C₀ · x/d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 i="0">
                <a:solidFill>
                  <a:srgbClr val="1A1F24"/>
                </a:solidFill>
                <a:latin typeface="Arial"/>
              </a:rPr>
              <a:t>▸  linear in x to first order — the curvature of each gap cancels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 i="0">
                <a:solidFill>
                  <a:srgbClr val="1A1F24"/>
                </a:solidFill>
                <a:latin typeface="Arial"/>
              </a:rPr>
              <a:t>▸  anything that moves both gaps together — temperature, a common stress — cancels too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58368" y="4526280"/>
          <a:ext cx="5486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1024"/>
                <a:gridCol w="1865376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7F5F1"/>
                          </a:solidFill>
                          <a:latin typeface="Arial"/>
                        </a:rPr>
                        <a:t>At 1 g, representative device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7F5F1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1A1F24"/>
                          </a:solidFill>
                          <a:latin typeface="Arial"/>
                        </a:rPr>
                        <a:t>mass displacement x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1A1F24"/>
                          </a:solidFill>
                          <a:latin typeface="Courier New"/>
                        </a:rPr>
                        <a:t>9.9 nm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1A1F24"/>
                          </a:solidFill>
                          <a:latin typeface="Arial"/>
                        </a:rPr>
                        <a:t>gap d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1A1F24"/>
                          </a:solidFill>
                          <a:latin typeface="Courier New"/>
                        </a:rPr>
                        <a:t>1.5 µm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1A1F24"/>
                          </a:solidFill>
                          <a:latin typeface="Arial"/>
                        </a:rPr>
                        <a:t>x/d — the fractional signal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1A1F24"/>
                          </a:solidFill>
                          <a:latin typeface="Courier New"/>
                        </a:rPr>
                        <a:t>0.66 %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537960" y="4526280"/>
            <a:ext cx="5001768" cy="1463040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F7F5F1"/>
                </a:solidFill>
                <a:latin typeface="Arial"/>
              </a:rPr>
              <a:t>The capacitances are femtofarads and the change is attofarads — which is why the electronics sit on the same die, and why you only ever see mg.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5  ·  MEMS accelerometers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Mass buys quiet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The noise floor that no electronics can remove — gas molecules hitting the mass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20240"/>
            <a:ext cx="1087495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2600" b="1" i="0">
                <a:solidFill>
                  <a:srgbClr val="D98324"/>
                </a:solidFill>
                <a:latin typeface="Courier New"/>
              </a:rPr>
              <a:t>a</a:t>
            </a:r>
            <a:r>
              <a:rPr sz="1800" b="1" i="0">
                <a:solidFill>
                  <a:srgbClr val="D98324"/>
                </a:solidFill>
                <a:latin typeface="Courier New"/>
              </a:rPr>
              <a:t>n</a:t>
            </a:r>
            <a:r>
              <a:rPr sz="2600" b="1" i="0">
                <a:solidFill>
                  <a:srgbClr val="D98324"/>
                </a:solidFill>
                <a:latin typeface="Courier New"/>
              </a:rPr>
              <a:t>  =  √( 4 k</a:t>
            </a:r>
            <a:r>
              <a:rPr sz="1800" b="1" i="0">
                <a:solidFill>
                  <a:srgbClr val="D98324"/>
                </a:solidFill>
                <a:latin typeface="Courier New"/>
              </a:rPr>
              <a:t>B</a:t>
            </a:r>
            <a:r>
              <a:rPr sz="2600" b="1" i="0">
                <a:solidFill>
                  <a:srgbClr val="D98324"/>
                </a:solidFill>
                <a:latin typeface="Courier New"/>
              </a:rPr>
              <a:t>T ω₀ / (m Q) )</a:t>
            </a:r>
            <a:r>
              <a:rPr sz="1700" b="0" i="0">
                <a:solidFill>
                  <a:srgbClr val="6B7680"/>
                </a:solidFill>
                <a:latin typeface="Arial"/>
              </a:rPr>
              <a:t>      thermomechanical noise, per √Hz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2697480"/>
          <a:ext cx="10874958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29970"/>
                <a:gridCol w="3044988"/>
              </a:tblGrid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>Representative: m = 10 µg, f₀ = 5 kHz, Q = 1, 300 K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>per √Hz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Brownian noise floor of the structure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23 µg/√Hz</a:t>
                      </a:r>
                    </a:p>
                  </a:txBody>
                  <a:tcPr marL="91440" marR="91440" marT="27432" marB="27432" anchor="ctr">
                    <a:solidFill>
                      <a:srgbClr val="FAECD8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ISM330DHCX datasheet, whole device (typ)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60 µg/√Hz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8368" y="434340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F24"/>
                </a:solidFill>
                <a:latin typeface="Arial"/>
              </a:rPr>
              <a:t>Shrink every dimension by 2:  m ÷ 8  →  aₙ × √8 = 2.8.   Lecture 1's m ∝ L³, priced in µg/√Hz.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983480"/>
            <a:ext cx="10874959" cy="822960"/>
          </a:xfrm>
          <a:prstGeom prst="roundRect">
            <a:avLst>
              <a:gd name="adj" fmla="val 10000"/>
            </a:avLst>
          </a:prstGeom>
          <a:solidFill>
            <a:srgbClr val="FAECD8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950" b="1">
                <a:solidFill>
                  <a:srgbClr val="1A1F24"/>
                </a:solidFill>
                <a:latin typeface="Arial"/>
              </a:rPr>
              <a:t>In this example the electronics add more noise than the physics. In the smallest parts it is the other way round, and no ASIC helps.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5  ·  MEMS accelerometers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The other two ways to read a proof mass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Capacitive is the default, not the only choice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920240"/>
          <a:ext cx="10874956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6242"/>
                <a:gridCol w="2936238"/>
                <a:gridCol w="2936238"/>
                <a:gridCol w="2936238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>Capacitive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>Piezoresistive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>Piezoelectric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A1F24"/>
                          </a:solidFill>
                          <a:latin typeface="Arial"/>
                        </a:rPr>
                        <a:t>Reads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</a:rPr>
                        <a:t>the gap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</a:rPr>
                        <a:t>strain in the flexure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</a:rPr>
                        <a:t>charge from strain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A1F24"/>
                          </a:solidFill>
                          <a:latin typeface="Arial"/>
                        </a:rPr>
                        <a:t>Static (tilt)?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E7C86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91440" marR="91440" marT="27432" marB="27432" anchor="ctr">
                    <a:solidFill>
                      <a:srgbClr val="DCED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E7C86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91440" marR="91440" marT="27432" marB="27432" anchor="ctr">
                    <a:solidFill>
                      <a:srgbClr val="DCED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0392B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91440" marR="91440" marT="27432" marB="27432" anchor="ctr">
                    <a:solidFill>
                      <a:srgbClr val="F7DFD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A1F24"/>
                          </a:solidFill>
                          <a:latin typeface="Arial"/>
                        </a:rPr>
                        <a:t>Typical range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</a:rPr>
                        <a:t>±2 to ±16 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</a:rPr>
                        <a:t>±50 to ±2000 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</a:rPr>
                        <a:t>vibration, 0.5 Hz–20 kHz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A1F24"/>
                          </a:solidFill>
                          <a:latin typeface="Arial"/>
                        </a:rPr>
                        <a:t>Strength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</a:rPr>
                        <a:t>quiet, cheap, on-die ASIC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</a:rPr>
                        <a:t>simple, robust, mV bridge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</a:rPr>
                        <a:t>wide band, no supply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A1F24"/>
                          </a:solidFill>
                          <a:latin typeface="Arial"/>
                        </a:rPr>
                        <a:t>Weakness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</a:rPr>
                        <a:t>fragile gap, stiction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</a:rPr>
                        <a:t>temperature drift of the bridge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</a:rPr>
                        <a:t>no DC response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A1F24"/>
                          </a:solidFill>
                          <a:latin typeface="Arial"/>
                        </a:rPr>
                        <a:t>Where you meet it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</a:rPr>
                        <a:t>your kit, phones, IMUs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</a:rPr>
                        <a:t>crash and shock recorders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</a:rPr>
                        <a:t>machine condition monitoring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58368" y="5303520"/>
            <a:ext cx="10874959" cy="786384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000" b="1">
                <a:solidFill>
                  <a:srgbClr val="F7F5F1"/>
                </a:solidFill>
                <a:latin typeface="Arial"/>
              </a:rPr>
              <a:t>Same structure in all three columns. The transduction decides the range, the band and whether tilt is possible at all.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48C"/>
                </a:solidFill>
                <a:latin typeface="Arial"/>
              </a:rPr>
              <a:t>MEMS &amp; Sensors  ·  Lecture 5  ·  MEMS accelerometers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7A848C"/>
                </a:solidFill>
                <a:latin typeface="Arial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Arial"/>
              </a:rPr>
              <a:t>CHUNK 3  ·  OUTPUT AND SPECIFICATIONS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37360"/>
            <a:ext cx="904615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7F5F1"/>
                </a:solidFill>
                <a:latin typeface="Arial"/>
              </a:rPr>
              <a:t>What comes out,</a:t>
            </a:r>
          </a:p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7F5F1"/>
                </a:solidFill>
                <a:latin typeface="Arial"/>
              </a:rPr>
              <a:t>and what it promises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794760"/>
            <a:ext cx="1371600" cy="508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160520"/>
            <a:ext cx="1087495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0" i="0">
                <a:solidFill>
                  <a:srgbClr val="B8C0C6"/>
                </a:solidFill>
                <a:latin typeface="Arial"/>
              </a:rPr>
              <a:t>Codes, sensitivity, range — and the error model every row of the datasheet belongs to.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5532120"/>
            <a:ext cx="1279359" cy="384048"/>
          </a:xfrm>
          <a:prstGeom prst="rect">
            <a:avLst/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F7F5F1"/>
                </a:solidFill>
                <a:latin typeface="Arial"/>
              </a:rPr>
              <a:t>MEASURAND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29167" y="5532120"/>
            <a:ext cx="1279359" cy="384048"/>
          </a:xfrm>
          <a:prstGeom prst="rect">
            <a:avLst/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F7F5F1"/>
                </a:solidFill>
                <a:latin typeface="Arial"/>
              </a:rPr>
              <a:t>TRANSDUCTION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99967" y="5532120"/>
            <a:ext cx="1279359" cy="384048"/>
          </a:xfrm>
          <a:prstGeom prst="rect">
            <a:avLst/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F7F5F1"/>
                </a:solidFill>
                <a:latin typeface="Arial"/>
              </a:rPr>
              <a:t>STRUCTURE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70767" y="5532120"/>
            <a:ext cx="1279359" cy="384048"/>
          </a:xfrm>
          <a:prstGeom prst="rect">
            <a:avLst/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1A1F24"/>
                </a:solidFill>
                <a:latin typeface="Arial"/>
              </a:rPr>
              <a:t>OUTPUT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1567" y="5532120"/>
            <a:ext cx="1279359" cy="384048"/>
          </a:xfrm>
          <a:prstGeom prst="rect">
            <a:avLst/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1A1F24"/>
                </a:solidFill>
                <a:latin typeface="Arial"/>
              </a:rPr>
              <a:t>SPECIFICATIONS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12367" y="5532120"/>
            <a:ext cx="1279359" cy="384048"/>
          </a:xfrm>
          <a:prstGeom prst="rect">
            <a:avLst/>
          </a:prstGeom>
          <a:solidFill>
            <a:srgbClr val="1A1F24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6B7680"/>
                </a:solidFill>
                <a:latin typeface="Arial"/>
              </a:rPr>
              <a:t>INTERFACE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83167" y="5532120"/>
            <a:ext cx="1279359" cy="384048"/>
          </a:xfrm>
          <a:prstGeom prst="rect">
            <a:avLst/>
          </a:prstGeom>
          <a:solidFill>
            <a:srgbClr val="1A1F24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6B7680"/>
                </a:solidFill>
                <a:latin typeface="Arial"/>
              </a:rPr>
              <a:t>CALIBRATION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53967" y="5532120"/>
            <a:ext cx="1279359" cy="384048"/>
          </a:xfrm>
          <a:prstGeom prst="rect">
            <a:avLst/>
          </a:prstGeom>
          <a:solidFill>
            <a:srgbClr val="1A1F24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6B7680"/>
                </a:solidFill>
                <a:latin typeface="Arial"/>
              </a:rPr>
              <a:t>FAILURE MODES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5  ·  MEMS accelerometers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The output: a 16-bit code and a sensitivity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Your choice of range sets the sensitivity — nothing else does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920240"/>
          <a:ext cx="10874957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4995"/>
                <a:gridCol w="1522494"/>
                <a:gridCol w="2609990"/>
                <a:gridCol w="2174991"/>
                <a:gridCol w="3262487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>FS_XL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>Range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>Sensitivity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>1 g in codes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>Quantisation, LSB/√12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F24"/>
                          </a:solidFill>
                          <a:latin typeface="Courier New"/>
                        </a:rPr>
                        <a:t>00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±2 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0.061 mg/LSB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16 393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0.018 mg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F24"/>
                          </a:solidFill>
                          <a:latin typeface="Courier New"/>
                        </a:rPr>
                        <a:t>10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±4 g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0.122 mg/LSB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8 197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0.035 mg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F24"/>
                          </a:solidFill>
                          <a:latin typeface="Courier New"/>
                        </a:rPr>
                        <a:t>11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±8 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0.244 mg/LSB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4 098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0.070 mg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F24"/>
                          </a:solidFill>
                          <a:latin typeface="Courier New"/>
                        </a:rPr>
                        <a:t>01</a:t>
                      </a:r>
                    </a:p>
                  </a:txBody>
                  <a:tcPr marL="91440" marR="91440" marT="27432" marB="27432" anchor="ctr">
                    <a:solidFill>
                      <a:srgbClr val="FAEC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±16 g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0.488 mg/LSB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2 049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0.141 mg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4434840"/>
            <a:ext cx="108749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A1F24"/>
                </a:solidFill>
                <a:latin typeface="Courier New"/>
              </a:rPr>
              <a:t>a  =  code × sensitivity            16-bit two's complement, little-endian, from 0x28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983480"/>
            <a:ext cx="10874959" cy="822960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950" b="1">
                <a:solidFill>
                  <a:srgbClr val="F7F5F1"/>
                </a:solidFill>
                <a:latin typeface="Arial"/>
              </a:rPr>
              <a:t>Even the coarsest range quantises at 0.14 mg — sixty times below the 8.73 mg we care about. Range is almost free. Lecture 2 said so.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5  ·  MEMS accelerometers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One equation holds every datasheet row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The accelerometer error model, per axis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20240"/>
            <a:ext cx="108749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2700" b="1" i="0">
                <a:solidFill>
                  <a:srgbClr val="1A1F24"/>
                </a:solidFill>
                <a:latin typeface="Courier New"/>
              </a:rPr>
              <a:t>a</a:t>
            </a:r>
            <a:r>
              <a:rPr sz="1700" b="1" i="0">
                <a:solidFill>
                  <a:srgbClr val="1A1F24"/>
                </a:solidFill>
                <a:latin typeface="Courier New"/>
              </a:rPr>
              <a:t>out</a:t>
            </a:r>
            <a:r>
              <a:rPr sz="2700" b="1" i="0">
                <a:solidFill>
                  <a:srgbClr val="1A1F24"/>
                </a:solidFill>
                <a:latin typeface="Courier New"/>
              </a:rPr>
              <a:t>  =  </a:t>
            </a:r>
            <a:r>
              <a:rPr sz="2700" b="1" i="0">
                <a:solidFill>
                  <a:srgbClr val="0E7C86"/>
                </a:solidFill>
                <a:latin typeface="Courier New"/>
              </a:rPr>
              <a:t>(1 + s)</a:t>
            </a:r>
            <a:r>
              <a:rPr sz="2700" b="1" i="0">
                <a:solidFill>
                  <a:srgbClr val="1A1F24"/>
                </a:solidFill>
                <a:latin typeface="Courier New"/>
              </a:rPr>
              <a:t>·a  +  </a:t>
            </a:r>
            <a:r>
              <a:rPr sz="2700" b="1" i="0">
                <a:solidFill>
                  <a:srgbClr val="D98324"/>
                </a:solidFill>
                <a:latin typeface="Courier New"/>
              </a:rPr>
              <a:t>b</a:t>
            </a:r>
            <a:r>
              <a:rPr sz="2700" b="1" i="0">
                <a:solidFill>
                  <a:srgbClr val="1A1F24"/>
                </a:solidFill>
                <a:latin typeface="Courier New"/>
              </a:rPr>
              <a:t>  +  </a:t>
            </a:r>
            <a:r>
              <a:rPr sz="2700" b="1" i="0">
                <a:solidFill>
                  <a:srgbClr val="C0392B"/>
                </a:solidFill>
                <a:latin typeface="Courier New"/>
              </a:rPr>
              <a:t>c·a</a:t>
            </a:r>
            <a:r>
              <a:rPr sz="1900" b="1" i="0">
                <a:solidFill>
                  <a:srgbClr val="C0392B"/>
                </a:solidFill>
                <a:latin typeface="Courier New"/>
              </a:rPr>
              <a:t>⊥</a:t>
            </a:r>
            <a:r>
              <a:rPr sz="2700" b="1" i="0">
                <a:solidFill>
                  <a:srgbClr val="1A1F24"/>
                </a:solidFill>
                <a:latin typeface="Courier New"/>
              </a:rPr>
              <a:t>  +  </a:t>
            </a:r>
            <a:r>
              <a:rPr sz="2700" b="1" i="0">
                <a:solidFill>
                  <a:srgbClr val="6B7680"/>
                </a:solidFill>
                <a:latin typeface="Courier New"/>
              </a:rPr>
              <a:t>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880360"/>
            <a:ext cx="2606040" cy="530352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7F5F1"/>
                </a:solidFill>
                <a:latin typeface="Arial"/>
              </a:rPr>
              <a:t>s  ·  SCALE FACTOR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410712"/>
            <a:ext cx="260604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>sensitivity tolerance ±2 %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38144" y="2880360"/>
            <a:ext cx="2606040" cy="530352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1A1F24"/>
                </a:solidFill>
                <a:latin typeface="Arial"/>
              </a:rPr>
              <a:t>b  ·  BIAS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38144" y="3410712"/>
            <a:ext cx="260604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>zero-g level ±10 mg typ,</a:t>
            </a:r>
          </a:p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>±65 mg max — and it moves</a:t>
            </a:r>
          </a:p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>±0.1 mg/°C typ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880360"/>
            <a:ext cx="2606040" cy="530352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7F5F1"/>
                </a:solidFill>
                <a:latin typeface="Arial"/>
              </a:rPr>
              <a:t>c  ·  CROSS-AXIS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410712"/>
            <a:ext cx="260604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>±0.5 % at 25 °C,</a:t>
            </a:r>
          </a:p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>package level — plus</a:t>
            </a:r>
          </a:p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>your mounting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97696" y="2880360"/>
            <a:ext cx="2606040" cy="530352"/>
          </a:xfrm>
          <a:prstGeom prst="roundRect">
            <a:avLst>
              <a:gd name="adj" fmla="val 10000"/>
            </a:avLst>
          </a:prstGeom>
          <a:solidFill>
            <a:srgbClr val="6B7680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7F5F1"/>
                </a:solidFill>
                <a:latin typeface="Arial"/>
              </a:rPr>
              <a:t>n  ·  NOISE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97696" y="3410712"/>
            <a:ext cx="260604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>60 µg/√Hz typ,</a:t>
            </a:r>
          </a:p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>times √bandwidth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937760"/>
            <a:ext cx="10874959" cy="786384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000" b="1">
                <a:solidFill>
                  <a:srgbClr val="F7F5F1"/>
                </a:solidFill>
                <a:latin typeface="Arial"/>
              </a:rPr>
              <a:t>Calibration estimates s and b. Mounting adds to c. Only bandwidth reduces n. Every term has exactly one owner.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870448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6B7680"/>
                </a:solidFill>
                <a:latin typeface="Arial"/>
              </a:rPr>
              <a:t>ISM330DHCX, DS13012 Rev 6 — the same rows as Lecture 2, now with a place to live.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5  ·  MEMS accelerometers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Range: what happens above full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Gravity already uses 1 g of it — then the machine starts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4709160"/>
            <a:ext cx="6766560" cy="12700"/>
          </a:xfrm>
          <a:prstGeom prst="rect">
            <a:avLst/>
          </a:prstGeom>
          <a:solidFill>
            <a:srgbClr val="6B7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32688" y="2057400"/>
            <a:ext cx="12700" cy="2651760"/>
          </a:xfrm>
          <a:prstGeom prst="rect">
            <a:avLst/>
          </a:prstGeom>
          <a:solidFill>
            <a:srgbClr val="6B7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4764024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6B7680"/>
                </a:solidFill>
                <a:latin typeface="Arial"/>
              </a:rPr>
              <a:t>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746504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B7680"/>
                </a:solidFill>
                <a:latin typeface="Arial"/>
              </a:rPr>
              <a:t>Z, 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966574"/>
            <a:ext cx="6766560" cy="15875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82941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Arial"/>
              </a:rPr>
              <a:t>+2 g full scale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4481866"/>
            <a:ext cx="6766560" cy="15875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4344706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Arial"/>
              </a:rPr>
              <a:t>−2 g full scale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345397"/>
            <a:ext cx="6766560" cy="15875"/>
          </a:xfrm>
          <a:prstGeom prst="rect">
            <a:avLst/>
          </a:prstGeom>
          <a:solidFill>
            <a:srgbClr val="E4E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208237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B7680"/>
                </a:solidFill>
                <a:latin typeface="Arial"/>
              </a:rPr>
              <a:t>1 g — gravity</a:t>
            </a:r>
          </a:p>
        </p:txBody>
      </p:sp>
      <p:sp>
        <p:nvSpPr>
          <p:cNvPr id="18" name="Freeform 17"/>
          <p:cNvSpPr/>
          <p:nvPr/>
        </p:nvSpPr>
        <p:spPr>
          <a:xfrm>
            <a:off x="932688" y="2208929"/>
            <a:ext cx="6766560" cy="2272937"/>
          </a:xfrm>
          <a:custGeom>
            <a:avLst/>
            <a:gdLst/>
            <a:ahLst/>
            <a:cxnLst/>
            <a:rect l="l" t="t" r="r" b="b"/>
            <a:pathLst>
              <a:path w="6766560" h="2272937">
                <a:moveTo>
                  <a:pt x="0" y="1136468"/>
                </a:moveTo>
                <a:lnTo>
                  <a:pt x="28194" y="1047302"/>
                </a:lnTo>
                <a:lnTo>
                  <a:pt x="56388" y="958685"/>
                </a:lnTo>
                <a:lnTo>
                  <a:pt x="84582" y="871165"/>
                </a:lnTo>
                <a:lnTo>
                  <a:pt x="112776" y="785280"/>
                </a:lnTo>
                <a:lnTo>
                  <a:pt x="140970" y="701561"/>
                </a:lnTo>
                <a:lnTo>
                  <a:pt x="169164" y="620522"/>
                </a:lnTo>
                <a:lnTo>
                  <a:pt x="197358" y="542665"/>
                </a:lnTo>
                <a:lnTo>
                  <a:pt x="225552" y="468469"/>
                </a:lnTo>
                <a:lnTo>
                  <a:pt x="253746" y="398391"/>
                </a:lnTo>
                <a:lnTo>
                  <a:pt x="281940" y="332864"/>
                </a:lnTo>
                <a:lnTo>
                  <a:pt x="310134" y="272291"/>
                </a:lnTo>
                <a:lnTo>
                  <a:pt x="338328" y="217046"/>
                </a:lnTo>
                <a:lnTo>
                  <a:pt x="366522" y="167469"/>
                </a:lnTo>
                <a:lnTo>
                  <a:pt x="394716" y="123867"/>
                </a:lnTo>
                <a:lnTo>
                  <a:pt x="422910" y="86508"/>
                </a:lnTo>
                <a:lnTo>
                  <a:pt x="451104" y="55622"/>
                </a:lnTo>
                <a:lnTo>
                  <a:pt x="479298" y="31400"/>
                </a:lnTo>
                <a:lnTo>
                  <a:pt x="507492" y="13991"/>
                </a:lnTo>
                <a:lnTo>
                  <a:pt x="535686" y="3503"/>
                </a:lnTo>
                <a:lnTo>
                  <a:pt x="563880" y="0"/>
                </a:lnTo>
                <a:lnTo>
                  <a:pt x="592074" y="3503"/>
                </a:lnTo>
                <a:lnTo>
                  <a:pt x="620268" y="13991"/>
                </a:lnTo>
                <a:lnTo>
                  <a:pt x="648462" y="31400"/>
                </a:lnTo>
                <a:lnTo>
                  <a:pt x="676656" y="55622"/>
                </a:lnTo>
                <a:lnTo>
                  <a:pt x="704850" y="86508"/>
                </a:lnTo>
                <a:lnTo>
                  <a:pt x="733044" y="123867"/>
                </a:lnTo>
                <a:lnTo>
                  <a:pt x="761238" y="167469"/>
                </a:lnTo>
                <a:lnTo>
                  <a:pt x="789432" y="217046"/>
                </a:lnTo>
                <a:lnTo>
                  <a:pt x="817626" y="272291"/>
                </a:lnTo>
                <a:lnTo>
                  <a:pt x="845820" y="332864"/>
                </a:lnTo>
                <a:lnTo>
                  <a:pt x="874014" y="398391"/>
                </a:lnTo>
                <a:lnTo>
                  <a:pt x="902208" y="468469"/>
                </a:lnTo>
                <a:lnTo>
                  <a:pt x="930402" y="542665"/>
                </a:lnTo>
                <a:lnTo>
                  <a:pt x="958596" y="620522"/>
                </a:lnTo>
                <a:lnTo>
                  <a:pt x="986790" y="701561"/>
                </a:lnTo>
                <a:lnTo>
                  <a:pt x="1014984" y="785280"/>
                </a:lnTo>
                <a:lnTo>
                  <a:pt x="1043178" y="871165"/>
                </a:lnTo>
                <a:lnTo>
                  <a:pt x="1071372" y="958685"/>
                </a:lnTo>
                <a:lnTo>
                  <a:pt x="1099566" y="1047302"/>
                </a:lnTo>
                <a:lnTo>
                  <a:pt x="1127760" y="1136468"/>
                </a:lnTo>
                <a:lnTo>
                  <a:pt x="1155954" y="1225635"/>
                </a:lnTo>
                <a:lnTo>
                  <a:pt x="1184148" y="1314251"/>
                </a:lnTo>
                <a:lnTo>
                  <a:pt x="1212342" y="1401772"/>
                </a:lnTo>
                <a:lnTo>
                  <a:pt x="1240536" y="1487656"/>
                </a:lnTo>
                <a:lnTo>
                  <a:pt x="1268730" y="1571376"/>
                </a:lnTo>
                <a:lnTo>
                  <a:pt x="1296924" y="1652414"/>
                </a:lnTo>
                <a:lnTo>
                  <a:pt x="1325118" y="1730271"/>
                </a:lnTo>
                <a:lnTo>
                  <a:pt x="1353312" y="1804468"/>
                </a:lnTo>
                <a:lnTo>
                  <a:pt x="1381506" y="1874546"/>
                </a:lnTo>
                <a:lnTo>
                  <a:pt x="1409700" y="1940073"/>
                </a:lnTo>
                <a:lnTo>
                  <a:pt x="1437894" y="2000646"/>
                </a:lnTo>
                <a:lnTo>
                  <a:pt x="1466088" y="2055891"/>
                </a:lnTo>
                <a:lnTo>
                  <a:pt x="1494282" y="2105467"/>
                </a:lnTo>
                <a:lnTo>
                  <a:pt x="1522476" y="2149069"/>
                </a:lnTo>
                <a:lnTo>
                  <a:pt x="1550670" y="2186428"/>
                </a:lnTo>
                <a:lnTo>
                  <a:pt x="1578864" y="2217314"/>
                </a:lnTo>
                <a:lnTo>
                  <a:pt x="1607058" y="2241536"/>
                </a:lnTo>
                <a:lnTo>
                  <a:pt x="1635252" y="2258945"/>
                </a:lnTo>
                <a:lnTo>
                  <a:pt x="1663446" y="2269433"/>
                </a:lnTo>
                <a:lnTo>
                  <a:pt x="1691640" y="2272937"/>
                </a:lnTo>
                <a:lnTo>
                  <a:pt x="1719834" y="2269433"/>
                </a:lnTo>
                <a:lnTo>
                  <a:pt x="1748028" y="2258945"/>
                </a:lnTo>
                <a:lnTo>
                  <a:pt x="1776222" y="2241536"/>
                </a:lnTo>
                <a:lnTo>
                  <a:pt x="1804416" y="2217314"/>
                </a:lnTo>
                <a:lnTo>
                  <a:pt x="1832610" y="2186428"/>
                </a:lnTo>
                <a:lnTo>
                  <a:pt x="1860804" y="2149069"/>
                </a:lnTo>
                <a:lnTo>
                  <a:pt x="1888998" y="2105467"/>
                </a:lnTo>
                <a:lnTo>
                  <a:pt x="1917192" y="2055891"/>
                </a:lnTo>
                <a:lnTo>
                  <a:pt x="1945386" y="2000646"/>
                </a:lnTo>
                <a:lnTo>
                  <a:pt x="1973580" y="1940073"/>
                </a:lnTo>
                <a:lnTo>
                  <a:pt x="2001774" y="1874546"/>
                </a:lnTo>
                <a:lnTo>
                  <a:pt x="2029968" y="1804468"/>
                </a:lnTo>
                <a:lnTo>
                  <a:pt x="2058162" y="1730271"/>
                </a:lnTo>
                <a:lnTo>
                  <a:pt x="2086356" y="1652414"/>
                </a:lnTo>
                <a:lnTo>
                  <a:pt x="2114550" y="1571376"/>
                </a:lnTo>
                <a:lnTo>
                  <a:pt x="2142744" y="1487656"/>
                </a:lnTo>
                <a:lnTo>
                  <a:pt x="2170938" y="1401772"/>
                </a:lnTo>
                <a:lnTo>
                  <a:pt x="2199132" y="1314251"/>
                </a:lnTo>
                <a:lnTo>
                  <a:pt x="2227326" y="1225635"/>
                </a:lnTo>
                <a:lnTo>
                  <a:pt x="2255520" y="1136468"/>
                </a:lnTo>
                <a:lnTo>
                  <a:pt x="2283714" y="1047302"/>
                </a:lnTo>
                <a:lnTo>
                  <a:pt x="2311908" y="958685"/>
                </a:lnTo>
                <a:lnTo>
                  <a:pt x="2340102" y="871165"/>
                </a:lnTo>
                <a:lnTo>
                  <a:pt x="2368296" y="785280"/>
                </a:lnTo>
                <a:lnTo>
                  <a:pt x="2396490" y="701561"/>
                </a:lnTo>
                <a:lnTo>
                  <a:pt x="2424684" y="620522"/>
                </a:lnTo>
                <a:lnTo>
                  <a:pt x="2452878" y="542665"/>
                </a:lnTo>
                <a:lnTo>
                  <a:pt x="2481072" y="468469"/>
                </a:lnTo>
                <a:lnTo>
                  <a:pt x="2509266" y="398391"/>
                </a:lnTo>
                <a:lnTo>
                  <a:pt x="2537460" y="332864"/>
                </a:lnTo>
                <a:lnTo>
                  <a:pt x="2565654" y="272291"/>
                </a:lnTo>
                <a:lnTo>
                  <a:pt x="2593848" y="217046"/>
                </a:lnTo>
                <a:lnTo>
                  <a:pt x="2622042" y="167469"/>
                </a:lnTo>
                <a:lnTo>
                  <a:pt x="2650236" y="123867"/>
                </a:lnTo>
                <a:lnTo>
                  <a:pt x="2678430" y="86508"/>
                </a:lnTo>
                <a:lnTo>
                  <a:pt x="2706624" y="55622"/>
                </a:lnTo>
                <a:lnTo>
                  <a:pt x="2734818" y="31400"/>
                </a:lnTo>
                <a:lnTo>
                  <a:pt x="2763012" y="13991"/>
                </a:lnTo>
                <a:lnTo>
                  <a:pt x="2791206" y="3503"/>
                </a:lnTo>
                <a:lnTo>
                  <a:pt x="2819400" y="0"/>
                </a:lnTo>
                <a:lnTo>
                  <a:pt x="2847594" y="3503"/>
                </a:lnTo>
                <a:lnTo>
                  <a:pt x="2875788" y="13991"/>
                </a:lnTo>
                <a:lnTo>
                  <a:pt x="2903982" y="31400"/>
                </a:lnTo>
                <a:lnTo>
                  <a:pt x="2932176" y="55622"/>
                </a:lnTo>
                <a:lnTo>
                  <a:pt x="2960370" y="86508"/>
                </a:lnTo>
                <a:lnTo>
                  <a:pt x="2988564" y="123867"/>
                </a:lnTo>
                <a:lnTo>
                  <a:pt x="3016758" y="167469"/>
                </a:lnTo>
                <a:lnTo>
                  <a:pt x="3044952" y="217046"/>
                </a:lnTo>
                <a:lnTo>
                  <a:pt x="3073146" y="272291"/>
                </a:lnTo>
                <a:lnTo>
                  <a:pt x="3101340" y="332864"/>
                </a:lnTo>
                <a:lnTo>
                  <a:pt x="3129534" y="398391"/>
                </a:lnTo>
                <a:lnTo>
                  <a:pt x="3157728" y="468469"/>
                </a:lnTo>
                <a:lnTo>
                  <a:pt x="3185922" y="542665"/>
                </a:lnTo>
                <a:lnTo>
                  <a:pt x="3214116" y="620522"/>
                </a:lnTo>
                <a:lnTo>
                  <a:pt x="3242310" y="701561"/>
                </a:lnTo>
                <a:lnTo>
                  <a:pt x="3270504" y="785280"/>
                </a:lnTo>
                <a:lnTo>
                  <a:pt x="3298698" y="871165"/>
                </a:lnTo>
                <a:lnTo>
                  <a:pt x="3326892" y="958685"/>
                </a:lnTo>
                <a:lnTo>
                  <a:pt x="3355086" y="1047302"/>
                </a:lnTo>
                <a:lnTo>
                  <a:pt x="3383280" y="1136468"/>
                </a:lnTo>
                <a:lnTo>
                  <a:pt x="3411474" y="1225635"/>
                </a:lnTo>
                <a:lnTo>
                  <a:pt x="3439668" y="1314251"/>
                </a:lnTo>
                <a:lnTo>
                  <a:pt x="3467862" y="1401772"/>
                </a:lnTo>
                <a:lnTo>
                  <a:pt x="3496056" y="1487656"/>
                </a:lnTo>
                <a:lnTo>
                  <a:pt x="3524250" y="1571376"/>
                </a:lnTo>
                <a:lnTo>
                  <a:pt x="3552444" y="1652414"/>
                </a:lnTo>
                <a:lnTo>
                  <a:pt x="3580638" y="1730271"/>
                </a:lnTo>
                <a:lnTo>
                  <a:pt x="3608832" y="1804468"/>
                </a:lnTo>
                <a:lnTo>
                  <a:pt x="3637026" y="1874546"/>
                </a:lnTo>
                <a:lnTo>
                  <a:pt x="3665220" y="1940073"/>
                </a:lnTo>
                <a:lnTo>
                  <a:pt x="3693414" y="2000646"/>
                </a:lnTo>
                <a:lnTo>
                  <a:pt x="3721608" y="2055891"/>
                </a:lnTo>
                <a:lnTo>
                  <a:pt x="3749802" y="2105467"/>
                </a:lnTo>
                <a:lnTo>
                  <a:pt x="3777996" y="2149069"/>
                </a:lnTo>
                <a:lnTo>
                  <a:pt x="3806190" y="2186428"/>
                </a:lnTo>
                <a:lnTo>
                  <a:pt x="3834384" y="2217314"/>
                </a:lnTo>
                <a:lnTo>
                  <a:pt x="3862578" y="2241536"/>
                </a:lnTo>
                <a:lnTo>
                  <a:pt x="3890772" y="2258945"/>
                </a:lnTo>
                <a:lnTo>
                  <a:pt x="3918966" y="2269433"/>
                </a:lnTo>
                <a:lnTo>
                  <a:pt x="3947160" y="2272937"/>
                </a:lnTo>
                <a:lnTo>
                  <a:pt x="3975354" y="2269433"/>
                </a:lnTo>
                <a:lnTo>
                  <a:pt x="4003548" y="2258945"/>
                </a:lnTo>
                <a:lnTo>
                  <a:pt x="4031742" y="2241536"/>
                </a:lnTo>
                <a:lnTo>
                  <a:pt x="4059936" y="2217314"/>
                </a:lnTo>
                <a:lnTo>
                  <a:pt x="4088130" y="2186428"/>
                </a:lnTo>
                <a:lnTo>
                  <a:pt x="4116324" y="2149069"/>
                </a:lnTo>
                <a:lnTo>
                  <a:pt x="4144518" y="2105467"/>
                </a:lnTo>
                <a:lnTo>
                  <a:pt x="4172712" y="2055891"/>
                </a:lnTo>
                <a:lnTo>
                  <a:pt x="4200906" y="2000646"/>
                </a:lnTo>
                <a:lnTo>
                  <a:pt x="4229100" y="1940073"/>
                </a:lnTo>
                <a:lnTo>
                  <a:pt x="4257294" y="1874546"/>
                </a:lnTo>
                <a:lnTo>
                  <a:pt x="4285488" y="1804468"/>
                </a:lnTo>
                <a:lnTo>
                  <a:pt x="4313682" y="1730271"/>
                </a:lnTo>
                <a:lnTo>
                  <a:pt x="4341876" y="1652414"/>
                </a:lnTo>
                <a:lnTo>
                  <a:pt x="4370070" y="1571376"/>
                </a:lnTo>
                <a:lnTo>
                  <a:pt x="4398264" y="1487656"/>
                </a:lnTo>
                <a:lnTo>
                  <a:pt x="4426458" y="1401772"/>
                </a:lnTo>
                <a:lnTo>
                  <a:pt x="4454652" y="1314251"/>
                </a:lnTo>
                <a:lnTo>
                  <a:pt x="4482846" y="1225635"/>
                </a:lnTo>
                <a:lnTo>
                  <a:pt x="4511040" y="1136468"/>
                </a:lnTo>
                <a:lnTo>
                  <a:pt x="4539234" y="1047302"/>
                </a:lnTo>
                <a:lnTo>
                  <a:pt x="4567428" y="958685"/>
                </a:lnTo>
                <a:lnTo>
                  <a:pt x="4595622" y="871165"/>
                </a:lnTo>
                <a:lnTo>
                  <a:pt x="4623816" y="785280"/>
                </a:lnTo>
                <a:lnTo>
                  <a:pt x="4652010" y="701561"/>
                </a:lnTo>
                <a:lnTo>
                  <a:pt x="4680204" y="620522"/>
                </a:lnTo>
                <a:lnTo>
                  <a:pt x="4708398" y="542665"/>
                </a:lnTo>
                <a:lnTo>
                  <a:pt x="4736592" y="468469"/>
                </a:lnTo>
                <a:lnTo>
                  <a:pt x="4764786" y="398391"/>
                </a:lnTo>
                <a:lnTo>
                  <a:pt x="4792980" y="332864"/>
                </a:lnTo>
                <a:lnTo>
                  <a:pt x="4821174" y="272291"/>
                </a:lnTo>
                <a:lnTo>
                  <a:pt x="4849368" y="217046"/>
                </a:lnTo>
                <a:lnTo>
                  <a:pt x="4877562" y="167469"/>
                </a:lnTo>
                <a:lnTo>
                  <a:pt x="4905756" y="123867"/>
                </a:lnTo>
                <a:lnTo>
                  <a:pt x="4933950" y="86508"/>
                </a:lnTo>
                <a:lnTo>
                  <a:pt x="4962144" y="55622"/>
                </a:lnTo>
                <a:lnTo>
                  <a:pt x="4990338" y="31400"/>
                </a:lnTo>
                <a:lnTo>
                  <a:pt x="5018532" y="13991"/>
                </a:lnTo>
                <a:lnTo>
                  <a:pt x="5046726" y="3503"/>
                </a:lnTo>
                <a:lnTo>
                  <a:pt x="5074920" y="0"/>
                </a:lnTo>
                <a:lnTo>
                  <a:pt x="5103114" y="3503"/>
                </a:lnTo>
                <a:lnTo>
                  <a:pt x="5131308" y="13991"/>
                </a:lnTo>
                <a:lnTo>
                  <a:pt x="5159502" y="31400"/>
                </a:lnTo>
                <a:lnTo>
                  <a:pt x="5187696" y="55622"/>
                </a:lnTo>
                <a:lnTo>
                  <a:pt x="5215890" y="86508"/>
                </a:lnTo>
                <a:lnTo>
                  <a:pt x="5244084" y="123867"/>
                </a:lnTo>
                <a:lnTo>
                  <a:pt x="5272278" y="167469"/>
                </a:lnTo>
                <a:lnTo>
                  <a:pt x="5300472" y="217046"/>
                </a:lnTo>
                <a:lnTo>
                  <a:pt x="5328666" y="272291"/>
                </a:lnTo>
                <a:lnTo>
                  <a:pt x="5356860" y="332864"/>
                </a:lnTo>
                <a:lnTo>
                  <a:pt x="5385054" y="398391"/>
                </a:lnTo>
                <a:lnTo>
                  <a:pt x="5413248" y="468469"/>
                </a:lnTo>
                <a:lnTo>
                  <a:pt x="5441442" y="542665"/>
                </a:lnTo>
                <a:lnTo>
                  <a:pt x="5469636" y="620522"/>
                </a:lnTo>
                <a:lnTo>
                  <a:pt x="5497830" y="701561"/>
                </a:lnTo>
                <a:lnTo>
                  <a:pt x="5526024" y="785280"/>
                </a:lnTo>
                <a:lnTo>
                  <a:pt x="5554218" y="871165"/>
                </a:lnTo>
                <a:lnTo>
                  <a:pt x="5582412" y="958685"/>
                </a:lnTo>
                <a:lnTo>
                  <a:pt x="5610606" y="1047302"/>
                </a:lnTo>
                <a:lnTo>
                  <a:pt x="5638800" y="1136468"/>
                </a:lnTo>
                <a:lnTo>
                  <a:pt x="5666994" y="1225635"/>
                </a:lnTo>
                <a:lnTo>
                  <a:pt x="5695188" y="1314251"/>
                </a:lnTo>
                <a:lnTo>
                  <a:pt x="5723382" y="1401772"/>
                </a:lnTo>
                <a:lnTo>
                  <a:pt x="5751576" y="1487656"/>
                </a:lnTo>
                <a:lnTo>
                  <a:pt x="5779770" y="1571376"/>
                </a:lnTo>
                <a:lnTo>
                  <a:pt x="5807964" y="1652414"/>
                </a:lnTo>
                <a:lnTo>
                  <a:pt x="5836158" y="1730271"/>
                </a:lnTo>
                <a:lnTo>
                  <a:pt x="5864352" y="1804468"/>
                </a:lnTo>
                <a:lnTo>
                  <a:pt x="5892546" y="1874546"/>
                </a:lnTo>
                <a:lnTo>
                  <a:pt x="5920740" y="1940073"/>
                </a:lnTo>
                <a:lnTo>
                  <a:pt x="5948934" y="2000646"/>
                </a:lnTo>
                <a:lnTo>
                  <a:pt x="5977128" y="2055891"/>
                </a:lnTo>
                <a:lnTo>
                  <a:pt x="6005322" y="2105467"/>
                </a:lnTo>
                <a:lnTo>
                  <a:pt x="6033516" y="2149069"/>
                </a:lnTo>
                <a:lnTo>
                  <a:pt x="6061710" y="2186428"/>
                </a:lnTo>
                <a:lnTo>
                  <a:pt x="6089904" y="2217314"/>
                </a:lnTo>
                <a:lnTo>
                  <a:pt x="6118098" y="2241536"/>
                </a:lnTo>
                <a:lnTo>
                  <a:pt x="6146292" y="2258945"/>
                </a:lnTo>
                <a:lnTo>
                  <a:pt x="6174486" y="2269433"/>
                </a:lnTo>
                <a:lnTo>
                  <a:pt x="6202680" y="2272937"/>
                </a:lnTo>
                <a:lnTo>
                  <a:pt x="6230874" y="2269433"/>
                </a:lnTo>
                <a:lnTo>
                  <a:pt x="6259068" y="2258945"/>
                </a:lnTo>
                <a:lnTo>
                  <a:pt x="6287262" y="2241536"/>
                </a:lnTo>
                <a:lnTo>
                  <a:pt x="6315456" y="2217314"/>
                </a:lnTo>
                <a:lnTo>
                  <a:pt x="6343650" y="2186428"/>
                </a:lnTo>
                <a:lnTo>
                  <a:pt x="6371844" y="2149069"/>
                </a:lnTo>
                <a:lnTo>
                  <a:pt x="6400038" y="2105467"/>
                </a:lnTo>
                <a:lnTo>
                  <a:pt x="6428232" y="2055891"/>
                </a:lnTo>
                <a:lnTo>
                  <a:pt x="6456426" y="2000646"/>
                </a:lnTo>
                <a:lnTo>
                  <a:pt x="6484620" y="1940073"/>
                </a:lnTo>
                <a:lnTo>
                  <a:pt x="6512814" y="1874546"/>
                </a:lnTo>
                <a:lnTo>
                  <a:pt x="6541008" y="1804468"/>
                </a:lnTo>
                <a:lnTo>
                  <a:pt x="6569202" y="1730271"/>
                </a:lnTo>
                <a:lnTo>
                  <a:pt x="6597396" y="1652414"/>
                </a:lnTo>
                <a:lnTo>
                  <a:pt x="6625590" y="1571376"/>
                </a:lnTo>
                <a:lnTo>
                  <a:pt x="6653784" y="1487656"/>
                </a:lnTo>
                <a:lnTo>
                  <a:pt x="6681978" y="1401772"/>
                </a:lnTo>
                <a:lnTo>
                  <a:pt x="6710172" y="1314251"/>
                </a:lnTo>
                <a:lnTo>
                  <a:pt x="6738366" y="1225635"/>
                </a:lnTo>
                <a:lnTo>
                  <a:pt x="6766560" y="1136468"/>
                </a:lnTo>
              </a:path>
            </a:pathLst>
          </a:custGeom>
          <a:noFill/>
          <a:ln w="19050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932688" y="2966574"/>
            <a:ext cx="6766560" cy="1515292"/>
          </a:xfrm>
          <a:custGeom>
            <a:avLst/>
            <a:gdLst/>
            <a:ahLst/>
            <a:cxnLst/>
            <a:rect l="l" t="t" r="r" b="b"/>
            <a:pathLst>
              <a:path w="6766560" h="1515292">
                <a:moveTo>
                  <a:pt x="0" y="378823"/>
                </a:moveTo>
                <a:lnTo>
                  <a:pt x="28194" y="289657"/>
                </a:lnTo>
                <a:lnTo>
                  <a:pt x="56388" y="201040"/>
                </a:lnTo>
                <a:lnTo>
                  <a:pt x="84582" y="113520"/>
                </a:lnTo>
                <a:lnTo>
                  <a:pt x="112776" y="27635"/>
                </a:lnTo>
                <a:lnTo>
                  <a:pt x="140970" y="0"/>
                </a:lnTo>
                <a:lnTo>
                  <a:pt x="169164" y="0"/>
                </a:lnTo>
                <a:lnTo>
                  <a:pt x="197358" y="0"/>
                </a:lnTo>
                <a:lnTo>
                  <a:pt x="225552" y="0"/>
                </a:lnTo>
                <a:lnTo>
                  <a:pt x="253746" y="0"/>
                </a:lnTo>
                <a:lnTo>
                  <a:pt x="281940" y="0"/>
                </a:lnTo>
                <a:lnTo>
                  <a:pt x="310134" y="0"/>
                </a:lnTo>
                <a:lnTo>
                  <a:pt x="338328" y="0"/>
                </a:lnTo>
                <a:lnTo>
                  <a:pt x="366522" y="0"/>
                </a:lnTo>
                <a:lnTo>
                  <a:pt x="394716" y="0"/>
                </a:lnTo>
                <a:lnTo>
                  <a:pt x="422910" y="0"/>
                </a:lnTo>
                <a:lnTo>
                  <a:pt x="451104" y="0"/>
                </a:lnTo>
                <a:lnTo>
                  <a:pt x="479298" y="0"/>
                </a:lnTo>
                <a:lnTo>
                  <a:pt x="507492" y="0"/>
                </a:lnTo>
                <a:lnTo>
                  <a:pt x="535686" y="0"/>
                </a:lnTo>
                <a:lnTo>
                  <a:pt x="563880" y="0"/>
                </a:lnTo>
                <a:lnTo>
                  <a:pt x="592074" y="0"/>
                </a:lnTo>
                <a:lnTo>
                  <a:pt x="620268" y="0"/>
                </a:lnTo>
                <a:lnTo>
                  <a:pt x="648462" y="0"/>
                </a:lnTo>
                <a:lnTo>
                  <a:pt x="676656" y="0"/>
                </a:lnTo>
                <a:lnTo>
                  <a:pt x="704850" y="0"/>
                </a:lnTo>
                <a:lnTo>
                  <a:pt x="733044" y="0"/>
                </a:lnTo>
                <a:lnTo>
                  <a:pt x="761238" y="0"/>
                </a:lnTo>
                <a:lnTo>
                  <a:pt x="789432" y="0"/>
                </a:lnTo>
                <a:lnTo>
                  <a:pt x="817626" y="0"/>
                </a:lnTo>
                <a:lnTo>
                  <a:pt x="845820" y="0"/>
                </a:lnTo>
                <a:lnTo>
                  <a:pt x="874014" y="0"/>
                </a:lnTo>
                <a:lnTo>
                  <a:pt x="902208" y="0"/>
                </a:lnTo>
                <a:lnTo>
                  <a:pt x="930402" y="0"/>
                </a:lnTo>
                <a:lnTo>
                  <a:pt x="958596" y="0"/>
                </a:lnTo>
                <a:lnTo>
                  <a:pt x="986790" y="0"/>
                </a:lnTo>
                <a:lnTo>
                  <a:pt x="1014984" y="27635"/>
                </a:lnTo>
                <a:lnTo>
                  <a:pt x="1043178" y="113520"/>
                </a:lnTo>
                <a:lnTo>
                  <a:pt x="1071372" y="201040"/>
                </a:lnTo>
                <a:lnTo>
                  <a:pt x="1099566" y="289657"/>
                </a:lnTo>
                <a:lnTo>
                  <a:pt x="1127760" y="378823"/>
                </a:lnTo>
                <a:lnTo>
                  <a:pt x="1155954" y="467990"/>
                </a:lnTo>
                <a:lnTo>
                  <a:pt x="1184148" y="556606"/>
                </a:lnTo>
                <a:lnTo>
                  <a:pt x="1212342" y="644127"/>
                </a:lnTo>
                <a:lnTo>
                  <a:pt x="1240536" y="730011"/>
                </a:lnTo>
                <a:lnTo>
                  <a:pt x="1268730" y="813731"/>
                </a:lnTo>
                <a:lnTo>
                  <a:pt x="1296924" y="894769"/>
                </a:lnTo>
                <a:lnTo>
                  <a:pt x="1325118" y="972626"/>
                </a:lnTo>
                <a:lnTo>
                  <a:pt x="1353312" y="1046823"/>
                </a:lnTo>
                <a:lnTo>
                  <a:pt x="1381506" y="1116901"/>
                </a:lnTo>
                <a:lnTo>
                  <a:pt x="1409700" y="1182428"/>
                </a:lnTo>
                <a:lnTo>
                  <a:pt x="1437894" y="1243001"/>
                </a:lnTo>
                <a:lnTo>
                  <a:pt x="1466088" y="1298246"/>
                </a:lnTo>
                <a:lnTo>
                  <a:pt x="1494282" y="1347822"/>
                </a:lnTo>
                <a:lnTo>
                  <a:pt x="1522476" y="1391424"/>
                </a:lnTo>
                <a:lnTo>
                  <a:pt x="1550670" y="1428783"/>
                </a:lnTo>
                <a:lnTo>
                  <a:pt x="1578864" y="1459669"/>
                </a:lnTo>
                <a:lnTo>
                  <a:pt x="1607058" y="1483891"/>
                </a:lnTo>
                <a:lnTo>
                  <a:pt x="1635252" y="1501300"/>
                </a:lnTo>
                <a:lnTo>
                  <a:pt x="1663446" y="1511788"/>
                </a:lnTo>
                <a:lnTo>
                  <a:pt x="1691640" y="1515292"/>
                </a:lnTo>
                <a:lnTo>
                  <a:pt x="1719834" y="1511788"/>
                </a:lnTo>
                <a:lnTo>
                  <a:pt x="1748028" y="1501300"/>
                </a:lnTo>
                <a:lnTo>
                  <a:pt x="1776222" y="1483891"/>
                </a:lnTo>
                <a:lnTo>
                  <a:pt x="1804416" y="1459669"/>
                </a:lnTo>
                <a:lnTo>
                  <a:pt x="1832610" y="1428783"/>
                </a:lnTo>
                <a:lnTo>
                  <a:pt x="1860804" y="1391424"/>
                </a:lnTo>
                <a:lnTo>
                  <a:pt x="1888998" y="1347822"/>
                </a:lnTo>
                <a:lnTo>
                  <a:pt x="1917192" y="1298246"/>
                </a:lnTo>
                <a:lnTo>
                  <a:pt x="1945386" y="1243001"/>
                </a:lnTo>
                <a:lnTo>
                  <a:pt x="1973580" y="1182428"/>
                </a:lnTo>
                <a:lnTo>
                  <a:pt x="2001774" y="1116901"/>
                </a:lnTo>
                <a:lnTo>
                  <a:pt x="2029968" y="1046823"/>
                </a:lnTo>
                <a:lnTo>
                  <a:pt x="2058162" y="972626"/>
                </a:lnTo>
                <a:lnTo>
                  <a:pt x="2086356" y="894769"/>
                </a:lnTo>
                <a:lnTo>
                  <a:pt x="2114550" y="813731"/>
                </a:lnTo>
                <a:lnTo>
                  <a:pt x="2142744" y="730011"/>
                </a:lnTo>
                <a:lnTo>
                  <a:pt x="2170938" y="644127"/>
                </a:lnTo>
                <a:lnTo>
                  <a:pt x="2199132" y="556606"/>
                </a:lnTo>
                <a:lnTo>
                  <a:pt x="2227326" y="467990"/>
                </a:lnTo>
                <a:lnTo>
                  <a:pt x="2255520" y="378823"/>
                </a:lnTo>
                <a:lnTo>
                  <a:pt x="2283714" y="289657"/>
                </a:lnTo>
                <a:lnTo>
                  <a:pt x="2311908" y="201040"/>
                </a:lnTo>
                <a:lnTo>
                  <a:pt x="2340102" y="113520"/>
                </a:lnTo>
                <a:lnTo>
                  <a:pt x="2368296" y="27635"/>
                </a:lnTo>
                <a:lnTo>
                  <a:pt x="2396490" y="0"/>
                </a:lnTo>
                <a:lnTo>
                  <a:pt x="2424684" y="0"/>
                </a:lnTo>
                <a:lnTo>
                  <a:pt x="2452878" y="0"/>
                </a:lnTo>
                <a:lnTo>
                  <a:pt x="2481072" y="0"/>
                </a:lnTo>
                <a:lnTo>
                  <a:pt x="2509266" y="0"/>
                </a:lnTo>
                <a:lnTo>
                  <a:pt x="2537460" y="0"/>
                </a:lnTo>
                <a:lnTo>
                  <a:pt x="2565654" y="0"/>
                </a:lnTo>
                <a:lnTo>
                  <a:pt x="2593848" y="0"/>
                </a:lnTo>
                <a:lnTo>
                  <a:pt x="2622042" y="0"/>
                </a:lnTo>
                <a:lnTo>
                  <a:pt x="2650236" y="0"/>
                </a:lnTo>
                <a:lnTo>
                  <a:pt x="2678430" y="0"/>
                </a:lnTo>
                <a:lnTo>
                  <a:pt x="2706624" y="0"/>
                </a:lnTo>
                <a:lnTo>
                  <a:pt x="2734818" y="0"/>
                </a:lnTo>
                <a:lnTo>
                  <a:pt x="2763012" y="0"/>
                </a:lnTo>
                <a:lnTo>
                  <a:pt x="2791206" y="0"/>
                </a:lnTo>
                <a:lnTo>
                  <a:pt x="2819400" y="0"/>
                </a:lnTo>
                <a:lnTo>
                  <a:pt x="2847594" y="0"/>
                </a:lnTo>
                <a:lnTo>
                  <a:pt x="2875788" y="0"/>
                </a:lnTo>
                <a:lnTo>
                  <a:pt x="2903982" y="0"/>
                </a:lnTo>
                <a:lnTo>
                  <a:pt x="2932176" y="0"/>
                </a:lnTo>
                <a:lnTo>
                  <a:pt x="2960370" y="0"/>
                </a:lnTo>
                <a:lnTo>
                  <a:pt x="2988564" y="0"/>
                </a:lnTo>
                <a:lnTo>
                  <a:pt x="3016758" y="0"/>
                </a:lnTo>
                <a:lnTo>
                  <a:pt x="3044952" y="0"/>
                </a:lnTo>
                <a:lnTo>
                  <a:pt x="3073146" y="0"/>
                </a:lnTo>
                <a:lnTo>
                  <a:pt x="3101340" y="0"/>
                </a:lnTo>
                <a:lnTo>
                  <a:pt x="3129534" y="0"/>
                </a:lnTo>
                <a:lnTo>
                  <a:pt x="3157728" y="0"/>
                </a:lnTo>
                <a:lnTo>
                  <a:pt x="3185922" y="0"/>
                </a:lnTo>
                <a:lnTo>
                  <a:pt x="3214116" y="0"/>
                </a:lnTo>
                <a:lnTo>
                  <a:pt x="3242310" y="0"/>
                </a:lnTo>
                <a:lnTo>
                  <a:pt x="3270504" y="27635"/>
                </a:lnTo>
                <a:lnTo>
                  <a:pt x="3298698" y="113520"/>
                </a:lnTo>
                <a:lnTo>
                  <a:pt x="3326892" y="201040"/>
                </a:lnTo>
                <a:lnTo>
                  <a:pt x="3355086" y="289657"/>
                </a:lnTo>
                <a:lnTo>
                  <a:pt x="3383280" y="378823"/>
                </a:lnTo>
                <a:lnTo>
                  <a:pt x="3411474" y="467990"/>
                </a:lnTo>
                <a:lnTo>
                  <a:pt x="3439668" y="556606"/>
                </a:lnTo>
                <a:lnTo>
                  <a:pt x="3467862" y="644127"/>
                </a:lnTo>
                <a:lnTo>
                  <a:pt x="3496056" y="730011"/>
                </a:lnTo>
                <a:lnTo>
                  <a:pt x="3524250" y="813731"/>
                </a:lnTo>
                <a:lnTo>
                  <a:pt x="3552444" y="894769"/>
                </a:lnTo>
                <a:lnTo>
                  <a:pt x="3580638" y="972626"/>
                </a:lnTo>
                <a:lnTo>
                  <a:pt x="3608832" y="1046823"/>
                </a:lnTo>
                <a:lnTo>
                  <a:pt x="3637026" y="1116901"/>
                </a:lnTo>
                <a:lnTo>
                  <a:pt x="3665220" y="1182428"/>
                </a:lnTo>
                <a:lnTo>
                  <a:pt x="3693414" y="1243001"/>
                </a:lnTo>
                <a:lnTo>
                  <a:pt x="3721608" y="1298246"/>
                </a:lnTo>
                <a:lnTo>
                  <a:pt x="3749802" y="1347822"/>
                </a:lnTo>
                <a:lnTo>
                  <a:pt x="3777996" y="1391424"/>
                </a:lnTo>
                <a:lnTo>
                  <a:pt x="3806190" y="1428783"/>
                </a:lnTo>
                <a:lnTo>
                  <a:pt x="3834384" y="1459669"/>
                </a:lnTo>
                <a:lnTo>
                  <a:pt x="3862578" y="1483891"/>
                </a:lnTo>
                <a:lnTo>
                  <a:pt x="3890772" y="1501300"/>
                </a:lnTo>
                <a:lnTo>
                  <a:pt x="3918966" y="1511788"/>
                </a:lnTo>
                <a:lnTo>
                  <a:pt x="3947160" y="1515292"/>
                </a:lnTo>
                <a:lnTo>
                  <a:pt x="3975354" y="1511788"/>
                </a:lnTo>
                <a:lnTo>
                  <a:pt x="4003548" y="1501300"/>
                </a:lnTo>
                <a:lnTo>
                  <a:pt x="4031742" y="1483891"/>
                </a:lnTo>
                <a:lnTo>
                  <a:pt x="4059936" y="1459669"/>
                </a:lnTo>
                <a:lnTo>
                  <a:pt x="4088130" y="1428783"/>
                </a:lnTo>
                <a:lnTo>
                  <a:pt x="4116324" y="1391424"/>
                </a:lnTo>
                <a:lnTo>
                  <a:pt x="4144518" y="1347822"/>
                </a:lnTo>
                <a:lnTo>
                  <a:pt x="4172712" y="1298246"/>
                </a:lnTo>
                <a:lnTo>
                  <a:pt x="4200906" y="1243001"/>
                </a:lnTo>
                <a:lnTo>
                  <a:pt x="4229100" y="1182428"/>
                </a:lnTo>
                <a:lnTo>
                  <a:pt x="4257294" y="1116901"/>
                </a:lnTo>
                <a:lnTo>
                  <a:pt x="4285488" y="1046823"/>
                </a:lnTo>
                <a:lnTo>
                  <a:pt x="4313682" y="972626"/>
                </a:lnTo>
                <a:lnTo>
                  <a:pt x="4341876" y="894769"/>
                </a:lnTo>
                <a:lnTo>
                  <a:pt x="4370070" y="813731"/>
                </a:lnTo>
                <a:lnTo>
                  <a:pt x="4398264" y="730011"/>
                </a:lnTo>
                <a:lnTo>
                  <a:pt x="4426458" y="644127"/>
                </a:lnTo>
                <a:lnTo>
                  <a:pt x="4454652" y="556606"/>
                </a:lnTo>
                <a:lnTo>
                  <a:pt x="4482846" y="467990"/>
                </a:lnTo>
                <a:lnTo>
                  <a:pt x="4511040" y="378823"/>
                </a:lnTo>
                <a:lnTo>
                  <a:pt x="4539234" y="289657"/>
                </a:lnTo>
                <a:lnTo>
                  <a:pt x="4567428" y="201040"/>
                </a:lnTo>
                <a:lnTo>
                  <a:pt x="4595622" y="113520"/>
                </a:lnTo>
                <a:lnTo>
                  <a:pt x="4623816" y="27635"/>
                </a:lnTo>
                <a:lnTo>
                  <a:pt x="4652010" y="0"/>
                </a:lnTo>
                <a:lnTo>
                  <a:pt x="4680204" y="0"/>
                </a:lnTo>
                <a:lnTo>
                  <a:pt x="4708398" y="0"/>
                </a:lnTo>
                <a:lnTo>
                  <a:pt x="4736592" y="0"/>
                </a:lnTo>
                <a:lnTo>
                  <a:pt x="4764786" y="0"/>
                </a:lnTo>
                <a:lnTo>
                  <a:pt x="4792980" y="0"/>
                </a:lnTo>
                <a:lnTo>
                  <a:pt x="4821174" y="0"/>
                </a:lnTo>
                <a:lnTo>
                  <a:pt x="4849368" y="0"/>
                </a:lnTo>
                <a:lnTo>
                  <a:pt x="4877562" y="0"/>
                </a:lnTo>
                <a:lnTo>
                  <a:pt x="4905756" y="0"/>
                </a:lnTo>
                <a:lnTo>
                  <a:pt x="4933950" y="0"/>
                </a:lnTo>
                <a:lnTo>
                  <a:pt x="4962144" y="0"/>
                </a:lnTo>
                <a:lnTo>
                  <a:pt x="4990338" y="0"/>
                </a:lnTo>
                <a:lnTo>
                  <a:pt x="5018532" y="0"/>
                </a:lnTo>
                <a:lnTo>
                  <a:pt x="5046726" y="0"/>
                </a:lnTo>
                <a:lnTo>
                  <a:pt x="5074920" y="0"/>
                </a:lnTo>
                <a:lnTo>
                  <a:pt x="5103114" y="0"/>
                </a:lnTo>
                <a:lnTo>
                  <a:pt x="5131308" y="0"/>
                </a:lnTo>
                <a:lnTo>
                  <a:pt x="5159502" y="0"/>
                </a:lnTo>
                <a:lnTo>
                  <a:pt x="5187696" y="0"/>
                </a:lnTo>
                <a:lnTo>
                  <a:pt x="5215890" y="0"/>
                </a:lnTo>
                <a:lnTo>
                  <a:pt x="5244084" y="0"/>
                </a:lnTo>
                <a:lnTo>
                  <a:pt x="5272278" y="0"/>
                </a:lnTo>
                <a:lnTo>
                  <a:pt x="5300472" y="0"/>
                </a:lnTo>
                <a:lnTo>
                  <a:pt x="5328666" y="0"/>
                </a:lnTo>
                <a:lnTo>
                  <a:pt x="5356860" y="0"/>
                </a:lnTo>
                <a:lnTo>
                  <a:pt x="5385054" y="0"/>
                </a:lnTo>
                <a:lnTo>
                  <a:pt x="5413248" y="0"/>
                </a:lnTo>
                <a:lnTo>
                  <a:pt x="5441442" y="0"/>
                </a:lnTo>
                <a:lnTo>
                  <a:pt x="5469636" y="0"/>
                </a:lnTo>
                <a:lnTo>
                  <a:pt x="5497830" y="0"/>
                </a:lnTo>
                <a:lnTo>
                  <a:pt x="5526024" y="27635"/>
                </a:lnTo>
                <a:lnTo>
                  <a:pt x="5554218" y="113520"/>
                </a:lnTo>
                <a:lnTo>
                  <a:pt x="5582412" y="201040"/>
                </a:lnTo>
                <a:lnTo>
                  <a:pt x="5610606" y="289657"/>
                </a:lnTo>
                <a:lnTo>
                  <a:pt x="5638800" y="378823"/>
                </a:lnTo>
                <a:lnTo>
                  <a:pt x="5666994" y="467990"/>
                </a:lnTo>
                <a:lnTo>
                  <a:pt x="5695188" y="556606"/>
                </a:lnTo>
                <a:lnTo>
                  <a:pt x="5723382" y="644127"/>
                </a:lnTo>
                <a:lnTo>
                  <a:pt x="5751576" y="730011"/>
                </a:lnTo>
                <a:lnTo>
                  <a:pt x="5779770" y="813731"/>
                </a:lnTo>
                <a:lnTo>
                  <a:pt x="5807964" y="894769"/>
                </a:lnTo>
                <a:lnTo>
                  <a:pt x="5836158" y="972626"/>
                </a:lnTo>
                <a:lnTo>
                  <a:pt x="5864352" y="1046823"/>
                </a:lnTo>
                <a:lnTo>
                  <a:pt x="5892546" y="1116901"/>
                </a:lnTo>
                <a:lnTo>
                  <a:pt x="5920740" y="1182428"/>
                </a:lnTo>
                <a:lnTo>
                  <a:pt x="5948934" y="1243001"/>
                </a:lnTo>
                <a:lnTo>
                  <a:pt x="5977128" y="1298246"/>
                </a:lnTo>
                <a:lnTo>
                  <a:pt x="6005322" y="1347822"/>
                </a:lnTo>
                <a:lnTo>
                  <a:pt x="6033516" y="1391424"/>
                </a:lnTo>
                <a:lnTo>
                  <a:pt x="6061710" y="1428783"/>
                </a:lnTo>
                <a:lnTo>
                  <a:pt x="6089904" y="1459669"/>
                </a:lnTo>
                <a:lnTo>
                  <a:pt x="6118098" y="1483891"/>
                </a:lnTo>
                <a:lnTo>
                  <a:pt x="6146292" y="1501300"/>
                </a:lnTo>
                <a:lnTo>
                  <a:pt x="6174486" y="1511788"/>
                </a:lnTo>
                <a:lnTo>
                  <a:pt x="6202680" y="1515292"/>
                </a:lnTo>
                <a:lnTo>
                  <a:pt x="6230874" y="1511788"/>
                </a:lnTo>
                <a:lnTo>
                  <a:pt x="6259068" y="1501300"/>
                </a:lnTo>
                <a:lnTo>
                  <a:pt x="6287262" y="1483891"/>
                </a:lnTo>
                <a:lnTo>
                  <a:pt x="6315456" y="1459669"/>
                </a:lnTo>
                <a:lnTo>
                  <a:pt x="6343650" y="1428783"/>
                </a:lnTo>
                <a:lnTo>
                  <a:pt x="6371844" y="1391424"/>
                </a:lnTo>
                <a:lnTo>
                  <a:pt x="6400038" y="1347822"/>
                </a:lnTo>
                <a:lnTo>
                  <a:pt x="6428232" y="1298246"/>
                </a:lnTo>
                <a:lnTo>
                  <a:pt x="6456426" y="1243001"/>
                </a:lnTo>
                <a:lnTo>
                  <a:pt x="6484620" y="1182428"/>
                </a:lnTo>
                <a:lnTo>
                  <a:pt x="6512814" y="1116901"/>
                </a:lnTo>
                <a:lnTo>
                  <a:pt x="6541008" y="1046823"/>
                </a:lnTo>
                <a:lnTo>
                  <a:pt x="6569202" y="972626"/>
                </a:lnTo>
                <a:lnTo>
                  <a:pt x="6597396" y="894769"/>
                </a:lnTo>
                <a:lnTo>
                  <a:pt x="6625590" y="813731"/>
                </a:lnTo>
                <a:lnTo>
                  <a:pt x="6653784" y="730011"/>
                </a:lnTo>
                <a:lnTo>
                  <a:pt x="6681978" y="644127"/>
                </a:lnTo>
                <a:lnTo>
                  <a:pt x="6710172" y="556606"/>
                </a:lnTo>
                <a:lnTo>
                  <a:pt x="6738366" y="467990"/>
                </a:lnTo>
                <a:lnTo>
                  <a:pt x="6766560" y="378823"/>
                </a:lnTo>
              </a:path>
            </a:pathLst>
          </a:custGeom>
          <a:noFill/>
          <a:ln w="317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203911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B7680"/>
                </a:solidFill>
                <a:latin typeface="Arial"/>
              </a:rPr>
              <a:t>the real motion: 1 g + 3 g peak vibration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32461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E7C86"/>
                </a:solidFill>
                <a:latin typeface="Arial"/>
              </a:rPr>
              <a:t>SENSOR REPORTS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352044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A1F24"/>
                </a:solidFill>
                <a:latin typeface="Arial"/>
              </a:rPr>
              <a:t>the tops are cut off,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A1F24"/>
                </a:solidFill>
                <a:latin typeface="Arial"/>
              </a:rPr>
              <a:t>the bottoms are not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074920"/>
            <a:ext cx="10874959" cy="786384"/>
          </a:xfrm>
          <a:prstGeom prst="roundRect">
            <a:avLst>
              <a:gd name="adj" fmla="val 10000"/>
            </a:avLst>
          </a:prstGeom>
          <a:solidFill>
            <a:srgbClr val="FAECD8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000" b="1">
                <a:solidFill>
                  <a:srgbClr val="1A1F24"/>
                </a:solidFill>
                <a:latin typeface="Arial"/>
              </a:rPr>
              <a:t>The sensor is set to ±2 g, and the vibration on top of gravity reaches +4 g.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5  ·  MEMS accelerometers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8324"/>
                </a:solidFill>
                <a:latin typeface="Arial"/>
              </a:rPr>
              <a:t>POLL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4959" cy="1755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50" b="1" i="0">
                <a:solidFill>
                  <a:srgbClr val="1A1F24"/>
                </a:solidFill>
                <a:latin typeface="Arial"/>
              </a:rPr>
              <a:t>That clipped signal is averaged over one second to report the machine's tilt. The machine is actually level, so the true average of Z is 1 g.</a:t>
            </a:r>
          </a:p>
          <a:p>
            <a:pPr algn="l">
              <a:lnSpc>
                <a:spcPct val="120000"/>
              </a:lnSpc>
            </a:pPr>
            <a:r>
              <a:rPr sz="2050" b="1" i="0">
                <a:solidFill>
                  <a:srgbClr val="1A1F24"/>
                </a:solidFill>
                <a:latin typeface="Arial"/>
              </a:rPr>
              <a:t>The averaged reading is: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87168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606040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15184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1 g — clipping only adds noise, and averaging removes noise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9184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410712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419856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more than 1 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096512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215384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24528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less than 1 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01184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5020056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029200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0 g — the sensor saturates and stops reporting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541264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6B7680"/>
                </a:solidFill>
                <a:latin typeface="Arial"/>
              </a:rPr>
              <a:t>Vote. Then look at the picture again: which parts of the wave were thrown away?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5  ·  MEMS accelerometers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Arial"/>
              </a:rPr>
              <a:t>POLL 3   ·  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4959" cy="1755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50" b="1" i="0">
                <a:solidFill>
                  <a:srgbClr val="1A1F24"/>
                </a:solidFill>
                <a:latin typeface="Arial"/>
              </a:rPr>
              <a:t>That clipped signal is averaged over one second to report the machine's tilt. The machine is actually level, so the true average of Z is 1 g.</a:t>
            </a:r>
          </a:p>
          <a:p>
            <a:pPr algn="l">
              <a:lnSpc>
                <a:spcPct val="120000"/>
              </a:lnSpc>
            </a:pPr>
            <a:r>
              <a:rPr sz="2050" b="1" i="0">
                <a:solidFill>
                  <a:srgbClr val="1A1F24"/>
                </a:solidFill>
                <a:latin typeface="Arial"/>
              </a:rPr>
              <a:t>The averaged reading is: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87168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606040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15184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1 g — clipping only adds noise, and averaging removes noise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9184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410712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419856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more than 1 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096512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DCEDEF"/>
          </a:solidFill>
          <a:ln w="317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215384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E7C86"/>
                </a:solidFill>
                <a:latin typeface="Arial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24528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F24"/>
                </a:solidFill>
                <a:latin typeface="Arial"/>
              </a:rPr>
              <a:t>less than 1 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01184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5020056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029200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0 g — the sensor saturates and stops reporting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541264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0E7C86"/>
                </a:solidFill>
                <a:latin typeface="Arial"/>
              </a:rPr>
              <a:t>0.49 g. Only the positive peaks were cut off, so the mean falls. The reading implies a tilt of arccos(0.49) = 60.6° — on a machine that is level. Clipping is not noise; it is a bias that exists only while the machine runs.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5  ·  MEMS accelerometers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Choose the range from the peak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Not from the measurand — the measurand chooses the bandwidth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920240"/>
          <a:ext cx="10874956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9993"/>
                <a:gridCol w="3262487"/>
                <a:gridCol w="2392490"/>
                <a:gridCol w="3479986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>Range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>Headroom above gravity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>Quantisation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>Survives 3 g peak?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F24"/>
                          </a:solidFill>
                          <a:latin typeface="Courier New"/>
                        </a:rPr>
                        <a:t>±2 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+1 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0.018 mg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C0392B"/>
                          </a:solidFill>
                          <a:latin typeface="Arial"/>
                        </a:rPr>
                        <a:t>NO — clips</a:t>
                      </a:r>
                    </a:p>
                  </a:txBody>
                  <a:tcPr marL="91440" marR="91440" marT="27432" marB="27432" anchor="ctr">
                    <a:solidFill>
                      <a:srgbClr val="F7DFD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F24"/>
                          </a:solidFill>
                          <a:latin typeface="Courier New"/>
                        </a:rPr>
                        <a:t>±4 g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+3 g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0.035 mg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only just</a:t>
                      </a:r>
                    </a:p>
                  </a:txBody>
                  <a:tcPr marL="91440" marR="91440" marT="27432" marB="27432" anchor="ctr">
                    <a:solidFill>
                      <a:srgbClr val="FAECD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F24"/>
                          </a:solidFill>
                          <a:latin typeface="Courier New"/>
                        </a:rPr>
                        <a:t>±8 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+7 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0.070 mg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F24"/>
                          </a:solidFill>
                          <a:latin typeface="Courier New"/>
                        </a:rPr>
                        <a:t>±16 g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+15 g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0.141 mg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yes, with shock margin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438912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 i="0">
                <a:solidFill>
                  <a:srgbClr val="0E7C86"/>
                </a:solidFill>
                <a:latin typeface="Courier New"/>
              </a:rPr>
              <a:t>noise  =  60 µg/√Hz × √52 Hz  =  0.43 mg typ</a:t>
            </a:r>
            <a:r>
              <a:rPr sz="1500" b="0" i="0">
                <a:solidFill>
                  <a:srgbClr val="6B7680"/>
                </a:solidFill>
                <a:latin typeface="Arial"/>
              </a:rPr>
              <a:t>     0.72 mg at the 100 µg/√Hz max (Lab 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5029200"/>
            <a:ext cx="10874959" cy="786384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950" b="1">
                <a:solidFill>
                  <a:srgbClr val="F7F5F1"/>
                </a:solidFill>
                <a:latin typeface="Arial"/>
              </a:rPr>
              <a:t>Range protects you from the biggest thing that can happen. Bandwidth decides how much noise you admit. They are separate knobs — set both.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48C"/>
                </a:solidFill>
                <a:latin typeface="Arial"/>
              </a:rPr>
              <a:t>MEMS &amp; Sensors  ·  Lecture 5  ·  MEMS accelerometers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7A848C"/>
                </a:solidFill>
                <a:latin typeface="Arial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Arial"/>
              </a:rPr>
              <a:t>CHUNK 4  ·  INTERFACE AND CALIBRATION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37360"/>
            <a:ext cx="904615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7F5F1"/>
                </a:solidFill>
                <a:latin typeface="Arial"/>
              </a:rPr>
              <a:t>One byte in,</a:t>
            </a:r>
          </a:p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7F5F1"/>
                </a:solidFill>
                <a:latin typeface="Arial"/>
              </a:rPr>
              <a:t>two numbers 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794760"/>
            <a:ext cx="1371600" cy="508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160520"/>
            <a:ext cx="1087495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0" i="0">
                <a:solidFill>
                  <a:srgbClr val="B8C0C6"/>
                </a:solidFill>
                <a:latin typeface="Arial"/>
              </a:rPr>
              <a:t>Write the register. Then use gravity — a free, perfect reference — to find b and 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5532120"/>
            <a:ext cx="1279359" cy="384048"/>
          </a:xfrm>
          <a:prstGeom prst="rect">
            <a:avLst/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F7F5F1"/>
                </a:solidFill>
                <a:latin typeface="Arial"/>
              </a:rPr>
              <a:t>MEASURAND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29167" y="5532120"/>
            <a:ext cx="1279359" cy="384048"/>
          </a:xfrm>
          <a:prstGeom prst="rect">
            <a:avLst/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F7F5F1"/>
                </a:solidFill>
                <a:latin typeface="Arial"/>
              </a:rPr>
              <a:t>TRANSDUCTION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99967" y="5532120"/>
            <a:ext cx="1279359" cy="384048"/>
          </a:xfrm>
          <a:prstGeom prst="rect">
            <a:avLst/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F7F5F1"/>
                </a:solidFill>
                <a:latin typeface="Arial"/>
              </a:rPr>
              <a:t>STRUCTURE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70767" y="5532120"/>
            <a:ext cx="1279359" cy="384048"/>
          </a:xfrm>
          <a:prstGeom prst="rect">
            <a:avLst/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F7F5F1"/>
                </a:solidFill>
                <a:latin typeface="Arial"/>
              </a:rPr>
              <a:t>OUTPUT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1567" y="5532120"/>
            <a:ext cx="1279359" cy="384048"/>
          </a:xfrm>
          <a:prstGeom prst="rect">
            <a:avLst/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F7F5F1"/>
                </a:solidFill>
                <a:latin typeface="Arial"/>
              </a:rPr>
              <a:t>SPECIFICATIONS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12367" y="5532120"/>
            <a:ext cx="1279359" cy="384048"/>
          </a:xfrm>
          <a:prstGeom prst="rect">
            <a:avLst/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1A1F24"/>
                </a:solidFill>
                <a:latin typeface="Arial"/>
              </a:rPr>
              <a:t>INTERFACE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83167" y="5532120"/>
            <a:ext cx="1279359" cy="384048"/>
          </a:xfrm>
          <a:prstGeom prst="rect">
            <a:avLst/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1A1F24"/>
                </a:solidFill>
                <a:latin typeface="Arial"/>
              </a:rPr>
              <a:t>CALIBRATION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53967" y="5532120"/>
            <a:ext cx="1279359" cy="384048"/>
          </a:xfrm>
          <a:prstGeom prst="rect">
            <a:avLst/>
          </a:prstGeom>
          <a:solidFill>
            <a:srgbClr val="1A1F24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6B7680"/>
                </a:solidFill>
                <a:latin typeface="Arial"/>
              </a:rPr>
              <a:t>FAILURE MODES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5  ·  MEMS accelerometers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Down to a register value: CTRL1_XL (0x10)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Two applications, two bytes — built bit by bit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20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E7C86"/>
                </a:solidFill>
                <a:latin typeface="Arial"/>
              </a:rPr>
              <a:t>TILT MONITOR  ·  104 Hz, ±2 g, LPF2 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212848"/>
            <a:ext cx="1152144" cy="329184"/>
          </a:xfrm>
          <a:prstGeom prst="rect">
            <a:avLst/>
          </a:prstGeom>
          <a:solidFill>
            <a:srgbClr val="F7F5F1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6B7680"/>
                </a:solidFill>
                <a:latin typeface="Arial"/>
              </a:rPr>
              <a:t>ODR3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578608"/>
            <a:ext cx="1152144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400" b="1">
                <a:solidFill>
                  <a:srgbClr val="0E7C86"/>
                </a:solidFill>
                <a:latin typeface="Courier New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47088" y="2212848"/>
            <a:ext cx="1152144" cy="329184"/>
          </a:xfrm>
          <a:prstGeom prst="rect">
            <a:avLst/>
          </a:prstGeom>
          <a:solidFill>
            <a:srgbClr val="F7F5F1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6B7680"/>
                </a:solidFill>
                <a:latin typeface="Arial"/>
              </a:rPr>
              <a:t>ODR2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47088" y="2578608"/>
            <a:ext cx="1152144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400" b="1">
                <a:solidFill>
                  <a:srgbClr val="0E7C86"/>
                </a:solidFill>
                <a:latin typeface="Courier New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35808" y="2212848"/>
            <a:ext cx="1152144" cy="329184"/>
          </a:xfrm>
          <a:prstGeom prst="rect">
            <a:avLst/>
          </a:prstGeom>
          <a:solidFill>
            <a:srgbClr val="F7F5F1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6B7680"/>
                </a:solidFill>
                <a:latin typeface="Arial"/>
              </a:rPr>
              <a:t>ODR1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35808" y="2578608"/>
            <a:ext cx="1152144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400" b="1">
                <a:solidFill>
                  <a:srgbClr val="0E7C86"/>
                </a:solidFill>
                <a:latin typeface="Courier New"/>
              </a:rP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24528" y="2212848"/>
            <a:ext cx="1152144" cy="329184"/>
          </a:xfrm>
          <a:prstGeom prst="rect">
            <a:avLst/>
          </a:prstGeom>
          <a:solidFill>
            <a:srgbClr val="F7F5F1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6B7680"/>
                </a:solidFill>
                <a:latin typeface="Arial"/>
              </a:rPr>
              <a:t>ODR0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24528" y="2578608"/>
            <a:ext cx="1152144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400" b="1">
                <a:solidFill>
                  <a:srgbClr val="0E7C86"/>
                </a:solidFill>
                <a:latin typeface="Courier New"/>
              </a:rPr>
              <a:t>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13248" y="2212848"/>
            <a:ext cx="1152144" cy="329184"/>
          </a:xfrm>
          <a:prstGeom prst="rect">
            <a:avLst/>
          </a:prstGeom>
          <a:solidFill>
            <a:srgbClr val="F7F5F1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6B7680"/>
                </a:solidFill>
                <a:latin typeface="Arial"/>
              </a:rPr>
              <a:t>FS1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13248" y="2578608"/>
            <a:ext cx="1152144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400" b="1">
                <a:solidFill>
                  <a:srgbClr val="0E7C86"/>
                </a:solidFill>
                <a:latin typeface="Courier New"/>
              </a:rP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1968" y="2212848"/>
            <a:ext cx="1152144" cy="329184"/>
          </a:xfrm>
          <a:prstGeom prst="rect">
            <a:avLst/>
          </a:prstGeom>
          <a:solidFill>
            <a:srgbClr val="F7F5F1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6B7680"/>
                </a:solidFill>
                <a:latin typeface="Arial"/>
              </a:rPr>
              <a:t>FS0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01968" y="2578608"/>
            <a:ext cx="1152144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400" b="1">
                <a:solidFill>
                  <a:srgbClr val="0E7C86"/>
                </a:solidFill>
                <a:latin typeface="Courier New"/>
              </a:rP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90688" y="2212848"/>
            <a:ext cx="1152144" cy="329184"/>
          </a:xfrm>
          <a:prstGeom prst="rect">
            <a:avLst/>
          </a:prstGeom>
          <a:solidFill>
            <a:srgbClr val="F7F5F1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6B7680"/>
                </a:solidFill>
                <a:latin typeface="Arial"/>
              </a:rPr>
              <a:t>LPF2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90688" y="2578608"/>
            <a:ext cx="1152144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400" b="1">
                <a:solidFill>
                  <a:srgbClr val="D98324"/>
                </a:solidFill>
                <a:latin typeface="Courier New"/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79408" y="2212848"/>
            <a:ext cx="1152144" cy="329184"/>
          </a:xfrm>
          <a:prstGeom prst="rect">
            <a:avLst/>
          </a:prstGeom>
          <a:solidFill>
            <a:srgbClr val="F7F5F1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6B7680"/>
                </a:solidFill>
                <a:latin typeface="Arial"/>
              </a:rPr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79408" y="2578608"/>
            <a:ext cx="1152144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400" b="1">
                <a:solidFill>
                  <a:srgbClr val="6B7680"/>
                </a:solidFill>
                <a:latin typeface="Courier New"/>
              </a:rPr>
              <a:t>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05288" y="2578608"/>
            <a:ext cx="1216152" cy="566928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F7F5F1"/>
                </a:solidFill>
                <a:latin typeface="Courier New"/>
              </a:rPr>
              <a:t>0x42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3401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D98324"/>
                </a:solidFill>
                <a:latin typeface="Arial"/>
              </a:rPr>
              <a:t>MACHINE VIBRATION  ·  1.66 kHz, ±16 g, LPF2 off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694176"/>
            <a:ext cx="1152144" cy="329184"/>
          </a:xfrm>
          <a:prstGeom prst="rect">
            <a:avLst/>
          </a:prstGeom>
          <a:solidFill>
            <a:srgbClr val="F7F5F1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6B7680"/>
                </a:solidFill>
                <a:latin typeface="Arial"/>
              </a:rPr>
              <a:t>ODR3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059936"/>
            <a:ext cx="1152144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400" b="1">
                <a:solidFill>
                  <a:srgbClr val="D98324"/>
                </a:solidFill>
                <a:latin typeface="Courier New"/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47088" y="3694176"/>
            <a:ext cx="1152144" cy="329184"/>
          </a:xfrm>
          <a:prstGeom prst="rect">
            <a:avLst/>
          </a:prstGeom>
          <a:solidFill>
            <a:srgbClr val="F7F5F1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6B7680"/>
                </a:solidFill>
                <a:latin typeface="Arial"/>
              </a:rPr>
              <a:t>ODR2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47088" y="4059936"/>
            <a:ext cx="1152144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400" b="1">
                <a:solidFill>
                  <a:srgbClr val="D98324"/>
                </a:solidFill>
                <a:latin typeface="Courier New"/>
              </a:rP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35808" y="3694176"/>
            <a:ext cx="1152144" cy="329184"/>
          </a:xfrm>
          <a:prstGeom prst="rect">
            <a:avLst/>
          </a:prstGeom>
          <a:solidFill>
            <a:srgbClr val="F7F5F1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6B7680"/>
                </a:solidFill>
                <a:latin typeface="Arial"/>
              </a:rPr>
              <a:t>ODR1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35808" y="4059936"/>
            <a:ext cx="1152144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400" b="1">
                <a:solidFill>
                  <a:srgbClr val="D98324"/>
                </a:solidFill>
                <a:latin typeface="Courier New"/>
              </a:rP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24528" y="3694176"/>
            <a:ext cx="1152144" cy="329184"/>
          </a:xfrm>
          <a:prstGeom prst="rect">
            <a:avLst/>
          </a:prstGeom>
          <a:solidFill>
            <a:srgbClr val="F7F5F1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6B7680"/>
                </a:solidFill>
                <a:latin typeface="Arial"/>
              </a:rPr>
              <a:t>ODR0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24528" y="4059936"/>
            <a:ext cx="1152144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400" b="1">
                <a:solidFill>
                  <a:srgbClr val="D98324"/>
                </a:solidFill>
                <a:latin typeface="Courier New"/>
              </a:rPr>
              <a:t>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13248" y="3694176"/>
            <a:ext cx="1152144" cy="329184"/>
          </a:xfrm>
          <a:prstGeom prst="rect">
            <a:avLst/>
          </a:prstGeom>
          <a:solidFill>
            <a:srgbClr val="F7F5F1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6B7680"/>
                </a:solidFill>
                <a:latin typeface="Arial"/>
              </a:rPr>
              <a:t>FS1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13248" y="4059936"/>
            <a:ext cx="1152144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400" b="1">
                <a:solidFill>
                  <a:srgbClr val="C0392B"/>
                </a:solidFill>
                <a:latin typeface="Courier New"/>
              </a:rPr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01968" y="3694176"/>
            <a:ext cx="1152144" cy="329184"/>
          </a:xfrm>
          <a:prstGeom prst="rect">
            <a:avLst/>
          </a:prstGeom>
          <a:solidFill>
            <a:srgbClr val="F7F5F1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6B7680"/>
                </a:solidFill>
                <a:latin typeface="Arial"/>
              </a:rPr>
              <a:t>FS0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01968" y="4059936"/>
            <a:ext cx="1152144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400" b="1">
                <a:solidFill>
                  <a:srgbClr val="C0392B"/>
                </a:solidFill>
                <a:latin typeface="Courier New"/>
              </a:rP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90688" y="3694176"/>
            <a:ext cx="1152144" cy="329184"/>
          </a:xfrm>
          <a:prstGeom prst="rect">
            <a:avLst/>
          </a:prstGeom>
          <a:solidFill>
            <a:srgbClr val="F7F5F1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6B7680"/>
                </a:solidFill>
                <a:latin typeface="Arial"/>
              </a:rPr>
              <a:t>LPF2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90688" y="4059936"/>
            <a:ext cx="1152144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400" b="1">
                <a:solidFill>
                  <a:srgbClr val="6B7680"/>
                </a:solidFill>
                <a:latin typeface="Courier New"/>
              </a:rPr>
              <a:t>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79408" y="3694176"/>
            <a:ext cx="1152144" cy="329184"/>
          </a:xfrm>
          <a:prstGeom prst="rect">
            <a:avLst/>
          </a:prstGeom>
          <a:solidFill>
            <a:srgbClr val="F7F5F1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6B7680"/>
                </a:solidFill>
                <a:latin typeface="Arial"/>
              </a:rPr>
              <a:t>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79408" y="4059936"/>
            <a:ext cx="1152144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400" b="1">
                <a:solidFill>
                  <a:srgbClr val="6B7680"/>
                </a:solidFill>
                <a:latin typeface="Courier New"/>
              </a:rPr>
              <a:t>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305288" y="4059936"/>
            <a:ext cx="1216152" cy="566928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1A1F24"/>
                </a:solidFill>
                <a:latin typeface="Courier New"/>
              </a:rPr>
              <a:t>0x84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029200"/>
            <a:ext cx="10874959" cy="786384"/>
          </a:xfrm>
          <a:prstGeom prst="roundRect">
            <a:avLst>
              <a:gd name="adj" fmla="val 10000"/>
            </a:avLst>
          </a:prstGeom>
          <a:solidFill>
            <a:srgbClr val="FAECD8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900" b="1">
                <a:solidFill>
                  <a:srgbClr val="1A1F24"/>
                </a:solidFill>
                <a:latin typeface="Arial"/>
              </a:rPr>
              <a:t>FS = 01 is ±16 g — red because it is not in ascending order. Bit 0 must be written 0. Both facts are in the datasheet, and nowhere else.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5925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6B7680"/>
                </a:solidFill>
                <a:latin typeface="Arial"/>
              </a:rPr>
              <a:t>0x42 is Lab 2's byte. You have already flashed it.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5  ·  MEMS accelerometers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Calibrate with gravity: the free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Point an axis up, then down — gravity is exactly ±1 g both times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20240"/>
            <a:ext cx="1087495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2400" b="1" i="0">
                <a:solidFill>
                  <a:srgbClr val="D98324"/>
                </a:solidFill>
                <a:latin typeface="Courier New"/>
              </a:rPr>
              <a:t>b  =  (up + down) / 2</a:t>
            </a:r>
            <a:r>
              <a:rPr sz="2400" b="0" i="0">
                <a:solidFill>
                  <a:srgbClr val="1A1F24"/>
                </a:solidFill>
                <a:latin typeface="Arial"/>
              </a:rPr>
              <a:t>            </a:t>
            </a:r>
            <a:r>
              <a:rPr sz="2400" b="1" i="0">
                <a:solidFill>
                  <a:srgbClr val="0E7C86"/>
                </a:solidFill>
                <a:latin typeface="Courier New"/>
              </a:rPr>
              <a:t>S  =  (up − down) / 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2697480"/>
          <a:ext cx="694943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809"/>
                <a:gridCol w="2084832"/>
                <a:gridCol w="2501798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>Z axis, two positions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>reading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1A1F24"/>
                          </a:solidFill>
                          <a:latin typeface="Arial"/>
                        </a:rPr>
                        <a:t>Z up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1A1F24"/>
                          </a:solidFill>
                          <a:latin typeface="Courier New"/>
                        </a:rPr>
                        <a:t>+1015.0 mg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1A1F24"/>
                          </a:solidFill>
                          <a:latin typeface="Arial"/>
                        </a:rPr>
                        <a:t>= +S + b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1A1F24"/>
                          </a:solidFill>
                          <a:latin typeface="Arial"/>
                        </a:rPr>
                        <a:t>Z down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1A1F24"/>
                          </a:solidFill>
                          <a:latin typeface="Courier New"/>
                        </a:rPr>
                        <a:t>−991.0 mg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1A1F24"/>
                          </a:solidFill>
                          <a:latin typeface="Arial"/>
                        </a:rPr>
                        <a:t>= −S + b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1A1F24"/>
                          </a:solidFill>
                          <a:latin typeface="Arial"/>
                        </a:rPr>
                        <a:t>bias b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1">
                          <a:solidFill>
                            <a:srgbClr val="1A1F24"/>
                          </a:solidFill>
                          <a:latin typeface="Courier New"/>
                        </a:rPr>
                        <a:t>+12.0 mg</a:t>
                      </a:r>
                    </a:p>
                  </a:txBody>
                  <a:tcPr marL="91440" marR="91440" marT="27432" marB="27432" anchor="ctr">
                    <a:solidFill>
                      <a:srgbClr val="FAEC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1A1F24"/>
                          </a:solidFill>
                          <a:latin typeface="Arial"/>
                        </a:rPr>
                        <a:t>±65 mg allowed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1A1F24"/>
                          </a:solidFill>
                          <a:latin typeface="Arial"/>
                        </a:rPr>
                        <a:t>scale S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1">
                          <a:solidFill>
                            <a:srgbClr val="1A1F24"/>
                          </a:solidFill>
                          <a:latin typeface="Courier New"/>
                        </a:rPr>
                        <a:t>1003.0 mg/g</a:t>
                      </a:r>
                    </a:p>
                  </a:txBody>
                  <a:tcPr marL="91440" marR="91440" marT="27432" marB="27432" anchor="ctr">
                    <a:solidFill>
                      <a:srgbClr val="DCED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1A1F24"/>
                          </a:solidFill>
                          <a:latin typeface="Arial"/>
                        </a:rPr>
                        <a:t>+0.30 %, ±2 % allowed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001000" y="2697480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B7680"/>
                </a:solidFill>
                <a:latin typeface="Arial"/>
              </a:rPr>
              <a:t>SIX POSITIONS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971800"/>
            <a:ext cx="3566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1A1F24"/>
                </a:solidFill>
                <a:latin typeface="Arial"/>
              </a:rPr>
              <a:t>±X, ±Y, ±Z against a flat surface give b and S for all three axes — no fixture, no reference instrument.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406908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B7680"/>
                </a:solidFill>
                <a:latin typeface="Arial"/>
              </a:rPr>
              <a:t>Local g in Yerevan ≈ 9.799 m/s² — 0.08 % below standard. Far inside ±2 %, but know that ‘1 g’ is a place.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120640"/>
            <a:ext cx="10874959" cy="786384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000" b="1">
                <a:solidFill>
                  <a:srgbClr val="F7F5F1"/>
                </a:solidFill>
                <a:latin typeface="Arial"/>
              </a:rPr>
              <a:t>Two readings per axis remove a 12 mg error — larger than the whole tilt signal. This is Laboratory 3, stage 1.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5  ·  MEMS accelerometers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8324"/>
                </a:solidFill>
                <a:latin typeface="Arial"/>
              </a:rPr>
              <a:t>POLL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4959" cy="1755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50" b="1" i="0">
                <a:solidFill>
                  <a:srgbClr val="1A1F24"/>
                </a:solidFill>
                <a:latin typeface="Arial"/>
              </a:rPr>
              <a:t>You calibrate the accelerometer on the bench — six positions, b and S for every axis. Then you screw the board into the project enclosure.</a:t>
            </a:r>
          </a:p>
          <a:p>
            <a:pPr algn="l">
              <a:lnSpc>
                <a:spcPct val="120000"/>
              </a:lnSpc>
            </a:pPr>
            <a:r>
              <a:rPr sz="2050" b="1" i="0">
                <a:solidFill>
                  <a:srgbClr val="1A1F24"/>
                </a:solidFill>
                <a:latin typeface="Arial"/>
              </a:rPr>
              <a:t>Which term of the error model has most likely changed?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87168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606040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15184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none — the calibration is stored in firmware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9184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410712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419856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the bias 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096512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215384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24528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the noise 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01184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5020056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029200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the scale factor s, by a factor of two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541264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6B7680"/>
                </a:solidFill>
                <a:latin typeface="Arial"/>
              </a:rPr>
              <a:t>Transfer question: Lecture 4's stress chain, applied to today's equation.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5  ·  MEMS accelerometers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Arial"/>
              </a:rPr>
              <a:t>POLL 4   ·  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4959" cy="1755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50" b="1" i="0">
                <a:solidFill>
                  <a:srgbClr val="1A1F24"/>
                </a:solidFill>
                <a:latin typeface="Arial"/>
              </a:rPr>
              <a:t>You calibrate the accelerometer on the bench — six positions, b and S for every axis. Then you screw the board into the project enclosure.</a:t>
            </a:r>
          </a:p>
          <a:p>
            <a:pPr algn="l">
              <a:lnSpc>
                <a:spcPct val="120000"/>
              </a:lnSpc>
            </a:pPr>
            <a:r>
              <a:rPr sz="2050" b="1" i="0">
                <a:solidFill>
                  <a:srgbClr val="1A1F24"/>
                </a:solidFill>
                <a:latin typeface="Arial"/>
              </a:rPr>
              <a:t>Which term of the error model has most likely changed?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87168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606040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15184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none — the calibration is stored in firmware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9184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DCEDEF"/>
          </a:solidFill>
          <a:ln w="317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410712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E7C86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419856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F24"/>
                </a:solidFill>
                <a:latin typeface="Arial"/>
              </a:rPr>
              <a:t>the bias 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096512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215384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24528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the noise 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01184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5020056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029200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the scale factor s, by a factor of two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541264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0E7C86"/>
                </a:solidFill>
                <a:latin typeface="Arial"/>
              </a:rPr>
              <a:t>The bias. Screw torque bends the board and the package, and that stress shifts the zero-g level — Lecture 4's chain, links 4 to 6. Calibrate AFTER final assembly, and again if anyone touches the screws.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5  ·  MEMS accelerometers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Mounting orientation: the axes are yours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The datasheet draws the axes on the package; your enclosure decides where they point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920240"/>
          <a:ext cx="667512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5072"/>
                <a:gridCol w="2670048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>Board mounted 1° off true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1A1F24"/>
                          </a:solidFill>
                          <a:latin typeface="Arial"/>
                        </a:rPr>
                        <a:t>gravity leaking into X, sin(1°) × 1 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1A1F24"/>
                          </a:solidFill>
                          <a:latin typeface="Courier New"/>
                        </a:rPr>
                        <a:t>17.5 mg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1A1F24"/>
                          </a:solidFill>
                          <a:latin typeface="Arial"/>
                        </a:rPr>
                        <a:t>as a cross-axis figure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1">
                          <a:solidFill>
                            <a:srgbClr val="C0392B"/>
                          </a:solidFill>
                          <a:latin typeface="Courier New"/>
                        </a:rPr>
                        <a:t>1.75 %</a:t>
                      </a:r>
                    </a:p>
                  </a:txBody>
                  <a:tcPr marL="91440" marR="91440" marT="27432" marB="27432" anchor="ctr">
                    <a:solidFill>
                      <a:srgbClr val="F7DFD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1A1F24"/>
                          </a:solidFill>
                          <a:latin typeface="Arial"/>
                        </a:rPr>
                        <a:t>the datasheet's cross-axis, package level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1A1F24"/>
                          </a:solidFill>
                          <a:latin typeface="Courier New"/>
                        </a:rPr>
                        <a:t>±0.5 %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26679" y="1920240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B7680"/>
                </a:solidFill>
                <a:latin typeface="Arial"/>
              </a:rPr>
              <a:t>THREE CHECKS, BEFORE ANY 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2240280"/>
            <a:ext cx="420624" cy="420624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7F5F1"/>
                </a:solidFill>
                <a:latin typeface="Courier New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2258568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A1F24"/>
                </a:solidFill>
                <a:latin typeface="Arial"/>
              </a:rPr>
              <a:t>Find pin 1 and the axis drawing in the datasheet.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2898648"/>
            <a:ext cx="420624" cy="420624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7F5F1"/>
                </a:solidFill>
                <a:latin typeface="Courier New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916936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A1F24"/>
                </a:solidFill>
                <a:latin typeface="Arial"/>
              </a:rPr>
              <a:t>Predict each axis's sign, then tilt the board and confirm.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3557016"/>
            <a:ext cx="420624" cy="420624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7F5F1"/>
                </a:solidFill>
                <a:latin typeface="Courier New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3575304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A1F24"/>
                </a:solidFill>
                <a:latin typeface="Arial"/>
              </a:rPr>
              <a:t>Write the sensor-to-body rotation in your report.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160520"/>
            <a:ext cx="6675120" cy="822960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900" b="1">
                <a:solidFill>
                  <a:srgbClr val="F7F5F1"/>
                </a:solidFill>
                <a:latin typeface="Arial"/>
              </a:rPr>
              <a:t>One degree of mounting error is 3.5 × the whole datasheet cross-axis budget.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212080"/>
            <a:ext cx="10874959" cy="731520"/>
          </a:xfrm>
          <a:prstGeom prst="roundRect">
            <a:avLst>
              <a:gd name="adj" fmla="val 10000"/>
            </a:avLst>
          </a:prstGeom>
          <a:solidFill>
            <a:srgbClr val="FAECD8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900" b="1">
                <a:solidFill>
                  <a:srgbClr val="1A1F24"/>
                </a:solidFill>
                <a:latin typeface="Arial"/>
              </a:rPr>
              <a:t>Misalignment is not in the datasheet because it is not in the part. It is in your drawing, your bracket and your screwdriver.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48C"/>
                </a:solidFill>
                <a:latin typeface="Arial"/>
              </a:rPr>
              <a:t>MEMS &amp; Sensors  ·  Lecture 5  ·  MEMS accelerometers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7A848C"/>
                </a:solidFill>
                <a:latin typeface="Arial"/>
              </a:rPr>
              <a:t>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Arial"/>
              </a:rPr>
              <a:t>CHUNK 5  ·  FAILURE MODES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37360"/>
            <a:ext cx="904615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7F5F1"/>
                </a:solidFill>
                <a:latin typeface="Arial"/>
              </a:rPr>
              <a:t>How accelerometers</a:t>
            </a:r>
          </a:p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7F5F1"/>
                </a:solidFill>
                <a:latin typeface="Arial"/>
              </a:rPr>
              <a:t>fail in the field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794760"/>
            <a:ext cx="1371600" cy="508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160520"/>
            <a:ext cx="1087495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0" i="0">
                <a:solidFill>
                  <a:srgbClr val="B8C0C6"/>
                </a:solidFill>
                <a:latin typeface="Arial"/>
              </a:rPr>
              <a:t>Almost never the silicon. Almost always the range, the frame or the mount.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5532120"/>
            <a:ext cx="1279359" cy="384048"/>
          </a:xfrm>
          <a:prstGeom prst="rect">
            <a:avLst/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F7F5F1"/>
                </a:solidFill>
                <a:latin typeface="Arial"/>
              </a:rPr>
              <a:t>MEASURAND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29167" y="5532120"/>
            <a:ext cx="1279359" cy="384048"/>
          </a:xfrm>
          <a:prstGeom prst="rect">
            <a:avLst/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F7F5F1"/>
                </a:solidFill>
                <a:latin typeface="Arial"/>
              </a:rPr>
              <a:t>TRANSDUCTION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99967" y="5532120"/>
            <a:ext cx="1279359" cy="384048"/>
          </a:xfrm>
          <a:prstGeom prst="rect">
            <a:avLst/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F7F5F1"/>
                </a:solidFill>
                <a:latin typeface="Arial"/>
              </a:rPr>
              <a:t>STRUCTURE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70767" y="5532120"/>
            <a:ext cx="1279359" cy="384048"/>
          </a:xfrm>
          <a:prstGeom prst="rect">
            <a:avLst/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F7F5F1"/>
                </a:solidFill>
                <a:latin typeface="Arial"/>
              </a:rPr>
              <a:t>OUTPUT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1567" y="5532120"/>
            <a:ext cx="1279359" cy="384048"/>
          </a:xfrm>
          <a:prstGeom prst="rect">
            <a:avLst/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F7F5F1"/>
                </a:solidFill>
                <a:latin typeface="Arial"/>
              </a:rPr>
              <a:t>SPECIFICATIONS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12367" y="5532120"/>
            <a:ext cx="1279359" cy="384048"/>
          </a:xfrm>
          <a:prstGeom prst="rect">
            <a:avLst/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F7F5F1"/>
                </a:solidFill>
                <a:latin typeface="Arial"/>
              </a:rPr>
              <a:t>INTERFACE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83167" y="5532120"/>
            <a:ext cx="1279359" cy="384048"/>
          </a:xfrm>
          <a:prstGeom prst="rect">
            <a:avLst/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F7F5F1"/>
                </a:solidFill>
                <a:latin typeface="Arial"/>
              </a:rPr>
              <a:t>CALIBRATION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53967" y="5532120"/>
            <a:ext cx="1279359" cy="384048"/>
          </a:xfrm>
          <a:prstGeom prst="rect">
            <a:avLst/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1A1F24"/>
                </a:solidFill>
                <a:latin typeface="Arial"/>
              </a:rPr>
              <a:t>FAILURE MODES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5  ·  MEMS accelerometers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Integration failure: the crusher that tilted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Representative of a common field report — the numbers are Poll 3's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20240"/>
            <a:ext cx="2377440" cy="676656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1A1F24"/>
                </a:solidFill>
                <a:latin typeface="Arial"/>
              </a:rPr>
              <a:t>WHAT HAPPENED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64408" y="1993392"/>
            <a:ext cx="826891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0" i="0">
                <a:solidFill>
                  <a:srgbClr val="1A1F24"/>
                </a:solidFill>
                <a:latin typeface="Arial"/>
              </a:rPr>
              <a:t>A tilt monitor on a rock crusher's frame alarmed at ~60° every time the motor started, and went quiet when it stopped.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724912"/>
            <a:ext cx="2377440" cy="676656"/>
          </a:xfrm>
          <a:prstGeom prst="roundRect">
            <a:avLst>
              <a:gd name="adj" fmla="val 10000"/>
            </a:avLst>
          </a:prstGeom>
          <a:solidFill>
            <a:srgbClr val="6B7680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7F5F1"/>
                </a:solidFill>
                <a:latin typeface="Arial"/>
              </a:rPr>
              <a:t>WHAT WAS BLAMED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4408" y="2798064"/>
            <a:ext cx="826891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0" i="0">
                <a:solidFill>
                  <a:srgbClr val="1A1F24"/>
                </a:solidFill>
                <a:latin typeface="Arial"/>
              </a:rPr>
              <a:t>The sensor. Two replacements, same result. Then the firmware's averaging filter, which was lengthened. Same result.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529584"/>
            <a:ext cx="2377440" cy="676656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7F5F1"/>
                </a:solidFill>
                <a:latin typeface="Arial"/>
              </a:rPr>
              <a:t>THE CAUSE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4408" y="3602736"/>
            <a:ext cx="826891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0" i="0">
                <a:solidFill>
                  <a:srgbClr val="1A1F24"/>
                </a:solidFill>
                <a:latin typeface="Arial"/>
              </a:rPr>
              <a:t>Range left at the reset default, ±2 g. The crusher added about 3 g peak. The positive peaks clipped, and the mean fell to 0.49 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334256"/>
            <a:ext cx="2377440" cy="676656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7F5F1"/>
                </a:solidFill>
                <a:latin typeface="Arial"/>
              </a:rPr>
              <a:t>THE FIX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4408" y="4407408"/>
            <a:ext cx="826891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0" i="0">
                <a:solidFill>
                  <a:srgbClr val="1A1F24"/>
                </a:solidFill>
                <a:latin typeface="Arial"/>
              </a:rPr>
              <a:t>One field: FS_XL = 01, ±16 g. Quantisation rose to 0.14 mg — still sixty times below the signal.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57800"/>
            <a:ext cx="10874959" cy="731520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950" b="1">
                <a:solidFill>
                  <a:srgbClr val="F7F5F1"/>
                </a:solidFill>
                <a:latin typeface="Arial"/>
              </a:rPr>
              <a:t>A longer average cannot fix a biased sample. Look at the RAW codes first: a row of 32 767s is a confession.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5  ·  MEMS accelerometers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Integration errors, by symptom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Every row is one step of the pattern gone wrong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920240"/>
          <a:ext cx="10874956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4988"/>
                <a:gridCol w="3262487"/>
                <a:gridCol w="1631243"/>
                <a:gridCol w="2936238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>Symptom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>Cause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>Step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>Fix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A1F24"/>
                          </a:solidFill>
                          <a:latin typeface="Arial"/>
                        </a:rPr>
                        <a:t>|a| reads ~250 mg at rest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</a:rPr>
                        <a:t>FS encoding assumed ascending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</a:rPr>
                        <a:t>4 · output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</a:rPr>
                        <a:t>read the table, not the order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A1F24"/>
                          </a:solidFill>
                          <a:latin typeface="Arial"/>
                        </a:rPr>
                        <a:t>tilt jumps when the machine runs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</a:rPr>
                        <a:t>saturation — range too small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</a:rPr>
                        <a:t>5 · specs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</a:rPr>
                        <a:t>range from the peak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A1F24"/>
                          </a:solidFill>
                          <a:latin typeface="Arial"/>
                        </a:rPr>
                        <a:t>tilt wanders through the day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</a:rPr>
                        <a:t>bias temperature coefficient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</a:rPr>
                        <a:t>7 · calibration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</a:rPr>
                        <a:t>log T, compensate (L14)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A1F24"/>
                          </a:solidFill>
                          <a:latin typeface="Arial"/>
                        </a:rPr>
                        <a:t>tilt has the wrong sign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</a:rPr>
                        <a:t>sensor frame ≠ body frame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</a:rPr>
                        <a:t>6 · interface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</a:rPr>
                        <a:t>predict, tilt, confirm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A1F24"/>
                          </a:solidFill>
                          <a:latin typeface="Arial"/>
                        </a:rPr>
                        <a:t>offset changed after assembly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</a:rPr>
                        <a:t>mounting stress (L4)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</a:rPr>
                        <a:t>7 · calibration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</a:rPr>
                        <a:t>calibrate the assembly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A1F24"/>
                          </a:solidFill>
                          <a:latin typeface="Arial"/>
                        </a:rPr>
                        <a:t>a vibration peak that isn't real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</a:rPr>
                        <a:t>bracket resonance, or aliasing (L3)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</a:rPr>
                        <a:t>2 · coupling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</a:rPr>
                        <a:t>stiffen; enable LPF2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58368" y="5394960"/>
            <a:ext cx="10874959" cy="731520"/>
          </a:xfrm>
          <a:prstGeom prst="roundRect">
            <a:avLst>
              <a:gd name="adj" fmla="val 10000"/>
            </a:avLst>
          </a:prstGeom>
          <a:solidFill>
            <a:srgbClr val="FAECD8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900" b="1">
                <a:solidFill>
                  <a:srgbClr val="1A1F24"/>
                </a:solidFill>
                <a:latin typeface="Arial"/>
              </a:rPr>
              <a:t>Five of the six are invisible in the datasheet and obvious on a plot of raw data — if you kept it.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48C"/>
                </a:solidFill>
                <a:latin typeface="Arial"/>
              </a:rPr>
              <a:t>MEMS &amp; Sensors  ·  Lecture 5  ·  MEMS accelerometers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7A848C"/>
                </a:solidFill>
                <a:latin typeface="Arial"/>
              </a:rPr>
              <a:t>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8324"/>
                </a:solidFill>
                <a:latin typeface="Arial"/>
              </a:rPr>
              <a:t>WHAT THIS LECTURE EXISTS TO EARN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65960"/>
            <a:ext cx="10874959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800" b="1" i="0">
                <a:solidFill>
                  <a:srgbClr val="F7F5F1"/>
                </a:solidFill>
                <a:latin typeface="Arial"/>
              </a:rPr>
              <a:t>An accelerometer cannot tell</a:t>
            </a:r>
          </a:p>
          <a:p>
            <a:pPr algn="l">
              <a:lnSpc>
                <a:spcPct val="118000"/>
              </a:lnSpc>
            </a:pPr>
            <a:r>
              <a:rPr sz="3800" b="1" i="0">
                <a:solidFill>
                  <a:srgbClr val="F7F5F1"/>
                </a:solidFill>
                <a:latin typeface="Arial"/>
              </a:rPr>
              <a:t>a slope from a shove.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4617720"/>
            <a:ext cx="1371600" cy="50800"/>
          </a:xfrm>
          <a:prstGeom prst="rect">
            <a:avLst/>
          </a:prstGeom>
          <a:solidFill>
            <a:srgbClr val="D98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892040"/>
            <a:ext cx="996055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0" i="0">
                <a:solidFill>
                  <a:srgbClr val="B8C0C6"/>
                </a:solidFill>
                <a:latin typeface="Arial"/>
              </a:rPr>
              <a:t>It measures everything except gravity, so gravity appears as a push from below — and so does every push. Frequency separates them only when they are far apart. Everywhere else you need a second sensor.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5  ·  MEMS accelerometers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The pattern, filled in once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Structure 1 with principle 1 — the template for the next six weeks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874519"/>
          <a:ext cx="10874958" cy="3867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4988"/>
                <a:gridCol w="7829970"/>
              </a:tblGrid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>Step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>The accelerometer's answer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1  Measurand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specific force: +1 g at rest, 0 in free fall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2  Transduction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capacitive, differential (piezoresistive for high g)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3  Structure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proof mass on a flexure:  x = a/ω₀²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4  Output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16-bit code × mg/LSB, set by the range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5  Specifications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b, s, c, n — four terms of one equation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6  Interface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CTRL1_XL: ODR, FS, LPF2 in one byte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7  Calibration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gravity, two positions per axis, on the assembly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8  Failure modes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saturation, frame, mount — rarely the silicon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585216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E7C86"/>
                </a:solidFill>
                <a:latin typeface="Arial"/>
              </a:rPr>
              <a:t>NEXT:  Lecture 6 — the gyroscope, which is blind to shoves and pays for it by drifting.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5  ·  MEMS accelerometers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Exit ticket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Two questions · ninety seconds · handed in at the door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65960"/>
            <a:ext cx="5349240" cy="621792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F7F5F1"/>
                </a:solidFill>
                <a:latin typeface="Arial"/>
              </a:rPr>
              <a:t>1  ·  YOUR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834640"/>
            <a:ext cx="50749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900" b="0" i="0">
                <a:solidFill>
                  <a:srgbClr val="1A1F24"/>
                </a:solidFill>
                <a:latin typeface="Arial"/>
              </a:rPr>
              <a:t>Choose the full-scale range</a:t>
            </a:r>
          </a:p>
          <a:p>
            <a:pPr algn="l">
              <a:lnSpc>
                <a:spcPct val="145000"/>
              </a:lnSpc>
            </a:pPr>
            <a:r>
              <a:rPr sz="1900" b="0" i="0">
                <a:solidFill>
                  <a:srgbClr val="1A1F24"/>
                </a:solidFill>
                <a:latin typeface="Arial"/>
              </a:rPr>
              <a:t>and the bandwidth for the</a:t>
            </a:r>
          </a:p>
          <a:p>
            <a:pPr algn="l">
              <a:lnSpc>
                <a:spcPct val="145000"/>
              </a:lnSpc>
            </a:pPr>
            <a:r>
              <a:rPr sz="1900" b="0" i="0">
                <a:solidFill>
                  <a:srgbClr val="1A1F24"/>
                </a:solidFill>
                <a:latin typeface="Arial"/>
              </a:rPr>
              <a:t>accelerometer in your project,</a:t>
            </a:r>
          </a:p>
          <a:p>
            <a:pPr algn="l">
              <a:lnSpc>
                <a:spcPct val="145000"/>
              </a:lnSpc>
            </a:pPr>
            <a:r>
              <a:rPr sz="1900" b="0" i="0">
                <a:solidFill>
                  <a:srgbClr val="1A1F24"/>
                </a:solidFill>
                <a:latin typeface="Arial"/>
              </a:rPr>
              <a:t>and give one reason for each.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7648" y="1965960"/>
            <a:ext cx="5349240" cy="621792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1A1F24"/>
                </a:solidFill>
                <a:latin typeface="Arial"/>
              </a:rPr>
              <a:t>2  ·  THE PHYSICS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834640"/>
            <a:ext cx="50749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900" b="0" i="0">
                <a:solidFill>
                  <a:srgbClr val="1A1F24"/>
                </a:solidFill>
                <a:latin typeface="Arial"/>
              </a:rPr>
              <a:t>Why does an accelerometer</a:t>
            </a:r>
          </a:p>
          <a:p>
            <a:pPr algn="l">
              <a:lnSpc>
                <a:spcPct val="145000"/>
              </a:lnSpc>
            </a:pPr>
            <a:r>
              <a:rPr sz="1900" b="0" i="0">
                <a:solidFill>
                  <a:srgbClr val="1A1F24"/>
                </a:solidFill>
                <a:latin typeface="Arial"/>
              </a:rPr>
              <a:t>lying still on a table read</a:t>
            </a:r>
          </a:p>
          <a:p>
            <a:pPr algn="l">
              <a:lnSpc>
                <a:spcPct val="145000"/>
              </a:lnSpc>
            </a:pPr>
            <a:r>
              <a:rPr sz="1900" b="0" i="0">
                <a:solidFill>
                  <a:srgbClr val="1A1F24"/>
                </a:solidFill>
                <a:latin typeface="Arial"/>
              </a:rPr>
              <a:t>+1 g — and what would it read</a:t>
            </a:r>
          </a:p>
          <a:p>
            <a:pPr algn="l">
              <a:lnSpc>
                <a:spcPct val="145000"/>
              </a:lnSpc>
            </a:pPr>
            <a:r>
              <a:rPr sz="1900" b="0" i="0">
                <a:solidFill>
                  <a:srgbClr val="1A1F24"/>
                </a:solidFill>
                <a:latin typeface="Arial"/>
              </a:rPr>
              <a:t>in free fall?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5212080"/>
            <a:ext cx="10874959" cy="777240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1A1F24"/>
                </a:solidFill>
                <a:latin typeface="Arial"/>
              </a:rPr>
              <a:t>Lab 3 next week: six positions, b and S for three axes, on your own assembly.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053328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6B7680"/>
                </a:solidFill>
                <a:latin typeface="Arial"/>
              </a:rPr>
              <a:t>Reading: reader chapter 5 — accelerometers. Its exercises include the clipped crusher, in full.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