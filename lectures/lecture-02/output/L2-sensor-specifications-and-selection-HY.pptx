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7609334a334a19" /><Relationship Type="http://schemas.openxmlformats.org/officeDocument/2006/relationships/extended-properties" Target="/docProps/app.xml" Id="R0588c319e430470e" /><Relationship Type="http://schemas.openxmlformats.org/officeDocument/2006/relationships/officeDocument" Target="/ppt/presentation.xml" Id="R7d3d5a0f953f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d97022bbac4dd8"/>
  </p:sldMasterIdLst>
  <p:notesMasterIdLst>
    <p:notesMasterId xmlns:r="http://schemas.openxmlformats.org/officeDocument/2006/relationships" r:id="Rcd1b4e2185e24978"/>
  </p:notesMasterIdLst>
  <p:sldIdLst>
    <p:sldId xmlns:r="http://schemas.openxmlformats.org/officeDocument/2006/relationships" id="256" r:id="R0a02d285aa2d42fe"/>
    <p:sldId xmlns:r="http://schemas.openxmlformats.org/officeDocument/2006/relationships" id="257" r:id="R39e28e8ea0514455"/>
    <p:sldId xmlns:r="http://schemas.openxmlformats.org/officeDocument/2006/relationships" id="258" r:id="R401ee80962d24dea"/>
    <p:sldId xmlns:r="http://schemas.openxmlformats.org/officeDocument/2006/relationships" id="259" r:id="Rcd30d0bc15d240f9"/>
    <p:sldId xmlns:r="http://schemas.openxmlformats.org/officeDocument/2006/relationships" id="260" r:id="R816b3717b7bf4460"/>
    <p:sldId xmlns:r="http://schemas.openxmlformats.org/officeDocument/2006/relationships" id="261" r:id="Rd821c07723f94275"/>
    <p:sldId xmlns:r="http://schemas.openxmlformats.org/officeDocument/2006/relationships" id="262" r:id="R30718a030f604430"/>
    <p:sldId xmlns:r="http://schemas.openxmlformats.org/officeDocument/2006/relationships" id="263" r:id="R952bdbd36682473e"/>
    <p:sldId xmlns:r="http://schemas.openxmlformats.org/officeDocument/2006/relationships" id="264" r:id="Rc684cbef1dd34670"/>
    <p:sldId xmlns:r="http://schemas.openxmlformats.org/officeDocument/2006/relationships" id="265" r:id="R16a39d834cdb406d"/>
    <p:sldId xmlns:r="http://schemas.openxmlformats.org/officeDocument/2006/relationships" id="266" r:id="R44e3ae4a11b245ae"/>
    <p:sldId xmlns:r="http://schemas.openxmlformats.org/officeDocument/2006/relationships" id="267" r:id="R141443d8fbc7427b"/>
    <p:sldId xmlns:r="http://schemas.openxmlformats.org/officeDocument/2006/relationships" id="268" r:id="R5a6310d2dc25432b"/>
    <p:sldId xmlns:r="http://schemas.openxmlformats.org/officeDocument/2006/relationships" id="269" r:id="R12a3d4102b594283"/>
    <p:sldId xmlns:r="http://schemas.openxmlformats.org/officeDocument/2006/relationships" id="270" r:id="R0ed31917ad5e4264"/>
    <p:sldId xmlns:r="http://schemas.openxmlformats.org/officeDocument/2006/relationships" id="271" r:id="Rbf0d9c8c4b11412c"/>
    <p:sldId xmlns:r="http://schemas.openxmlformats.org/officeDocument/2006/relationships" id="272" r:id="R35bb55fc37ae4386"/>
    <p:sldId xmlns:r="http://schemas.openxmlformats.org/officeDocument/2006/relationships" id="273" r:id="Rdb14a415d9ae4290"/>
    <p:sldId xmlns:r="http://schemas.openxmlformats.org/officeDocument/2006/relationships" id="274" r:id="R1c1fc286353a4c56"/>
    <p:sldId xmlns:r="http://schemas.openxmlformats.org/officeDocument/2006/relationships" id="275" r:id="Rc87378b10177480b"/>
    <p:sldId xmlns:r="http://schemas.openxmlformats.org/officeDocument/2006/relationships" id="276" r:id="R3bb23e9a75564528"/>
    <p:sldId xmlns:r="http://schemas.openxmlformats.org/officeDocument/2006/relationships" id="277" r:id="Re768974f7625440b"/>
    <p:sldId xmlns:r="http://schemas.openxmlformats.org/officeDocument/2006/relationships" id="278" r:id="R9fc1950fa0484200"/>
    <p:sldId xmlns:r="http://schemas.openxmlformats.org/officeDocument/2006/relationships" id="279" r:id="R2a3cacdfa74c4a2a"/>
    <p:sldId xmlns:r="http://schemas.openxmlformats.org/officeDocument/2006/relationships" id="280" r:id="R47e89c5f9e14448e"/>
    <p:sldId xmlns:r="http://schemas.openxmlformats.org/officeDocument/2006/relationships" id="281" r:id="R9067642ebf1e4771"/>
    <p:sldId xmlns:r="http://schemas.openxmlformats.org/officeDocument/2006/relationships" id="282" r:id="R7e59b3c2b63b4de6"/>
    <p:sldId xmlns:r="http://schemas.openxmlformats.org/officeDocument/2006/relationships" id="283" r:id="Rd9da50fdb04d401e"/>
    <p:sldId xmlns:r="http://schemas.openxmlformats.org/officeDocument/2006/relationships" id="284" r:id="Reb3934c0c14241c4"/>
    <p:sldId xmlns:r="http://schemas.openxmlformats.org/officeDocument/2006/relationships" id="285" r:id="Rb389392b95364fa7"/>
    <p:sldId xmlns:r="http://schemas.openxmlformats.org/officeDocument/2006/relationships" id="286" r:id="R1f8cc9b0c03749b2"/>
    <p:sldId xmlns:r="http://schemas.openxmlformats.org/officeDocument/2006/relationships" id="287" r:id="R19a21d1c669245ba"/>
    <p:sldId xmlns:r="http://schemas.openxmlformats.org/officeDocument/2006/relationships" id="288" r:id="R0d8a949329294ead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e5d23475a454b" /><Relationship Type="http://schemas.openxmlformats.org/officeDocument/2006/relationships/slideMaster" Target="/ppt/slideMasters/slideMaster1.xml" Id="Rd0d97022bbac4dd8" /><Relationship Type="http://schemas.openxmlformats.org/officeDocument/2006/relationships/notesMaster" Target="/ppt/notesMasters/notesMaster1.xml" Id="Rcd1b4e2185e24978" /><Relationship Type="http://schemas.openxmlformats.org/officeDocument/2006/relationships/presProps" Target="/ppt/presProps.xml" Id="R625dedfae9424fd6" /><Relationship Type="http://schemas.openxmlformats.org/officeDocument/2006/relationships/viewProps" Target="/ppt/viewProps.xml" Id="R0b20de8ce0c941c1" /><Relationship Type="http://schemas.openxmlformats.org/officeDocument/2006/relationships/tableStyles" Target="/ppt/tableStyles.xml" Id="R7879dbd1c6f744d5" /><Relationship Type="http://schemas.openxmlformats.org/officeDocument/2006/relationships/slide" Target="/ppt/slides/slide1.xml" Id="R0a02d285aa2d42fe" /><Relationship Type="http://schemas.openxmlformats.org/officeDocument/2006/relationships/slide" Target="/ppt/slides/slide2.xml" Id="R39e28e8ea0514455" /><Relationship Type="http://schemas.openxmlformats.org/officeDocument/2006/relationships/slide" Target="/ppt/slides/slide3.xml" Id="R401ee80962d24dea" /><Relationship Type="http://schemas.openxmlformats.org/officeDocument/2006/relationships/slide" Target="/ppt/slides/slide4.xml" Id="Rcd30d0bc15d240f9" /><Relationship Type="http://schemas.openxmlformats.org/officeDocument/2006/relationships/slide" Target="/ppt/slides/slide5.xml" Id="R816b3717b7bf4460" /><Relationship Type="http://schemas.openxmlformats.org/officeDocument/2006/relationships/slide" Target="/ppt/slides/slide6.xml" Id="Rd821c07723f94275" /><Relationship Type="http://schemas.openxmlformats.org/officeDocument/2006/relationships/slide" Target="/ppt/slides/slide7.xml" Id="R30718a030f604430" /><Relationship Type="http://schemas.openxmlformats.org/officeDocument/2006/relationships/slide" Target="/ppt/slides/slide8.xml" Id="R952bdbd36682473e" /><Relationship Type="http://schemas.openxmlformats.org/officeDocument/2006/relationships/slide" Target="/ppt/slides/slide9.xml" Id="Rc684cbef1dd34670" /><Relationship Type="http://schemas.openxmlformats.org/officeDocument/2006/relationships/slide" Target="/ppt/slides/slide10.xml" Id="R16a39d834cdb406d" /><Relationship Type="http://schemas.openxmlformats.org/officeDocument/2006/relationships/slide" Target="/ppt/slides/slide11.xml" Id="R44e3ae4a11b245ae" /><Relationship Type="http://schemas.openxmlformats.org/officeDocument/2006/relationships/slide" Target="/ppt/slides/slide12.xml" Id="R141443d8fbc7427b" /><Relationship Type="http://schemas.openxmlformats.org/officeDocument/2006/relationships/slide" Target="/ppt/slides/slide13.xml" Id="R5a6310d2dc25432b" /><Relationship Type="http://schemas.openxmlformats.org/officeDocument/2006/relationships/slide" Target="/ppt/slides/slide14.xml" Id="R12a3d4102b594283" /><Relationship Type="http://schemas.openxmlformats.org/officeDocument/2006/relationships/slide" Target="/ppt/slides/slide15.xml" Id="R0ed31917ad5e4264" /><Relationship Type="http://schemas.openxmlformats.org/officeDocument/2006/relationships/slide" Target="/ppt/slides/slide16.xml" Id="Rbf0d9c8c4b11412c" /><Relationship Type="http://schemas.openxmlformats.org/officeDocument/2006/relationships/slide" Target="/ppt/slides/slide17.xml" Id="R35bb55fc37ae4386" /><Relationship Type="http://schemas.openxmlformats.org/officeDocument/2006/relationships/slide" Target="/ppt/slides/slide18.xml" Id="Rdb14a415d9ae4290" /><Relationship Type="http://schemas.openxmlformats.org/officeDocument/2006/relationships/slide" Target="/ppt/slides/slide19.xml" Id="R1c1fc286353a4c56" /><Relationship Type="http://schemas.openxmlformats.org/officeDocument/2006/relationships/slide" Target="/ppt/slides/slide20.xml" Id="Rc87378b10177480b" /><Relationship Type="http://schemas.openxmlformats.org/officeDocument/2006/relationships/slide" Target="/ppt/slides/slide21.xml" Id="R3bb23e9a75564528" /><Relationship Type="http://schemas.openxmlformats.org/officeDocument/2006/relationships/slide" Target="/ppt/slides/slide22.xml" Id="Re768974f7625440b" /><Relationship Type="http://schemas.openxmlformats.org/officeDocument/2006/relationships/slide" Target="/ppt/slides/slide23.xml" Id="R9fc1950fa0484200" /><Relationship Type="http://schemas.openxmlformats.org/officeDocument/2006/relationships/slide" Target="/ppt/slides/slide24.xml" Id="R2a3cacdfa74c4a2a" /><Relationship Type="http://schemas.openxmlformats.org/officeDocument/2006/relationships/slide" Target="/ppt/slides/slide25.xml" Id="R47e89c5f9e14448e" /><Relationship Type="http://schemas.openxmlformats.org/officeDocument/2006/relationships/slide" Target="/ppt/slides/slide26.xml" Id="R9067642ebf1e4771" /><Relationship Type="http://schemas.openxmlformats.org/officeDocument/2006/relationships/slide" Target="/ppt/slides/slide27.xml" Id="R7e59b3c2b63b4de6" /><Relationship Type="http://schemas.openxmlformats.org/officeDocument/2006/relationships/slide" Target="/ppt/slides/slide28.xml" Id="Rd9da50fdb04d401e" /><Relationship Type="http://schemas.openxmlformats.org/officeDocument/2006/relationships/slide" Target="/ppt/slides/slide29.xml" Id="Reb3934c0c14241c4" /><Relationship Type="http://schemas.openxmlformats.org/officeDocument/2006/relationships/slide" Target="/ppt/slides/slide30.xml" Id="Rb389392b95364fa7" /><Relationship Type="http://schemas.openxmlformats.org/officeDocument/2006/relationships/slide" Target="/ppt/slides/slide31.xml" Id="R1f8cc9b0c03749b2" /><Relationship Type="http://schemas.openxmlformats.org/officeDocument/2006/relationships/slide" Target="/ppt/slides/slide32.xml" Id="R19a21d1c669245ba" /><Relationship Type="http://schemas.openxmlformats.org/officeDocument/2006/relationships/slide" Target="/ppt/slides/slide33.xml" Id="R0d8a94932929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ab815ebeb14d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4f801b12c9429b" /><Relationship Type="http://schemas.openxmlformats.org/officeDocument/2006/relationships/notesMaster" Target="/ppt/notesMasters/notesMaster1.xml" Id="R48754ea279e041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e9c803f0b54be1" /><Relationship Type="http://schemas.openxmlformats.org/officeDocument/2006/relationships/notesMaster" Target="/ppt/notesMasters/notesMaster1.xml" Id="R85a81dfd7ea448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89f63ab0b7462a" /><Relationship Type="http://schemas.openxmlformats.org/officeDocument/2006/relationships/notesMaster" Target="/ppt/notesMasters/notesMaster1.xml" Id="R23088e0cd9b7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becc078b934da0" /><Relationship Type="http://schemas.openxmlformats.org/officeDocument/2006/relationships/notesMaster" Target="/ppt/notesMasters/notesMaster1.xml" Id="R327a13e07f3a44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efa35d461e4070" /><Relationship Type="http://schemas.openxmlformats.org/officeDocument/2006/relationships/notesMaster" Target="/ppt/notesMasters/notesMaster1.xml" Id="Re80a0687f00d4d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20aaee151349cf" /><Relationship Type="http://schemas.openxmlformats.org/officeDocument/2006/relationships/notesMaster" Target="/ppt/notesMasters/notesMaster1.xml" Id="Rddcb4ffc080b48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2dfadcd0274ad9" /><Relationship Type="http://schemas.openxmlformats.org/officeDocument/2006/relationships/notesMaster" Target="/ppt/notesMasters/notesMaster1.xml" Id="R9bb3a076a80847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ad026892644870" /><Relationship Type="http://schemas.openxmlformats.org/officeDocument/2006/relationships/notesMaster" Target="/ppt/notesMasters/notesMaster1.xml" Id="R5198b3b0ccf549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3622f582004882" /><Relationship Type="http://schemas.openxmlformats.org/officeDocument/2006/relationships/notesMaster" Target="/ppt/notesMasters/notesMaster1.xml" Id="R9d228134da144e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2e6a43e0d34dca" /><Relationship Type="http://schemas.openxmlformats.org/officeDocument/2006/relationships/notesMaster" Target="/ppt/notesMasters/notesMaster1.xml" Id="R6e344dca58454e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dd5f96bfdd4ac7" /><Relationship Type="http://schemas.openxmlformats.org/officeDocument/2006/relationships/notesMaster" Target="/ppt/notesMasters/notesMaster1.xml" Id="R07dca81d51d541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8012419d0448e9" /><Relationship Type="http://schemas.openxmlformats.org/officeDocument/2006/relationships/notesMaster" Target="/ppt/notesMasters/notesMaster1.xml" Id="Rbcd0f983ad5247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2848913fa547f6" /><Relationship Type="http://schemas.openxmlformats.org/officeDocument/2006/relationships/notesMaster" Target="/ppt/notesMasters/notesMaster1.xml" Id="Rab24caff7e8e4b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c8217370d047b2" /><Relationship Type="http://schemas.openxmlformats.org/officeDocument/2006/relationships/notesMaster" Target="/ppt/notesMasters/notesMaster1.xml" Id="R56f09b1377b74b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4b98f90e1847db" /><Relationship Type="http://schemas.openxmlformats.org/officeDocument/2006/relationships/notesMaster" Target="/ppt/notesMasters/notesMaster1.xml" Id="Rb2faf3c8a27f42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2b907435f9a410a" /><Relationship Type="http://schemas.openxmlformats.org/officeDocument/2006/relationships/notesMaster" Target="/ppt/notesMasters/notesMaster1.xml" Id="R39d4dac5521646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64883bdbac4256" /><Relationship Type="http://schemas.openxmlformats.org/officeDocument/2006/relationships/notesMaster" Target="/ppt/notesMasters/notesMaster1.xml" Id="R32f454f5ec7e40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b01e38ecad542ef" /><Relationship Type="http://schemas.openxmlformats.org/officeDocument/2006/relationships/notesMaster" Target="/ppt/notesMasters/notesMaster1.xml" Id="R681858b684344d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1206960a694165" /><Relationship Type="http://schemas.openxmlformats.org/officeDocument/2006/relationships/notesMaster" Target="/ppt/notesMasters/notesMaster1.xml" Id="R0e20a400797045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29ad0c30c94b14" /><Relationship Type="http://schemas.openxmlformats.org/officeDocument/2006/relationships/notesMaster" Target="/ppt/notesMasters/notesMaster1.xml" Id="R69ec9be39b2241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7915dfd53314f99" /><Relationship Type="http://schemas.openxmlformats.org/officeDocument/2006/relationships/notesMaster" Target="/ppt/notesMasters/notesMaster1.xml" Id="R2c9644f08002415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00f2fe154d34d57" /><Relationship Type="http://schemas.openxmlformats.org/officeDocument/2006/relationships/notesMaster" Target="/ppt/notesMasters/notesMaster1.xml" Id="Rf0494425ff1e48b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f3171d9d3b4f21" /><Relationship Type="http://schemas.openxmlformats.org/officeDocument/2006/relationships/notesMaster" Target="/ppt/notesMasters/notesMaster1.xml" Id="R9b8bee6ff8a14a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8887631534492c" /><Relationship Type="http://schemas.openxmlformats.org/officeDocument/2006/relationships/notesMaster" Target="/ppt/notesMasters/notesMaster1.xml" Id="R837fe7b0be704b2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173bf9feb44a81" /><Relationship Type="http://schemas.openxmlformats.org/officeDocument/2006/relationships/notesMaster" Target="/ppt/notesMasters/notesMaster1.xml" Id="R9f3f771b083c4a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986c22d9c2f4ad1" /><Relationship Type="http://schemas.openxmlformats.org/officeDocument/2006/relationships/notesMaster" Target="/ppt/notesMasters/notesMaster1.xml" Id="Rac97777f53344d0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f1e217c2a949f7" /><Relationship Type="http://schemas.openxmlformats.org/officeDocument/2006/relationships/notesMaster" Target="/ppt/notesMasters/notesMaster1.xml" Id="Rbb8bcbffe4ad4a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080850c13c491d" /><Relationship Type="http://schemas.openxmlformats.org/officeDocument/2006/relationships/notesMaster" Target="/ppt/notesMasters/notesMaster1.xml" Id="R6e1a74e915bc46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64ef78938274ff7" /><Relationship Type="http://schemas.openxmlformats.org/officeDocument/2006/relationships/notesMaster" Target="/ppt/notesMasters/notesMaster1.xml" Id="R79379d9866c54f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65bdf913e7441eb" /><Relationship Type="http://schemas.openxmlformats.org/officeDocument/2006/relationships/notesMaster" Target="/ppt/notesMasters/notesMaster1.xml" Id="Raac6f5da188c44e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81ab9cdd3d44a86" /><Relationship Type="http://schemas.openxmlformats.org/officeDocument/2006/relationships/notesMaster" Target="/ppt/notesMasters/notesMaster1.xml" Id="R922eea090614439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e4eeb8b3a9744f6" /><Relationship Type="http://schemas.openxmlformats.org/officeDocument/2006/relationships/notesMaster" Target="/ppt/notesMasters/notesMaster1.xml" Id="Rec30ac31bd2c437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36a1cfb2a0e4f15" /><Relationship Type="http://schemas.openxmlformats.org/officeDocument/2006/relationships/notesMaster" Target="/ppt/notesMasters/notesMaster1.xml" Id="R4efe77fa2066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THE BELL: have the muddiest-point list from Lecture 1 in front of you, and</a:t>
            </a:r>
          </a:p>
          <a:p xmlns:a="http://schemas.openxmlformats.org/drawingml/2006/main">
            <a:r>
              <a:t>have two real datasheets ready — printed, or on the students' laptops.</a:t>
            </a:r>
          </a:p>
          <a:p xmlns:a="http://schemas.openxmlformats.org/drawingml/2006/main"/>
          <a:p xmlns:a="http://schemas.openxmlformats.org/drawingml/2006/main">
            <a:r>
              <a:t>Open with the muddiest points (next slide). Do not skip it: answering last week's</a:t>
            </a:r>
          </a:p>
          <a:p xmlns:a="http://schemas.openxmlformats.org/drawingml/2006/main">
            <a:r>
              <a:t>confusions in the first two minutes is the single highest-return habit available</a:t>
            </a:r>
          </a:p>
          <a:p xmlns:a="http://schemas.openxmlformats.org/drawingml/2006/main">
            <a:r>
              <a:t>to you, and in a first offering it is also how you find out what is not landing.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0:00–0:02. TEMPLATE SLIDE — you must fill it in before class.</a:t>
            </a:r>
          </a:p>
          <a:p xmlns:a="http://schemas.openxmlformats.org/drawingml/2006/main"/>
          <a:p xmlns:a="http://schemas.openxmlformats.org/drawingml/2006/main">
            <a:r>
              <a:t>Transcribe the three most frequent muddiest points from Lecture 1's exit tickets</a:t>
            </a:r>
          </a:p>
          <a:p xmlns:a="http://schemas.openxmlformats.org/drawingml/2006/main">
            <a:r>
              <a:t>and answer each in about 25 seconds. Name the concept, never the student.</a:t>
            </a:r>
          </a:p>
          <a:p xmlns:a="http://schemas.openxmlformats.org/drawingml/2006/main"/>
          <a:p xmlns:a="http://schemas.openxmlformats.org/drawingml/2006/main">
            <a:r>
              <a:t>If the tickets show that scaling (Poll 3) is still unresolved for a large part of</a:t>
            </a:r>
          </a:p>
          <a:p xmlns:a="http://schemas.openxmlformats.org/drawingml/2006/main">
            <a:r>
              <a:t>the room, put k ∝ L and m ∝ L³ back on the board now and leave them there — you</a:t>
            </a:r>
          </a:p>
          <a:p xmlns:a="http://schemas.openxmlformats.org/drawingml/2006/main">
            <a:r>
              <a:t>will want them again when noise density comes up at minute 50.</a:t>
            </a:r>
          </a:p>
          <a:p xmlns:a="http://schemas.openxmlformats.org/drawingml/2006/main"/>
          <a:p xmlns:a="http://schemas.openxmlformats.org/drawingml/2006/main">
            <a:r>
              <a:t>If you genuinely received no useful tickets, delete this slide rather than</a:t>
            </a:r>
          </a:p>
          <a:p xmlns:a="http://schemas.openxmlformats.org/drawingml/2006/main">
            <a:r>
              <a:t>improvising; a hollow version of this ritual is worse than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0:02–0:05. RETRIEVAL PRACTICE, not review. Ask before you show:</a:t>
            </a:r>
          </a:p>
          <a:p xmlns:a="http://schemas.openxmlformats.org/drawingml/2006/main"/>
          <a:p xmlns:a="http://schemas.openxmlformats.org/drawingml/2006/main">
            <a:r>
              <a:t>"Without looking at your sheet — name the seven stages." Take them from the room,</a:t>
            </a:r>
          </a:p>
          <a:p xmlns:a="http://schemas.openxmlformats.org/drawingml/2006/main">
            <a:r>
              <a:t>in order, one student per stage. It costs 90 seconds and it is worth more than</a:t>
            </a:r>
          </a:p>
          <a:p xmlns:a="http://schemas.openxmlformats.org/drawingml/2006/main">
            <a:r>
              <a:t>re-explaining the diagram.</a:t>
            </a:r>
          </a:p>
          <a:p xmlns:a="http://schemas.openxmlformats.org/drawingml/2006/main"/>
          <a:p xmlns:a="http://schemas.openxmlformats.org/drawingml/2006/main">
            <a:r>
              <a:t>Then: "Today is stage 3 — the device itself. But notice: we are choosing it</a:t>
            </a:r>
          </a:p>
          <a:p xmlns:a="http://schemas.openxmlformats.org/drawingml/2006/main">
            <a:r>
              <a:t>before we have it. The only tools available are a document and arithmetic."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0:05–0:07. Show ONLY these two cards. Resist adding anything.</a:t>
            </a:r>
          </a:p>
          <a:p xmlns:a="http://schemas.openxmlformats.org/drawingml/2006/main"/>
          <a:p xmlns:a="http://schemas.openxmlformats.org/drawingml/2006/main">
            <a:r>
              <a:t>Read the two cards aloud, deadpan. Part A: eight times finer resolution, lower</a:t>
            </a:r>
          </a:p>
          <a:p xmlns:a="http://schemas.openxmlformats.org/drawingml/2006/main">
            <a:r>
              <a:t>price, and a marketing line. Part B: coarser, more expensive, nothing to say for</a:t>
            </a:r>
          </a:p>
          <a:p xmlns:a="http://schemas.openxmlformats.org/drawingml/2006/main">
            <a:r>
              <a:t>itself.</a:t>
            </a:r>
          </a:p>
          <a:p xmlns:a="http://schemas.openxmlformats.org/drawingml/2006/main"/>
          <a:p xmlns:a="http://schemas.openxmlformats.org/drawingml/2006/main">
            <a:r>
              <a:t>Then the job, and then the poll — immediately, before anyone can think too hard.</a:t>
            </a:r>
          </a:p>
          <a:p xmlns:a="http://schemas.openxmlformats.org/drawingml/2006/main"/>
          <a:p xmlns:a="http://schemas.openxmlformats.org/drawingml/2006/main">
            <a:r>
              <a:t>NOTE: these are representative commercial figures, not a named product, chosen so</a:t>
            </a:r>
          </a:p>
          <a:p xmlns:a="http://schemas.openxmlformats.org/drawingml/2006/main">
            <a:r>
              <a:t>the arithmetic is exact. Say so if a student asks — and praise the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0:07–0:10. Baseline. Expect a clear majority for A (misconceptions M1</a:t>
            </a:r>
          </a:p>
          <a:p xmlns:a="http://schemas.openxmlformats.org/drawingml/2006/main">
            <a:r>
              <a:t>and M5 — resolution read as accuracy, headline read as truth).</a:t>
            </a:r>
          </a:p>
          <a:p xmlns:a="http://schemas.openxmlformats.org/drawingml/2006/main"/>
          <a:p xmlns:a="http://schemas.openxmlformats.org/drawingml/2006/main">
            <a:r>
              <a:t>Do NOT reveal. Record the distribution; you re-show it at minute 70.</a:t>
            </a:r>
          </a:p>
          <a:p xmlns:a="http://schemas.openxmlformats.org/drawingml/2006/main"/>
          <a:p xmlns:a="http://schemas.openxmlformats.org/drawingml/2006/main">
            <a:r>
              <a:t>If a sizeable group picks C, that is excellent — say "some of you are already</a:t>
            </a:r>
          </a:p>
          <a:p xmlns:a="http://schemas.openxmlformats.org/drawingml/2006/main">
            <a:r>
              <a:t>being careful, and you are right, but hold on to why."</a:t>
            </a:r>
          </a:p>
          <a:p xmlns:a="http://schemas.openxmlformats.org/drawingml/2006/main"/>
          <a:p xmlns:a="http://schemas.openxmlformats.org/drawingml/2006/main">
            <a:r>
              <a:t>Then set the agenda: "By minute fifty you will have computed the answer</a:t>
            </a:r>
          </a:p>
          <a:p xmlns:a="http://schemas.openxmlformats.org/drawingml/2006/main">
            <a:r>
              <a:t>yourselves. Everything between here and there is the equipment you need."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0:10–0:13. WRITE 8.73 mg ON THE PHYSICAL BOARD AND DO NOT ERASE IT.</a:t>
            </a:r>
          </a:p>
          <a:p xmlns:a="http://schemas.openxmlformats.org/drawingml/2006/main">
            <a:r>
              <a:t>You will point at it at least six times in the next hour.</a:t>
            </a:r>
          </a:p>
          <a:p xmlns:a="http://schemas.openxmlformats.org/drawingml/2006/main"/>
          <a:p xmlns:a="http://schemas.openxmlformats.org/drawingml/2006/main">
            <a:r>
              <a:t>Derive it live — it takes fifteen seconds and it models the habit: "a tilted</a:t>
            </a:r>
          </a:p>
          <a:p xmlns:a="http://schemas.openxmlformats.org/drawingml/2006/main">
            <a:r>
              <a:t>accelerometer sees a component of gravity, so half a degree is sin(0.5°) of one</a:t>
            </a:r>
          </a:p>
          <a:p xmlns:a="http://schemas.openxmlformats.org/drawingml/2006/main">
            <a:r>
              <a:t>g. Eight and three-quarter milli-g. That is the whole signal."</a:t>
            </a:r>
          </a:p>
          <a:p xmlns:a="http://schemas.openxmlformats.org/drawingml/2006/main"/>
          <a:p xmlns:a="http://schemas.openxmlformats.org/drawingml/2006/main">
            <a:r>
              <a:t>Then the sentence that makes the rest of the lecture make sense: "This single</a:t>
            </a:r>
          </a:p>
          <a:p xmlns:a="http://schemas.openxmlformats.org/drawingml/2006/main">
            <a:r>
              <a:t>number converts 'which is better?' — which is an opinion — into arithmetic."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0:13. Section marker, 15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0:13–0:18.</a:t>
            </a:r>
          </a:p>
          <a:p xmlns:a="http://schemas.openxmlformats.org/drawingml/2006/main"/>
          <a:p xmlns:a="http://schemas.openxmlformats.org/drawingml/2006/main">
            <a:r>
              <a:t>Work left to right, but spend your time on the SECOND target — precise but</a:t>
            </a:r>
          </a:p>
          <a:p xmlns:a="http://schemas.openxmlformats.org/drawingml/2006/main">
            <a:r>
              <a:t>inaccurate. "This is the dangerous instrument. It looks superb. Every reading</a:t>
            </a:r>
          </a:p>
          <a:p xmlns:a="http://schemas.openxmlformats.org/drawingml/2006/main">
            <a:r>
              <a:t>agrees with every other reading. And they are all wrong by the same amount."</a:t>
            </a:r>
          </a:p>
          <a:p xmlns:a="http://schemas.openxmlformats.org/drawingml/2006/main"/>
          <a:p xmlns:a="http://schemas.openxmlformats.org/drawingml/2006/main">
            <a:r>
              <a:t>Then the question that carries the rest of the lecture — ask it, take answers:</a:t>
            </a:r>
          </a:p>
          <a:p xmlns:a="http://schemas.openxmlformats.org/drawingml/2006/main">
            <a:r>
              <a:t>"Which of these four can I fix with a calibration?"</a:t>
            </a:r>
          </a:p>
          <a:p xmlns:a="http://schemas.openxmlformats.org/drawingml/2006/main"/>
          <a:p xmlns:a="http://schemas.openxmlformats.org/drawingml/2006/main">
            <a:r>
              <a:t>Answer: target 2, completely (measure the offset once, subtract it). Target 3,</a:t>
            </a:r>
          </a:p>
          <a:p xmlns:a="http://schemas.openxmlformats.org/drawingml/2006/main">
            <a:r>
              <a:t>not at all by calibration — only by averaging, and averaging costs bandwidth.</a:t>
            </a:r>
          </a:p>
          <a:p xmlns:a="http://schemas.openxmlformats.org/drawingml/2006/main"/>
          <a:p xmlns:a="http://schemas.openxmlformats.org/drawingml/2006/main">
            <a:r>
              <a:t>Add resolution verbally: "Resolution is not on this picture at all. Resolution</a:t>
            </a:r>
          </a:p>
          <a:p xmlns:a="http://schemas.openxmlformats.org/drawingml/2006/main">
            <a:r>
              <a:t>is how finely I can report where the shot landed. I can report a wrong position</a:t>
            </a:r>
          </a:p>
          <a:p xmlns:a="http://schemas.openxmlformats.org/drawingml/2006/main">
            <a:r>
              <a:t>to six decimal places." (Misconception M1.)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0:18–0:22. TARGET 45–65 % first vote.</a:t>
            </a:r>
          </a:p>
          <a:p xmlns:a="http://schemas.openxmlformats.org/drawingml/2006/main"/>
          <a:p xmlns:a="http://schemas.openxmlformats.org/drawingml/2006/main">
            <a:r>
              <a:t>Full peer instruction: silent vote (45 s) → find a disagreeing partner (90 s) →</a:t>
            </a:r>
          </a:p>
          <a:p xmlns:a="http://schemas.openxmlformats.org/drawingml/2006/main">
            <a:r>
              <a:t>re-vote. Announce both percentages.</a:t>
            </a:r>
          </a:p>
          <a:p xmlns:a="http://schemas.openxmlformats.org/drawingml/2006/main"/>
          <a:p xmlns:a="http://schemas.openxmlformats.org/drawingml/2006/main">
            <a:r>
              <a:t>C is the target distractor: a 0.2 hPa spread LOOKS like quality. It is quality —</a:t>
            </a:r>
          </a:p>
          <a:p xmlns:a="http://schemas.openxmlformats.org/drawingml/2006/main">
            <a:r>
              <a:t>of the wrong kind. The device is 12.4 hPa wrong and beautifully consistent</a:t>
            </a:r>
          </a:p>
          <a:p xmlns:a="http://schemas.openxmlformats.org/drawingml/2006/main">
            <a:r>
              <a:t>about it.</a:t>
            </a:r>
          </a:p>
          <a:p xmlns:a="http://schemas.openxmlformats.org/drawingml/2006/main"/>
          <a:p xmlns:a="http://schemas.openxmlformats.org/drawingml/2006/main">
            <a:r>
              <a:t>RECORD BOTH NUMBERS.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Reveal, then IMMEDIATELY ask the follow-up (show of hands, no device):</a:t>
            </a:r>
          </a:p>
          <a:p xmlns:a="http://schemas.openxmlformats.org/drawingml/2006/main"/>
          <a:p xmlns:a="http://schemas.openxmlformats.org/drawingml/2006/main">
            <a:r>
              <a:t>  "Which of these two problems can I fix with a calibration?"</a:t>
            </a:r>
          </a:p>
          <a:p xmlns:a="http://schemas.openxmlformats.org/drawingml/2006/main"/>
          <a:p xmlns:a="http://schemas.openxmlformats.org/drawingml/2006/main">
            <a:r>
              <a:t>The 12.4 hPa offset — YES, single-point calibration against a reference.</a:t>
            </a:r>
          </a:p>
          <a:p xmlns:a="http://schemas.openxmlformats.org/drawingml/2006/main">
            <a:r>
              <a:t>The 0.2 hPa scatter — NO. Not removable, only reducible by averaging, and</a:t>
            </a:r>
          </a:p>
          <a:p xmlns:a="http://schemas.openxmlformats.org/drawingml/2006/main">
            <a:r>
              <a:t>averaging costs you bandwidth.</a:t>
            </a:r>
          </a:p>
          <a:p xmlns:a="http://schemas.openxmlformats.org/drawingml/2006/main"/>
          <a:p xmlns:a="http://schemas.openxmlformats.org/drawingml/2006/main">
            <a:r>
              <a:t>Then the rule on the next slide. This is the most portable thing in the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0:22–0:25. Read the three headlines. Then the third line again, slowly.</a:t>
            </a:r>
          </a:p>
          <a:p xmlns:a="http://schemas.openxmlformats.org/drawingml/2006/main"/>
          <a:p xmlns:a="http://schemas.openxmlformats.org/drawingml/2006/main">
            <a:r>
              <a:t>"Drift is the one that ruins careers, because it passes every test you run on</a:t>
            </a:r>
          </a:p>
          <a:p xmlns:a="http://schemas.openxmlformats.org/drawingml/2006/main">
            <a:r>
              <a:t>the bench at 22 degrees and fails in the field in February."</a:t>
            </a:r>
          </a:p>
          <a:p xmlns:a="http://schemas.openxmlformats.org/drawingml/2006/main"/>
          <a:p xmlns:a="http://schemas.openxmlformats.org/drawingml/2006/main">
            <a:r>
              <a:t>That sentence is the bridge to the reveal at minute 70. Plant it deliberately.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0:25–0:28. DO NOT READ THIS SLIDE OUT. It is a reference page; say so.</a:t>
            </a:r>
          </a:p>
          <a:p xmlns:a="http://schemas.openxmlformats.org/drawingml/2006/main"/>
          <a:p xmlns:a="http://schemas.openxmlformats.org/drawingml/2006/main">
            <a:r>
              <a:t>Point at exactly two entries:</a:t>
            </a:r>
          </a:p>
          <a:p xmlns:a="http://schemas.openxmlformats.org/drawingml/2006/main"/>
          <a:p xmlns:a="http://schemas.openxmlformats.org/drawingml/2006/main">
            <a:r>
              <a:t>ODR is not bandwidth. "A sensor can hand you 200 numbers a second while telling</a:t>
            </a:r>
          </a:p>
          <a:p xmlns:a="http://schemas.openxmlformats.org/drawingml/2006/main">
            <a:r>
              <a:t>you nothing above 50 Hz. Students lose a whole afternoon to this every year, and</a:t>
            </a:r>
          </a:p>
          <a:p xmlns:a="http://schemas.openxmlformats.org/drawingml/2006/main">
            <a:r>
              <a:t>in Poll 3 I am going to catch some of you with it."</a:t>
            </a:r>
          </a:p>
          <a:p xmlns:a="http://schemas.openxmlformats.org/drawingml/2006/main"/>
          <a:p xmlns:a="http://schemas.openxmlformats.org/drawingml/2006/main">
            <a:r>
              <a:t>Cross-sensitivity: "an accelerometer that reports Z when you shake it in X. Every</a:t>
            </a:r>
          </a:p>
          <a:p xmlns:a="http://schemas.openxmlformats.org/drawingml/2006/main">
            <a:r>
              <a:t>real device does this. We come back to it in ten minutes with a question your</a:t>
            </a:r>
          </a:p>
          <a:p xmlns:a="http://schemas.openxmlformats.org/drawingml/2006/main">
            <a:r>
              <a:t>datasheet cannot answer."</a:t>
            </a:r>
          </a:p>
          <a:p xmlns:a="http://schemas.openxmlformats.org/drawingml/2006/main"/>
          <a:p xmlns:a="http://schemas.openxmlformats.org/drawingml/2006/main">
            <a:r>
              <a:t>Tell them this slide is in the handout so nobody transcribes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0:28. Section marker.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0:28–0:33. This is a REPRESENTATIVE extract, built to look exactly like</a:t>
            </a:r>
          </a:p>
          <a:p xmlns:a="http://schemas.openxmlformats.org/drawingml/2006/main">
            <a:r>
              <a:t>the ones they are about to open. Say that.</a:t>
            </a:r>
          </a:p>
          <a:p xmlns:a="http://schemas.openxmlformats.org/drawingml/2006/main"/>
          <a:p xmlns:a="http://schemas.openxmlformats.org/drawingml/2006/main">
            <a:r>
              <a:t>Teach the reading order explicitly, right to left: "Column six. Then column one.</a:t>
            </a:r>
          </a:p>
          <a:p xmlns:a="http://schemas.openxmlformats.org/drawingml/2006/main">
            <a:r>
              <a:t>Then, last, the number. Most people read it in exactly the opposite order and</a:t>
            </a:r>
          </a:p>
          <a:p xmlns:a="http://schemas.openxmlformats.org/drawingml/2006/main">
            <a:r>
              <a:t>that is how they get surprised in February."</a:t>
            </a:r>
          </a:p>
          <a:p xmlns:a="http://schemas.openxmlformats.org/drawingml/2006/main"/>
          <a:p xmlns:a="http://schemas.openxmlformats.org/drawingml/2006/main">
            <a:r>
              <a:t>The two red points are the lesson. On "typ": "typ means half the parts are worse.</a:t>
            </a:r>
          </a:p>
          <a:p xmlns:a="http://schemas.openxmlformats.org/drawingml/2006/main">
            <a:r>
              <a:t>If your design only works with a typ part, half your production does not work."</a:t>
            </a:r>
          </a:p>
          <a:p xmlns:a="http://schemas.openxmlformats.org/drawingml/2006/main"/>
          <a:p xmlns:a="http://schemas.openxmlformats.org/drawingml/2006/main">
            <a:r>
              <a:t>Now hand out the datasheets.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0:33–0:41. Use the ACTUAL device from the lab kit so the skill transfers</a:t>
            </a:r>
          </a:p>
          <a:p xmlns:a="http://schemas.openxmlformats.org/drawingml/2006/main">
            <a:r>
              <a:t>directly to Lab 1 in week 2.</a:t>
            </a:r>
          </a:p>
          <a:p xmlns:a="http://schemas.openxmlformats.org/drawingml/2006/main"/>
          <a:p xmlns:a="http://schemas.openxmlformats.org/drawingml/2006/main">
            <a:r>
              <a:t>Circulate. Do not answer "where is it?" — answer "which section would a</a:t>
            </a:r>
          </a:p>
          <a:p xmlns:a="http://schemas.openxmlformats.org/drawingml/2006/main">
            <a:r>
              <a:t>manufacturer put that in?"</a:t>
            </a:r>
          </a:p>
          <a:p xmlns:a="http://schemas.openxmlformats.org/drawingml/2006/main"/>
          <a:p xmlns:a="http://schemas.openxmlformats.org/drawingml/2006/main">
            <a:r>
              <a:t>Number 4 is the one they will struggle with: the conditions are usually in a</a:t>
            </a:r>
          </a:p>
          <a:p xmlns:a="http://schemas.openxmlformats.org/drawingml/2006/main">
            <a:r>
              <a:t>footnote, and the ODR and the bandwidth are different numbers. That struggle IS</a:t>
            </a:r>
          </a:p>
          <a:p xmlns:a="http://schemas.openxmlformats.org/drawingml/2006/main">
            <a:r>
              <a:t>the learning; let it happen.</a:t>
            </a:r>
          </a:p>
          <a:p xmlns:a="http://schemas.openxmlformats.org/drawingml/2006/main"/>
          <a:p xmlns:a="http://schemas.openxmlformats.org/drawingml/2006/main">
            <a:r>
              <a:t>Number 5 is the WHO_AM_I register. Point out that they will type this value into</a:t>
            </a:r>
          </a:p>
          <a:p xmlns:a="http://schemas.openxmlformats.org/drawingml/2006/main">
            <a:r>
              <a:t>their code on Tuesday.</a:t>
            </a:r>
          </a:p>
          <a:p xmlns:a="http://schemas.openxmlformats.org/drawingml/2006/main"/>
          <a:p xmlns:a="http://schemas.openxmlformats.org/drawingml/2006/main">
            <a:r>
              <a:t>If the class is short on documents: project one page and run it as a whole-class</a:t>
            </a:r>
          </a:p>
          <a:p xmlns:a="http://schemas.openxmlformats.org/drawingml/2006/main">
            <a:r>
              <a:t>hunt, calling on pairs for each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0:41–0:44. THE MOST IMPORTANT TWO MINUTES OF THE LECTURE.</a:t>
            </a:r>
          </a:p>
          <a:p xmlns:a="http://schemas.openxmlformats.org/drawingml/2006/main"/>
          <a:p xmlns:a="http://schemas.openxmlformats.org/drawingml/2006/main">
            <a:r>
              <a:t>Let them hunt for it for a genuine 60 seconds before you say anything. Some will</a:t>
            </a:r>
          </a:p>
          <a:p xmlns:a="http://schemas.openxmlformats.org/drawingml/2006/main">
            <a:r>
              <a:t>insist it must be there somewhere.</a:t>
            </a:r>
          </a:p>
          <a:p xmlns:a="http://schemas.openxmlformats.org/drawingml/2006/main"/>
          <a:p xmlns:a="http://schemas.openxmlformats.org/drawingml/2006/main">
            <a:r>
              <a:t>Then: "It is not there. And the manufacturer is not being evasive — they cannot</a:t>
            </a:r>
          </a:p>
          <a:p xmlns:a="http://schemas.openxmlformats.org/drawingml/2006/main">
            <a:r>
              <a:t>know what your board does to their part."</a:t>
            </a:r>
          </a:p>
          <a:p xmlns:a="http://schemas.openxmlformats.org/drawingml/2006/main"/>
          <a:p xmlns:a="http://schemas.openxmlformats.org/drawingml/2006/main">
            <a:r>
              <a:t>The habit to install, said in the first person: "The datasheet cannot tell me</a:t>
            </a:r>
          </a:p>
          <a:p xmlns:a="http://schemas.openxmlformats.org/drawingml/2006/main">
            <a:r>
              <a:t>this. I must measure it on my own assembled board."</a:t>
            </a:r>
          </a:p>
          <a:p xmlns:a="http://schemas.openxmlformats.org/drawingml/2006/main"/>
          <a:p xmlns:a="http://schemas.openxmlformats.org/drawingml/2006/main">
            <a:r>
              <a:t>That is why Lab 3 exists. Say 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0:44–0:46. Genuine state change — everyone stands, hands up, 90 seconds.</a:t>
            </a:r>
          </a:p>
          <a:p xmlns:a="http://schemas.openxmlformats.org/drawingml/2006/main"/>
          <a:p xmlns:a="http://schemas.openxmlformats.org/drawingml/2006/main">
            <a:r>
              <a:t>The usual winner is noise density (number 4), because its conditions are</a:t>
            </a:r>
          </a:p>
          <a:p xmlns:a="http://schemas.openxmlformats.org/drawingml/2006/main">
            <a:r>
              <a:t>buried in a footnote and ODR ≠ bandwidth.</a:t>
            </a:r>
          </a:p>
          <a:p xmlns:a="http://schemas.openxmlformats.org/drawingml/2006/main"/>
          <a:p xmlns:a="http://schemas.openxmlformats.org/drawingml/2006/main">
            <a:r>
              <a:t>Take two answers on WHY, not WHAT. "Because the number was in one place and the</a:t>
            </a:r>
          </a:p>
          <a:p xmlns:a="http://schemas.openxmlformats.org/drawingml/2006/main">
            <a:r>
              <a:t>conditions were in another" is the answer you are fishing for.</a:t>
            </a:r>
          </a:p>
          <a:p xmlns:a="http://schemas.openxmlformats.org/drawingml/2006/main"/>
          <a:p xmlns:a="http://schemas.openxmlformats.org/drawingml/2006/main">
            <a:r>
              <a:t>Then land the line and sit them down. Next: the arithmetic.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0:46. Section marker.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0:46–0:52. Do the arithmetic on the board with the units written out in</a:t>
            </a:r>
          </a:p>
          <a:p xmlns:a="http://schemas.openxmlformats.org/drawingml/2006/main">
            <a:r>
              <a:t>full. Unit cancellation — not the physics — is what actually blocks students here.</a:t>
            </a:r>
          </a:p>
          <a:p xmlns:a="http://schemas.openxmlformats.org/drawingml/2006/main"/>
          <a:p xmlns:a="http://schemas.openxmlformats.org/drawingml/2006/main">
            <a:r>
              <a:t>Emphasise the ODR trap explicitly before the poll. You WANT them to have been</a:t>
            </a:r>
          </a:p>
          <a:p xmlns:a="http://schemas.openxmlformats.org/drawingml/2006/main">
            <a:r>
              <a:t>warned; the ones who still fall for it have a genuine misconception, and that is</a:t>
            </a:r>
          </a:p>
          <a:p xmlns:a="http://schemas.openxmlformats.org/drawingml/2006/main">
            <a:r>
              <a:t>the diagnostic you need.</a:t>
            </a:r>
          </a:p>
          <a:p xmlns:a="http://schemas.openxmlformats.org/drawingml/2006/main"/>
          <a:p xmlns:a="http://schemas.openxmlformats.org/drawingml/2006/main">
            <a:r>
              <a:t>The third bullet is the conceptual payoff and it connects straight back to</a:t>
            </a:r>
          </a:p>
          <a:p xmlns:a="http://schemas.openxmlformats.org/drawingml/2006/main">
            <a:r>
              <a:t>Lecture 1's motor: bandwidth is a decision with consequences in both directions.</a:t>
            </a:r>
          </a:p>
          <a:p xmlns:a="http://schemas.openxmlformats.org/drawingml/2006/main">
            <a:r>
              <a:t>Too little and you miss the signal. Too much and you buy noise.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0:52–0:57. THE MOST DIAGNOSTIC POLL IN THE PILOT. Target 40–60 %.</a:t>
            </a:r>
          </a:p>
          <a:p xmlns:a="http://schemas.openxmlformats.org/drawingml/2006/main"/>
          <a:p xmlns:a="http://schemas.openxmlformats.org/drawingml/2006/main">
            <a:r>
              <a:t>Each distractor is a named procedural error, so the DISTRIBUTION tells you what</a:t>
            </a:r>
          </a:p>
          <a:p xmlns:a="http://schemas.openxmlformats.org/drawingml/2006/main">
            <a:r>
              <a:t>to re-teach:</a:t>
            </a:r>
          </a:p>
          <a:p xmlns:a="http://schemas.openxmlformats.org/drawingml/2006/main">
            <a:r>
              <a:t>  A — ignored bandwidth entirely</a:t>
            </a:r>
          </a:p>
          <a:p xmlns:a="http://schemas.openxmlformats.org/drawingml/2006/main">
            <a:r>
              <a:t>  B — correct: 100 × √50 = 707 µg</a:t>
            </a:r>
          </a:p>
          <a:p xmlns:a="http://schemas.openxmlformats.org/drawingml/2006/main">
            <a:r>
              <a:t>  C — used √ODR instead of √bandwidth (the M7 confusion)</a:t>
            </a:r>
          </a:p>
          <a:p xmlns:a="http://schemas.openxmlformats.org/drawingml/2006/main">
            <a:r>
              <a:t>  D — multiplied by bandwidth instead of its square root</a:t>
            </a:r>
          </a:p>
          <a:p xmlns:a="http://schemas.openxmlformats.org/drawingml/2006/main"/>
          <a:p xmlns:a="http://schemas.openxmlformats.org/drawingml/2006/main">
            <a:r>
              <a:t>RECORD THE FULL DISTRIBUTION, not just the correct percentage. If C is large,</a:t>
            </a:r>
          </a:p>
          <a:p xmlns:a="http://schemas.openxmlformats.org/drawingml/2006/main">
            <a:r>
              <a:t>that is your Lecture 3 opening. If D is large, the blocker is arithmetic, not</a:t>
            </a:r>
          </a:p>
          <a:p xmlns:a="http://schemas.openxmlformats.org/drawingml/2006/main">
            <a:r>
              <a:t>sensing — write √Hz on the board with units in full.</a:t>
            </a:r>
          </a:p>
          <a:p xmlns:a="http://schemas.openxmlformats.org/drawingml/2006/main"/>
          <a:p xmlns:a="http://schemas.openxmlformats.org/drawingml/2006/main">
            <a:r>
              <a:t>Peer instruction, then re-vote.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Reveal, then the reframe — this is the pivot of the whole lecture. Say it</a:t>
            </a:r>
          </a:p>
          <a:p xmlns:a="http://schemas.openxmlformats.org/drawingml/2006/main">
            <a:r>
              <a:t>almost casually:</a:t>
            </a:r>
          </a:p>
          <a:p xmlns:a="http://schemas.openxmlformats.org/drawingml/2006/main"/>
          <a:p xmlns:a="http://schemas.openxmlformats.org/drawingml/2006/main">
            <a:r>
              <a:t>"We just spent six minutes computing 0.71 mg of noise. Our signal is 8.73 mg.</a:t>
            </a:r>
          </a:p>
          <a:p xmlns:a="http://schemas.openxmlformats.org/drawingml/2006/main">
            <a:r>
              <a:t>So noise costs us about eight per cent of the measurand. Annoying. Survivable.</a:t>
            </a:r>
          </a:p>
          <a:p xmlns:a="http://schemas.openxmlformats.org/drawingml/2006/main">
            <a:r>
              <a:t>Now let me show you the term nobody computed."</a:t>
            </a:r>
          </a:p>
          <a:p xmlns:a="http://schemas.openxmlformats.org/drawingml/2006/main"/>
          <a:p xmlns:a="http://schemas.openxmlformats.org/drawingml/2006/main">
            <a:r>
              <a:t>Then go straight to drift.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0:57–1:02. Build left to right; the punch is on the right.</a:t>
            </a:r>
          </a:p>
          <a:p xmlns:a="http://schemas.openxmlformats.org/drawingml/2006/main"/>
          <a:p xmlns:a="http://schemas.openxmlformats.org/drawingml/2006/main">
            <a:r>
              <a:t>Quantisation: "Both are a rounding error on a rounding error. Note that Part A's</a:t>
            </a:r>
          </a:p>
          <a:p xmlns:a="http://schemas.openxmlformats.org/drawingml/2006/main">
            <a:r>
              <a:t>celebrated eight-times-finer resolution buys it 0.12 mg of advantage on a term</a:t>
            </a:r>
          </a:p>
          <a:p xmlns:a="http://schemas.openxmlformats.org/drawingml/2006/main">
            <a:r>
              <a:t>that was already invisible."</a:t>
            </a:r>
          </a:p>
          <a:p xmlns:a="http://schemas.openxmlformats.org/drawingml/2006/main"/>
          <a:p xmlns:a="http://schemas.openxmlformats.org/drawingml/2006/main">
            <a:r>
              <a:t>Offset: "Both fixable. This is the calibration column."</a:t>
            </a:r>
          </a:p>
          <a:p xmlns:a="http://schemas.openxmlformats.org/drawingml/2006/main"/>
          <a:p xmlns:a="http://schemas.openxmlformats.org/drawingml/2006/main">
            <a:r>
              <a:t>Drift: STOP HERE. "Part A's offset moves by ten milli-g across the temperature</a:t>
            </a:r>
          </a:p>
          <a:p xmlns:a="http://schemas.openxmlformats.org/drawingml/2006/main">
            <a:r>
              <a:t>range. Our signal is eight point seven three. The error is larger than the</a:t>
            </a:r>
          </a:p>
          <a:p xmlns:a="http://schemas.openxmlformats.org/drawingml/2006/main">
            <a:r>
              <a:t>thing being measured — and it appears after you calibrated, so no bench</a:t>
            </a:r>
          </a:p>
          <a:p xmlns:a="http://schemas.openxmlformats.org/drawingml/2006/main">
            <a:r>
              <a:t>procedure catches it."</a:t>
            </a:r>
          </a:p>
          <a:p xmlns:a="http://schemas.openxmlformats.org/drawingml/2006/main"/>
          <a:p xmlns:a="http://schemas.openxmlformats.org/drawingml/2006/main">
            <a:r>
              <a:t>Ask the room: "Which of the three columns did the front page mention?" None.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1:02–1:06. Reveal row by row if your tooling allows; otherwise walk down</a:t>
            </a:r>
          </a:p>
          <a:p xmlns:a="http://schemas.openxmlformats.org/drawingml/2006/main">
            <a:r>
              <a:t>with the cursor and make them predict the total before you say it.</a:t>
            </a:r>
          </a:p>
          <a:p xmlns:a="http://schemas.openxmlformats.org/drawingml/2006/main"/>
          <a:p xmlns:a="http://schemas.openxmlformats.org/drawingml/2006/main">
            <a:r>
              <a:t>Say the RSS rule and why: independent random terms add in quadrature, so the</a:t>
            </a:r>
          </a:p>
          <a:p xmlns:a="http://schemas.openxmlformats.org/drawingml/2006/main">
            <a:r>
              <a:t>LARGEST term dominates completely. 10 and 0.7 combine to 10.02 — the noise</a:t>
            </a:r>
          </a:p>
          <a:p xmlns:a="http://schemas.openxmlformats.org/drawingml/2006/main">
            <a:r>
              <a:t>term you spent six minutes on has changed the answer by three hundredths.</a:t>
            </a:r>
          </a:p>
          <a:p xmlns:a="http://schemas.openxmlformats.org/drawingml/2006/main"/>
          <a:p xmlns:a="http://schemas.openxmlformats.org/drawingml/2006/main">
            <a:r>
              <a:t>"That is the most important lesson in error budgeting: find the biggest term</a:t>
            </a:r>
          </a:p>
          <a:p xmlns:a="http://schemas.openxmlformats.org/drawingml/2006/main">
            <a:r>
              <a:t>first. Everything else is decoration."</a:t>
            </a:r>
          </a:p>
          <a:p xmlns:a="http://schemas.openxmlformats.org/drawingml/2006/main"/>
          <a:p xmlns:a="http://schemas.openxmlformats.org/drawingml/2006/main">
            <a:r>
              <a:t>Then the two bottom rows, slowly. FAILS. Passes with fourfold margin.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insert at 1:06–1:09 (push the reveal and the decision table back by three</a:t>
            </a:r>
          </a:p>
          <a:p xmlns:a="http://schemas.openxmlformats.org/drawingml/2006/main">
            <a:r>
              <a:t>minutes; if short of time, cut Part C from the team table instead).</a:t>
            </a:r>
          </a:p>
          <a:p xmlns:a="http://schemas.openxmlformats.org/drawingml/2006/main"/>
          <a:p xmlns:a="http://schemas.openxmlformats.org/drawingml/2006/main">
            <a:r>
              <a:t>THIS IS THE STRONGEST SLIDE IN THE LECTURE. Parts A and B were teaching devices. This</a:t>
            </a:r>
          </a:p>
          <a:p xmlns:a="http://schemas.openxmlformats.org/drawingml/2006/main">
            <a:r>
              <a:t>is the actual component in their kit, and its own two published columns straddle the</a:t>
            </a:r>
          </a:p>
          <a:p xmlns:a="http://schemas.openxmlformats.org/drawingml/2006/main">
            <a:r>
              <a:t>pass/fail line.</a:t>
            </a:r>
          </a:p>
          <a:p xmlns:a="http://schemas.openxmlformats.org/drawingml/2006/main"/>
          <a:p xmlns:a="http://schemas.openxmlformats.org/drawingml/2006/main">
            <a:r>
              <a:t>Say it plainly: "A typical ISM330DHCX meets our requirement with fourfold margin. A part</a:t>
            </a:r>
          </a:p>
          <a:p xmlns:a="http://schemas.openxmlformats.org/drawingml/2006/main">
            <a:r>
              <a:t>at the limit of its own specification misses it. Both are in spec. Both ship in the same</a:t>
            </a:r>
          </a:p>
          <a:p xmlns:a="http://schemas.openxmlformats.org/drawingml/2006/main">
            <a:r>
              <a:t>reel. Nobody is cheating."</a:t>
            </a:r>
          </a:p>
          <a:p xmlns:a="http://schemas.openxmlformats.org/drawingml/2006/main"/>
          <a:p xmlns:a="http://schemas.openxmlformats.org/drawingml/2006/main">
            <a:r>
              <a:t>Then the engineering question, and take answers:</a:t>
            </a:r>
          </a:p>
          <a:p xmlns:a="http://schemas.openxmlformats.org/drawingml/2006/main">
            <a:r>
              <a:t>  "So which column do you design with?"</a:t>
            </a:r>
          </a:p>
          <a:p xmlns:a="http://schemas.openxmlformats.org/drawingml/2006/main"/>
          <a:p xmlns:a="http://schemas.openxmlformats.org/drawingml/2006/main">
            <a:r>
              <a:t>  - Guaranteeing the spec  -&gt; the MAX column, and this design does not close. You must</a:t>
            </a:r>
          </a:p>
          <a:p xmlns:a="http://schemas.openxmlformats.org/drawingml/2006/main">
            <a:r>
              <a:t>    narrow the temperature range, compensate offset against temperature (Lecture 14),</a:t>
            </a:r>
          </a:p>
          <a:p xmlns:a="http://schemas.openxmlformats.org/drawingml/2006/main">
            <a:r>
              <a:t>    or renegotiate the 0.5 degrees.</a:t>
            </a:r>
          </a:p>
          <a:p xmlns:a="http://schemas.openxmlformats.org/drawingml/2006/main">
            <a:r>
              <a:t>  - Ten units you can each measure -&gt; typ plus per-unit calibration is defensible,</a:t>
            </a:r>
          </a:p>
          <a:p xmlns:a="http://schemas.openxmlformats.org/drawingml/2006/main">
            <a:r>
              <a:t>    PROVIDED you write down that you made that choice.</a:t>
            </a:r>
          </a:p>
          <a:p xmlns:a="http://schemas.openxmlformats.org/drawingml/2006/main">
            <a:r>
              <a:t>  - Never: budget with typ and call the result a guarantee.</a:t>
            </a:r>
          </a:p>
          <a:p xmlns:a="http://schemas.openxmlformats.org/drawingml/2006/main"/>
          <a:p xmlns:a="http://schemas.openxmlformats.org/drawingml/2006/main">
            <a:r>
              <a:t>Close on: "A datasheet does not describe your device. It describes the population your</a:t>
            </a:r>
          </a:p>
          <a:p xmlns:a="http://schemas.openxmlformats.org/drawingml/2006/main">
            <a:r>
              <a:t>device was drawn from."</a:t>
            </a:r>
          </a:p>
          <a:p xmlns:a="http://schemas.openxmlformats.org/drawingml/2006/main"/>
          <a:p xmlns:a="http://schemas.openxmlformats.org/drawingml/2006/main">
            <a:r>
              <a:t>Note for you: Part A's numbers were essentially this part's worst case, Part B's its</a:t>
            </a:r>
          </a:p>
          <a:p xmlns:a="http://schemas.openxmlformats.org/drawingml/2006/main">
            <a:r>
              <a:t>typical case. If a student spots that, they have understood the whole lecture.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1:06–1:08. Show the minute-7 distribution next to this. The shift is the</a:t>
            </a:r>
          </a:p>
          <a:p xmlns:a="http://schemas.openxmlformats.org/drawingml/2006/main">
            <a:r>
              <a:t>lecture's evidence that it worked.</a:t>
            </a:r>
          </a:p>
          <a:p xmlns:a="http://schemas.openxmlformats.org/drawingml/2006/main"/>
          <a:p xmlns:a="http://schemas.openxmlformats.org/drawingml/2006/main">
            <a:r>
              <a:t>Say both halves explicitly — this is the professional habit, not a trick:</a:t>
            </a:r>
          </a:p>
          <a:p xmlns:a="http://schemas.openxmlformats.org/drawingml/2006/main"/>
          <a:p xmlns:a="http://schemas.openxmlformats.org/drawingml/2006/main">
            <a:r>
              <a:t>"If you chose C at minute seven, you were right, and you were right for the best</a:t>
            </a:r>
          </a:p>
          <a:p xmlns:a="http://schemas.openxmlformats.org/drawingml/2006/main">
            <a:r>
              <a:t>possible reason: you knew you could not decide. If you chose A, you were doing</a:t>
            </a:r>
          </a:p>
          <a:p xmlns:a="http://schemas.openxmlformats.org/drawingml/2006/main">
            <a:r>
              <a:t>what most engineers do — reading the headline. And if you now choose B, you can</a:t>
            </a:r>
          </a:p>
          <a:p xmlns:a="http://schemas.openxmlformats.org/drawingml/2006/main">
            <a:r>
              <a:t>defend it with a number, which is the only defence that survives a design</a:t>
            </a:r>
          </a:p>
          <a:p xmlns:a="http://schemas.openxmlformats.org/drawingml/2006/main">
            <a:r>
              <a:t>review."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1:08–1:09. Silence, then read once.</a:t>
            </a:r>
          </a:p>
          <a:p xmlns:a="http://schemas.openxmlformats.org/drawingml/2006/main"/>
          <a:p xmlns:a="http://schemas.openxmlformats.org/drawingml/2006/main">
            <a:r>
              <a:t>Optional, if the room is with you: "And Part A was cheaper, and had a library.</a:t>
            </a:r>
          </a:p>
          <a:p xmlns:a="http://schemas.openxmlformats.org/drawingml/2006/main">
            <a:r>
              <a:t>Every incentive pointed at the wrong part."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1:09–1:15. Teams of three, 8 minutes, one sheet. Circulate.</a:t>
            </a:r>
          </a:p>
          <a:p xmlns:a="http://schemas.openxmlformats.org/drawingml/2006/main"/>
          <a:p xmlns:a="http://schemas.openxmlformats.org/drawingml/2006/main">
            <a:r>
              <a:t>Two teams read their sentence aloud. Insist on the form: Part, then the dominant</a:t>
            </a:r>
          </a:p>
          <a:p xmlns:a="http://schemas.openxmlformats.org/drawingml/2006/main">
            <a:r>
              <a:t>term. "Because it is better" is not an answer.</a:t>
            </a:r>
          </a:p>
          <a:p xmlns:a="http://schemas.openxmlformats.org/drawingml/2006/main"/>
          <a:p xmlns:a="http://schemas.openxmlformats.org/drawingml/2006/main">
            <a:r>
              <a:t>IF A TEAM CHOOSES C: do not correct it — ask "what did the customer get for the</a:t>
            </a:r>
          </a:p>
          <a:p xmlns:a="http://schemas.openxmlformats.org/drawingml/2006/main">
            <a:r>
              <a:t>extra €3,650?" (500 units × €7.30 over Part B.) Let them find it. Over-specification is a</a:t>
            </a:r>
          </a:p>
          <a:p xmlns:a="http://schemas.openxmlformats.org/drawingml/2006/main">
            <a:r>
              <a:t>real failure mode and this is the only place in the pilot that teaches it.</a:t>
            </a:r>
          </a:p>
          <a:p xmlns:a="http://schemas.openxmlformats.org/drawingml/2006/main"/>
          <a:p xmlns:a="http://schemas.openxmlformats.org/drawingml/2006/main">
            <a:r>
              <a:t>IF SHORT OF TIME: drop Part C, run it with two candidates in 5 minutes, set the</a:t>
            </a:r>
          </a:p>
          <a:p xmlns:a="http://schemas.openxmlformats.org/drawingml/2006/main">
            <a:r>
              <a:t>third as homework.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1:15–1:18. TRANSFER — deliberately a new measurand so it tests the</a:t>
            </a:r>
          </a:p>
          <a:p xmlns:a="http://schemas.openxmlformats.org/drawingml/2006/main">
            <a:r>
              <a:t>principle, not memory of the tilt case. Target 55–75 %.</a:t>
            </a:r>
          </a:p>
          <a:p xmlns:a="http://schemas.openxmlformats.org/drawingml/2006/main"/>
          <a:p xmlns:a="http://schemas.openxmlformats.org/drawingml/2006/main">
            <a:r>
              <a:t>60 seconds, quick vote, short discussion.</a:t>
            </a:r>
          </a:p>
          <a:p xmlns:a="http://schemas.openxmlformats.org/drawingml/2006/main"/>
          <a:p xmlns:a="http://schemas.openxmlformats.org/drawingml/2006/main">
            <a:r>
              <a:t>THE POINT: P's ±0.25 % FS over the full range is 50 Pa ≈ 5 mm — comfortably</a:t>
            </a:r>
          </a:p>
          <a:p xmlns:a="http://schemas.openxmlformats.org/drawingml/2006/main">
            <a:r>
              <a:t>inside ±20 mm, and GUARANTEED across the operating temperature. Q's ±0.05 % FS</a:t>
            </a:r>
          </a:p>
          <a:p xmlns:a="http://schemas.openxmlformats.org/drawingml/2006/main">
            <a:r>
              <a:t>is 10 Pa ≈ 1 mm at 25 °C and UNKNOWN at 5 °C, because the temperature</a:t>
            </a:r>
          </a:p>
          <a:p xmlns:a="http://schemas.openxmlformats.org/drawingml/2006/main">
            <a:r>
              <a:t>coefficient is not specified at all.</a:t>
            </a:r>
          </a:p>
          <a:p xmlns:a="http://schemas.openxmlformats.org/drawingml/2006/main"/>
          <a:p xmlns:a="http://schemas.openxmlformats.org/drawingml/2006/main">
            <a:r>
              <a:t>You cannot write a defensible error budget for Q. That is the whole answer.</a:t>
            </a:r>
          </a:p>
          <a:p xmlns:a="http://schemas.openxmlformats.org/drawingml/2006/main"/>
          <a:p xmlns:a="http://schemas.openxmlformats.org/drawingml/2006/main">
            <a:r>
              <a:t>C and D are the "calibration fixes everything" misconception, now in a second</a:t>
            </a:r>
          </a:p>
          <a:p xmlns:a="http://schemas.openxmlformats.org/drawingml/2006/main">
            <a:r>
              <a:t>context. If students still pick them here after the drift lesson, note it — that</a:t>
            </a:r>
          </a:p>
          <a:p xmlns:a="http://schemas.openxmlformats.org/drawingml/2006/main">
            <a:r>
              <a:t>is a genuine finding for next year.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Reveal. The sentence to land:</a:t>
            </a:r>
          </a:p>
          <a:p xmlns:a="http://schemas.openxmlformats.org/drawingml/2006/main"/>
          <a:p xmlns:a="http://schemas.openxmlformats.org/drawingml/2006/main">
            <a:r>
              <a:t>"An unspecified number is not a good number. It is an unknown number, and you</a:t>
            </a:r>
          </a:p>
          <a:p xmlns:a="http://schemas.openxmlformats.org/drawingml/2006/main">
            <a:r>
              <a:t>cannot put an unknown into a budget you have to sign."</a:t>
            </a:r>
          </a:p>
          <a:p xmlns:a="http://schemas.openxmlformats.org/drawingml/2006/main"/>
          <a:p xmlns:a="http://schemas.openxmlformats.org/drawingml/2006/main">
            <a:r>
              <a:t>Note the deliberate echo: in the tilt case the killer term was drift you could</a:t>
            </a:r>
          </a:p>
          <a:p xmlns:a="http://schemas.openxmlformats.org/drawingml/2006/main">
            <a:r>
              <a:t>compute. Here it is drift you cannot even compute. Same lesson, harder 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1:18–1:19. Ninety seconds.</a:t>
            </a:r>
          </a:p>
          <a:p xmlns:a="http://schemas.openxmlformats.org/drawingml/2006/main"/>
          <a:p xmlns:a="http://schemas.openxmlformats.org/drawingml/2006/main">
            <a:r>
              <a:t>Be honest about why the rule exists: "A library is a real asset and it will save</a:t>
            </a:r>
          </a:p>
          <a:p xmlns:a="http://schemas.openxmlformats.org/drawingml/2006/main">
            <a:r>
              <a:t>you a week. It is just not a specification. Rank it last, not zero."</a:t>
            </a:r>
          </a:p>
          <a:p xmlns:a="http://schemas.openxmlformats.org/drawingml/2006/main"/>
          <a:p xmlns:a="http://schemas.openxmlformats.org/drawingml/2006/main">
            <a:r>
              <a:t>The seven boxes are the plan's own component-selection criteria. Tell them these</a:t>
            </a:r>
          </a:p>
          <a:p xmlns:a="http://schemas.openxmlformats.org/drawingml/2006/main">
            <a:r>
              <a:t>are the features the lab kit was chosen to expose — which is why they will be</a:t>
            </a:r>
          </a:p>
          <a:p xmlns:a="http://schemas.openxmlformats.org/drawingml/2006/main">
            <a:r>
              <a:t>writing register values rather than calling someone's begin() function.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1:19. Read the four bold lines only. Sixty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1:19–1:20.</a:t>
            </a:r>
          </a:p>
          <a:p xmlns:a="http://schemas.openxmlformats.org/drawingml/2006/main"/>
          <a:p xmlns:a="http://schemas.openxmlformats.org/drawingml/2006/main">
            <a:r>
              <a:t>Q1 key: 200 × √100 = 2000 µg = 2 mg. This is the independent check on L2.3 —</a:t>
            </a:r>
          </a:p>
          <a:p xmlns:a="http://schemas.openxmlformats.org/drawingml/2006/main">
            <a:r>
              <a:t>group work can hide an individual who cannot do it.</a:t>
            </a:r>
          </a:p>
          <a:p xmlns:a="http://schemas.openxmlformats.org/drawingml/2006/main"/>
          <a:p xmlns:a="http://schemas.openxmlformats.org/drawingml/2006/main">
            <a:r>
              <a:t>Q2 accepts either "the conditions block" or "offset drift / temperature</a:t>
            </a:r>
          </a:p>
          <a:p xmlns:a="http://schemas.openxmlformats.org/drawingml/2006/main">
            <a:r>
              <a:t>coefficient". Both are the right instinct.</a:t>
            </a:r>
          </a:p>
          <a:p xmlns:a="http://schemas.openxmlformats.org/drawingml/2006/main"/>
          <a:p xmlns:a="http://schemas.openxmlformats.org/drawingml/2006/main">
            <a:r>
              <a:t>Say the bottom line out loud. It is true, and it buys honest tickets.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1:20. End on time.</a:t>
            </a:r>
          </a:p>
          <a:p xmlns:a="http://schemas.openxmlformats.org/drawingml/2006/main"/>
          <a:p xmlns:a="http://schemas.openxmlformats.org/drawingml/2006/main">
            <a:r>
              <a:t>Close the loop with Lecture 1 explicitly: "In week one a motor died because</a:t>
            </a:r>
          </a:p>
          <a:p xmlns:a="http://schemas.openxmlformats.org/drawingml/2006/main">
            <a:r>
              <a:t>nobody specified a bandwidth. Next week we build the thing that specifies it."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165426c6f4f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8df79972c49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c8c9485234e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6c2a1d8d44a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4826712fc4c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ef27f7af04e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eab903e9a488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7f9a8b7474d6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07ab088807438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0d5f46bb044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c012c962044a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DD7EBB-1BB5-47BF-8083-01EB9EC018D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65F5DB5-DB34-4A39-BBD6-EABA3B6B81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2919FD-DA2D-47DA-9219-0508822880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F628FA8-2699-494A-B409-0C793A776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B07A34-5418-429B-A4DC-711B6DB91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C1870A-B16E-4A7A-8934-DA5B7F6AA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70E904-E7C9-4794-97BC-AAC15426DE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FEA550-EB78-46EA-A0BD-C9A38F111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34DEFC-187E-46D1-8893-D35A5AEE4B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1671DC-E34B-4329-BBFD-BA94FADBF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5A97C1-E6D0-4B00-AABF-B8A31E2E2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DC0ECD-7832-47D1-AF4D-23FB00C2BC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E3E09E-4848-4EF9-A0A6-E9A75FAE78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2AC7C-D9C6-42FA-B4F7-6CABFB9D76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95DFCC-8DAE-467D-B456-CCF5E65299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1506CA-89BD-4FFB-BF2C-7F48DEC349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1CA399-5D28-4A85-A671-91059AD246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6DA03AA-1ACA-4B15-8B44-288050B443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E2D76B-0463-4FFA-B809-72E78D2999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2FB953-0FFF-445D-8478-511412F9A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9ACD09B-1398-4C1D-8746-69CD25BDE4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2A50A-2E83-4512-A86B-D24AB080A0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965F8B-9D1C-4C9E-B16B-3A9B460551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D9FEB11-FE87-4040-8487-361B1D4C46C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58052E4-C8E4-4A2D-95C9-2FD0BBFC471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0D3B693-0B99-4A7B-A40C-0485F71D9A3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FC97377-36EB-4CB7-8A31-7523BB127A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0DADB39-5542-4580-8649-E8F9FC9E31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20B0174-0657-4465-8C69-052769270A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55CBE5-0494-448D-92FB-209CFDF16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60717D2-AAD1-4001-A700-5BCA0CB7A4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4D930D3-9E9E-49EF-9464-08F98E067D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0595004-55CE-4E9C-97F4-C39EBD0319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4653C22-973A-4488-B927-E3A3A3539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3E0DAC4-7BA1-475A-BD48-154E5C926E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8F2C31A-3730-4A17-8F1E-4F6BFD4D16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BD1111-F67A-4783-A213-F5C6E8FA86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0BAA495-9754-489F-B067-8B2445BF53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5F3A0A-4166-417B-A36F-956452CF0E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8CDA7D4-E023-4148-9A1B-47743ECF5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96ED6A-46DF-4D5F-9451-53B400DF63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074F1C1-FA17-4E3F-87BA-0F0BE24675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812886-67A8-4331-AF79-893976CD06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FDA8863-D7F4-426B-A08D-169BC273F8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7263BC-7E46-446B-8EAD-B6BAB0164A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E77D3DB-1B5D-4457-B468-0D5DF26F71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2575461-8AAD-407C-917F-E8C4D7CB9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921BDF0-A9F8-4D5E-BD04-A59EA5EB34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566CE9-AF23-4F84-9D41-BC673DCB7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39877D-BB8F-4D27-A75B-4CE131593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8836FBE-4D52-42DF-A297-69C9E4270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F18D9D-B682-46D4-9DF0-6C654274E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AF5C69-6DE3-4BF2-A1E3-B2A204864E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7F1AF1C-8446-41B2-9F6C-B568F8302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596FC1-9708-4E3E-8306-8FC2686354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0DE9AF-443B-47C6-BE41-01EBFB3BD8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6DD6C7-F7C4-47ED-9F97-9F92559ADB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7AEA3E-61E0-4597-8908-E8C1562A70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b2482df55d4470" /><Relationship Type="http://schemas.openxmlformats.org/officeDocument/2006/relationships/slideLayout" Target="/ppt/slideLayouts/slideLayout1.xml" Id="Rdaa35ead54b64ca4" /><Relationship Type="http://schemas.openxmlformats.org/officeDocument/2006/relationships/slideLayout" Target="/ppt/slideLayouts/slideLayout2.xml" Id="Rfcdeeac931754438" /><Relationship Type="http://schemas.openxmlformats.org/officeDocument/2006/relationships/slideLayout" Target="/ppt/slideLayouts/slideLayout3.xml" Id="R6c28f5d26e2d4778" /><Relationship Type="http://schemas.openxmlformats.org/officeDocument/2006/relationships/slideLayout" Target="/ppt/slideLayouts/slideLayout4.xml" Id="Rd66a62ca35f3421b" /><Relationship Type="http://schemas.openxmlformats.org/officeDocument/2006/relationships/slideLayout" Target="/ppt/slideLayouts/slideLayout5.xml" Id="R39886752ca3442e3" /><Relationship Type="http://schemas.openxmlformats.org/officeDocument/2006/relationships/slideLayout" Target="/ppt/slideLayouts/slideLayout6.xml" Id="R7baae1c988604132" /><Relationship Type="http://schemas.openxmlformats.org/officeDocument/2006/relationships/slideLayout" Target="/ppt/slideLayouts/slideLayout7.xml" Id="R8a9a34b59a274b9e" /><Relationship Type="http://schemas.openxmlformats.org/officeDocument/2006/relationships/slideLayout" Target="/ppt/slideLayouts/slideLayout8.xml" Id="R7377648c29c44f6f" /><Relationship Type="http://schemas.openxmlformats.org/officeDocument/2006/relationships/slideLayout" Target="/ppt/slideLayouts/slideLayout9.xml" Id="R9bee6415eb2b4a96" /><Relationship Type="http://schemas.openxmlformats.org/officeDocument/2006/relationships/slideLayout" Target="/ppt/slideLayouts/slideLayout10.xml" Id="R2d3d1955fa49490b" /><Relationship Type="http://schemas.openxmlformats.org/officeDocument/2006/relationships/slideLayout" Target="/ppt/slideLayouts/slideLayout11.xml" Id="R71b7aa21faa743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F46E0A2-BDC2-4614-AE3C-2D85800E0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3726629-D673-457B-940C-89DED13B51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E4DD71-605B-4919-90E5-95588FE59B6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75F5BF-3787-475D-B559-42C42BC1A46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6BBEE6-65AA-4337-B4AA-3227A011C6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a35ead54b64ca4"/>
    <p:sldLayoutId xmlns:r="http://schemas.openxmlformats.org/officeDocument/2006/relationships" id="2147483650" r:id="Rfcdeeac931754438"/>
    <p:sldLayoutId xmlns:r="http://schemas.openxmlformats.org/officeDocument/2006/relationships" id="2147483651" r:id="R6c28f5d26e2d4778"/>
    <p:sldLayoutId xmlns:r="http://schemas.openxmlformats.org/officeDocument/2006/relationships" id="2147483652" r:id="Rd66a62ca35f3421b"/>
    <p:sldLayoutId xmlns:r="http://schemas.openxmlformats.org/officeDocument/2006/relationships" id="2147483653" r:id="R39886752ca3442e3"/>
    <p:sldLayoutId xmlns:r="http://schemas.openxmlformats.org/officeDocument/2006/relationships" id="2147483654" r:id="R7baae1c988604132"/>
    <p:sldLayoutId xmlns:r="http://schemas.openxmlformats.org/officeDocument/2006/relationships" id="2147483655" r:id="R8a9a34b59a274b9e"/>
    <p:sldLayoutId xmlns:r="http://schemas.openxmlformats.org/officeDocument/2006/relationships" id="2147483656" r:id="R7377648c29c44f6f"/>
    <p:sldLayoutId xmlns:r="http://schemas.openxmlformats.org/officeDocument/2006/relationships" id="2147483657" r:id="R9bee6415eb2b4a96"/>
    <p:sldLayoutId xmlns:r="http://schemas.openxmlformats.org/officeDocument/2006/relationships" id="2147483658" r:id="R2d3d1955fa49490b"/>
    <p:sldLayoutId xmlns:r="http://schemas.openxmlformats.org/officeDocument/2006/relationships" id="2147483659" r:id="R71b7aa21faa743f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19948d9e9a4f7d" /><Relationship Type="http://schemas.openxmlformats.org/officeDocument/2006/relationships/notesSlide" Target="/ppt/notesSlides/notesSlide1.xml" Id="R0411c25b62bd4a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901eb0adf64f82" /><Relationship Type="http://schemas.openxmlformats.org/officeDocument/2006/relationships/notesSlide" Target="/ppt/notesSlides/notesSlide2.xml" Id="R3d3e647574c7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bbdfba3f074d99" /><Relationship Type="http://schemas.openxmlformats.org/officeDocument/2006/relationships/notesSlide" Target="/ppt/notesSlides/notesSlide3.xml" Id="Ra5da4c6fd0724d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336fad76a7240c0" /><Relationship Type="http://schemas.openxmlformats.org/officeDocument/2006/relationships/notesSlide" Target="/ppt/notesSlides/notesSlide4.xml" Id="Re2d62616097645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acee75337e426a" /><Relationship Type="http://schemas.openxmlformats.org/officeDocument/2006/relationships/notesSlide" Target="/ppt/notesSlides/notesSlide5.xml" Id="Rb455836e0a7d49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de892c1fb04090" /><Relationship Type="http://schemas.openxmlformats.org/officeDocument/2006/relationships/notesSlide" Target="/ppt/notesSlides/notesSlide6.xml" Id="R81819e2399a7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aa573d19f1420e" /><Relationship Type="http://schemas.openxmlformats.org/officeDocument/2006/relationships/notesSlide" Target="/ppt/notesSlides/notesSlide7.xml" Id="R65f7ade19c5a43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e8e5e1bdc2b4dcd" /><Relationship Type="http://schemas.openxmlformats.org/officeDocument/2006/relationships/notesSlide" Target="/ppt/notesSlides/notesSlide8.xml" Id="R49d0decd1c1449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f4e67f02084cc9" /><Relationship Type="http://schemas.openxmlformats.org/officeDocument/2006/relationships/notesSlide" Target="/ppt/notesSlides/notesSlide9.xml" Id="R225ead58a85141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523a9361e24e91" /><Relationship Type="http://schemas.openxmlformats.org/officeDocument/2006/relationships/notesSlide" Target="/ppt/notesSlides/notesSlide10.xml" Id="R8a5679a426194f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253c98540f4c6a" /><Relationship Type="http://schemas.openxmlformats.org/officeDocument/2006/relationships/notesSlide" Target="/ppt/notesSlides/notesSlide11.xml" Id="R5a609a3e52e741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361bb871944ea8" /><Relationship Type="http://schemas.openxmlformats.org/officeDocument/2006/relationships/notesSlide" Target="/ppt/notesSlides/notesSlide12.xml" Id="Rfe7f274ee05d4d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064ef8a804afe" /><Relationship Type="http://schemas.openxmlformats.org/officeDocument/2006/relationships/notesSlide" Target="/ppt/notesSlides/notesSlide13.xml" Id="R6848bfd6bf6746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8cd838206c43f5" /><Relationship Type="http://schemas.openxmlformats.org/officeDocument/2006/relationships/notesSlide" Target="/ppt/notesSlides/notesSlide14.xml" Id="R77fcb987d46144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e40efa9b474166" /><Relationship Type="http://schemas.openxmlformats.org/officeDocument/2006/relationships/notesSlide" Target="/ppt/notesSlides/notesSlide15.xml" Id="R6ebb276e4c3e4a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056be2546f4f05" /><Relationship Type="http://schemas.openxmlformats.org/officeDocument/2006/relationships/notesSlide" Target="/ppt/notesSlides/notesSlide16.xml" Id="Rcb4b3edc9d4647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7f1c43bf2b4838" /><Relationship Type="http://schemas.openxmlformats.org/officeDocument/2006/relationships/notesSlide" Target="/ppt/notesSlides/notesSlide17.xml" Id="R67e71003a5f849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b3ef8ef97f476b" /><Relationship Type="http://schemas.openxmlformats.org/officeDocument/2006/relationships/notesSlide" Target="/ppt/notesSlides/notesSlide18.xml" Id="Rf2e692ea942249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d76bc637934027" /><Relationship Type="http://schemas.openxmlformats.org/officeDocument/2006/relationships/notesSlide" Target="/ppt/notesSlides/notesSlide19.xml" Id="R4a31790bd4dd4ea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61893fb7a94212" /><Relationship Type="http://schemas.openxmlformats.org/officeDocument/2006/relationships/notesSlide" Target="/ppt/notesSlides/notesSlide20.xml" Id="Recd0db4d152143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cbea7b63f73478a" /><Relationship Type="http://schemas.openxmlformats.org/officeDocument/2006/relationships/notesSlide" Target="/ppt/notesSlides/notesSlide21.xml" Id="R0684f9e333db4a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72db266935413d" /><Relationship Type="http://schemas.openxmlformats.org/officeDocument/2006/relationships/notesSlide" Target="/ppt/notesSlides/notesSlide22.xml" Id="Rc7acbe1d7a9242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0c7c767bc6492a" /><Relationship Type="http://schemas.openxmlformats.org/officeDocument/2006/relationships/notesSlide" Target="/ppt/notesSlides/notesSlide23.xml" Id="Rfe9acad0aeaa4d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0c03e0f939d4499" /><Relationship Type="http://schemas.openxmlformats.org/officeDocument/2006/relationships/notesSlide" Target="/ppt/notesSlides/notesSlide24.xml" Id="Rf5e27b65a30a4a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e61f5236144b26" /><Relationship Type="http://schemas.openxmlformats.org/officeDocument/2006/relationships/notesSlide" Target="/ppt/notesSlides/notesSlide25.xml" Id="R49efe165c64c4a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3ccab6599e463f" /><Relationship Type="http://schemas.openxmlformats.org/officeDocument/2006/relationships/notesSlide" Target="/ppt/notesSlides/notesSlide26.xml" Id="R2d74d8588e3347b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de5b651796423c" /><Relationship Type="http://schemas.openxmlformats.org/officeDocument/2006/relationships/notesSlide" Target="/ppt/notesSlides/notesSlide27.xml" Id="R8082048630264a5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974865b3c64bef" /><Relationship Type="http://schemas.openxmlformats.org/officeDocument/2006/relationships/notesSlide" Target="/ppt/notesSlides/notesSlide28.xml" Id="Rcb44630ba12c47f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ce5bee98cb42a2" /><Relationship Type="http://schemas.openxmlformats.org/officeDocument/2006/relationships/notesSlide" Target="/ppt/notesSlides/notesSlide29.xml" Id="R52f55cbfe4554ca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ae477747f24248" /><Relationship Type="http://schemas.openxmlformats.org/officeDocument/2006/relationships/notesSlide" Target="/ppt/notesSlides/notesSlide30.xml" Id="R7bd7a0c6e5f5406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b9a3938dcf4a88" /><Relationship Type="http://schemas.openxmlformats.org/officeDocument/2006/relationships/notesSlide" Target="/ppt/notesSlides/notesSlide31.xml" Id="R2b4481b6758e426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5cfba312e1431f" /><Relationship Type="http://schemas.openxmlformats.org/officeDocument/2006/relationships/notesSlide" Target="/ppt/notesSlides/notesSlide32.xml" Id="Raee7aa950f57450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ecd73469104554" /><Relationship Type="http://schemas.openxmlformats.org/officeDocument/2006/relationships/notesSlide" Target="/ppt/notesSlides/notesSlide33.xml" Id="R7c92ca83725042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E1AC9-ACE5-4721-ADE2-711B491C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CAFC28-DA6A-4ABC-81DC-1A96AF4B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089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D6E1426-640F-45FA-A36B-1EB46E57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37160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ՄԻԿՐՈԷԼԵԿՏՐԱՄԵԽԱՆԻԿԱԿԱՆ ՀԱՄԱԿԱՐԳԵՐ ԵՎ ՏՎԻՉՆԵՐ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9082B1A-B221-4E53-9625-208D08AA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57400"/>
            <a:ext cx="1033272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0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Տվիչների բնութագրերը 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379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ընտրությունը տվյալների թերթիկի միջոցով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1955508-A9B4-460F-84F8-5C5A9A2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315968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CCC465D-E26A-4A13-9356-97F66634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177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Դասախոսություն 2 / 16   ·   80 րոպե   ·   Բաժին Ա. Հիմունքներ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58F33AF-FA81-4D6E-9AD7-C3406D2E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Այսօր մեկ թիվ է որոշելու նախագծային ընտրությունը, և այդ թիվը առաջին էջում չկա։</a:t>
            </a:r>
          </a:p>
        </p:txBody>
      </p:sp>
    </p:spTree>
    <p:extLst>
      <p:ext uri="{BB962C8B-B14F-4D97-AF65-F5344CB8AC3E}">
        <p14:creationId xmlns:p14="http://schemas.microsoft.com/office/powerpoint/2010/main" val="14357008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5025E8-4070-4321-AA79-11BC7F18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2783371-4768-4BC0-8BB4-4DD718D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D068605-DAAC-4601-820E-34CE30C9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965172D-B51E-490A-9007-191A3E4A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4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Անցյալ դասախոսության հիմնական հարցերը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2DDA312-FF4E-4C68-AAF3-4865DD9E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3A7F22B-1AE4-414C-B980-61168BF6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Վերհիշում ենք երեք առանցքային հասկացություն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ED8D746-743A-4C72-8122-B4E9E086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566928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06FED9-0942-4074-AA50-DC4AD5E1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2057400"/>
            <a:ext cx="100584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8F19097-A0B3-4E13-AFC3-033AE2D7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17520"/>
            <a:ext cx="566928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EB5E20-7091-49B7-A788-36DE8F41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017520"/>
            <a:ext cx="100584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C2126"/>
                </a:solidFill>
              </a:defRPr>
            </a:pPr>
            <a:r>
              <a:rPr sz="1350" b="0">
                <a:solidFill>
                  <a:srgbClr val="1C2126"/>
                </a:solidFill>
                <a:latin typeface="Arial"/>
                <a:ea typeface="Arial"/>
                <a:cs typeface="Arial"/>
              </a:rPr>
              <a:t>Մեխանիկական կապակցումն ինչպե՞ս է ազդում չափման վրա։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7694297-C44D-461C-A5C4-E2515D65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566928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BEFB45-2F8A-40CA-ADD2-2173A048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3977640"/>
            <a:ext cx="100584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C2126"/>
                </a:solidFill>
              </a:defRPr>
            </a:pPr>
            <a:r>
              <a:rPr sz="1350" b="0">
                <a:solidFill>
                  <a:srgbClr val="1C2126"/>
                </a:solidFill>
                <a:latin typeface="Arial"/>
                <a:ea typeface="Arial"/>
                <a:cs typeface="Arial"/>
              </a:rPr>
              <a:t>Սարքի փոքրացումն ինչպե՞ս է փոխում ռեզոնանսային հաճախականությունը։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B987AF0-9A6B-4BB2-8391-48DE7635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928" y="2212848"/>
            <a:ext cx="9692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 i="0">
                <a:solidFill>
                  <a:srgbClr val="1C2126"/>
                </a:solidFill>
                <a:latin typeface="Arial"/>
                <a:ea typeface="Arial"/>
                <a:cs typeface="Arial"/>
              </a:rPr>
              <a:t>Ինչո՞ւ է ալիասինգն անդառնալի։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DB7D9E2-4F57-44C8-AC5C-416FF59A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12080"/>
            <a:ext cx="10874959" cy="7772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Այս երեք հարցերի պատասխանները հիմք են այսօրվա բաղադրիչի ընտրության համար։</a:t>
            </a:r>
          </a:p>
        </p:txBody>
      </p:sp>
    </p:spTree>
    <p:extLst>
      <p:ext uri="{BB962C8B-B14F-4D97-AF65-F5344CB8AC3E}">
        <p14:creationId xmlns:p14="http://schemas.microsoft.com/office/powerpoint/2010/main" val="20522427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48217A-A2A3-4008-9BC6-98B93F31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B5E26-FF8A-4B0B-B271-8B806FB9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D18AAA-0FBE-48F6-B4A6-76974D13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05ABBD4-D027-41A3-9D2C-A59FC068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Որտե՞ղ է այսօրվա թեման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1DFE17-6FAA-4BB3-9BC5-83AE93BD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55B8F8-FC60-45B5-8F92-EFAC7346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Վերհիշում․ անցյալ դասախոսության շղթան և այսօրվա օղակը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19D0701-B17A-4455-8593-2F099D2C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2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ՖԻԶԻԿԱԿԱՆ</a:t>
            </a:r>
          </a:p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ՄԵԾՈՒԹՅՈՒՆ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7CDAF44-897B-4195-AF40-DA5BD57B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2713C5-0306-449A-B4D2-63C1B29D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ՄԵԽԱՆԻԿԱԿԱՆ</a:t>
            </a:r>
          </a:p>
          <a:p xmlns:a="http://schemas.openxmlformats.org/drawingml/2006/main">
            <a:pPr algn="ctr">
              <a:buNone/>
            </a:pPr>
            <a:r>
              <a:rPr sz="122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ԿԱՊԱԿՑՈՒՄ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03AC49-8302-480C-9CFF-098986D7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CC917BA-311B-4240-9F72-77C46D6F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31750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ՓՈԽԱԿԵՐՊՈՒՄ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A83B74-81C2-4488-9C15-3E921F4F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D98324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B6EADD0-872E-44D2-9DE9-B854CC81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286000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ԱՆԱԼՈԳԱՅԻՆ ԱԶԴԱՆՇԱՆԻ</a:t>
            </a:r>
          </a:p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ՄՇԱԿՈՒՄ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01259B6-1B42-49B9-9143-2A3C1B3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313432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D7DE66C-8748-4631-9CE9-771E80E4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4059936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3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ՆՄՈՒՇԱՌՈՒՄ ԵՎ</a:t>
            </a:r>
          </a:p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ՔՎԱՆՏԱՑՈՒՄ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55C2C10-D3A8-4F01-BC9B-5C5431F4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08736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0914093-29B0-4956-A3C1-AF685DB8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059936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ԹՎԱՅԻՆ ԿՈԴԵՐ → ՄՄ</a:t>
            </a:r>
          </a:p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ՄԻԱՎՈՐՆԵՐ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EEE723C-4938-49F4-84C6-699995EB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08736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72D6E57-B238-414D-99D1-9CB25C05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4059936"/>
            <a:ext cx="2212848" cy="93268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8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ԺԱՄԱՆԱԿԱՅԻՆ ԴՐՈՇՄ,</a:t>
            </a:r>
          </a:p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ԳՐԱՆՑՈՒՄ, ՈՐՈՇՈՒՄ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D525931-79F0-46E0-953A-8D6C44AB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4087368"/>
            <a:ext cx="274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22" name="Right Arrow 21">
            <a:extLst xmlns:a="http://schemas.openxmlformats.org/drawingml/2006/main">
              <a:ext uri="{FF2B5EF4-FFF2-40B4-BE49-F238E27FC236}">
                <a16:creationId xmlns:a16="http://schemas.microsoft.com/office/drawing/2014/main" id="{1B81F03F-3BC0-4487-A2E8-E0B06013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651760"/>
            <a:ext cx="36576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ight Arrow 22">
            <a:extLst xmlns:a="http://schemas.openxmlformats.org/drawingml/2006/main">
              <a:ext uri="{FF2B5EF4-FFF2-40B4-BE49-F238E27FC236}">
                <a16:creationId xmlns:a16="http://schemas.microsoft.com/office/drawing/2014/main" id="{D0263703-573B-4121-8E0F-77444C69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651760"/>
            <a:ext cx="36576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ight Arrow 23">
            <a:extLst xmlns:a="http://schemas.openxmlformats.org/drawingml/2006/main">
              <a:ext uri="{FF2B5EF4-FFF2-40B4-BE49-F238E27FC236}">
                <a16:creationId xmlns:a16="http://schemas.microsoft.com/office/drawing/2014/main" id="{18157BD5-A268-4493-8D51-1D0BD1A0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651760"/>
            <a:ext cx="36576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Down Arrow 24">
            <a:extLst xmlns:a="http://schemas.openxmlformats.org/drawingml/2006/main">
              <a:ext uri="{FF2B5EF4-FFF2-40B4-BE49-F238E27FC236}">
                <a16:creationId xmlns:a16="http://schemas.microsoft.com/office/drawing/2014/main" id="{C6B97B9D-A7CB-4B70-831D-83AC07D3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3346704"/>
            <a:ext cx="201168" cy="566928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Left Arrow 25">
            <a:extLst xmlns:a="http://schemas.openxmlformats.org/drawingml/2006/main">
              <a:ext uri="{FF2B5EF4-FFF2-40B4-BE49-F238E27FC236}">
                <a16:creationId xmlns:a16="http://schemas.microsoft.com/office/drawing/2014/main" id="{444B8C62-223C-4630-B871-52562F63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4425696"/>
            <a:ext cx="365760" cy="201168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Left Arrow 26">
            <a:extLst xmlns:a="http://schemas.openxmlformats.org/drawingml/2006/main">
              <a:ext uri="{FF2B5EF4-FFF2-40B4-BE49-F238E27FC236}">
                <a16:creationId xmlns:a16="http://schemas.microsoft.com/office/drawing/2014/main" id="{7C7AB24B-AABE-4B46-B510-2D723B1D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425696"/>
            <a:ext cx="365760" cy="201168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2DCB76FB-56D5-497C-BA24-8A9A5873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96128"/>
            <a:ext cx="10874959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Այսօրվա աշխատանքը կատարվում է մինչև սարքավորումը ձեռք բերելը․ բաղադրիչն ընտրում ենք հաշվարկի հիման վրա։</a:t>
            </a:r>
          </a:p>
        </p:txBody>
      </p:sp>
    </p:spTree>
    <p:extLst>
      <p:ext uri="{BB962C8B-B14F-4D97-AF65-F5344CB8AC3E}">
        <p14:creationId xmlns:p14="http://schemas.microsoft.com/office/powerpoint/2010/main" val="1661499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07EC38-8AA8-4F67-9C83-D18A6B6F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A56C8B2-5776-4285-B537-AFC7EA13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87B1AF-19E3-49C9-B4E3-8474A74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0FDBDB-2D81-421A-A0A4-F9630ACD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Երկու սարք՝ առաջին էջի տվյալներով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86A512-BEFA-4275-A2AB-2FBBB674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7A9A93C-7DD1-4F3D-91C7-B52D1E2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Պատվերը պետք է ձևակերպել այսօր։ Ո՞րը կընտրեք։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AEC32FC-3FDE-4109-AAD1-4F84A7AF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10512"/>
            <a:ext cx="5349240" cy="3401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E384E11-5C43-4F95-95B6-02FB115C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10512"/>
            <a:ext cx="5349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ՍԱՐՔ  Ա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0CCB2C-6BB8-488C-9B38-21292D0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96312"/>
            <a:ext cx="5020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Եռառանցք արագաչափ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E0B92E-FB27-459A-803B-213CE75F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52927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Լուծաչափ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BB35A4-2C37-4637-B48B-1738CC14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2852927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16 բիթ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C2CD9C-A95E-4B52-892B-6BAF819B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399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6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Չափման լրիվ տիրույթ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AB2F5C3-4824-4FE3-920D-0BB467C4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3200399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±2 g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0ABBED-E594-4F7D-80B7-30285E13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47871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1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Զգայունություն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DC71D1B-CD2B-4488-8A36-EE17388C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3547871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0.061 mg/ԿՆԲ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5A59DA-1DDF-4135-9A64-F2BD7C3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95343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9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Աղմուկի սպ. խտություն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E99D15-9415-4A7E-9490-1D4CAB9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3895343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100 µg/√Հց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A6E3DF3-BADE-41A1-8124-218A6F6B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42815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Միավորի գին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863473-DB71-4497-BDBE-0625D898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988" y="4242815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€1.80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4CC536C-3377-44D4-BE63-8AEC7C9F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9160"/>
            <a:ext cx="5020056" cy="402336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DCED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«ԲԱՐՁՐ ԼՈՒԾԱՉԱՓ · ՑԱԾՐ ԱՂՄՈՒԿ»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C1F4EE9-02D7-47F0-B331-48E71EC9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810512"/>
            <a:ext cx="5349240" cy="3401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8DC16A6-B8AD-4768-BDA4-AF34487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1810512"/>
            <a:ext cx="53492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680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ՍԱՐՔ  Բ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34175EB-0851-4E5F-8808-6EAB676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96312"/>
            <a:ext cx="5020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Եռառանցք արագաչափ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9EC47C5-1C34-41FB-89E8-7E5DA819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2927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Լուծաչափ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B4F373B-B745-45EF-8C0A-02040EFA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428" y="2852927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14 բիթ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BBD529C-B2EA-4B70-91D6-4B619D8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399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6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Չափման լրիվ տիրույթ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A88B7B2-6BC0-4516-A6D4-52D7A446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428" y="3200399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±4 g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3E369D3-0B9F-40FD-B554-A489E480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47871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1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Զգայունություն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255CB5B8-9394-4F1A-B83C-7E899887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428" y="3547871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0.488 mg/ԿՆԲ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EF830B7-9B1E-4449-A990-33796B49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95343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9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Աղմուկի սպ. խտություն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50E0574-1FF9-40BA-91AD-47DC4322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428" y="3895343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100 µg/√Հց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79FCE47-3424-40DF-8302-6EAA0449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2815"/>
            <a:ext cx="24917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Միավորի գին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79D9376-8DA9-40BC-A9CA-6C13FC3F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428" y="4242815"/>
            <a:ext cx="24734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€4.20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E76F81F2-AC5C-4F31-AF60-5D7C6030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13248"/>
            <a:ext cx="10874959" cy="74980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Խնդիր՝ բացօթյա պայմաններում, 0–40 °C-ում, արևին հետևող շրջանակի թեքությունը չափել ±0.5° ճշտությամբ։</a:t>
            </a:r>
          </a:p>
        </p:txBody>
      </p:sp>
    </p:spTree>
    <p:extLst>
      <p:ext uri="{BB962C8B-B14F-4D97-AF65-F5344CB8AC3E}">
        <p14:creationId xmlns:p14="http://schemas.microsoft.com/office/powerpoint/2010/main" val="17116966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459BBD-14E9-40C9-BF0D-A9F8E2AC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16DCF36-E44F-46CC-8662-7981C701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AA9DB1E-B445-43D3-AA06-C8F1F19B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6D205F3-106C-4381-951D-B91305C9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F03B1B-7C89-4294-AFB9-EE06A66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6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Ո՞ր սարքը կընտրեք ±0.5° ճշտությամբ թեքություն չափելու համար։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DA5D500-00F9-49DD-ABA0-5D4FB48F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73853C6-3D24-48A6-81DE-63F8350D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17627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CA80327-501F-485C-B8CD-FBB0CDF7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8541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Սարք Ա — ութ անգամ ավելի բարձր լուծաչափ և ավելի ցածր գին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910DB0F-64C5-4BE4-B8A4-542486A5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6207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31A621A-FB35-45D1-A060-6C283E2E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98094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264938-E53A-4E14-8B20-A801545B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08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Սարք Բ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B31B7D4-4A54-4339-9BAC-A047E245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35E9493-FD71-4B10-A595-0EFEA296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78561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6F71F2-756B-4165-B66E-7C9E6F31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476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Միայն առաջին էջի տվյալներով որոշել հնարավոր չէ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CEB2D0F-71D1-45F0-A281-D9E4A2B8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Ընտրությունը հիմնավորեք միայն առաջին էջում ներկայացված տվյալներով։ Պատասխանը կվերանայենք հաշվարկից հետո։</a:t>
            </a:r>
          </a:p>
        </p:txBody>
      </p:sp>
    </p:spTree>
    <p:extLst>
      <p:ext uri="{BB962C8B-B14F-4D97-AF65-F5344CB8AC3E}">
        <p14:creationId xmlns:p14="http://schemas.microsoft.com/office/powerpoint/2010/main" val="2693957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A84EF1-3CB0-413E-A051-3C71D7E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345BC7E-0390-4F6E-9811-ADB6FAA2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02E251-C3FB-4728-89A1-FFBFB643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F03A5E-B7A9-477F-A317-F79845E9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Պահանջը նախ արտահայտեք թվով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6487AB3-53B1-4CAD-80D3-0D3D6F53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1CAC4AD-2E16-40D0-AF9B-DBEDE534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Սխալների հաշվեկշիռը հնարավոր չէ ուղղակիորեն համեմատել անկյան հետ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12F9B2-B18F-48D6-96AD-A635D7C3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03120"/>
            <a:ext cx="1087495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50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0.5° թեքություն  →  sin(0.5°) × 1 g  =  8.73 mg</a:t>
            </a:r>
            <a:r>
              <a:rPr sz="3100" b="1" i="0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566844A-12A1-450B-A58E-9DB37654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20440"/>
            <a:ext cx="10874959" cy="9601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8.73 mg-ը մեր ամբողջ օգտակար ազդանշանն է։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B201BEC-48F4-43F5-9D5A-4438EF1C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00600"/>
            <a:ext cx="10874959" cy="1344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21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Սխալի յուրաքանչյուր բաղադրիչ համեմատելու ենք 8.73 mg-ի հետ։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21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Դրանից մեծ արժեքն անթույլատրելի է, իսկ անհամեմատ փոքրը՝ ոչ էական՝ անկախ առաջին էջում դրա գրավչությունից։</a:t>
            </a:r>
          </a:p>
        </p:txBody>
      </p:sp>
    </p:spTree>
    <p:extLst>
      <p:ext uri="{BB962C8B-B14F-4D97-AF65-F5344CB8AC3E}">
        <p14:creationId xmlns:p14="http://schemas.microsoft.com/office/powerpoint/2010/main" val="4981726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518B6EB-8FE2-41DC-9CA7-77830DF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96CD4E3-9B86-4D99-AF86-685CAC12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2BC77EC-8D8D-4961-8851-060E296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80CB7B-4377-4740-837D-0B0A38BD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ԲԱԺԻՆ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AA17062-67F8-4CD0-BD73-1953FCCE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90461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Չորս հասկացություն,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որոնք հաճախ շփոթում են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376E9AE-39B3-4701-89D8-7FBCE814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127" y="256032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00" b="1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/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7DDEB60-A7DE-4429-842C-7C34521F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26E8F86-A315-42D4-B396-09372D9E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74959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639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Ճշտություն։ Ճշգրտություն։ Լուծաչափ։ Զգայունություն։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Տվիչների վերաբերյալ ճարտարագիտական վեճերի մեծ մասը ծագում է այս հասկացությունների շփոթից։</a:t>
            </a:r>
          </a:p>
        </p:txBody>
      </p:sp>
    </p:spTree>
    <p:extLst>
      <p:ext uri="{BB962C8B-B14F-4D97-AF65-F5344CB8AC3E}">
        <p14:creationId xmlns:p14="http://schemas.microsoft.com/office/powerpoint/2010/main" val="180911303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A1607D-FA4D-4D5B-873B-21735A1C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C7E903-E3CF-4E9B-BD17-3FB919D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884E5F7-6DA4-4779-8BE9-B20E771A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69DE220-7669-434B-97D1-F1CA45B7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Ճշտությունը ճշգրտություն չէ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34ADC5-D069-46EA-A920-CAD0087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829AEF-86EA-4771-BBB7-3F17094B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Նույն թիրախը՝ չորս տարբեր չափման արդյունք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39D5DCA4-D3A1-4D50-A67F-D8918AF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02536"/>
            <a:ext cx="2121408" cy="2121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A816074-2022-42E2-AC70-307C0E6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179" y="2405603"/>
            <a:ext cx="1315272" cy="1315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D0A816A-E0D9-4A48-B890-1922F693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032" y="2787456"/>
            <a:ext cx="551566" cy="551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DE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F7D4C37-287D-4230-86A3-603EE12E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552" y="3112618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EBE0F558-83D1-405F-83AB-485B6DA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267" y="2964119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B469A32-A7E8-4701-B6FA-23624634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3766" y="2900477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B0CA3A5-C452-4C4D-B785-83B21D83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695" y="3070190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23E250F-D16F-4F68-9ED7-79E43165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279392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ՃԻՇՏ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ԵՎ ՃՇԳՐԻՏ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9E96F36C-B98B-4677-A705-C00A3B1B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002536"/>
            <a:ext cx="2121408" cy="2121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412DF48D-72FB-480B-A883-6B9103A5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379" y="2405603"/>
            <a:ext cx="1315272" cy="1315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717DF9D-DADA-4273-B41C-CA229650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232" y="2787456"/>
            <a:ext cx="551566" cy="551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DE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C0BAB382-97CD-4E9B-99C0-D382FE00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15" y="3642970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E2B1B4B-9279-4429-9B86-3F66D695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171" y="3770254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F0077E5-AFEF-4217-8D17-F4D72BCD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673" y="3749040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5CF6E2E1-1EFD-44E0-B704-D18E76CB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6743" y="3579328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0835DC9-507F-496D-AB37-6D73982D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279392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ՃՇԳՐԻՏ, ԲԱՅՑ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ՈՉ ՃԻՇՏ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DF27FFF7-A15A-4524-BD50-E1F2EA7F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02536"/>
            <a:ext cx="2121408" cy="2121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017941B-ECE6-446A-A617-4BE85CB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579" y="2405603"/>
            <a:ext cx="1315272" cy="1315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162D1D89-3275-43B9-9ECC-3E5B184E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7432" y="2787456"/>
            <a:ext cx="551566" cy="551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DE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83D0D6FF-77A0-4DE1-B1EE-207CC42A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518" y="2454981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ADD11FD8-CB5B-4CCD-8FE0-0D10BDC5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101" y="3515685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FA27A246-C3AC-4A16-815B-D166A72E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380" y="3770254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FA08FF3-8967-45DE-88DC-06484945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453" y="2285269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CBC04B7-75ED-404C-B269-9A157AEA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4279392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ՃԻՇՏ, ԲԱՅՑ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39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ՈՉ ՃՇԳՐԻՏ</a:t>
            </a: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05F418B1-3257-444C-8D27-2351B0BD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002536"/>
            <a:ext cx="2121408" cy="21214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D99093D-69B6-48BF-BD1A-C9A713F9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779" y="2405603"/>
            <a:ext cx="1315272" cy="1315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F656BA11-ADE2-497C-B8C0-F2051FD3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632" y="2787456"/>
            <a:ext cx="551566" cy="5515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DEF"/>
          </a:solidFill>
          <a:ln xmlns:a="http://schemas.openxmlformats.org/drawingml/2006/main" w="12700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D3170C3E-3B52-4B09-B92D-3244831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287" y="2412553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0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C1943C4D-55B9-47C3-AFFF-E68E74EA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70" y="3855111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0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E505AA91-FD4B-40D6-BE9D-7C05377D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143" y="3345973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0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3A7D768C-8DB9-4C1A-83D4-04048E79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3588" y="2582266"/>
            <a:ext cx="113384" cy="113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680"/>
          </a:solidFill>
          <a:ln xmlns:a="http://schemas.openxmlformats.org/drawingml/2006/main" w="9525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400A829-8221-47DE-A2E3-1F6EA5A4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4279392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600" b="1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ԵՐԿՈՒՍՆ ԷԼ ՈՉ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C32205A5-97B0-4AB0-AE21-1A9C351A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30368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Կենտրոնը իրական արժեքն է։ Ճշգրտությունը ցույց է տալիս արդյունքների խմբավորման սերտությունը, իսկ ճշտությունը՝ խմբի մոտիկությունն իրական արժեքին։ Դրանք անկախ բնութագրեր են․ չափաբերմամբ ուղղվում է համակարգային շեղումը։</a:t>
            </a:r>
          </a:p>
        </p:txBody>
      </p:sp>
    </p:spTree>
    <p:extLst>
      <p:ext uri="{BB962C8B-B14F-4D97-AF65-F5344CB8AC3E}">
        <p14:creationId xmlns:p14="http://schemas.microsoft.com/office/powerpoint/2010/main" val="18898514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E15E25F-20EA-456E-A0BE-D6682885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71FC0CC-968B-4A56-8BB2-7A53A195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34A98D1-8219-46F7-9D51-E4656894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0F6817-876A-43B2-86A6-EF83A63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3A13080-A996-4E30-BA01-4D9669A2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Խցիկում ճնշումը հաստատուն է, իսկ իրական արժեքը՝ 1000.0 hPa։ Տվիչով կատարում են 100 չափում, և բոլոր արդյունքները 1012.3–1012.5 hPa միջակայքում են։ Տվիչը՝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A3C04D0-F1FE-40A6-9637-5D3E6D4B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248D0BF-0BB4-480D-A167-557D225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674BCD-97C8-4A8F-8E82-53A4691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Ճիշտ է, բայց ոչ ճշգրիտ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CC4A796-9ADE-48BC-92DF-CD2306E2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15BA9A3-B75A-4826-9EE3-DBE35C3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0954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5B6AD5D-5689-40C4-9E75-C782C044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868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Ճշգրիտ է, բայց ոչ ճիշտ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1DF9B3-6F49-4041-B003-C337DD0F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9534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F1F5745-851A-4C2B-BDE4-4EC2ADAA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1421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6BCB890-E51A-4769-ABD9-0DD23773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6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Ե՛վ ճիշտ է, և՛ ճշգրիտ. ցրվածքը ընդամենը 0.2 hPa է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557ED42-020F-4B9F-80DC-160A82A3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0016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D8F7726-D7EF-4F3D-A3F3-0B9680C8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818888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D733484-7094-49CD-8A1D-59A97CF6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8032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Ո՛չ մեկը, քանի որ լուծաչափը նշված չէ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5FA96F2-A999-4EB1-AE82-37B406A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33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Քվեարկեք ինքնուրույն, ապա քննարկեք ձեր ընտրությունը մեկ այլ ուսանողի հետ։</a:t>
            </a:r>
          </a:p>
        </p:txBody>
      </p:sp>
    </p:spTree>
    <p:extLst>
      <p:ext uri="{BB962C8B-B14F-4D97-AF65-F5344CB8AC3E}">
        <p14:creationId xmlns:p14="http://schemas.microsoft.com/office/powerpoint/2010/main" val="1252913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B83112-BE14-4CDC-8C79-7FA7123D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2C6AE9-743E-4EAE-AE49-16B0959E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4AED861-1077-4DF3-A9FF-237EBA5E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F05704-77AA-47F7-A278-66FCA65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2 ·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5241A6C-F8C8-4231-8B67-679E861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Խցիկում ճնշումը հաստատուն է, իսկ իրական արժեքը՝ 1000.0 hPa։ Տվիչով կատարում են 100 չափում, և բոլոր արդյունքները 1012.3–1012.5 hPa միջակայքում են։ Տվիչը՝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1EB954-08D3-428D-9F27-960EC7B6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8DA32F-13C6-4D76-8215-98FE6AF1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E4F3D9D-958A-47EA-B877-9943C90B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Ճիշտ է, բայց ոչ ճշգրիտ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CE4BEF0-A1F5-41E5-8338-70217FCA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7037E9E-DC4C-44D0-A2F4-B46A668B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0954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1ACE9D3-8AC9-495A-BEA1-4940EFB6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868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Ճշգրիտ է, բայց ոչ ճիշտ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56F892B-59DF-44CB-A58B-CE809141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9534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16C854-D4E1-499F-A467-07D12B68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1421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BC2DFC3-EE29-4B14-8045-577FD44D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6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Ե՛վ ճիշտ է, և՛ ճշգրիտ. ցրվածքը ընդամենը 0.2 hPa է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7ADDA32-20C1-4701-B210-E68795B3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0016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1ADDD74-DE74-4C7B-B77B-2EF0AA8F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818888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3F46105-D6CA-47E8-AE29-17DBD27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8032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Ո՛չ մեկը, քանի որ լուծաչափը նշված չէ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D37EBAD-9CD3-4487-A335-9233D45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40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Զրոյական շեղումը 12.4 hPa է, իսկ ցրվածքը՝ ընդամենը 0.2 hPa։ Բարձր ճշգրտություն, անբավարար ճշտություն՝ մինչև չափաբերումը։</a:t>
            </a:r>
          </a:p>
        </p:txBody>
      </p:sp>
    </p:spTree>
    <p:extLst>
      <p:ext uri="{BB962C8B-B14F-4D97-AF65-F5344CB8AC3E}">
        <p14:creationId xmlns:p14="http://schemas.microsoft.com/office/powerpoint/2010/main" val="5970722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7222B9-E1FA-4386-B02B-573ECD1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1FB902C-F717-4003-9098-5D47657B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9EA01B-04C0-47D2-B854-5FC2982E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1A05B4-5A35-4D9E-B483-9A10B18C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Կանոնը, որ արժե անգիր անել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254705B-EF5D-44F0-93E7-1A0DA41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75814F6-C8E4-4B08-AD97-1FDF1EF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80"/>
            <a:ext cx="3246120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9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ՀԱՄԱԿԱՐԳԱՅԻՆ ՍԽԱԼ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FC7FD4-48A8-41CC-B047-C82244DC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2057400"/>
            <a:ext cx="7498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չափաբերման խնդիր է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C103275-8CAE-45C2-8D6C-6D8B5DDE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2487168"/>
            <a:ext cx="749807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3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զրոյական շեղում, մասշտաբային գործակից՝ չափելի և ուղղելի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491A86A-20A6-49A1-BD9C-F0CD61D4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63240"/>
            <a:ext cx="3246120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9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ՊԱՏԱՀԱԿԱՆ ՍԽԱԼ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6DE8F3-FD40-485E-A551-4B122AE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3108960"/>
            <a:ext cx="7498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հաճախականային թողունակության խնդիր է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5BC0FF9-6B10-4451-9942-AB8B9B6B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3538728"/>
            <a:ext cx="7498079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6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աղմուկը նվազում է միջինացմամբ, սակայն նվազում է նաև արագագործությունը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0B19936-175A-4350-BD18-96E2B52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3246120" cy="84124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3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ԴՐԵՅՖ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86E1261-847F-4B96-8233-70DBAB46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160520"/>
            <a:ext cx="7498079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բաղադրիչի ընտրության խնդիր է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8F277E3-31C5-42E1-9397-A081B2D4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08" y="4590288"/>
            <a:ext cx="7498079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9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փոխվում է չափաբերումից հետո, ուստի մեկանգամյա չափաբերմամբ չի վերացվում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A19555D-B044-4711-8157-C92984AC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49240"/>
            <a:ext cx="10874959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Այս կանոնը 14-րդ դասախոսության և 3-րդ ու 5-րդ լաբորատոր աշխատանքների հիմքն է։ Այն կիրառելու եք 6-րդ շաբաթում։</a:t>
            </a:r>
          </a:p>
        </p:txBody>
      </p:sp>
    </p:spTree>
    <p:extLst>
      <p:ext uri="{BB962C8B-B14F-4D97-AF65-F5344CB8AC3E}">
        <p14:creationId xmlns:p14="http://schemas.microsoft.com/office/powerpoint/2010/main" val="11777950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D31A92-5136-468E-9F60-D99AB513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35E782C-89D2-49A6-A851-AD4EEAF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E4DF84A-6C68-4A99-AC4B-95AFCB5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9C5826C-406B-4778-AFA2-9C75A57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Տերմինները՝ ըստ խմբերի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AB0BAE-AA14-4E77-938A-AB7408F9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37FFBA9-D7DE-4855-BAC1-C5D2F579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Ստատիկ՝ անփոփոխ մուտքի դեպքում։ Դինամիկ՝ փոփոխվող մուտքի դեպքում։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41273A-C957-450E-90AD-C643004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53492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ՍՏԱՏԻԿ ԲՆՈՒԹԱԳՐԵՐ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D95CFD6-9C8B-4C8E-8B6F-9BCE07CB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057400"/>
            <a:ext cx="53492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ԴԻՆԱՄԻԿ ԲՆՈՒԹԱԳՐԵՐ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678F47E-0B46-4E77-89B0-2D0F0ECC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78892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3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Տիրույթ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2B42F8-EA80-4431-93EF-B0663217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278892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չափելի արժեքների նվազագույնից մինչև առավելագույն միջակայքը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461A64B-77D0-4D78-AA00-2F383E2D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788920"/>
            <a:ext cx="1920240" cy="390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Թողունակություն (BW)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7E92B9-4EF1-417E-A45F-4857BFFD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27889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առավելագույն հաճախականությունը, որը փոխանցվում է սահմանված ճշտությամբ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19F2907-026E-4631-8E21-8FAF327D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278124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Զգայունություն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4F2A200-741D-4B2D-A6F5-EEB1E44D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278124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մուտքի մեկ միավոր փոփոխությանը համապատասխանող ելքի փոփոխությունը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4E9C6E9-7E6D-4DCD-BA96-FF3A88A3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278124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Արձագանքման ժամանակ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D94229A-15AA-43DD-9A42-3FE87477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27812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5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աստիճանաձև մուտքից հետո հաստատման ժամանակը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D148477-AC2C-4B23-9EB9-B4D3CCE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76732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Լուծաչափ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E10BA70-A4D2-4F48-B9A2-08AD2149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767328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1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տարբերակելի ամենափոքր փոփոխությունը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B2B421F-012F-4629-997A-7733B591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76732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D98324"/>
                </a:solidFill>
                <a:latin typeface="Arial"/>
                <a:ea typeface="Arial"/>
                <a:cs typeface="Arial"/>
              </a:rPr>
              <a:t>ODR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91B7DB6-CE9E-43D0-875A-E0DE954A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3767328"/>
            <a:ext cx="3200400" cy="341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ելքային տվյալների հաճախություն՝ ոչ հաճախականային թողունակություն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526BF92-8A1E-4E8A-BDD8-113877B9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256532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8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Զրոյի շեղում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172BF07-A76A-49C7-8638-7D4C0417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256532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մուտքի զրոյական արժեքին համապատասխանող ելքը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D593558-5182-42B4-8285-AB2B4E5A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256532"/>
            <a:ext cx="1920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8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Աղմուկի խտություն (ASD)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9256223-CFCD-4AB1-954E-6AE7DF98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256532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4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աղմուկը՝ √Հց-ի հաշվով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0C67634-F4B1-4E4E-B267-DCC09B3B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745736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7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Գծայնություն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624D1E9-8BA4-4D79-896D-6E89BE09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745736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փոխանցման իրական բնութագրի շեղումը ուղիղ գծից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6615EA-3A65-405A-9058-44F4C24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74573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Խմբային հապաղում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0F2A52C-B38B-4CF2-83AA-A12C881D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4745736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ելքային արձագանքի ժամանակային հապաղումը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6F934A4-242F-44A9-8886-586FAC77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5234940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Հիստերեզիս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91554C13-29D3-4564-A865-4EB50005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5234940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ելքը կախվա՞ծ է մոտեցման ուղղությունից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1CBB4AF-576F-4B14-BBAC-D8874BF1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4940"/>
            <a:ext cx="1920240" cy="432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2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Միջառանցք. զգայունություն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C649B7C-6CC3-44BF-8B32-5ACD63F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523494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անցանկալի առանցքի ազդեցությունը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247A0C7-36D1-46BC-A5AE-74C21D9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5724144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Կրկնելիություն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C256B2F-5AB8-43E8-AAE4-D4269CEE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5724144"/>
            <a:ext cx="3657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նույն մուտքի դեպքում նույն արդյունքը՝ կրկնակի չափելիս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2149D18-1F99-4AA5-B9AF-705AFE3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724144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5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Դրեյֆ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738DB09-2EF8-496B-9F0C-3FCCB5B4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208" y="5724144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ելքի դանդաղ փոփոխությունը ժամանակի և ջերմաստիճանի ազդեցությամբ</a:t>
            </a:r>
          </a:p>
        </p:txBody>
      </p:sp>
    </p:spTree>
    <p:extLst>
      <p:ext uri="{BB962C8B-B14F-4D97-AF65-F5344CB8AC3E}">
        <p14:creationId xmlns:p14="http://schemas.microsoft.com/office/powerpoint/2010/main" val="12013092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0643D3-7C0B-4F2F-B7E6-24185165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DCE9AE-E5DC-4478-9CB7-24A8FBBB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95B940-9208-4A9D-B283-95168E1F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08BD10D-BA6F-4DBC-9D4E-54545F8D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ԲԱԺԻՆ 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3EF4BA8-39C7-4C52-86A5-251ADD56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90461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Ի՞նչ է իրականում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357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ասում տվյալների թերթիկը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4C2F3EA-48A1-41CA-97E7-E40C2533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127" y="256032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00" b="1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/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41A669-3A87-432F-B80C-385CD44F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B0F2B4-A846-4E1D-A8D2-A2D8589C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74959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Տվյալների թերթիկը պայմաններով սահմանված բնութագրերի փաստաթուղթ է, ոչ թե անվերապահ խոստում։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Գովազդային ցուցանիշը առաջին էջում է, իսկ իրական իմաստը՝ չափման պայմաններում։</a:t>
            </a:r>
          </a:p>
        </p:txBody>
      </p:sp>
    </p:spTree>
    <p:extLst>
      <p:ext uri="{BB962C8B-B14F-4D97-AF65-F5344CB8AC3E}">
        <p14:creationId xmlns:p14="http://schemas.microsoft.com/office/powerpoint/2010/main" val="81135702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27FE84-8FDF-4FBC-9CD5-9C73310B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6D2AE24-F5F3-4A0A-9908-3474F92C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D14A528-DE59-48AC-95FE-FA4E53EE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07C6F7-D574-4D5D-9F37-E70B4D8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Նախ կարդացե՛ք չափման պայմանները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CCB9CE-E7B9-4712-96AF-537ED6E8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F2E7AC-926E-4061-BECD-E14E302D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Միայն դրանից հետո՝ թվային արժեքը</a:t>
            </a:r>
          </a:p>
        </p:txBody>
      </p:sp>
      <p:graphicFrame>
        <p:nvGraphicFramePr>
          <p:cNvPr id="20" name="Table 7"/>
          <p:cNvGraphicFramePr/>
          <p:nvPr/>
        </p:nvGraphicFramePr>
        <p:xfrm>
          <a:off xmlns:a="http://schemas.openxmlformats.org/drawingml/2006/main" x="658368" y="1965960"/>
          <a:ext xmlns:a="http://schemas.openxmlformats.org/drawingml/2006/main" cx="10874955" cy="28529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489"/>
                <a:gridCol w="869996"/>
                <a:gridCol w="1087495"/>
                <a:gridCol w="869996"/>
                <a:gridCol w="1196245"/>
                <a:gridCol w="4023734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Պարամետր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Նվազ.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Բն.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Առավ.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6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Միավոր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Պայմաններ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Զգայունություն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0.061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mg/LSB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FS = ±2 g, 25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Զրոյական g-ի մակարդակ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±40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mg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°C, զոդումից հետո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Զրոյական g-ի ջերմաստիճանային գործակից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±0.5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mg/°C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−40…+85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9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Աղմուկի սպեկտրային խտություն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µg/√Hz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ODR = 200 Hz, BW = 50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2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Միջառանցք. զգայունություն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պատյան, ոչ տպասալ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9F4ED19-58F1-447C-B919-0738B770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12040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▸ Բոլորը բնորոշ (typ.) արժեքներ են։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1C9E69-3D67-44F5-91F2-1C809158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7" y="5012040"/>
            <a:ext cx="7315200" cy="673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7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Նվազագույն կամ առավելագույն սահման չկա․ դրանք բնորոշ, ոչ երաշխավորված արժեքներ են։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D37B225-7B28-4E24-BA37-DCC4598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70408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2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▸  Տողերի պայմանները տարբեր են։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FA4A446-EA1B-4BD6-BB3C-413AFC94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7" y="5670408"/>
            <a:ext cx="7315200" cy="6102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54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Տողերի պայմանները տարբեր են՝ 25 °C, 125 °C միջակայք և սահմանված BW։ Առանց պայմանների թվերը համադրելի չեն։</a:t>
            </a:r>
          </a:p>
        </p:txBody>
      </p:sp>
    </p:spTree>
    <p:extLst>
      <p:ext uri="{BB962C8B-B14F-4D97-AF65-F5344CB8AC3E}">
        <p14:creationId xmlns:p14="http://schemas.microsoft.com/office/powerpoint/2010/main" val="157261371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62E539-5C4D-45B0-8A3D-FB3156CE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81D8FC1-7869-43D6-96A6-764439CB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8CFC784-FADA-4B12-813A-F5803D5C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AD1486A-AC32-4330-BCC7-73715BFB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Տվյալների որոնում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6185E9-DF2C-4DA4-BF12-32BD752C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07B95F-4CE5-4FBD-99E6-79A91594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ISM330DHCX տվյալների թերթիկ · զույգերով · պատասխանի մոտ նշեք էջը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1475254-7F26-4ECA-818B-A30D3B40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502920" cy="5029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C5AA5A5-3D4E-4943-AFE0-2A79796C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057400"/>
            <a:ext cx="1024128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Սնման լարումների տիրույթները, ներառյալ առանձին I/O սնուցումը, եթե այն նախատեսված է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807AA38-5255-4797-8535-34FCF953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87752"/>
            <a:ext cx="502920" cy="5029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BCD834-0E2A-46D9-B3A0-565C47EF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679192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Զգայունությունը՝ յուրաքանչյուր ընտրվող լրիվ տիրույթի համար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43854EA-5829-464F-A2C6-1725F3D2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09544"/>
            <a:ext cx="502920" cy="5029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EBD533E-BE65-4BA7-8839-9296597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300984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3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Զրոյական g-ի շեղումը և դրա ջերմաստիճանային գործակիցը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8F14FA1-E598-4608-A44B-9475822B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31336"/>
            <a:ext cx="502920" cy="5029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2C9504-D32F-467B-8008-B25E6E81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922776"/>
            <a:ext cx="1024128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Աղմուկի սպեկտրային խտությունը և դրա նշման հաճախականային թողունակությունը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8B2F6C6-84E4-4E54-AC55-66611232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53128"/>
            <a:ext cx="502920" cy="5029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70C9A55-DEC7-4560-A9AE-37C84840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544568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Նույնականացման ռեգիստրը և սպասվող արժեքը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3FEA4F3-FD35-4D23-8650-3C842E39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502920" cy="5029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89C542A-EFC2-4A1F-8D8C-DAAB5A06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166360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Թվերի կարգավիճակը (typ./min./max.) և չափման ջերմաստիճանը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DB89BBD-4CD2-496B-AF70-84934CF4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79008"/>
            <a:ext cx="10874959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5-րդ կետը կօգտագործեք հաջորդ լաբորատոր աշխատանքում՝ տվիչի ինքնությունը հաստատելու համար։</a:t>
            </a:r>
          </a:p>
        </p:txBody>
      </p:sp>
    </p:spTree>
    <p:extLst>
      <p:ext uri="{BB962C8B-B14F-4D97-AF65-F5344CB8AC3E}">
        <p14:creationId xmlns:p14="http://schemas.microsoft.com/office/powerpoint/2010/main" val="9325830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51FC95-8734-462B-9DC7-76E5CA6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758448-817C-4C34-AA90-F92B5636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550D647-49D3-4D2E-AF3F-4A9C6B18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D79EF0-AC3D-4931-945F-D607148F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ԳՏԵՔ ԱՅՍ ՑՈՒՑԱՆԻՇԸ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208BBF9-D495-48A2-A869-39F99417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10874959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2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«Որքա՞ն կլինի սարքի միջառանցքային զգայունությունը՝ իմ տպասալին զոդելուց հետո»։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F5377A-1042-467D-975A-0C7035E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772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68BA34E-21A0-49F4-9D98-95D0B20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9960559" cy="11292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Այդ արժեքը տվյալների թերթիկում չկա և լինել չի կարող։ Այն տրված է պատյանի մեջ գտնվող բյուրեղի համար, իսկ ամրացման լարումները, զոդման անհամաչափությունն ու տպասալի ծռումը փոխում են այն։</a:t>
            </a:r>
          </a:p>
        </p:txBody>
      </p:sp>
    </p:spTree>
    <p:extLst>
      <p:ext uri="{BB962C8B-B14F-4D97-AF65-F5344CB8AC3E}">
        <p14:creationId xmlns:p14="http://schemas.microsoft.com/office/powerpoint/2010/main" val="148494405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2B18A7B-5789-48C6-B646-4769B25A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2C128ED-7CEA-44F8-B140-740707CB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4E565AF-8B93-4FBA-94AF-0CCB4D0D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7ED640E-B674-49E5-9A39-9C0EF97B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ՔՆՆԱՐԿՈՒՄ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5016610-B7F1-4992-A1A2-C942CEE2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40"/>
            <a:ext cx="10058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0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Ո՞ր ցուցանիշն էր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0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ամենադժվարը գտնել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35E7854-DE11-4E82-BF18-930EBD34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57600"/>
            <a:ext cx="10058400" cy="987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24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Ձեռք բարձրացրեք և բացատրեք՝ ինչո՞ւ էր դժվար։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24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Պատասխանը դեռ մի՛ ասեք։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F2281E9-FA0C-4D65-92FC-E696D3B1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10874959" cy="86868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Թվերի իմաստը չափման պայմաններում է։</a:t>
            </a:r>
          </a:p>
        </p:txBody>
      </p:sp>
    </p:spTree>
    <p:extLst>
      <p:ext uri="{BB962C8B-B14F-4D97-AF65-F5344CB8AC3E}">
        <p14:creationId xmlns:p14="http://schemas.microsoft.com/office/powerpoint/2010/main" val="213979151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75ACBF-6703-4293-A4C4-3FECE1C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A7578B6-ED71-4F8A-BB0D-B3EC4D63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03F3CC-B447-4146-8823-8B8F27FB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5F35930-A110-4981-ACD8-CDA7052C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ԲԱԺԻՆ 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725BBF7-3732-4464-A1FC-5BFB88C0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37360"/>
            <a:ext cx="90461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4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Այժմ՝ հաշվարկը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D1A76C-94E5-4E63-9EC3-68CF926A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127" y="256032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00" b="1" i="0">
                <a:solidFill>
                  <a:srgbClr val="6B7680"/>
                </a:solidFill>
                <a:latin typeface="Courier New"/>
                <a:ea typeface="Courier New"/>
                <a:cs typeface="Courier New"/>
              </a:rPr>
              <a:t/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F97E19-0D1D-4F6C-8629-80D37DB6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EF182BF-55B6-46CA-B662-EDCFDF9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0520"/>
            <a:ext cx="10874959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Չորս բաղադրիչ, մեկ պահանջ։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Վերջում կկարողանաք հաշվարկով հիմնավորել, թե որ սարքն է պետք ընտրել։</a:t>
            </a:r>
          </a:p>
        </p:txBody>
      </p:sp>
    </p:spTree>
    <p:extLst>
      <p:ext uri="{BB962C8B-B14F-4D97-AF65-F5344CB8AC3E}">
        <p14:creationId xmlns:p14="http://schemas.microsoft.com/office/powerpoint/2010/main" val="16920073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01B28C4-F9A5-4FED-AE1A-3964024B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F936D5-891B-4552-9B63-EF11C39F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064338-1555-4998-8173-1133CF1F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DA56873-CAEA-44E6-9115-9EAED929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5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Աղմուկի խտությունից՝ ՄՔՄ արժեք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252A56-AFDA-471F-9EEA-F1976490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C61BC17-887C-44CB-8C09-4684CB1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8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…հաճախականային թողունակությունն ընտրելուց հետո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E268737-6973-4AC5-BBE6-E5E43F34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80"/>
            <a:ext cx="10874959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spcAft>
                <a:spcPts val="600"/>
              </a:spcAft>
              <a:buNone/>
            </a:pPr>
            <a:r>
              <a:rPr sz="2370" b="1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Աղմուկի ՄՔՄ արժեք = աղմուկի սպեկտրային խտություն × √BW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37B6CE-DDFC-4791-B1DF-4B681FF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27248"/>
            <a:ext cx="10874959" cy="89611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100 µg/√Hz  ×  √50 Hz  =  100 × 7.07  =  707 µg  =  0.71 mg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5806E42-64FD-4C20-AA9F-5AEEE2AA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79392"/>
            <a:ext cx="3794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▸  Չափման միավորները հուշում են արդյունքը։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B1847E7-5AD1-4E65-9248-64FE3990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279392"/>
            <a:ext cx="7132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µg/√Hz × √Hz = µg։ Եթե միավորները չեն կրճատվում, սխալ մեծություն եք օգտագործել։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251545-A0CA-448C-910E-BAD3FA0A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3794760" cy="463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2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▸ Հաճախականային թողունակությունը, ոչ թե ODR-ը։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8C1E6EC-D456-43B1-AA66-C015E539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937760"/>
            <a:ext cx="7132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ODR-ը 200 Hz է։ √200-ի կիրառմամբ ստացվում է 1.41 mg՝ թվացյալ ճիշտ, բայց սխալ պատասխան։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1FCFEC-598A-4EDA-A250-8889254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96128"/>
            <a:ext cx="3794760" cy="472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▸ Թողունակությունը կիսելիս աղմուկը նվազում է √2 անգամ։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CBBD19B-C4AC-4CB1-8CEB-C26E62D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5596128"/>
            <a:ext cx="7132320" cy="6047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</a:pPr>
            <a:r>
              <a:rPr sz="155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Աղմուկը միայն տվիչի հատկություն չէ․ այն կախված է նաև ընտրված հաճախականային թողունակությունից։</a:t>
            </a:r>
          </a:p>
        </p:txBody>
      </p:sp>
    </p:spTree>
    <p:extLst>
      <p:ext uri="{BB962C8B-B14F-4D97-AF65-F5344CB8AC3E}">
        <p14:creationId xmlns:p14="http://schemas.microsoft.com/office/powerpoint/2010/main" val="81228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37215D-7CD8-42CE-B99C-71E3A5E8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28792E-CA78-48D8-8195-12E00064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8E6BD3-1646-40E3-BBDE-7B775E18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6D2ADE6-5608-47C5-BC63-69959BDB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3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7FA113-7A14-4D4B-9FBE-4E691E98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Աղմուկի սպեկտրային խտությունը 100 µg/√Hz է։ ODR = 200 Hz, իսկ BW = 50 Hz։ Որքա՞ն է արդյունքների աղմուկի ՄՔՄ արժեքը։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6BC14C9-7F9B-42DA-B3B8-15CDC5E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25BB2C-A967-405F-94E5-90A06DC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6334FCD-AEC7-4808-8531-4EF110D9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0.1 mg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347374D-E91C-41B9-A491-94779DB3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5428B1C-CE1F-4CE8-A258-FFDCEDD1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0954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B130164-68B0-41EB-8D00-9AE06BD5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868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0.7 mg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DD6D648-C8C2-4E62-811B-5CBC0438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9534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A493F1-FCA1-4EC6-B5D1-6AF83EBA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1421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92D0FB-714E-4FA6-A056-4D9264AF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6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1.4 mg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47AEBEA-48D1-49B1-8089-A198AE84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0016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43549A7-8812-4558-94DC-FB554FAF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818888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61BA2C4-09CF-4498-A513-39DE37C0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8032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5 mg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E7703A4-74C2-41D5-9F31-7262E50E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Յուրաքանչյուր սխալ տարբերակ համապատասխանում է որոշակի հաշվարկային սխալի։ Պատասխանեք ուշադիր։</a:t>
            </a:r>
          </a:p>
        </p:txBody>
      </p:sp>
    </p:spTree>
    <p:extLst>
      <p:ext uri="{BB962C8B-B14F-4D97-AF65-F5344CB8AC3E}">
        <p14:creationId xmlns:p14="http://schemas.microsoft.com/office/powerpoint/2010/main" val="20174772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9E0AD9-870E-4662-8BB5-A712DC13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F49CE4-8DA7-4BA7-A654-9C429AF0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70E9C8-C5D4-4AA9-BDBB-D72BF214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9D5C218-BB76-4934-B89E-DDE8150B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3 ·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812859-F07D-4C06-8A38-37714BEE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3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Աղմուկի սպեկտրային խտությունը 100 µg/√Hz է։ ODR = 200 Hz, իսկ BW = 50 Hz։ Որքա՞ն է արդյունքների աղմուկի ՄՔՄ արժեքը։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C34C16D-6B96-4DBF-9BF3-0F2FAA44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4DBA12-5992-4FAF-858B-3E2E0033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40487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168804-2C3D-47AC-9548-373A9306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401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0.1 mg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CEDE882-F9B7-4C54-81A8-F73EEEA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FB3B5B1-6E65-4C79-B2E5-6F7A2F54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20954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5B2D3A-F793-48CD-B708-D8E81A84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1868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0.7 mg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5D47B23-54B1-4986-A41B-21643789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9534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83CEB7-07BD-4C3D-A3D5-0E5E616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1421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DD803AC-E108-4FD1-952B-E1155262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2336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1.4 mg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0270253-1CDA-4615-8C66-D7F3F45C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00016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EBBC22-6CDC-4453-844D-A2331E5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818888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7458826-44D3-4634-B1CA-49EF02CD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28032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≈ 5 mg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33F646B-C8C4-49B4-ACC4-B21D5EA7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100 µg/√Hz × √50 Hz = 707 µg = 0.71 mg։ Համեմատեք այն 8.73 mg ազդանշանի հետ և որոշեք՝ արդյո՞ք աղմուկն է սահմանափակող գործոնը։</a:t>
            </a:r>
          </a:p>
        </p:txBody>
      </p:sp>
    </p:spTree>
    <p:extLst>
      <p:ext uri="{BB962C8B-B14F-4D97-AF65-F5344CB8AC3E}">
        <p14:creationId xmlns:p14="http://schemas.microsoft.com/office/powerpoint/2010/main" val="160358083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DDC1570-C324-4688-B21B-BDF893A4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E121573-DD16-43A5-A009-3B08CC50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C63FB0-1F4E-497C-865D-D101268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CFCAD6E-0DA0-4597-928C-AB468D7D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Եվս երեք բաղադրիչ․ դրանցից մեկն էական է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7048042-F02B-4479-B35C-2A2E9B73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E593F8C-661A-412D-901A-A9756D5A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3520440" cy="5943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ՔՎԱՆՏԱՑՄԱՆ ՍԽԱԼ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FB967EE-0918-4660-8888-59C449B2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51760"/>
            <a:ext cx="3520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0E7C86"/>
                </a:solidFill>
                <a:latin typeface="Courier New"/>
                <a:ea typeface="Courier New"/>
                <a:cs typeface="Courier New"/>
              </a:rPr>
              <a:t>LSB / √12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4248FA-8EE5-4423-B90A-D4922C70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401568"/>
            <a:ext cx="33375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Ա.  0.061/3.46 = 0.018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Բ.  0.488/3.46 = 0.141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85367FA-EE57-4A7B-A7C6-BEB8A1DF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34340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43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Երկու արժեքներն էլ աննշան են 8.73 mg-ի համեմատ։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8012221-BB84-4802-A60F-3BE7001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65960"/>
            <a:ext cx="3520440" cy="5943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6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ԶՐՈՅԱԿԱՆ ՇԵՂՈՒՄ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265BF32-105D-4687-94D9-45C9BE6B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2651760"/>
            <a:ext cx="3520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20" b="1">
                <a:solidFill>
                  <a:srgbClr val="0E7C86"/>
                </a:solidFill>
                <a:latin typeface="DejaVu Sans Mono"/>
                <a:ea typeface="DejaVu Sans Mono"/>
                <a:cs typeface="DejaVu Sans Mono"/>
              </a:rPr>
              <a:t>չափաբերվում է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9CF3CCF-8046-4EB4-9AF1-763A3EAE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3401568"/>
            <a:ext cx="33375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Ա.  ±40 mg  →  0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Բ.  ±10 mg  →  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3350E85-59D0-4027-B857-84AAA91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434340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6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Մեկ չափաբերմամբ այն ուղղվում է միայն տվյալ ջերմաստիճանում։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EC97C07-77DE-4205-ADDB-39B835DD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65960"/>
            <a:ext cx="3520440" cy="5943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C0392B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6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ՋԵՐՄԱՍՏԻՃԱՆԱՅԻՆ ԴՐԵՅՖ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94B8499-EAD8-4ECF-9E72-986E318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2651760"/>
            <a:ext cx="3520440" cy="56692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C0392B"/>
                </a:solidFill>
                <a:latin typeface="DejaVu Sans Mono"/>
                <a:ea typeface="DejaVu Sans Mono"/>
                <a:cs typeface="DejaVu Sans Mono"/>
              </a:rPr>
              <a:t>TC × ΔT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6CEC922-899E-435B-86AA-EF22E1F4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3401568"/>
            <a:ext cx="33375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Ա.  0.5 × 20 = 10.0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Բ.  0.1 × 20 =  2.0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064D67D-5F3A-42E0-AA15-B7335125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434340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37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Չափաբերվել է 20 °C-ում, աշխատում է 0–40 °C-ում, ուստի ΔT = ±20 °C։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93E8FCD-2FF5-4513-A395-DAD7B78E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49240"/>
            <a:ext cx="10874959" cy="82296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DFDC"/>
          </a:solidFill>
          <a:ln xmlns:a="http://schemas.openxmlformats.org/drawingml/2006/main" w="15875">
            <a:solidFill>
              <a:srgbClr val="C0392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Սարք Ա-ի զրոյական շեղման դրեյֆը 10 mg է, իսկ ամբողջ ազդանշանը՝ 8.73 mg։</a:t>
            </a:r>
          </a:p>
        </p:txBody>
      </p:sp>
    </p:spTree>
    <p:extLst>
      <p:ext uri="{BB962C8B-B14F-4D97-AF65-F5344CB8AC3E}">
        <p14:creationId xmlns:p14="http://schemas.microsoft.com/office/powerpoint/2010/main" val="45711374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AC878F7-DCDE-4BE4-909D-E833227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561150-3C54-4BE7-BFD9-159879FB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1D7AF47-18F9-43E9-A782-BE83300B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2482ED5-8853-450A-BBB0-A1DE1CA1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9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Սխալների հաշվեկշիռը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6984E99-D25B-400E-93F5-A7AA9DCB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48552A3-DA36-44CC-9E72-467CB832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7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Անկախ բաղադրիչները համակցվում են քառակուսիների գումարի քառակուսի արմատով (RSS)</a:t>
            </a:r>
          </a:p>
        </p:txBody>
      </p:sp>
      <p:graphicFrame>
        <p:nvGraphicFramePr>
          <p:cNvPr id="18" name="Table 7"/>
          <p:cNvGraphicFramePr/>
          <p:nvPr/>
        </p:nvGraphicFramePr>
        <p:xfrm>
          <a:off xmlns:a="http://schemas.openxmlformats.org/drawingml/2006/main" x="658368" y="1901952"/>
          <a:ext xmlns:a="http://schemas.openxmlformats.org/drawingml/2006/main" cx="10874957" cy="33604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4985"/>
                <a:gridCol w="1631243"/>
                <a:gridCol w="2066242"/>
                <a:gridCol w="3262487"/>
              </a:tblGrid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8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Սխալանքի բաղադրիչ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Սարք Ա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Սարք Բ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Որտեղից է եկել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Աղմուկ  (100 µg/√Hz × √50 Hz)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0.707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0.707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3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տվյալների թերթիկ × ընտրված BW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Քվանտացման աղմուկ  (LSB/√12)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0.018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0.141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2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լուծաչափ և չափման լրիվ տիրույթ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3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Զրոյի շեղման դրեյֆ  (TC × ΔT)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ջերմաստիճանային գործակից × 20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2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ԸՆԴԱՄԵՆԸ  (RSS)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10.02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2.13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√(քառակուսիների գումարի)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ԹԵՔՈՒԹՅԱՆ ԱՆԿՅԱՄԲ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0.574°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0.122°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asin(mg / 1000)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6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ՊԱՀԱՆՋ՝ ±0.5°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8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ՉԻ ԲԱՎԱՐԱՐՈՒՄ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9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բավարարում է՝ 4× պաշարով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պահանջ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E4B031B-8686-4061-A3A9-2A7886EE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58384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9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Բոլոր արժեքները՝ mg-ով։ BW = 50 Hz, չափաբերումը՝ 20 °C, աշխատանքային տիրույթը՝ 0–40 °C։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4FE486D-FFD7-449A-921E-F24595D3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42432"/>
            <a:ext cx="10874959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Գերակշռում է մեկ բաղադրիչ, որը նշված էր միայն տվյալների թերթիկի խորքում։</a:t>
            </a:r>
          </a:p>
        </p:txBody>
      </p:sp>
    </p:spTree>
    <p:extLst>
      <p:ext uri="{BB962C8B-B14F-4D97-AF65-F5344CB8AC3E}">
        <p14:creationId xmlns:p14="http://schemas.microsoft.com/office/powerpoint/2010/main" val="3780366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FFA5A11-817F-4B8C-B570-383A605A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F2D60B-E747-4027-9005-22EEBE8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83DABCC-2E60-4E2C-99DD-AF7F2571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3460A1-AD27-473D-AA04-4847E730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Այժմ գնահատենք լաբորատոր սարքը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6281862-4BC0-47CF-B92F-AC9769F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57F811C-89A0-4CFD-89BA-AB0F623B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ISM330DHCX · նույն հաշվեկշիռը՝ տվյալների թերթիկի typ. և max. արժեքներով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658368" y="1847088"/>
          <a:ext xmlns:a="http://schemas.openxmlformats.org/drawingml/2006/main" cx="10874957" cy="345643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489"/>
                <a:gridCol w="2174991"/>
                <a:gridCol w="2174991"/>
                <a:gridCol w="369748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2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Սխալանքի բաղադրիչ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ըստ typ.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ըստ max.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DS13012 Rev 6-ից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1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Աղմուկի սպեկտր. խտություն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60 µg/√Hz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100 µg/√Hz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8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երկուսն էլ նույն տողում են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Աղմուկ, × √50 Hz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0.424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0.707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ընտրված BW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Քվանտացման աղմուկ, LSB/√12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բիթ, ±2 g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7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Զրոյի շեղման TC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±0.1 mg/°C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±0.5 mg/°C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8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երկուսն էլ նույն տողում են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Դրեյֆ, × 20 °C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10.000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7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0–40 °C, տրամաչափ.՝ 20 °C-ում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3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ԸՆԴԱՄԵՆԸ (RSS)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2.05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10.02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9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√(քառակուսիների գումարի)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2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ԹԵՔՈՒԹՅԱՆ ԱՆԿՅԱՄԲ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0.117°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0.574°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Arial"/>
                          <a:ea typeface="Arial"/>
                          <a:cs typeface="Arial"/>
                        </a:rPr>
                        <a:t>asin(mg/1000)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ՊԱՀԱՆՋ՝ ±0.5°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21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բավարարում է՝ 4× պաշարով</a:t>
                      </a:r>
                    </a:p>
                  </a:txBody>
                  <a:tcPr marL="91440" marR="91440" marT="27432" marB="27432" anchor="ctr">
                    <a:solidFill>
                      <a:srgbClr val="DCED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20" b="1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ՉԻ ԲԱՎԱՐԱՐՈՒՄ</a:t>
                      </a:r>
                    </a:p>
                  </a:txBody>
                  <a:tcPr marL="91440" marR="91440" marT="27432" marB="27432" anchor="ctr">
                    <a:solidFill>
                      <a:srgbClr val="F7D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40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պահանջ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015A6E-0A74-4536-A692-E4AC0AB8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04688"/>
            <a:ext cx="10874959" cy="71323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15875">
            <a:solidFill>
              <a:srgbClr val="1A1F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Նույն սարքը, նույն պահանջը, բայց հրապարակված երկու սյունակները տալիս են տարբեր եզրակացություններ։</a:t>
            </a:r>
          </a:p>
        </p:txBody>
      </p:sp>
    </p:spTree>
    <p:extLst>
      <p:ext uri="{BB962C8B-B14F-4D97-AF65-F5344CB8AC3E}">
        <p14:creationId xmlns:p14="http://schemas.microsoft.com/office/powerpoint/2010/main" val="147782669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A0753A-99F8-4CE6-8BFF-0711F3BD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A8AE17-6950-4670-BBDC-BE30936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78D938-8E2D-4D0F-A558-FC121DF3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69DD62-F63B-4ADB-ABE6-52884D6A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1 ·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FB632A-2865-4D75-BA5E-32F1D518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26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Ո՞ր սարքը կընտրեք ±0.5° ճշտությամբ թեքություն չափելու համար։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30F0EDC-4BFB-40BE-8606-17D8519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5740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345BF1A-7D10-4059-86FE-E14202E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17627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A3E1B59-4C11-4A13-82C8-935C7EC8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8541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1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Սարք Ա — ութ անգամ ավելի բարձր լուծաչափ և ավելի ցածր գին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167750E-217C-4299-8F4D-ABEA8832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6207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83E6B37-E9FD-4ED3-B098-565CA0BC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98094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6EB10B6-D304-41AC-9F99-514FFF7B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9008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Սարք Բ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7A79BCA-64FA-4C1B-8EB5-8B0826FB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5766F9C-5171-4E0F-8E3A-6E7F2540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78561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55FDEF-3AAB-4880-A258-FFBD3054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9476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Միայն առաջին էջի տվյալներով որոշել հնարավոր չէ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9D24C0C-D916-4C8C-8A1E-6D5492F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Սկզբում ճիշտ պատասխանը C-ն էր, քանի որ տեղեկությունը բավարար չէր։ Հաշվարկից հետո ճիշտ է B-ն։</a:t>
            </a:r>
          </a:p>
        </p:txBody>
      </p:sp>
    </p:spTree>
    <p:extLst>
      <p:ext uri="{BB962C8B-B14F-4D97-AF65-F5344CB8AC3E}">
        <p14:creationId xmlns:p14="http://schemas.microsoft.com/office/powerpoint/2010/main" val="1572991246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225F927-1F70-4701-9C52-1975281E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50FD608-3F7F-4DF5-846B-5FC75217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7B12A73-C4A2-4016-85F9-AC39AE82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77F601-83DC-411F-9859-5539AFFD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ԵԶՐԱԿԱՑՈՒԹՅՈՒՆ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403E1A0-71D9-4345-9A14-101C0427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10874959" cy="2377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40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Սարք Ա-ն ունի ութ անգամ ավելի բարձր լուծաչափ,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10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սակայն չի բավարարում պահանջը։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04F763-F1D2-4D4B-B8DC-F1471EC9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1772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5B320E-52B7-4085-9161-97C754DE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9960559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Սարք Բ-ի 0.028° լուծաչափը պահանջվող 0.5°-ից 18 անգամ մանր է։ Ուստի լուծաչափը որոշիչ չէր․ վճռորոշը ջերմաստիճանային դրեյֆն էր։</a:t>
            </a:r>
          </a:p>
        </p:txBody>
      </p:sp>
    </p:spTree>
    <p:extLst>
      <p:ext uri="{BB962C8B-B14F-4D97-AF65-F5344CB8AC3E}">
        <p14:creationId xmlns:p14="http://schemas.microsoft.com/office/powerpoint/2010/main" val="81657687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34D829-E957-44B2-8AF3-75F3FF7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763E4D2-C684-4043-B620-6BE86228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6FEC3DB-276B-433D-8CA9-F039BC96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998894B-FDB4-4AEB-B2CE-49D6F361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Աշխատանք խմբերով. երեք թեկնածու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395A3A-E12C-4481-BA83-A82D7A4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200DA6C-6171-4E31-8BC7-46C1834A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Երեք հոգանոց խմբեր · ընտրեք մեկ սարք</a:t>
            </a:r>
          </a:p>
        </p:txBody>
      </p:sp>
      <p:graphicFrame>
        <p:nvGraphicFramePr>
          <p:cNvPr id="20" name="Table 7"/>
          <p:cNvGraphicFramePr/>
          <p:nvPr/>
        </p:nvGraphicFramePr>
        <p:xfrm>
          <a:off xmlns:a="http://schemas.openxmlformats.org/drawingml/2006/main" x="658368" y="1920240"/>
          <a:ext xmlns:a="http://schemas.openxmlformats.org/drawingml/2006/main" cx="7772400" cy="27432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99032"/>
                <a:gridCol w="1088136"/>
                <a:gridCol w="1088136"/>
                <a:gridCol w="1088136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Չափանիշ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F7F5F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Կշիռ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1">
                          <a:solidFill>
                            <a:srgbClr val="F7F5F1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91440" marR="91440" marT="27432" marB="27432" anchor="ctr">
                    <a:solidFill>
                      <a:srgbClr val="1A1F2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7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Բավարարում է ±0.5° պահանջը 0–40 °C-ում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պարտ.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9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Ընդհանուր սխալանքը՝ անկյան միավորով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37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բարձր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0.574°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0.122°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0.06°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0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Միավորի գինը՝ 500 հատ պատվիրելիս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միջին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€1.80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€4.20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€11.50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37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Սպառվող հոսանք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միջին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0.15 mA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0.18 mA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0.90 mA</a:t>
                      </a:r>
                    </a:p>
                  </a:txBody>
                  <a:tcPr marL="91440" marR="91440" marT="27432" marB="27432" anchor="ctr">
                    <a:solidFill>
                      <a:srgbClr val="F7F5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280" b="1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Գրադարանը հասանելի 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ցածր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այո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50" b="0">
                          <a:solidFill>
                            <a:srgbClr val="1A1F24"/>
                          </a:solidFill>
                          <a:latin typeface="DejaVu Sans Mono"/>
                          <a:ea typeface="DejaVu Sans Mono"/>
                          <a:cs typeface="DejaVu Sans Mono"/>
                        </a:rPr>
                        <a:t>ոչ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63EF854-4D98-4819-8DEB-3A39AA16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1920240"/>
            <a:ext cx="3063240" cy="9144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B7680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ՍԱՐՔ C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409C710-28A6-43B4-9AB4-FDF4865A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7" y="2971800"/>
            <a:ext cx="2926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16 բիթ, ±2 g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60 µg/√Hz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37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զրոյի շեղում՝ ±5 mg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DejaVu Sans Mono"/>
                <a:ea typeface="DejaVu Sans Mono"/>
                <a:cs typeface="DejaVu Sans Mono"/>
              </a:rPr>
              <a:t>TC՝ ±0.05 mg/°C</a:t>
            </a:r>
          </a:p>
          <a:p xmlns:a="http://schemas.openxmlformats.org/drawingml/2006/main">
            <a:pPr algn="l">
              <a:lnSpc>
                <a:spcPct val="145000"/>
              </a:lnSpc>
              <a:buNone/>
            </a:pPr>
            <a:r>
              <a:rPr sz="1600" b="0" i="0">
                <a:solidFill>
                  <a:srgbClr val="1A1F24"/>
                </a:solidFill>
                <a:latin typeface="Courier New"/>
                <a:ea typeface="Courier New"/>
                <a:cs typeface="Courier New"/>
              </a:rPr>
              <a:t>€11.50, 0.9 mA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E4F56B3-B177-4427-AFA2-7550F6B4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AECD8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Գրեք մեկ նախադասություն․ «Ընտրում ենք Սարք ___-ը, որովհետև ___»՝ նշելով գերակշռող սխալի բաղադրիչը, ոչ թե առաջին էջի ցուցանիշը։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186D47D-F673-4FCA-9B86-9F19265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15000"/>
            <a:ext cx="10874959" cy="673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Սարք C-ն ավելի թանկ է, բայց պահանջից ավելի օգտակար հնարավորություն չի ապահովում․ սա ավելորդ ծախս է։</a:t>
            </a:r>
          </a:p>
        </p:txBody>
      </p:sp>
    </p:spTree>
    <p:extLst>
      <p:ext uri="{BB962C8B-B14F-4D97-AF65-F5344CB8AC3E}">
        <p14:creationId xmlns:p14="http://schemas.microsoft.com/office/powerpoint/2010/main" val="44735460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52D42A3-2986-435F-A18F-5D3E1D2B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0D1631B-C55F-418C-926D-17A4174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F861D6-228E-4B6F-8E6A-946F0171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EFABD1-DD62-43AA-9F64-0D724197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ՔՎԵԱՐԿՈՒԹՅՈՒՆ 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9F37C3-6261-4D26-857D-525C238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725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 m ջրամբարում պահանջվում է ±20 mm ճշտություն՝ 5–35 °C-ում։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725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P՝ ±0.25 % FS սխալի գոտի՝ 0–50 °C-ում։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725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Q՝ ±0.05 % FS՝ 25 °C-ում, ջերմաստիճանային գործակիցը նշված չէ։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A2533C-C392-4C74-93C3-B9102A0D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B5B3898-58CD-4FF1-B4E6-CFF75DA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3946F67-D2DE-4BF4-AAD5-94FBCDBD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 Q — հայտարարված ճշտությունը հինգ անգամ բարձր է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60B0C48-D7F2-47EF-B952-C088906B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D79A86B-B98E-48FB-B18F-AEA95BD3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76B372B-418B-487D-A2DD-4C026456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 P — սահմանները տրված են 0–50 °C ամբողջ տիրույթի համար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7DD5020-34BF-41E3-9D7B-4624CFE2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9FECFF9-2A7D-40D1-B584-81C98CCF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005AAA0-1BC2-4E59-84FF-CE54E47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Ցանկացածը․ ջերմաստիճանային գործակիցը կարելի է չափել հետո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DB75E1F-113B-429A-94BF-98C81F8C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F518659-7563-4A8C-A87C-C6D9A99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A2CEDBC-9E09-471C-B759-40BFAFEC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 Q՝ տեղադրումից առաջ 25 °C-ում չափաբերված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FD6769D-F713-4A5C-A09F-FE0F6554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Չափվող մեծությունն այլ է, բայց ընտրության սկզբունքը նույնն է։</a:t>
            </a:r>
          </a:p>
        </p:txBody>
      </p:sp>
    </p:spTree>
    <p:extLst>
      <p:ext uri="{BB962C8B-B14F-4D97-AF65-F5344CB8AC3E}">
        <p14:creationId xmlns:p14="http://schemas.microsoft.com/office/powerpoint/2010/main" val="196148498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587FEC-4516-476C-8EA1-A3D8DE10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92A4AF2-C9CF-4D3A-914C-16B213F4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AA0F36-02C6-4276-98B9-A29F32B5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A416BA-0D74-4704-8067-B20B293C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ՔՎԵԱՐԿՈՒԹՅՈՒՆ 4 · ՊԱՏԱՍԽԱՆ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00F024B-6813-45B5-87F5-816EC27A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8368"/>
            <a:ext cx="10874959" cy="1755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725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 m ջրամբարում պահանջվում է ±20 mm ճշտություն՝ 5–35 °C-ում։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725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P՝ ±0.25 % FS սխալի գոտի՝ 0–50 °C-ում։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725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Q՝ ±0.05 % FS՝ 25 °C-ում, ջերմաստիճանային գործակիցը նշված չէ։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00D9F34-6A64-4F2E-A647-B2E4E2A6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87168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84E6BC-F3B2-423C-A45E-F6727D44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606040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7D3F843-8ADD-43FD-AC97-801F0E5B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5184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 Q — հայտարարված ճշտությունը հինգ անգամ բարձր է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DAE74B1-BA8D-4440-A308-B8933868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91840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3175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E6CB309-9CC2-467A-918E-B93FE397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10712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0E7C8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361E2F-818F-464F-BA5A-6673D340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19856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 P — սահմանները տրված են 0–50 °C ամբողջ տիրույթի համար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37E74E-F069-47E5-A7F1-5BF50450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96512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264CAE-1930-46F0-B039-6AA5A58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215384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A340FD7-8257-4E4A-905B-AE112A05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24528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Ցանկացածը․ ջերմաստիճանային գործակիցը կարելի է չափել հետո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CC111B9-2ED6-43FE-A0C2-D0B3D878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01184"/>
            <a:ext cx="10874959" cy="658368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4E2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40446FE-0D6A-42BC-AE2B-1E16BCDB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5020056"/>
            <a:ext cx="457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CF4903-31C9-46EE-BE9C-473D6464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86911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 Q՝ տեղադրումից առաջ 25 °C-ում չափաբերված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37D3C9-EDDA-4A6C-820B-29EC4B1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41264"/>
            <a:ext cx="10874959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500" b="0" i="1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Ամբողջ աշխատանքային տիրույթի համար նշված սխալի գոտին ավելի հուսալի չափանիշ է, քան մեկ ջերմաստիճանի ճշտությունը։ Չնշված գործակցի սահմաններն անհայտ են։</a:t>
            </a:r>
          </a:p>
        </p:txBody>
      </p:sp>
    </p:spTree>
    <p:extLst>
      <p:ext uri="{BB962C8B-B14F-4D97-AF65-F5344CB8AC3E}">
        <p14:creationId xmlns:p14="http://schemas.microsoft.com/office/powerpoint/2010/main" val="62725032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6BAD394-8EBE-4274-A9B7-1E48CC80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62821D6-8DDC-41AC-9765-EBB4E628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087096C-1E97-49AD-9E39-888FF419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F6E3EC5-8FB9-4646-991E-EF85164F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Բաղադրիչի ընտրության կանոնը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06A745-BF56-47EB-B6AC-C3DD0E8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36A000-7DDB-420F-81A9-61C2F5B8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3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Ծրագրային գրադարանը առավելություն է, բայց ոչ տեխնիկական պահանջ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D86CF3C-3A02-455C-A597-D8ABE98C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10874959" cy="13716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F24"/>
          </a:solidFill>
          <a:ln xmlns:a="http://schemas.openxmlformats.org/drawingml/2006/main" w="38100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«Սարքը մի՛ ընտրեք միայն Arduino գրադարանի առկայությամբ։</a:t>
            </a:r>
          </a:p>
          <a:p xmlns:a="http://schemas.openxmlformats.org/drawingml/2006/main">
            <a:pPr algn="ctr">
              <a:buNone/>
            </a:pPr>
            <a:r>
              <a:rPr sz="23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Ուսումնասիրեք նաև դրա կարգավորումն ու տվյալների ուղին»։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FD7653F-8D3E-49B9-956C-787A93F6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10874959" cy="740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30" b="1" i="0">
                <a:solidFill>
                  <a:srgbClr val="C0392B"/>
                </a:solidFill>
                <a:latin typeface="DejaVu Sans"/>
                <a:ea typeface="DejaVu Sans"/>
                <a:cs typeface="DejaVu Sans"/>
              </a:rPr>
              <a:t>Սարք Ա-ի համար գրադարան կար, բայց այն չէր բավարարում պահանջին։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B1154BA-F930-413A-8A5F-3445428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26280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Ընտրության հիմքը ճարտարագիտական գնահատման տվյալներն են․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EBD7106-667F-4AF9-BA37-4657F44B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8348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ընտրելի չափման տիրույթ և ODR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34449C3-9B30-4ACF-BCE9-02EA7CB9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498348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փաստաթղթավորված BW և աղմուկ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442C035-A336-4AC6-9F23-592620A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98348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ինքնաստուգման գործառույթ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086E014-CC6C-4C42-8181-A008108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498348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տվյալների պատրաստ լինելու ընդհատում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30CCD1D-2D62-4AC0-9A58-FFF3A20D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3212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FIFO՝ ըստ անհրաժեշտության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1DC174D-A516-40A0-B6FC-308275A4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553212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հասանելի ռեգիստրային քարտեզ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B99305F-BA38-4682-A2EE-3D9F9AA5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532120"/>
            <a:ext cx="26060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ամբողջական տվյալների թերթիկ</a:t>
            </a:r>
          </a:p>
        </p:txBody>
      </p:sp>
    </p:spTree>
    <p:extLst>
      <p:ext uri="{BB962C8B-B14F-4D97-AF65-F5344CB8AC3E}">
        <p14:creationId xmlns:p14="http://schemas.microsoft.com/office/powerpoint/2010/main" val="209518037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273092-2837-4049-85F8-25745D84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3DF0ED-8BE9-4061-92F5-BAA9A101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E98BD5-70EC-4EA4-974D-23C91432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8D32AB5-B52C-4247-BF28-DCCCDD77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Հիշելու չորս դրույթ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E83C15E-243D-4CE3-A5A4-E45FBD80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70EAC0E-F5D9-4C47-8198-1F4D8E72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19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892B363-84D6-4B1C-816C-83E5DADD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1856231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Պահանջը նախ վերածեք թվի, ապա կարդացեք տվյալների թերթիկը։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0D52652-FC3A-4024-B69B-4E87A2F2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258567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0.5°-ը վերածվեց 8.73 mg-ի, որն էլ որոշեց հետագա ամբողջ վերլուծությունը։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D82A7B7-6698-4D39-857E-FEB1EA64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98647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48B398F-26C1-4ADA-B131-3CAAD6D0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2880359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Գտեք գերակշռող սխալի բաղադրիչը․ մնացածը երկրորդական է։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881845A-DBA5-4B55-B6F7-816C383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282695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8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10 mg և 0.7 mg բաղադրիչների RSS-ը 10.02 mg է․ փոքր բաղադրիչը գրեթե չի փոխում արդյունքը։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93D0EA2-6581-4145-A51E-CE3FA6C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22775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104059F-BCBB-44CF-9EE8-26895823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3904487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Լուծաչափը, ճշտությունը և ճշգրտությունը տարբեր բնութագրեր են։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5DD38B2-E8A2-41C1-8E60-769FF13C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306823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Համակարգային սխալ → չափաբերում։ Պատահական սխալ → BW։ Դրեյֆ → բաղադրիչի ընտրություն։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521366D-C8B0-4A8A-B626-8559E8AD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46903"/>
            <a:ext cx="68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DCEDEF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9F69DDA-BE3A-48B8-910E-81D341D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4928615"/>
            <a:ext cx="10241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Առանց չափման պայմանների թիվը իմաստ չունի։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85B04F-C639-4602-AA88-CAF685E3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608" y="5330951"/>
            <a:ext cx="1024128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25 °C-ում տրված typ. արժեքը երաշխիք չէ, իսկ չնշված գործակցի սահմաններն անհայտ են։</a:t>
            </a:r>
          </a:p>
        </p:txBody>
      </p:sp>
    </p:spTree>
    <p:extLst>
      <p:ext uri="{BB962C8B-B14F-4D97-AF65-F5344CB8AC3E}">
        <p14:creationId xmlns:p14="http://schemas.microsoft.com/office/powerpoint/2010/main" val="256338093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B8AFC9D-865C-4999-85CD-E45755E2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DD07E4-E5BA-4DA3-B080-BE37C495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E8ED2C-13A1-4384-B156-560E6568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6B768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AD49E4F-ACC3-4F97-8C73-E358245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"/>
            <a:ext cx="108749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Ելքի թերթիկ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BB9E36B-2A27-4FFE-AB27-5EE1EF6E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88720"/>
            <a:ext cx="1371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6A6706-30C1-46CB-A60A-0F46DA5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10874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 i="1">
                <a:solidFill>
                  <a:srgbClr val="6B7680"/>
                </a:solidFill>
                <a:latin typeface="DejaVu Sans"/>
                <a:ea typeface="DejaVu Sans"/>
                <a:cs typeface="DejaVu Sans"/>
              </a:rPr>
              <a:t>Անանուն · հանձնեք դուրս գալիս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D3E2797-6D99-41D1-B32C-9F02B9DE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3520440" cy="62179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15875">
            <a:solidFill>
              <a:srgbClr val="0E7C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1 · ՀԱՇՎԱՐԿ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4F45983-95F9-4A13-A82B-B6FF5B41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34640"/>
            <a:ext cx="33375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Տվիչի աղմուկի սպեկտրային խտությունը 200 µg/√Hz է։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44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Սահմանում եք BW = 100 Hz։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Որոշե՛ք RMS աղմուկը։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D9E1755-A64D-439C-8D34-1D600AB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1965960"/>
            <a:ext cx="3520440" cy="62179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98324"/>
          </a:solidFill>
          <a:ln xmlns:a="http://schemas.openxmlformats.org/drawingml/2006/main" w="15875">
            <a:solidFill>
              <a:srgbClr val="D9832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9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2 · ԴԱՏՈՂՈՒԹՅՈՒՆ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D391ADC-9A43-426E-8677-1515A00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834640"/>
            <a:ext cx="33375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Ո՞ր բնութագիրն եք այսուհետ ստուգելու՝ նախքան առաջին էջի ցուցանիշը։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46EBB24-2555-4852-85FD-1AA3A361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65960"/>
            <a:ext cx="3520440" cy="621792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B7680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3 · ԱՆՀԱՍԿԱՆԱԼԻ ԿԵՏ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88E192-6203-4528-BEF8-35E8C20B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834640"/>
            <a:ext cx="333756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Ո՞ր հարցում եք այսօր ամենաքիչ վստահ։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800" b="0" i="0">
                <a:solidFill>
                  <a:srgbClr val="1A1F24"/>
                </a:solidFill>
                <a:latin typeface="Arial"/>
                <a:ea typeface="Arial"/>
                <a:cs typeface="Arial"/>
              </a:rPr>
              <a:t>Պատասխանեք մեկ նախադասությամբ։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B779998-20BC-444E-8EC6-E0F491C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57800"/>
            <a:ext cx="10874959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5F1"/>
          </a:solidFill>
          <a:ln xmlns:a="http://schemas.openxmlformats.org/drawingml/2006/main" w="15875">
            <a:solidFill>
              <a:srgbClr val="6B768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54864" tIns="27432" rIns="54864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1A1F24"/>
                </a:solidFill>
                <a:latin typeface="DejaVu Sans"/>
                <a:ea typeface="DejaVu Sans"/>
                <a:cs typeface="DejaVu Sans"/>
              </a:rPr>
              <a:t>1-ին հարցը ստուգում է հաշվարկային հմտությունը, իսկ 2-րդ և 3-րդ հարցերը՝ ձեր դատողությունն ու բաց մնացած հարցերը։</a:t>
            </a:r>
          </a:p>
        </p:txBody>
      </p:sp>
    </p:spTree>
    <p:extLst>
      <p:ext uri="{BB962C8B-B14F-4D97-AF65-F5344CB8AC3E}">
        <p14:creationId xmlns:p14="http://schemas.microsoft.com/office/powerpoint/2010/main" val="29588320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741B73-540F-49FF-A226-92EE35E1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1006E26-EBC4-47B4-9586-5605EDC4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7A848C"/>
                </a:solidFill>
                <a:latin typeface="DejaVu Sans"/>
                <a:ea typeface="DejaVu Sans"/>
                <a:cs typeface="DejaVu Sans"/>
              </a:rPr>
              <a:t>MEMS և տվիչներ  ·  Դասախոսություն 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F2B911-7872-4FF4-A943-AF1C1902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927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 i="0">
                <a:solidFill>
                  <a:srgbClr val="7A848C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C14A74D-0BC2-49D5-AED7-EF01072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"/>
            <a:ext cx="108749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ՀԱՋՈՐԴ ԹԵՄԱՆ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1A74C06-ADE5-49C4-ADC0-9AE243D7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344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529" b="1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Երեքշաբթի՝ Լաբորատոր աշխատանք 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97FA3B8-57B9-41B9-9362-D2111B6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80"/>
            <a:ext cx="10058400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10" b="1" i="0">
                <a:solidFill>
                  <a:srgbClr val="0E7C86"/>
                </a:solidFill>
                <a:latin typeface="DejaVu Sans"/>
                <a:ea typeface="DejaVu Sans"/>
                <a:cs typeface="DejaVu Sans"/>
              </a:rPr>
              <a:t>Տվյալների թերթիկից մինչև տվյալներ․ բերեք ստորագրված նախալաբորատոր թերթիկը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C600FBC-1AE8-41CC-9316-4AF5384E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106070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1900" b="0" i="0">
                <a:solidFill>
                  <a:srgbClr val="B8C0C6"/>
                </a:solidFill>
                <a:latin typeface="DejaVu Sans"/>
                <a:ea typeface="DejaVu Sans"/>
                <a:cs typeface="DejaVu Sans"/>
              </a:rPr>
              <a:t>Արդեն գտել եք սարքի նույնականացման ռեգիստրը։ Երեքշաբթի այն կկարդաք միկրոսխեմայից և կհաստատեք տվիչի ինքնությունը։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30770CE-709B-4AF4-B6D1-E6DC3544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69080"/>
            <a:ext cx="13716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80F07E7-7C52-4035-AA53-0C8A632F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370832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D98324"/>
                </a:solidFill>
                <a:latin typeface="DejaVu Sans"/>
                <a:ea typeface="DejaVu Sans"/>
                <a:cs typeface="DejaVu Sans"/>
              </a:rPr>
              <a:t>ԱՅՆՈՒՀԵՏԵՎ՝ ԴԱՍԱԽՈՍՈՒԹՅՈՒՆ 3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203EB-9F7E-45FF-9EC3-AFC91820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54880"/>
            <a:ext cx="10332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</a:pPr>
            <a:r>
              <a:rPr sz="2000" b="0" i="0">
                <a:solidFill>
                  <a:srgbClr val="F7F5F1"/>
                </a:solidFill>
                <a:latin typeface="DejaVu Sans"/>
                <a:ea typeface="DejaVu Sans"/>
                <a:cs typeface="DejaVu Sans"/>
              </a:rPr>
              <a:t>Ֆիզիկական մեծությունից մինչև վստահելի թվային նմուշներ՝ նմուշառում, ալիասինգ, քվանտացում և ԱԹՓ-ի ճիշտ կարգավորում։</a:t>
            </a:r>
          </a:p>
        </p:txBody>
      </p:sp>
    </p:spTree>
    <p:extLst>
      <p:ext uri="{BB962C8B-B14F-4D97-AF65-F5344CB8AC3E}">
        <p14:creationId xmlns:p14="http://schemas.microsoft.com/office/powerpoint/2010/main" val="116526175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2026-09-08T17:52:07.6060000Z</dcterms:created>
  <dcterms:modified xsi:type="dcterms:W3CDTF">2026-09-08T17:52:07.6060000Z</dcterms:modified>
</coreProperties>
</file>