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BEFORE THE BELL: have the muddiest-point list from Lecture 1 in front of you, and</a:t>
            </a:r>
          </a:p>
          <a:p>
            <a:r>
              <a:t>have two real datasheets ready — printed, or on the students' laptops.</a:t>
            </a:r>
          </a:p>
          <a:p/>
          <a:p>
            <a:r>
              <a:t>Open with the muddiest points (next slide). Do not skip it: answering last week's</a:t>
            </a:r>
          </a:p>
          <a:p>
            <a:r>
              <a:t>confusions in the first two minutes is the single highest-return habit available</a:t>
            </a:r>
          </a:p>
          <a:p>
            <a:r>
              <a:t>to you, and in a first offering it is also how you find out what is not landing.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0:00–0:02. TEMPLATE SLIDE — you must fill it in before class.</a:t>
            </a:r>
          </a:p>
          <a:p/>
          <a:p>
            <a:r>
              <a:t>Transcribe the three most frequent muddiest points from Lecture 1's exit tickets</a:t>
            </a:r>
          </a:p>
          <a:p>
            <a:r>
              <a:t>and answer each in about 25 seconds. Name the concept, never the student.</a:t>
            </a:r>
          </a:p>
          <a:p/>
          <a:p>
            <a:r>
              <a:t>If the tickets show that scaling (Poll 3) is still unresolved for a large part of</a:t>
            </a:r>
          </a:p>
          <a:p>
            <a:r>
              <a:t>the room, put k ∝ L and m ∝ L³ back on the board now and leave them there — you</a:t>
            </a:r>
          </a:p>
          <a:p>
            <a:r>
              <a:t>will want them again when noise density comes up at minute 50.</a:t>
            </a:r>
          </a:p>
          <a:p/>
          <a:p>
            <a:r>
              <a:t>If you genuinely received no useful tickets, delete this slide rather than</a:t>
            </a:r>
          </a:p>
          <a:p>
            <a:r>
              <a:t>improvising; a hollow version of this ritual is worse than none.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0:02–0:05. RETRIEVAL PRACTICE, not review. Ask before you show:</a:t>
            </a:r>
          </a:p>
          <a:p/>
          <a:p>
            <a:r>
              <a:t>"Without looking at your sheet — name the seven stages." Take them from the room,</a:t>
            </a:r>
          </a:p>
          <a:p>
            <a:r>
              <a:t>in order, one student per stage. It costs 90 seconds and it is worth more than</a:t>
            </a:r>
          </a:p>
          <a:p>
            <a:r>
              <a:t>re-explaining the diagram.</a:t>
            </a:r>
          </a:p>
          <a:p/>
          <a:p>
            <a:r>
              <a:t>Then: "Today is stage 3 — the device itself. But notice: we are choosing it</a:t>
            </a:r>
          </a:p>
          <a:p>
            <a:r>
              <a:t>before we have it. The only tools available are a document and arithmetic."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0:05–0:07. Show ONLY these two cards. Resist adding anything.</a:t>
            </a:r>
          </a:p>
          <a:p/>
          <a:p>
            <a:r>
              <a:t>Read the two cards aloud, deadpan. Part A: eight times finer resolution, lower</a:t>
            </a:r>
          </a:p>
          <a:p>
            <a:r>
              <a:t>price, and a marketing line. Part B: coarser, more expensive, nothing to say for</a:t>
            </a:r>
          </a:p>
          <a:p>
            <a:r>
              <a:t>itself.</a:t>
            </a:r>
          </a:p>
          <a:p/>
          <a:p>
            <a:r>
              <a:t>Then the job, and then the poll — immediately, before anyone can think too hard.</a:t>
            </a:r>
          </a:p>
          <a:p/>
          <a:p>
            <a:r>
              <a:t>NOTE: these are representative commercial figures, not a named product, chosen so</a:t>
            </a:r>
          </a:p>
          <a:p>
            <a:r>
              <a:t>the arithmetic is exact. Say so if a student asks — and praise the question.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0:07–0:10. Baseline. Expect a clear majority for A (misconceptions M1</a:t>
            </a:r>
          </a:p>
          <a:p>
            <a:r>
              <a:t>and M5 — resolution read as accuracy, headline read as truth).</a:t>
            </a:r>
          </a:p>
          <a:p/>
          <a:p>
            <a:r>
              <a:t>Do NOT reveal. Record the distribution; you re-show it at minute 70.</a:t>
            </a:r>
          </a:p>
          <a:p/>
          <a:p>
            <a:r>
              <a:t>If a sizeable group picks C, that is excellent — say "some of you are already</a:t>
            </a:r>
          </a:p>
          <a:p>
            <a:r>
              <a:t>being careful, and you are right, but hold on to why."</a:t>
            </a:r>
          </a:p>
          <a:p/>
          <a:p>
            <a:r>
              <a:t>Then set the agenda: "By minute fifty you will have computed the answer</a:t>
            </a:r>
          </a:p>
          <a:p>
            <a:r>
              <a:t>yourselves. Everything between here and there is the equipment you need."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0:10–0:13. WRITE 8.73 mg ON THE PHYSICAL BOARD AND DO NOT ERASE IT.</a:t>
            </a:r>
          </a:p>
          <a:p>
            <a:r>
              <a:t>You will point at it at least six times in the next hour.</a:t>
            </a:r>
          </a:p>
          <a:p/>
          <a:p>
            <a:r>
              <a:t>Derive it live — it takes fifteen seconds and it models the habit: "a tilted</a:t>
            </a:r>
          </a:p>
          <a:p>
            <a:r>
              <a:t>accelerometer sees a component of gravity, so half a degree is sin(0.5°) of one</a:t>
            </a:r>
          </a:p>
          <a:p>
            <a:r>
              <a:t>g. Eight and three-quarter milli-g. That is the whole signal."</a:t>
            </a:r>
          </a:p>
          <a:p/>
          <a:p>
            <a:r>
              <a:t>Then the sentence that makes the rest of the lecture make sense: "This single</a:t>
            </a:r>
          </a:p>
          <a:p>
            <a:r>
              <a:t>number converts 'which is better?' — which is an opinion — into arithmetic."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0:13. Section marker, 15 seconds.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0:13–0:18.</a:t>
            </a:r>
          </a:p>
          <a:p/>
          <a:p>
            <a:r>
              <a:t>Work left to right, but spend your time on the SECOND target — precise but</a:t>
            </a:r>
          </a:p>
          <a:p>
            <a:r>
              <a:t>inaccurate. "This is the dangerous instrument. It looks superb. Every reading</a:t>
            </a:r>
          </a:p>
          <a:p>
            <a:r>
              <a:t>agrees with every other reading. And they are all wrong by the same amount."</a:t>
            </a:r>
          </a:p>
          <a:p/>
          <a:p>
            <a:r>
              <a:t>Then the question that carries the rest of the lecture — ask it, take answers:</a:t>
            </a:r>
          </a:p>
          <a:p>
            <a:r>
              <a:t>"Which of these four can I fix with a calibration?"</a:t>
            </a:r>
          </a:p>
          <a:p/>
          <a:p>
            <a:r>
              <a:t>Answer: target 2, completely (measure the offset once, subtract it). Target 3,</a:t>
            </a:r>
          </a:p>
          <a:p>
            <a:r>
              <a:t>not at all by calibration — only by averaging, and averaging costs bandwidth.</a:t>
            </a:r>
          </a:p>
          <a:p/>
          <a:p>
            <a:r>
              <a:t>Add resolution verbally: "Resolution is not on this picture at all. Resolution</a:t>
            </a:r>
          </a:p>
          <a:p>
            <a:r>
              <a:t>is how finely I can report where the shot landed. I can report a wrong position</a:t>
            </a:r>
          </a:p>
          <a:p>
            <a:r>
              <a:t>to six decimal places." (Misconception M1.)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0:18–0:22. TARGET 45–65 % first vote.</a:t>
            </a:r>
          </a:p>
          <a:p/>
          <a:p>
            <a:r>
              <a:t>Full peer instruction: silent vote (45 s) → find a disagreeing partner (90 s) →</a:t>
            </a:r>
          </a:p>
          <a:p>
            <a:r>
              <a:t>re-vote. Announce both percentages.</a:t>
            </a:r>
          </a:p>
          <a:p/>
          <a:p>
            <a:r>
              <a:t>C is the target distractor: a 0.2 hPa spread LOOKS like quality. It is quality —</a:t>
            </a:r>
          </a:p>
          <a:p>
            <a:r>
              <a:t>of the wrong kind. The device is 12.4 hPa wrong and beautifully consistent</a:t>
            </a:r>
          </a:p>
          <a:p>
            <a:r>
              <a:t>about it.</a:t>
            </a:r>
          </a:p>
          <a:p/>
          <a:p>
            <a:r>
              <a:t>RECORD BOTH NUMBERS.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Reveal, then IMMEDIATELY ask the follow-up (show of hands, no device):</a:t>
            </a:r>
          </a:p>
          <a:p/>
          <a:p>
            <a:r>
              <a:t>  "Which of these two problems can I fix with a calibration?"</a:t>
            </a:r>
          </a:p>
          <a:p/>
          <a:p>
            <a:r>
              <a:t>The 12.4 hPa offset — YES, single-point calibration against a reference.</a:t>
            </a:r>
          </a:p>
          <a:p>
            <a:r>
              <a:t>The 0.2 hPa scatter — NO. Not removable, only reducible by averaging, and</a:t>
            </a:r>
          </a:p>
          <a:p>
            <a:r>
              <a:t>averaging costs you bandwidth.</a:t>
            </a:r>
          </a:p>
          <a:p/>
          <a:p>
            <a:r>
              <a:t>Then the rule on the next slide. This is the most portable thing in the lecture.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0:22–0:25. Read the three headlines. Then the third line again, slowly.</a:t>
            </a:r>
          </a:p>
          <a:p/>
          <a:p>
            <a:r>
              <a:t>"Drift is the one that ruins careers, because it passes every test you run on</a:t>
            </a:r>
          </a:p>
          <a:p>
            <a:r>
              <a:t>the bench at 22 degrees and fails in the field in February."</a:t>
            </a:r>
          </a:p>
          <a:p/>
          <a:p>
            <a:r>
              <a:t>That sentence is the bridge to the reveal at minute 70. Plant it deliberately.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0:25–0:28. DO NOT READ THIS SLIDE OUT. It is a reference page; say so.</a:t>
            </a:r>
          </a:p>
          <a:p/>
          <a:p>
            <a:r>
              <a:t>Point at exactly two entries:</a:t>
            </a:r>
          </a:p>
          <a:p/>
          <a:p>
            <a:r>
              <a:t>ODR is not bandwidth. "A sensor can hand you 200 numbers a second while telling</a:t>
            </a:r>
          </a:p>
          <a:p>
            <a:r>
              <a:t>you nothing above 50 Hz. Students lose a whole afternoon to this every year, and</a:t>
            </a:r>
          </a:p>
          <a:p>
            <a:r>
              <a:t>in Poll 3 I am going to catch some of you with it."</a:t>
            </a:r>
          </a:p>
          <a:p/>
          <a:p>
            <a:r>
              <a:t>Cross-sensitivity: "an accelerometer that reports Z when you shake it in X. Every</a:t>
            </a:r>
          </a:p>
          <a:p>
            <a:r>
              <a:t>real device does this. We come back to it in ten minutes with a question your</a:t>
            </a:r>
          </a:p>
          <a:p>
            <a:r>
              <a:t>datasheet cannot answer."</a:t>
            </a:r>
          </a:p>
          <a:p/>
          <a:p>
            <a:r>
              <a:t>Tell them this slide is in the handout so nobody transcribes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0:28. Section marker.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0:28–0:33. This is a REPRESENTATIVE extract, built to look exactly like</a:t>
            </a:r>
          </a:p>
          <a:p>
            <a:r>
              <a:t>the ones they are about to open. Say that.</a:t>
            </a:r>
          </a:p>
          <a:p/>
          <a:p>
            <a:r>
              <a:t>Teach the reading order explicitly, right to left: "Column six. Then column one.</a:t>
            </a:r>
          </a:p>
          <a:p>
            <a:r>
              <a:t>Then, last, the number. Most people read it in exactly the opposite order and</a:t>
            </a:r>
          </a:p>
          <a:p>
            <a:r>
              <a:t>that is how they get surprised in February."</a:t>
            </a:r>
          </a:p>
          <a:p/>
          <a:p>
            <a:r>
              <a:t>The two red points are the lesson. On "typ": "typ means half the parts are worse.</a:t>
            </a:r>
          </a:p>
          <a:p>
            <a:r>
              <a:t>If your design only works with a typ part, half your production does not work."</a:t>
            </a:r>
          </a:p>
          <a:p/>
          <a:p>
            <a:r>
              <a:t>Now hand out the datasheets.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0:33–0:41. Use the ACTUAL device from the lab kit so the skill transfers</a:t>
            </a:r>
          </a:p>
          <a:p>
            <a:r>
              <a:t>directly to Lab 1 in week 2.</a:t>
            </a:r>
          </a:p>
          <a:p/>
          <a:p>
            <a:r>
              <a:t>Circulate. Do not answer "where is it?" — answer "which section would a</a:t>
            </a:r>
          </a:p>
          <a:p>
            <a:r>
              <a:t>manufacturer put that in?"</a:t>
            </a:r>
          </a:p>
          <a:p/>
          <a:p>
            <a:r>
              <a:t>Number 4 is the one they will struggle with: the conditions are usually in a</a:t>
            </a:r>
          </a:p>
          <a:p>
            <a:r>
              <a:t>footnote, and the ODR and the bandwidth are different numbers. That struggle IS</a:t>
            </a:r>
          </a:p>
          <a:p>
            <a:r>
              <a:t>the learning; let it happen.</a:t>
            </a:r>
          </a:p>
          <a:p/>
          <a:p>
            <a:r>
              <a:t>Number 5 is the WHO_AM_I register. Point out that they will type this value into</a:t>
            </a:r>
          </a:p>
          <a:p>
            <a:r>
              <a:t>their code on Tuesday.</a:t>
            </a:r>
          </a:p>
          <a:p/>
          <a:p>
            <a:r>
              <a:t>If the class is short on documents: project one page and run it as a whole-class</a:t>
            </a:r>
          </a:p>
          <a:p>
            <a:r>
              <a:t>hunt, calling on pairs for each item.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0:41–0:44. THE MOST IMPORTANT TWO MINUTES OF THE LECTURE.</a:t>
            </a:r>
          </a:p>
          <a:p/>
          <a:p>
            <a:r>
              <a:t>Let them hunt for it for a genuine 60 seconds before you say anything. Some will</a:t>
            </a:r>
          </a:p>
          <a:p>
            <a:r>
              <a:t>insist it must be there somewhere.</a:t>
            </a:r>
          </a:p>
          <a:p/>
          <a:p>
            <a:r>
              <a:t>Then: "It is not there. And the manufacturer is not being evasive — they cannot</a:t>
            </a:r>
          </a:p>
          <a:p>
            <a:r>
              <a:t>know what your board does to their part."</a:t>
            </a:r>
          </a:p>
          <a:p/>
          <a:p>
            <a:r>
              <a:t>The habit to install, said in the first person: "The datasheet cannot tell me</a:t>
            </a:r>
          </a:p>
          <a:p>
            <a:r>
              <a:t>this. I must measure it on my own assembled board."</a:t>
            </a:r>
          </a:p>
          <a:p/>
          <a:p>
            <a:r>
              <a:t>That is why Lab 3 exists. Say so.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0:44–0:46. Genuine state change — everyone stands, hands up, 90 seconds.</a:t>
            </a:r>
          </a:p>
          <a:p/>
          <a:p>
            <a:r>
              <a:t>The usual winner is noise density (number 4), because its conditions are</a:t>
            </a:r>
          </a:p>
          <a:p>
            <a:r>
              <a:t>buried in a footnote and ODR ≠ bandwidth.</a:t>
            </a:r>
          </a:p>
          <a:p/>
          <a:p>
            <a:r>
              <a:t>Take two answers on WHY, not WHAT. "Because the number was in one place and the</a:t>
            </a:r>
          </a:p>
          <a:p>
            <a:r>
              <a:t>conditions were in another" is the answer you are fishing for.</a:t>
            </a:r>
          </a:p>
          <a:p/>
          <a:p>
            <a:r>
              <a:t>Then land the line and sit them down. Next: the arithmetic.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0:46. Section marker.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0:46–0:52. Do the arithmetic on the board with the units written out in</a:t>
            </a:r>
          </a:p>
          <a:p>
            <a:r>
              <a:t>full. Unit cancellation — not the physics — is what actually blocks students here.</a:t>
            </a:r>
          </a:p>
          <a:p/>
          <a:p>
            <a:r>
              <a:t>Emphasise the ODR trap explicitly before the poll. You WANT them to have been</a:t>
            </a:r>
          </a:p>
          <a:p>
            <a:r>
              <a:t>warned; the ones who still fall for it have a genuine misconception, and that is</a:t>
            </a:r>
          </a:p>
          <a:p>
            <a:r>
              <a:t>the diagnostic you need.</a:t>
            </a:r>
          </a:p>
          <a:p/>
          <a:p>
            <a:r>
              <a:t>The third bullet is the conceptual payoff and it connects straight back to</a:t>
            </a:r>
          </a:p>
          <a:p>
            <a:r>
              <a:t>Lecture 1's motor: bandwidth is a decision with consequences in both directions.</a:t>
            </a:r>
          </a:p>
          <a:p>
            <a:r>
              <a:t>Too little and you miss the signal. Too much and you buy noise.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0:52–0:57. THE MOST DIAGNOSTIC POLL IN THE PILOT. Target 40–60 %.</a:t>
            </a:r>
          </a:p>
          <a:p/>
          <a:p>
            <a:r>
              <a:t>Each distractor is a named procedural error, so the DISTRIBUTION tells you what</a:t>
            </a:r>
          </a:p>
          <a:p>
            <a:r>
              <a:t>to re-teach:</a:t>
            </a:r>
          </a:p>
          <a:p>
            <a:r>
              <a:t>  A — ignored bandwidth entirely</a:t>
            </a:r>
          </a:p>
          <a:p>
            <a:r>
              <a:t>  B — correct: 100 × √50 = 707 µg</a:t>
            </a:r>
          </a:p>
          <a:p>
            <a:r>
              <a:t>  C — used √ODR instead of √bandwidth (the M7 confusion)</a:t>
            </a:r>
          </a:p>
          <a:p>
            <a:r>
              <a:t>  D — multiplied by bandwidth instead of its square root</a:t>
            </a:r>
          </a:p>
          <a:p/>
          <a:p>
            <a:r>
              <a:t>RECORD THE FULL DISTRIBUTION, not just the correct percentage. If C is large,</a:t>
            </a:r>
          </a:p>
          <a:p>
            <a:r>
              <a:t>that is your Lecture 3 opening. If D is large, the blocker is arithmetic, not</a:t>
            </a:r>
          </a:p>
          <a:p>
            <a:r>
              <a:t>sensing — write √Hz on the board with units in full.</a:t>
            </a:r>
          </a:p>
          <a:p/>
          <a:p>
            <a:r>
              <a:t>Peer instruction, then re-vote.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Reveal, then the reframe — this is the pivot of the whole lecture. Say it</a:t>
            </a:r>
          </a:p>
          <a:p>
            <a:r>
              <a:t>almost casually:</a:t>
            </a:r>
          </a:p>
          <a:p/>
          <a:p>
            <a:r>
              <a:t>"We just spent six minutes computing 0.71 mg of noise. Our signal is 8.73 mg.</a:t>
            </a:r>
          </a:p>
          <a:p>
            <a:r>
              <a:t>So noise costs us about eight per cent of the measurand. Annoying. Survivable.</a:t>
            </a:r>
          </a:p>
          <a:p>
            <a:r>
              <a:t>Now let me show you the term nobody computed."</a:t>
            </a:r>
          </a:p>
          <a:p/>
          <a:p>
            <a:r>
              <a:t>Then go straight to drift.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0:57–1:02. Build left to right; the punch is on the right.</a:t>
            </a:r>
          </a:p>
          <a:p/>
          <a:p>
            <a:r>
              <a:t>Quantisation: "Both are a rounding error on a rounding error. Note that Part A's</a:t>
            </a:r>
          </a:p>
          <a:p>
            <a:r>
              <a:t>celebrated eight-times-finer resolution buys it 0.12 mg of advantage on a term</a:t>
            </a:r>
          </a:p>
          <a:p>
            <a:r>
              <a:t>that was already invisible."</a:t>
            </a:r>
          </a:p>
          <a:p/>
          <a:p>
            <a:r>
              <a:t>Offset: "Both fixable. This is the calibration column."</a:t>
            </a:r>
          </a:p>
          <a:p/>
          <a:p>
            <a:r>
              <a:t>Drift: STOP HERE. "Part A's offset moves by ten milli-g across the temperature</a:t>
            </a:r>
          </a:p>
          <a:p>
            <a:r>
              <a:t>range. Our signal is eight point seven three. The error is larger than the</a:t>
            </a:r>
          </a:p>
          <a:p>
            <a:r>
              <a:t>thing being measured — and it appears after you calibrated, so no bench</a:t>
            </a:r>
          </a:p>
          <a:p>
            <a:r>
              <a:t>procedure catches it."</a:t>
            </a:r>
          </a:p>
          <a:p/>
          <a:p>
            <a:r>
              <a:t>Ask the room: "Which of the three columns did the front page mention?" None.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1:02–1:06. Reveal row by row if your tooling allows; otherwise walk down</a:t>
            </a:r>
          </a:p>
          <a:p>
            <a:r>
              <a:t>with the cursor and make them predict the total before you say it.</a:t>
            </a:r>
          </a:p>
          <a:p/>
          <a:p>
            <a:r>
              <a:t>Say the RSS rule and why: independent random terms add in quadrature, so the</a:t>
            </a:r>
          </a:p>
          <a:p>
            <a:r>
              <a:t>LARGEST term dominates completely. 10 and 0.7 combine to 10.02 — the noise</a:t>
            </a:r>
          </a:p>
          <a:p>
            <a:r>
              <a:t>term you spent six minutes on has changed the answer by three hundredths.</a:t>
            </a:r>
          </a:p>
          <a:p/>
          <a:p>
            <a:r>
              <a:t>"That is the most important lesson in error budgeting: find the biggest term</a:t>
            </a:r>
          </a:p>
          <a:p>
            <a:r>
              <a:t>first. Everything else is decoration."</a:t>
            </a:r>
          </a:p>
          <a:p/>
          <a:p>
            <a:r>
              <a:t>Then the two bottom rows, slowly. FAILS. Passes with fourfold margin.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insert at 1:06–1:09 (push the reveal and the decision table back by three</a:t>
            </a:r>
          </a:p>
          <a:p>
            <a:r>
              <a:t>minutes; if short of time, cut Part C from the team table instead).</a:t>
            </a:r>
          </a:p>
          <a:p/>
          <a:p>
            <a:r>
              <a:t>THIS IS THE STRONGEST SLIDE IN THE LECTURE. Parts A and B were teaching devices. This</a:t>
            </a:r>
          </a:p>
          <a:p>
            <a:r>
              <a:t>is the actual component in their kit, and its own two published columns straddle the</a:t>
            </a:r>
          </a:p>
          <a:p>
            <a:r>
              <a:t>pass/fail line.</a:t>
            </a:r>
          </a:p>
          <a:p/>
          <a:p>
            <a:r>
              <a:t>Say it plainly: "A typical ISM330DHCX meets our requirement with fourfold margin. A part</a:t>
            </a:r>
          </a:p>
          <a:p>
            <a:r>
              <a:t>at the limit of its own specification misses it. Both are in spec. Both ship in the same</a:t>
            </a:r>
          </a:p>
          <a:p>
            <a:r>
              <a:t>reel. Nobody is cheating."</a:t>
            </a:r>
          </a:p>
          <a:p/>
          <a:p>
            <a:r>
              <a:t>Then the engineering question, and take answers:</a:t>
            </a:r>
          </a:p>
          <a:p>
            <a:r>
              <a:t>  "So which column do you design with?"</a:t>
            </a:r>
          </a:p>
          <a:p/>
          <a:p>
            <a:r>
              <a:t>  - Guaranteeing the spec  -&gt; the MAX column, and this design does not close. You must</a:t>
            </a:r>
          </a:p>
          <a:p>
            <a:r>
              <a:t>    narrow the temperature range, compensate offset against temperature (Lecture 14),</a:t>
            </a:r>
          </a:p>
          <a:p>
            <a:r>
              <a:t>    or renegotiate the 0.5 degrees.</a:t>
            </a:r>
          </a:p>
          <a:p>
            <a:r>
              <a:t>  - Ten units you can each measure -&gt; typ plus per-unit calibration is defensible,</a:t>
            </a:r>
          </a:p>
          <a:p>
            <a:r>
              <a:t>    PROVIDED you write down that you made that choice.</a:t>
            </a:r>
          </a:p>
          <a:p>
            <a:r>
              <a:t>  - Never: budget with typ and call the result a guarantee.</a:t>
            </a:r>
          </a:p>
          <a:p/>
          <a:p>
            <a:r>
              <a:t>Close on: "A datasheet does not describe your device. It describes the population your</a:t>
            </a:r>
          </a:p>
          <a:p>
            <a:r>
              <a:t>device was drawn from."</a:t>
            </a:r>
          </a:p>
          <a:p/>
          <a:p>
            <a:r>
              <a:t>Note for you: Part A's numbers were essentially this part's worst case, Part B's its</a:t>
            </a:r>
          </a:p>
          <a:p>
            <a:r>
              <a:t>typical case. If a student spots that, they have understood the whole lecture.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1:06–1:08. Show the minute-7 distribution next to this. The shift is the</a:t>
            </a:r>
          </a:p>
          <a:p>
            <a:r>
              <a:t>lecture's evidence that it worked.</a:t>
            </a:r>
          </a:p>
          <a:p/>
          <a:p>
            <a:r>
              <a:t>Say both halves explicitly — this is the professional habit, not a trick:</a:t>
            </a:r>
          </a:p>
          <a:p/>
          <a:p>
            <a:r>
              <a:t>"If you chose C at minute seven, you were right, and you were right for the best</a:t>
            </a:r>
          </a:p>
          <a:p>
            <a:r>
              <a:t>possible reason: you knew you could not decide. If you chose A, you were doing</a:t>
            </a:r>
          </a:p>
          <a:p>
            <a:r>
              <a:t>what most engineers do — reading the headline. And if you now choose B, you can</a:t>
            </a:r>
          </a:p>
          <a:p>
            <a:r>
              <a:t>defend it with a number, which is the only defence that survives a design</a:t>
            </a:r>
          </a:p>
          <a:p>
            <a:r>
              <a:t>review."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1:08–1:09. Silence, then read once.</a:t>
            </a:r>
          </a:p>
          <a:p/>
          <a:p>
            <a:r>
              <a:t>Optional, if the room is with you: "And Part A was cheaper, and had a library.</a:t>
            </a:r>
          </a:p>
          <a:p>
            <a:r>
              <a:t>Every incentive pointed at the wrong part."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1:09–1:15. Teams of three, 8 minutes, one sheet. Circulate.</a:t>
            </a:r>
          </a:p>
          <a:p/>
          <a:p>
            <a:r>
              <a:t>Two teams read their sentence aloud. Insist on the form: Part, then the dominant</a:t>
            </a:r>
          </a:p>
          <a:p>
            <a:r>
              <a:t>term. "Because it is better" is not an answer.</a:t>
            </a:r>
          </a:p>
          <a:p/>
          <a:p>
            <a:r>
              <a:t>IF A TEAM CHOOSES C: do not correct it — ask "what did the customer get for the</a:t>
            </a:r>
          </a:p>
          <a:p>
            <a:r>
              <a:t>extra €3,650?" (500 units × €7.30 over Part B.) Let them find it. Over-specification is a</a:t>
            </a:r>
          </a:p>
          <a:p>
            <a:r>
              <a:t>real failure mode and this is the only place in the pilot that teaches it.</a:t>
            </a:r>
          </a:p>
          <a:p/>
          <a:p>
            <a:r>
              <a:t>IF SHORT OF TIME: drop Part C, run it with two candidates in 5 minutes, set the</a:t>
            </a:r>
          </a:p>
          <a:p>
            <a:r>
              <a:t>third as homework.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1:15–1:18. TRANSFER — deliberately a new measurand so it tests the</a:t>
            </a:r>
          </a:p>
          <a:p>
            <a:r>
              <a:t>principle, not memory of the tilt case. Target 55–75 %.</a:t>
            </a:r>
          </a:p>
          <a:p/>
          <a:p>
            <a:r>
              <a:t>60 seconds, quick vote, short discussion.</a:t>
            </a:r>
          </a:p>
          <a:p/>
          <a:p>
            <a:r>
              <a:t>THE POINT: P's ±0.25 % FS over the full range is 50 Pa ≈ 5 mm — comfortably</a:t>
            </a:r>
          </a:p>
          <a:p>
            <a:r>
              <a:t>inside ±20 mm, and GUARANTEED across the operating temperature. Q's ±0.05 % FS</a:t>
            </a:r>
          </a:p>
          <a:p>
            <a:r>
              <a:t>is 10 Pa ≈ 1 mm at 25 °C and UNKNOWN at 5 °C, because the temperature</a:t>
            </a:r>
          </a:p>
          <a:p>
            <a:r>
              <a:t>coefficient is not specified at all.</a:t>
            </a:r>
          </a:p>
          <a:p/>
          <a:p>
            <a:r>
              <a:t>You cannot write a defensible error budget for Q. That is the whole answer.</a:t>
            </a:r>
          </a:p>
          <a:p/>
          <a:p>
            <a:r>
              <a:t>C and D are the "calibration fixes everything" misconception, now in a second</a:t>
            </a:r>
          </a:p>
          <a:p>
            <a:r>
              <a:t>context. If students still pick them here after the drift lesson, note it — that</a:t>
            </a:r>
          </a:p>
          <a:p>
            <a:r>
              <a:t>is a genuine finding for next year.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Reveal. The sentence to land:</a:t>
            </a:r>
          </a:p>
          <a:p/>
          <a:p>
            <a:r>
              <a:t>"An unspecified number is not a good number. It is an unknown number, and you</a:t>
            </a:r>
          </a:p>
          <a:p>
            <a:r>
              <a:t>cannot put an unknown into a budget you have to sign."</a:t>
            </a:r>
          </a:p>
          <a:p/>
          <a:p>
            <a:r>
              <a:t>Note the deliberate echo: in the tilt case the killer term was drift you could</a:t>
            </a:r>
          </a:p>
          <a:p>
            <a:r>
              <a:t>compute. Here it is drift you cannot even compute. Same lesson, harder version.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1:18–1:19. Ninety seconds.</a:t>
            </a:r>
          </a:p>
          <a:p/>
          <a:p>
            <a:r>
              <a:t>Be honest about why the rule exists: "A library is a real asset and it will save</a:t>
            </a:r>
          </a:p>
          <a:p>
            <a:r>
              <a:t>you a week. It is just not a specification. Rank it last, not zero."</a:t>
            </a:r>
          </a:p>
          <a:p/>
          <a:p>
            <a:r>
              <a:t>The seven boxes are the plan's own component-selection criteria. Tell them these</a:t>
            </a:r>
          </a:p>
          <a:p>
            <a:r>
              <a:t>are the features the lab kit was chosen to expose — which is why they will be</a:t>
            </a:r>
          </a:p>
          <a:p>
            <a:r>
              <a:t>writing register values rather than calling someone's begin() function.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1:19. Read the four bold lines only. Sixty seconds.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1:19–1:20.</a:t>
            </a:r>
          </a:p>
          <a:p/>
          <a:p>
            <a:r>
              <a:t>Q1 key: 200 × √100 = 2000 µg = 2 mg. This is the independent check on L2.3 —</a:t>
            </a:r>
          </a:p>
          <a:p>
            <a:r>
              <a:t>group work can hide an individual who cannot do it.</a:t>
            </a:r>
          </a:p>
          <a:p/>
          <a:p>
            <a:r>
              <a:t>Q2 accepts either "the conditions block" or "offset drift / temperature</a:t>
            </a:r>
          </a:p>
          <a:p>
            <a:r>
              <a:t>coefficient". Both are the right instinct.</a:t>
            </a:r>
          </a:p>
          <a:p/>
          <a:p>
            <a:r>
              <a:t>Say the bottom line out loud. It is true, and it buys honest tickets.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1:20. End on time.</a:t>
            </a:r>
          </a:p>
          <a:p/>
          <a:p>
            <a:r>
              <a:t>Close the loop with Lecture 1 explicitly: "In week one a motor died because</a:t>
            </a:r>
          </a:p>
          <a:p>
            <a:r>
              <a:t>nobody specified a bandwidth. Next week we build the thing that specifies it."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10896" cy="68580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51560" y="137160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0E7C86"/>
                </a:solidFill>
                <a:latin typeface="DejaVu Sans"/>
              </a:rPr>
              <a:t>ՄԻԿՐՈԷԼԵԿՏՐԱՄԵԽԱՆԻԿԱԿԱՆ ՀԱՄԱԿԱՐԳԵՐ ԵՎ ՏՎԻՉՆԵՐ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2057400"/>
            <a:ext cx="1033272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 i="0">
                <a:solidFill>
                  <a:srgbClr val="F7F5F1"/>
                </a:solidFill>
                <a:latin typeface="DejaVu Sans"/>
              </a:rPr>
              <a:t>Տվիչների բնութագրերը և</a:t>
            </a:r>
          </a:p>
          <a:p>
            <a:pPr algn="l">
              <a:lnSpc>
                <a:spcPct val="115000"/>
              </a:lnSpc>
            </a:pPr>
            <a:r>
              <a:rPr sz="3379" b="1" i="0">
                <a:solidFill>
                  <a:srgbClr val="F7F5F1"/>
                </a:solidFill>
                <a:latin typeface="DejaVu Sans"/>
              </a:rPr>
              <a:t>ընտրությունը datasheet-ի հիման վրա</a:t>
            </a:r>
          </a:p>
        </p:txBody>
      </p:sp>
      <p:sp>
        <p:nvSpPr>
          <p:cNvPr id="6" name="Rectangle 5"/>
          <p:cNvSpPr/>
          <p:nvPr/>
        </p:nvSpPr>
        <p:spPr>
          <a:xfrm>
            <a:off x="1051560" y="4315968"/>
            <a:ext cx="1371600" cy="50800"/>
          </a:xfrm>
          <a:prstGeom prst="rect">
            <a:avLst/>
          </a:prstGeom>
          <a:solidFill>
            <a:srgbClr val="D983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46177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 i="0">
                <a:solidFill>
                  <a:srgbClr val="B8C0C6"/>
                </a:solidFill>
                <a:latin typeface="DejaVu Sans"/>
              </a:rPr>
              <a:t>Դասախոսություն 2 / 16   ·   80 րոպե   ·   Բաժին Ա. Հիմունքներ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525780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6B7680"/>
                </a:solidFill>
                <a:latin typeface="DejaVu Sans"/>
              </a:rPr>
              <a:t>Այսօր մեկ թիվ որոշում է նախագիծը — և այն ոչ մի առաջին էջում չկա։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640080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6B7680"/>
                </a:solidFill>
                <a:latin typeface="DejaVu Sans"/>
              </a:rPr>
              <a:t>MEMS և տվիչներ  ·  Դասախոսություն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18927" y="640080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 i="0">
                <a:solidFill>
                  <a:srgbClr val="6B7680"/>
                </a:solidFill>
                <a:latin typeface="Arial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475488"/>
            <a:ext cx="10874959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40" b="1" i="0">
                <a:solidFill>
                  <a:srgbClr val="1A1F24"/>
                </a:solidFill>
                <a:latin typeface="DejaVu Sans"/>
              </a:rPr>
              <a:t>Անցյալ շաբաթվա անհասկանալի կետերը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188720"/>
            <a:ext cx="1371600" cy="571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1353312"/>
            <a:ext cx="1087495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1">
                <a:solidFill>
                  <a:srgbClr val="6B7680"/>
                </a:solidFill>
                <a:latin typeface="DejaVu Sans"/>
              </a:rPr>
              <a:t>Ձեր հարցերը՝ պատասխանված մինչ սկսելը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2057400"/>
            <a:ext cx="566928" cy="566928"/>
          </a:xfrm>
          <a:prstGeom prst="roundRect">
            <a:avLst>
              <a:gd name="adj" fmla="val 10000"/>
            </a:avLst>
          </a:prstGeom>
          <a:solidFill>
            <a:srgbClr val="0E7C86"/>
          </a:solidFill>
          <a:ln w="15875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2200" b="1">
                <a:solidFill>
                  <a:srgbClr val="F7F5F1"/>
                </a:solidFill>
                <a:latin typeface="Courier New"/>
              </a:rPr>
              <a:t>1</a:t>
            </a:r>
          </a:p>
        </p:txBody>
      </p:sp>
      <p:sp>
        <p:nvSpPr>
          <p:cNvPr id="9" name="Rectangle 8"/>
          <p:cNvSpPr/>
          <p:nvPr/>
        </p:nvSpPr>
        <p:spPr>
          <a:xfrm>
            <a:off x="1527048" y="2057400"/>
            <a:ext cx="10058400" cy="566928"/>
          </a:xfrm>
          <a:prstGeom prst="rect">
            <a:avLst/>
          </a:prstGeom>
          <a:solidFill>
            <a:srgbClr val="FFFFFF"/>
          </a:solidFill>
          <a:ln w="15875">
            <a:solidFill>
              <a:srgbClr val="E4E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500" b="0">
                <a:solidFill>
                  <a:srgbClr val="1A1F24"/>
                </a:solidFill>
                <a:latin typeface="Arial"/>
              </a:rPr>
              <a:t/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3017520"/>
            <a:ext cx="566928" cy="566928"/>
          </a:xfrm>
          <a:prstGeom prst="roundRect">
            <a:avLst>
              <a:gd name="adj" fmla="val 10000"/>
            </a:avLst>
          </a:prstGeom>
          <a:solidFill>
            <a:srgbClr val="0E7C86"/>
          </a:solidFill>
          <a:ln w="15875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2200" b="1">
                <a:solidFill>
                  <a:srgbClr val="F7F5F1"/>
                </a:solidFill>
                <a:latin typeface="Courier New"/>
              </a:rPr>
              <a:t>2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527048" y="3017520"/>
            <a:ext cx="10058400" cy="566928"/>
          </a:xfrm>
          <a:prstGeom prst="rect">
            <a:avLst/>
          </a:prstGeom>
          <a:solidFill>
            <a:srgbClr val="FFFFFF"/>
          </a:solidFill>
          <a:ln w="15875">
            <a:solidFill>
              <a:srgbClr val="E4E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500" b="0">
                <a:solidFill>
                  <a:srgbClr val="1A1F24"/>
                </a:solidFill>
                <a:latin typeface="Arial"/>
              </a:rPr>
              <a:t/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8368" y="3977640"/>
            <a:ext cx="566928" cy="566928"/>
          </a:xfrm>
          <a:prstGeom prst="roundRect">
            <a:avLst>
              <a:gd name="adj" fmla="val 10000"/>
            </a:avLst>
          </a:prstGeom>
          <a:solidFill>
            <a:srgbClr val="0E7C86"/>
          </a:solidFill>
          <a:ln w="15875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2200" b="1">
                <a:solidFill>
                  <a:srgbClr val="F7F5F1"/>
                </a:solidFill>
                <a:latin typeface="Courier New"/>
              </a:rPr>
              <a:t>3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527048" y="3977640"/>
            <a:ext cx="10058400" cy="566928"/>
          </a:xfrm>
          <a:prstGeom prst="rect">
            <a:avLst/>
          </a:prstGeom>
          <a:solidFill>
            <a:srgbClr val="FFFFFF"/>
          </a:solidFill>
          <a:ln w="15875">
            <a:solidFill>
              <a:srgbClr val="E4E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500" b="0">
                <a:solidFill>
                  <a:srgbClr val="1A1F24"/>
                </a:solidFill>
                <a:latin typeface="Arial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09928" y="2212848"/>
            <a:ext cx="9692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1">
                <a:solidFill>
                  <a:srgbClr val="E4E2DE"/>
                </a:solidFill>
                <a:latin typeface="DejaVu Sans"/>
              </a:rPr>
              <a:t>ԴԱՍԱԽՈՍԻՆ. լրացրե՛ք այս երեքը ելքի տոմսերից մինչ դասը։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58368" y="5212080"/>
            <a:ext cx="10874959" cy="777240"/>
          </a:xfrm>
          <a:prstGeom prst="roundRect">
            <a:avLst>
              <a:gd name="adj" fmla="val 10000"/>
            </a:avLst>
          </a:prstGeom>
          <a:solidFill>
            <a:srgbClr val="FAECD8"/>
          </a:solidFill>
          <a:ln w="15875">
            <a:solidFill>
              <a:srgbClr val="D983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600" b="1">
                <a:solidFill>
                  <a:srgbClr val="1A1F24"/>
                </a:solidFill>
                <a:latin typeface="DejaVu Sans"/>
              </a:rPr>
              <a:t>Հղում արե՛ք հասկացություններին, երբեք՝ ուսանողներին։ Ընդամենը իննսուն վայրկյան, ապա առա՛ջ։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640080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6B7680"/>
                </a:solidFill>
                <a:latin typeface="DejaVu Sans"/>
              </a:rPr>
              <a:t>MEMS և տվիչներ  ·  Դասախոսություն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18927" y="640080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 i="0">
                <a:solidFill>
                  <a:srgbClr val="6B7680"/>
                </a:solidFill>
                <a:latin typeface="Arial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475488"/>
            <a:ext cx="10874959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 i="0">
                <a:solidFill>
                  <a:srgbClr val="1A1F24"/>
                </a:solidFill>
                <a:latin typeface="DejaVu Sans"/>
              </a:rPr>
              <a:t>Որտե՞ղ ենք այսօր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188720"/>
            <a:ext cx="1371600" cy="571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1353312"/>
            <a:ext cx="1087495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70" b="0" i="1">
                <a:solidFill>
                  <a:srgbClr val="6B7680"/>
                </a:solidFill>
                <a:latin typeface="DejaVu Sans"/>
              </a:rPr>
              <a:t>Վերհիշում. անցյալ շաբաթվա շղթան, այս շաբաթվա վանդակը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2286000"/>
            <a:ext cx="2212848" cy="93268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20" b="1">
                <a:solidFill>
                  <a:srgbClr val="1A1F24"/>
                </a:solidFill>
                <a:latin typeface="DejaVu Sans"/>
              </a:rPr>
              <a:t>ՖԻԶԻԿԱԿԱՆ</a:t>
            </a:r>
          </a:p>
          <a:p>
            <a:pPr algn="ctr"/>
            <a:r>
              <a:rPr sz="1150" b="1">
                <a:solidFill>
                  <a:srgbClr val="1A1F24"/>
                </a:solidFill>
                <a:latin typeface="DejaVu Sans"/>
              </a:rPr>
              <a:t>ՄԵԾՈՒԹՅՈՒՆ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313432"/>
            <a:ext cx="2743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0E7C86"/>
                </a:solidFill>
                <a:latin typeface="Courier New"/>
              </a:rPr>
              <a:t>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46704" y="2286000"/>
            <a:ext cx="2212848" cy="93268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1">
                <a:solidFill>
                  <a:srgbClr val="1A1F24"/>
                </a:solidFill>
                <a:latin typeface="DejaVu Sans"/>
              </a:rPr>
              <a:t>ՄԵԽԱՆԻԿԱԿԱՆ</a:t>
            </a:r>
          </a:p>
          <a:p>
            <a:pPr algn="ctr"/>
            <a:r>
              <a:rPr sz="1220" b="1">
                <a:solidFill>
                  <a:srgbClr val="1A1F24"/>
                </a:solidFill>
                <a:latin typeface="DejaVu Sans"/>
              </a:rPr>
              <a:t>ԿԱՊԱԿՑՈՒՄ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19856" y="2313432"/>
            <a:ext cx="2743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0E7C86"/>
                </a:solidFill>
                <a:latin typeface="Courier New"/>
              </a:rPr>
              <a:t>2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35040" y="2286000"/>
            <a:ext cx="2212848" cy="932688"/>
          </a:xfrm>
          <a:prstGeom prst="roundRect">
            <a:avLst>
              <a:gd name="adj" fmla="val 10000"/>
            </a:avLst>
          </a:prstGeom>
          <a:solidFill>
            <a:srgbClr val="FAECD8"/>
          </a:solidFill>
          <a:ln w="31750">
            <a:solidFill>
              <a:srgbClr val="D983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1">
                <a:solidFill>
                  <a:srgbClr val="1A1F24"/>
                </a:solidFill>
                <a:latin typeface="DejaVu Sans"/>
              </a:rPr>
              <a:t>ՓՈԽԱԿԵՐՊՈՒՄ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08192" y="2313432"/>
            <a:ext cx="2743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D98324"/>
                </a:solidFill>
                <a:latin typeface="Courier New"/>
              </a:rPr>
              <a:t>3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723376" y="2286000"/>
            <a:ext cx="2212848" cy="93268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040" b="1">
                <a:solidFill>
                  <a:srgbClr val="1A1F24"/>
                </a:solidFill>
                <a:latin typeface="DejaVu Sans"/>
              </a:rPr>
              <a:t>ԱՆԱԼՈԳԱՅԻՆ</a:t>
            </a:r>
          </a:p>
          <a:p>
            <a:pPr algn="ctr"/>
            <a:r>
              <a:rPr sz="1300" b="1">
                <a:solidFill>
                  <a:srgbClr val="1A1F24"/>
                </a:solidFill>
                <a:latin typeface="DejaVu Sans"/>
              </a:rPr>
              <a:t>ՄՇԱԿՈՒՄ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96528" y="2313432"/>
            <a:ext cx="2743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0E7C86"/>
                </a:solidFill>
                <a:latin typeface="Courier New"/>
              </a:rPr>
              <a:t>4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23376" y="4059936"/>
            <a:ext cx="2212848" cy="93268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130" b="1">
                <a:solidFill>
                  <a:srgbClr val="1A1F24"/>
                </a:solidFill>
                <a:latin typeface="DejaVu Sans"/>
              </a:rPr>
              <a:t>ՆՄՈՒՇԱՌՈՒՄ ԵՎ</a:t>
            </a:r>
          </a:p>
          <a:p>
            <a:pPr algn="ctr"/>
            <a:r>
              <a:rPr sz="1300" b="1">
                <a:solidFill>
                  <a:srgbClr val="1A1F24"/>
                </a:solidFill>
                <a:latin typeface="DejaVu Sans"/>
              </a:rPr>
              <a:t>ՔՎԱՆՏԱՑՈՒՄ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796528" y="4087368"/>
            <a:ext cx="2743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0E7C86"/>
                </a:solidFill>
                <a:latin typeface="Courier New"/>
              </a:rPr>
              <a:t>5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035040" y="4059936"/>
            <a:ext cx="2212848" cy="93268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1">
                <a:solidFill>
                  <a:srgbClr val="1A1F24"/>
                </a:solidFill>
                <a:latin typeface="DejaVu Sans"/>
              </a:rPr>
              <a:t>ԿՈԴԵՐ → ՄՀ</a:t>
            </a:r>
          </a:p>
          <a:p>
            <a:pPr algn="ctr"/>
            <a:r>
              <a:rPr sz="1040" b="1">
                <a:solidFill>
                  <a:srgbClr val="1A1F24"/>
                </a:solidFill>
                <a:latin typeface="DejaVu Sans"/>
              </a:rPr>
              <a:t>ՄԻԱՎՈՐՆԵՐ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08192" y="4087368"/>
            <a:ext cx="2743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0E7C86"/>
                </a:solidFill>
                <a:latin typeface="Courier New"/>
              </a:rPr>
              <a:t>6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346704" y="4059936"/>
            <a:ext cx="2212848" cy="93268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180" b="1">
                <a:solidFill>
                  <a:srgbClr val="1A1F24"/>
                </a:solidFill>
                <a:latin typeface="DejaVu Sans"/>
              </a:rPr>
              <a:t>ԺԱՄԱՆԱԿԱՆԻՇ,</a:t>
            </a:r>
          </a:p>
          <a:p>
            <a:pPr algn="ctr"/>
            <a:r>
              <a:rPr sz="1040" b="1">
                <a:solidFill>
                  <a:srgbClr val="1A1F24"/>
                </a:solidFill>
                <a:latin typeface="DejaVu Sans"/>
              </a:rPr>
              <a:t>ԳՐԱՆՑՈՒՄ, ՈՐՈՇՈՒՄ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19856" y="4087368"/>
            <a:ext cx="2743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0E7C86"/>
                </a:solidFill>
                <a:latin typeface="Courier New"/>
              </a:rPr>
              <a:t>7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2926080" y="2651760"/>
            <a:ext cx="365760" cy="201168"/>
          </a:xfrm>
          <a:prstGeom prst="rightArrow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ight Arrow 22"/>
          <p:cNvSpPr/>
          <p:nvPr/>
        </p:nvSpPr>
        <p:spPr>
          <a:xfrm>
            <a:off x="5614416" y="2651760"/>
            <a:ext cx="365760" cy="201168"/>
          </a:xfrm>
          <a:prstGeom prst="rightArrow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ight Arrow 23"/>
          <p:cNvSpPr/>
          <p:nvPr/>
        </p:nvSpPr>
        <p:spPr>
          <a:xfrm>
            <a:off x="8302752" y="2651760"/>
            <a:ext cx="365760" cy="201168"/>
          </a:xfrm>
          <a:prstGeom prst="rightArrow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Down Arrow 24"/>
          <p:cNvSpPr/>
          <p:nvPr/>
        </p:nvSpPr>
        <p:spPr>
          <a:xfrm>
            <a:off x="9729216" y="3346704"/>
            <a:ext cx="201168" cy="566928"/>
          </a:xfrm>
          <a:prstGeom prst="downArrow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Left Arrow 25"/>
          <p:cNvSpPr/>
          <p:nvPr/>
        </p:nvSpPr>
        <p:spPr>
          <a:xfrm>
            <a:off x="5614416" y="4425696"/>
            <a:ext cx="365760" cy="201168"/>
          </a:xfrm>
          <a:prstGeom prst="leftArrow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Left Arrow 26"/>
          <p:cNvSpPr/>
          <p:nvPr/>
        </p:nvSpPr>
        <p:spPr>
          <a:xfrm>
            <a:off x="2926080" y="4425696"/>
            <a:ext cx="365760" cy="201168"/>
          </a:xfrm>
          <a:prstGeom prst="leftArrow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658368" y="5596128"/>
            <a:ext cx="10874959" cy="566928"/>
          </a:xfrm>
          <a:prstGeom prst="roundRect">
            <a:avLst>
              <a:gd name="adj" fmla="val 10000"/>
            </a:avLst>
          </a:prstGeom>
          <a:solidFill>
            <a:srgbClr val="FAECD8"/>
          </a:solidFill>
          <a:ln w="15875">
            <a:solidFill>
              <a:srgbClr val="D983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800" b="1">
                <a:solidFill>
                  <a:srgbClr val="1A1F24"/>
                </a:solidFill>
                <a:latin typeface="DejaVu Sans"/>
              </a:rPr>
              <a:t>Այսօրվա ամեն ինչ տեղի ունենում է ՄԻՆՉ սարքավորում ունենալը։ Սա այն վանդակն է, որը ընտրում եք — և ընտրում եք թվաբանությամբ։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640080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6B7680"/>
                </a:solidFill>
                <a:latin typeface="DejaVu Sans"/>
              </a:rPr>
              <a:t>MEMS և տվիչներ  ·  Դասախոսություն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18927" y="640080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 i="0">
                <a:solidFill>
                  <a:srgbClr val="6B7680"/>
                </a:solidFill>
                <a:latin typeface="Arial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475488"/>
            <a:ext cx="10874959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 i="0">
                <a:solidFill>
                  <a:srgbClr val="1A1F24"/>
                </a:solidFill>
                <a:latin typeface="DejaVu Sans"/>
              </a:rPr>
              <a:t>Երկու առաջին էջ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188720"/>
            <a:ext cx="1371600" cy="571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1353312"/>
            <a:ext cx="1087495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1">
                <a:solidFill>
                  <a:srgbClr val="6B7680"/>
                </a:solidFill>
                <a:latin typeface="DejaVu Sans"/>
              </a:rPr>
              <a:t>Պատվերը պետք է տալ այսօր։ Ո՞րը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810512"/>
            <a:ext cx="5349240" cy="3401568"/>
          </a:xfrm>
          <a:prstGeom prst="rect">
            <a:avLst/>
          </a:prstGeom>
          <a:solidFill>
            <a:srgbClr val="FFFFFF"/>
          </a:solidFill>
          <a:ln w="254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500" b="0">
                <a:solidFill>
                  <a:srgbClr val="1A1F24"/>
                </a:solidFill>
                <a:latin typeface="Arial"/>
              </a:rPr>
              <a:t/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1810512"/>
            <a:ext cx="5349240" cy="566928"/>
          </a:xfrm>
          <a:prstGeom prst="rect">
            <a:avLst/>
          </a:prstGeom>
          <a:solidFill>
            <a:srgbClr val="0E7C86"/>
          </a:solidFill>
          <a:ln w="15875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900" b="1">
                <a:solidFill>
                  <a:srgbClr val="F7F5F1"/>
                </a:solidFill>
                <a:latin typeface="DejaVu Sans"/>
              </a:rPr>
              <a:t>ՍԱՐՔ  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496312"/>
            <a:ext cx="502005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1">
                <a:solidFill>
                  <a:srgbClr val="6B7680"/>
                </a:solidFill>
                <a:latin typeface="DejaVu Sans"/>
              </a:rPr>
              <a:t>Աքսելերոմետր, 3-առանցք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2852927"/>
            <a:ext cx="24917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6B7680"/>
                </a:solidFill>
                <a:latin typeface="DejaVu Sans"/>
              </a:rPr>
              <a:t>Լուծունակություն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32988" y="2852927"/>
            <a:ext cx="24734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500" b="1" i="0">
                <a:solidFill>
                  <a:srgbClr val="1A1F24"/>
                </a:solidFill>
                <a:latin typeface="DejaVu Sans Mono"/>
              </a:rPr>
              <a:t>16-բիթ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200399"/>
            <a:ext cx="24917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60" b="0" i="0">
                <a:solidFill>
                  <a:srgbClr val="6B7680"/>
                </a:solidFill>
                <a:latin typeface="DejaVu Sans"/>
              </a:rPr>
              <a:t>Լրիվ տիրույթ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32988" y="3200399"/>
            <a:ext cx="24734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500" b="1" i="0">
                <a:solidFill>
                  <a:srgbClr val="1A1F24"/>
                </a:solidFill>
                <a:latin typeface="Courier New"/>
              </a:rPr>
              <a:t>±2 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3547871"/>
            <a:ext cx="24917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10" b="0" i="0">
                <a:solidFill>
                  <a:srgbClr val="6B7680"/>
                </a:solidFill>
                <a:latin typeface="DejaVu Sans"/>
              </a:rPr>
              <a:t>Զգայունություն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2988" y="3547871"/>
            <a:ext cx="24734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500" b="1" i="0">
                <a:solidFill>
                  <a:srgbClr val="1A1F24"/>
                </a:solidFill>
                <a:latin typeface="Courier New"/>
              </a:rPr>
              <a:t>0.061 mg/LSB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3895343"/>
            <a:ext cx="24917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90" b="0" i="0">
                <a:solidFill>
                  <a:srgbClr val="6B7680"/>
                </a:solidFill>
                <a:latin typeface="DejaVu Sans"/>
              </a:rPr>
              <a:t>Աղմուկի խտություն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2988" y="3895343"/>
            <a:ext cx="24734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500" b="1" i="0">
                <a:solidFill>
                  <a:srgbClr val="1A1F24"/>
                </a:solidFill>
                <a:latin typeface="Courier New"/>
              </a:rPr>
              <a:t>100 µg/√Hz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4242815"/>
            <a:ext cx="24917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6B7680"/>
                </a:solidFill>
                <a:latin typeface="DejaVu Sans"/>
              </a:rPr>
              <a:t>Միավորի գին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332988" y="4242815"/>
            <a:ext cx="24734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500" b="1" i="0">
                <a:solidFill>
                  <a:srgbClr val="1A1F24"/>
                </a:solidFill>
                <a:latin typeface="Courier New"/>
              </a:rPr>
              <a:t>€1.80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22960" y="4709160"/>
            <a:ext cx="5020056" cy="402336"/>
          </a:xfrm>
          <a:prstGeom prst="roundRect">
            <a:avLst>
              <a:gd name="adj" fmla="val 10000"/>
            </a:avLst>
          </a:prstGeom>
          <a:solidFill>
            <a:srgbClr val="DCEDEF"/>
          </a:solidFill>
          <a:ln w="15875">
            <a:solidFill>
              <a:srgbClr val="DCED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160" b="1">
                <a:solidFill>
                  <a:srgbClr val="1A1F24"/>
                </a:solidFill>
                <a:latin typeface="DejaVu Sans"/>
              </a:rPr>
              <a:t>«ԲԱՐՁՐ ԼՈՒԾՈՒՆԱԿՈՒԹՅՈՒՆ · ՑԱԾՐ ԱՂՄՈՒԿ»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64808" y="1810512"/>
            <a:ext cx="5349240" cy="3401568"/>
          </a:xfrm>
          <a:prstGeom prst="rect">
            <a:avLst/>
          </a:prstGeom>
          <a:solidFill>
            <a:srgbClr val="FFFFFF"/>
          </a:solidFill>
          <a:ln w="25400">
            <a:solidFill>
              <a:srgbClr val="6B76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500" b="0">
                <a:solidFill>
                  <a:srgbClr val="1A1F24"/>
                </a:solidFill>
                <a:latin typeface="Arial"/>
              </a:rPr>
              <a:t/>
            </a:r>
          </a:p>
        </p:txBody>
      </p:sp>
      <p:sp>
        <p:nvSpPr>
          <p:cNvPr id="23" name="Rectangle 22"/>
          <p:cNvSpPr/>
          <p:nvPr/>
        </p:nvSpPr>
        <p:spPr>
          <a:xfrm>
            <a:off x="6464808" y="1810512"/>
            <a:ext cx="5349240" cy="566928"/>
          </a:xfrm>
          <a:prstGeom prst="rect">
            <a:avLst/>
          </a:prstGeom>
          <a:solidFill>
            <a:srgbClr val="6B7680"/>
          </a:solidFill>
          <a:ln w="15875">
            <a:solidFill>
              <a:srgbClr val="6B76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900" b="1">
                <a:solidFill>
                  <a:srgbClr val="F7F5F1"/>
                </a:solidFill>
                <a:latin typeface="DejaVu Sans"/>
              </a:rPr>
              <a:t>ՍԱՐՔ  Բ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29400" y="2496312"/>
            <a:ext cx="502005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1">
                <a:solidFill>
                  <a:srgbClr val="6B7680"/>
                </a:solidFill>
                <a:latin typeface="DejaVu Sans"/>
              </a:rPr>
              <a:t>Աքսելերոմետր, 3-առանցք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29400" y="2852927"/>
            <a:ext cx="24917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6B7680"/>
                </a:solidFill>
                <a:latin typeface="DejaVu Sans"/>
              </a:rPr>
              <a:t>Լուծունակություն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39428" y="2852927"/>
            <a:ext cx="24734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500" b="1" i="0">
                <a:solidFill>
                  <a:srgbClr val="1A1F24"/>
                </a:solidFill>
                <a:latin typeface="DejaVu Sans Mono"/>
              </a:rPr>
              <a:t>14-բիթ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29400" y="3200399"/>
            <a:ext cx="24917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60" b="0" i="0">
                <a:solidFill>
                  <a:srgbClr val="6B7680"/>
                </a:solidFill>
                <a:latin typeface="DejaVu Sans"/>
              </a:rPr>
              <a:t>Լրիվ տիրույթ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39428" y="3200399"/>
            <a:ext cx="24734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500" b="1" i="0">
                <a:solidFill>
                  <a:srgbClr val="1A1F24"/>
                </a:solidFill>
                <a:latin typeface="Courier New"/>
              </a:rPr>
              <a:t>±4 g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29400" y="3547871"/>
            <a:ext cx="24917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10" b="0" i="0">
                <a:solidFill>
                  <a:srgbClr val="6B7680"/>
                </a:solidFill>
                <a:latin typeface="DejaVu Sans"/>
              </a:rPr>
              <a:t>Զգայունություն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39428" y="3547871"/>
            <a:ext cx="24734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500" b="1" i="0">
                <a:solidFill>
                  <a:srgbClr val="1A1F24"/>
                </a:solidFill>
                <a:latin typeface="Courier New"/>
              </a:rPr>
              <a:t>0.488 mg/LSB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629400" y="3895343"/>
            <a:ext cx="24917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90" b="0" i="0">
                <a:solidFill>
                  <a:srgbClr val="6B7680"/>
                </a:solidFill>
                <a:latin typeface="DejaVu Sans"/>
              </a:rPr>
              <a:t>Աղմուկի խտություն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39428" y="3895343"/>
            <a:ext cx="24734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500" b="1" i="0">
                <a:solidFill>
                  <a:srgbClr val="1A1F24"/>
                </a:solidFill>
                <a:latin typeface="Courier New"/>
              </a:rPr>
              <a:t>100 µg/√Hz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629400" y="4242815"/>
            <a:ext cx="24917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6B7680"/>
                </a:solidFill>
                <a:latin typeface="DejaVu Sans"/>
              </a:rPr>
              <a:t>Միավորի գին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39428" y="4242815"/>
            <a:ext cx="24734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500" b="1" i="0">
                <a:solidFill>
                  <a:srgbClr val="1A1F24"/>
                </a:solidFill>
                <a:latin typeface="Courier New"/>
              </a:rPr>
              <a:t>€4.20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58368" y="5413248"/>
            <a:ext cx="10874959" cy="749808"/>
          </a:xfrm>
          <a:prstGeom prst="roundRect">
            <a:avLst>
              <a:gd name="adj" fmla="val 10000"/>
            </a:avLst>
          </a:prstGeom>
          <a:solidFill>
            <a:srgbClr val="1A1F24"/>
          </a:solidFill>
          <a:ln w="15875">
            <a:solidFill>
              <a:srgbClr val="1A1F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2100" b="1">
                <a:solidFill>
                  <a:srgbClr val="F7F5F1"/>
                </a:solidFill>
                <a:latin typeface="DejaVu Sans"/>
              </a:rPr>
              <a:t>Խնդիրը՝  հաղորդել արևահետևիչ շրջանակի թեքությունը ±0.5° ճշտությամբ, բացօթյա, 0-ից 40 °C։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640080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6B7680"/>
                </a:solidFill>
                <a:latin typeface="DejaVu Sans"/>
              </a:rPr>
              <a:t>MEMS և տվիչներ  ·  Դասախոսություն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18927" y="640080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 i="0">
                <a:solidFill>
                  <a:srgbClr val="6B7680"/>
                </a:solidFill>
                <a:latin typeface="Arial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74320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D98324"/>
                </a:solidFill>
                <a:latin typeface="DejaVu Sans"/>
              </a:rPr>
              <a:t>ՀԱՐՑՈՒՄ 1   ·   ՐՈՊԵ 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658368"/>
            <a:ext cx="10874959" cy="1325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1" i="0">
                <a:solidFill>
                  <a:srgbClr val="1A1F24"/>
                </a:solidFill>
                <a:latin typeface="DejaVu Sans"/>
              </a:rPr>
              <a:t>Ո՞ր սարքը կնշեք ±0.5° թեքության չափման համար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2057400"/>
            <a:ext cx="10874959" cy="65836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E4E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500" b="0">
                <a:solidFill>
                  <a:srgbClr val="1A1F24"/>
                </a:solidFill>
                <a:latin typeface="Arial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9536" y="2176272"/>
            <a:ext cx="45720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i="0">
                <a:solidFill>
                  <a:srgbClr val="6B7680"/>
                </a:solidFill>
                <a:latin typeface="Arial"/>
              </a:rPr>
              <a:t>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2185416"/>
            <a:ext cx="9869119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10" b="0" i="0">
                <a:solidFill>
                  <a:srgbClr val="1A1F24"/>
                </a:solidFill>
                <a:latin typeface="DejaVu Sans"/>
              </a:rPr>
              <a:t>Սարք Ա — ութ անգամ ավելի բարձր լուծունակություն, և ավելի էժան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2862072"/>
            <a:ext cx="10874959" cy="65836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E4E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500" b="0">
                <a:solidFill>
                  <a:srgbClr val="1A1F24"/>
                </a:solidFill>
                <a:latin typeface="Arial"/>
              </a:rPr>
              <a:t/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9536" y="2980944"/>
            <a:ext cx="45720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i="0">
                <a:solidFill>
                  <a:srgbClr val="6B7680"/>
                </a:solidFill>
                <a:latin typeface="Arial"/>
              </a:rPr>
              <a:t>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990088"/>
            <a:ext cx="9869119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 i="0">
                <a:solidFill>
                  <a:srgbClr val="1A1F24"/>
                </a:solidFill>
                <a:latin typeface="DejaVu Sans"/>
              </a:rPr>
              <a:t>Սարք Բ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3666744"/>
            <a:ext cx="10874959" cy="65836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E4E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500" b="0">
                <a:solidFill>
                  <a:srgbClr val="1A1F24"/>
                </a:solidFill>
                <a:latin typeface="Arial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9536" y="3785616"/>
            <a:ext cx="45720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i="0">
                <a:solidFill>
                  <a:srgbClr val="6B7680"/>
                </a:solidFill>
                <a:latin typeface="Arial"/>
              </a:rPr>
              <a:t>C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71600" y="3794760"/>
            <a:ext cx="9869119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 i="0">
                <a:solidFill>
                  <a:srgbClr val="1A1F24"/>
                </a:solidFill>
                <a:latin typeface="DejaVu Sans"/>
              </a:rPr>
              <a:t>Սա հնարավոր չէ որոշել միայն առաջին էջերից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" y="5541264"/>
            <a:ext cx="10874959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 i="1">
                <a:solidFill>
                  <a:srgbClr val="6B7680"/>
                </a:solidFill>
                <a:latin typeface="DejaVu Sans"/>
              </a:rPr>
              <a:t>Որոշե՛ք։ Յոթանասուն րոպե անց ցույց կտամ, որ այս լսարանի մեծ մասը ընտրեց սարք, որը չի կարող բավարարել պահանջը — և որ իր datasheet-ը դա ասել էր, իններորդ էջում։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640080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6B7680"/>
                </a:solidFill>
                <a:latin typeface="DejaVu Sans"/>
              </a:rPr>
              <a:t>MEMS և տվիչներ  ·  Դասախոսություն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18927" y="640080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 i="0">
                <a:solidFill>
                  <a:srgbClr val="6B7680"/>
                </a:solidFill>
                <a:latin typeface="Arial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475488"/>
            <a:ext cx="10874959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 i="0">
                <a:solidFill>
                  <a:srgbClr val="1A1F24"/>
                </a:solidFill>
                <a:latin typeface="DejaVu Sans"/>
              </a:rPr>
              <a:t>Նախ՝ պահանջը վերածե՛ք թվի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188720"/>
            <a:ext cx="1371600" cy="571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1353312"/>
            <a:ext cx="1087495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1">
                <a:solidFill>
                  <a:srgbClr val="6B7680"/>
                </a:solidFill>
                <a:latin typeface="DejaVu Sans"/>
              </a:rPr>
              <a:t>Անկյան դիմաց սխալանքի հաշվեկազմ չեք կազմի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2103120"/>
            <a:ext cx="10874959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600"/>
              </a:spcAft>
            </a:pPr>
            <a:r>
              <a:rPr sz="2500" b="1" i="0">
                <a:solidFill>
                  <a:srgbClr val="1A1F24"/>
                </a:solidFill>
                <a:latin typeface="DejaVu Sans Mono"/>
              </a:rPr>
              <a:t>0.5° թեքում  →  sin(0.5°) × 1 g  =  8.73 mg</a:t>
            </a:r>
            <a:r>
              <a:rPr sz="3100" b="1" i="0">
                <a:solidFill>
                  <a:srgbClr val="0E7C86"/>
                </a:solidFill>
                <a:latin typeface="Courier New"/>
              </a:rPr>
              <a:t/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3520440"/>
            <a:ext cx="10874959" cy="960120"/>
          </a:xfrm>
          <a:prstGeom prst="roundRect">
            <a:avLst>
              <a:gd name="adj" fmla="val 10000"/>
            </a:avLst>
          </a:prstGeom>
          <a:solidFill>
            <a:srgbClr val="0E7C86"/>
          </a:solidFill>
          <a:ln w="15875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2600" b="1">
                <a:solidFill>
                  <a:srgbClr val="F7F5F1"/>
                </a:solidFill>
                <a:latin typeface="DejaVu Sans"/>
              </a:rPr>
              <a:t>8.73 mg-ն ամբողջ ազդանշանն է, որը փորձում ենք չափել։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4800600"/>
            <a:ext cx="10874959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100" b="0" i="0">
                <a:solidFill>
                  <a:srgbClr val="1A1F24"/>
                </a:solidFill>
                <a:latin typeface="DejaVu Sans"/>
              </a:rPr>
              <a:t>Այս դասախոսության ամեն սխալանքի բաղադրիչ համեմատվում է այդ 8.73 mg-ի հետ։</a:t>
            </a:r>
          </a:p>
          <a:p>
            <a:pPr algn="l">
              <a:lnSpc>
                <a:spcPct val="140000"/>
              </a:lnSpc>
            </a:pPr>
            <a:r>
              <a:rPr sz="2100" b="0" i="0">
                <a:solidFill>
                  <a:srgbClr val="1A1F24"/>
                </a:solidFill>
                <a:latin typeface="DejaVu Sans"/>
              </a:rPr>
              <a:t>Դրանից մեծ ամեն բաղադրիչ ճակատագրական է։ Դրանից շատ փոքրը՝ անտեղի, ինչքան էլ լավ երևա առաջին էջում։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640080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7A848C"/>
                </a:solidFill>
                <a:latin typeface="DejaVu Sans"/>
              </a:rPr>
              <a:t>MEMS և տվիչներ  ·  Դասախոսություն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18927" y="640080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 i="0">
                <a:solidFill>
                  <a:srgbClr val="7A848C"/>
                </a:solidFill>
                <a:latin typeface="Arial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74320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0E7C86"/>
                </a:solidFill>
                <a:latin typeface="DejaVu Sans"/>
              </a:rPr>
              <a:t>ՄԱՍ 1  ·  ՐՈՊԵ 10–28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737360"/>
            <a:ext cx="9046159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400" b="1" i="0">
                <a:solidFill>
                  <a:srgbClr val="F7F5F1"/>
                </a:solidFill>
                <a:latin typeface="DejaVu Sans"/>
              </a:rPr>
              <a:t>Չորս բառ,</a:t>
            </a:r>
          </a:p>
          <a:p>
            <a:pPr algn="l">
              <a:lnSpc>
                <a:spcPct val="115000"/>
              </a:lnSpc>
            </a:pPr>
            <a:r>
              <a:rPr sz="4400" b="1" i="0">
                <a:solidFill>
                  <a:srgbClr val="F7F5F1"/>
                </a:solidFill>
                <a:latin typeface="DejaVu Sans"/>
              </a:rPr>
              <a:t>որոնք շփոթվում են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90127" y="256032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300" b="1" i="0">
                <a:solidFill>
                  <a:srgbClr val="6B7680"/>
                </a:solidFill>
                <a:latin typeface="Courier New"/>
              </a:rPr>
              <a:t>10:00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3794760"/>
            <a:ext cx="1371600" cy="508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4160520"/>
            <a:ext cx="10874959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639" b="0" i="0">
                <a:solidFill>
                  <a:srgbClr val="B8C0C6"/>
                </a:solidFill>
                <a:latin typeface="DejaVu Sans"/>
              </a:rPr>
              <a:t>Ճշտություն։ Ճշգրտություն։ Լուծունակություն։ Զգայունություն։</a:t>
            </a:r>
          </a:p>
          <a:p>
            <a:pPr algn="l">
              <a:lnSpc>
                <a:spcPct val="150000"/>
              </a:lnSpc>
            </a:pPr>
            <a:r>
              <a:rPr sz="1900" b="0" i="0">
                <a:solidFill>
                  <a:srgbClr val="B8C0C6"/>
                </a:solidFill>
                <a:latin typeface="DejaVu Sans"/>
              </a:rPr>
              <a:t>Տվիչների շուրջ ինժեներական վիճաբանությունների մեծ մասը իրականում սրանց մասին է։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640080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6B7680"/>
                </a:solidFill>
                <a:latin typeface="DejaVu Sans"/>
              </a:rPr>
              <a:t>MEMS և տվիչներ  ·  Դասախոսություն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18927" y="640080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 i="0">
                <a:solidFill>
                  <a:srgbClr val="6B7680"/>
                </a:solidFill>
                <a:latin typeface="Arial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475488"/>
            <a:ext cx="10874959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 i="0">
                <a:solidFill>
                  <a:srgbClr val="1A1F24"/>
                </a:solidFill>
                <a:latin typeface="DejaVu Sans"/>
              </a:rPr>
              <a:t>Ճշտությունը ճշգրտություն չէ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188720"/>
            <a:ext cx="1371600" cy="571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1353312"/>
            <a:ext cx="1087495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1">
                <a:solidFill>
                  <a:srgbClr val="6B7680"/>
                </a:solidFill>
                <a:latin typeface="DejaVu Sans"/>
              </a:rPr>
              <a:t>Նույն թիրախը, չորս տարբեր չափիչ սարք</a:t>
            </a:r>
          </a:p>
        </p:txBody>
      </p:sp>
      <p:sp>
        <p:nvSpPr>
          <p:cNvPr id="8" name="Oval 7"/>
          <p:cNvSpPr/>
          <p:nvPr/>
        </p:nvSpPr>
        <p:spPr>
          <a:xfrm>
            <a:off x="896112" y="2002536"/>
            <a:ext cx="2121408" cy="2121408"/>
          </a:xfrm>
          <a:prstGeom prst="ellipse">
            <a:avLst/>
          </a:prstGeom>
          <a:solidFill>
            <a:srgbClr val="F7F5F1"/>
          </a:solidFill>
          <a:ln w="12700">
            <a:solidFill>
              <a:srgbClr val="E4E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299179" y="2405603"/>
            <a:ext cx="1315272" cy="13152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E4E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681032" y="2787456"/>
            <a:ext cx="551566" cy="551566"/>
          </a:xfrm>
          <a:prstGeom prst="ellipse">
            <a:avLst/>
          </a:prstGeom>
          <a:solidFill>
            <a:srgbClr val="DCEDEF"/>
          </a:solidFill>
          <a:ln w="12700">
            <a:solidFill>
              <a:srgbClr val="E4E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942552" y="3112618"/>
            <a:ext cx="113384" cy="113384"/>
          </a:xfrm>
          <a:prstGeom prst="ellipse">
            <a:avLst/>
          </a:prstGeom>
          <a:solidFill>
            <a:srgbClr val="0E7C8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815267" y="2964119"/>
            <a:ext cx="113384" cy="113384"/>
          </a:xfrm>
          <a:prstGeom prst="ellipse">
            <a:avLst/>
          </a:prstGeom>
          <a:solidFill>
            <a:srgbClr val="0E7C8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963766" y="2900477"/>
            <a:ext cx="113384" cy="113384"/>
          </a:xfrm>
          <a:prstGeom prst="ellipse">
            <a:avLst/>
          </a:prstGeom>
          <a:solidFill>
            <a:srgbClr val="0E7C8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857695" y="3070190"/>
            <a:ext cx="113384" cy="113384"/>
          </a:xfrm>
          <a:prstGeom prst="ellipse">
            <a:avLst/>
          </a:prstGeom>
          <a:solidFill>
            <a:srgbClr val="0E7C8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22376" y="4279392"/>
            <a:ext cx="24688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600" b="1" i="0">
                <a:solidFill>
                  <a:srgbClr val="0E7C86"/>
                </a:solidFill>
                <a:latin typeface="DejaVu Sans"/>
              </a:rPr>
              <a:t>ՃԻՇՏ</a:t>
            </a:r>
          </a:p>
          <a:p>
            <a:pPr algn="ctr">
              <a:lnSpc>
                <a:spcPct val="125000"/>
              </a:lnSpc>
            </a:pPr>
            <a:r>
              <a:rPr sz="1600" b="1" i="0">
                <a:solidFill>
                  <a:srgbClr val="0E7C86"/>
                </a:solidFill>
                <a:latin typeface="DejaVu Sans"/>
              </a:rPr>
              <a:t>ԵՎ ՃՇԳՐԻՏ</a:t>
            </a:r>
          </a:p>
        </p:txBody>
      </p:sp>
      <p:sp>
        <p:nvSpPr>
          <p:cNvPr id="16" name="Oval 15"/>
          <p:cNvSpPr/>
          <p:nvPr/>
        </p:nvSpPr>
        <p:spPr>
          <a:xfrm>
            <a:off x="3639312" y="2002536"/>
            <a:ext cx="2121408" cy="2121408"/>
          </a:xfrm>
          <a:prstGeom prst="ellipse">
            <a:avLst/>
          </a:prstGeom>
          <a:solidFill>
            <a:srgbClr val="F7F5F1"/>
          </a:solidFill>
          <a:ln w="12700">
            <a:solidFill>
              <a:srgbClr val="E4E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4042379" y="2405603"/>
            <a:ext cx="1315272" cy="13152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E4E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4424232" y="2787456"/>
            <a:ext cx="551566" cy="551566"/>
          </a:xfrm>
          <a:prstGeom prst="ellipse">
            <a:avLst/>
          </a:prstGeom>
          <a:solidFill>
            <a:srgbClr val="DCEDEF"/>
          </a:solidFill>
          <a:ln w="12700">
            <a:solidFill>
              <a:srgbClr val="E4E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534315" y="3642970"/>
            <a:ext cx="113384" cy="113384"/>
          </a:xfrm>
          <a:prstGeom prst="ellipse">
            <a:avLst/>
          </a:prstGeom>
          <a:solidFill>
            <a:srgbClr val="C0392B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5619171" y="3770254"/>
            <a:ext cx="113384" cy="113384"/>
          </a:xfrm>
          <a:prstGeom prst="ellipse">
            <a:avLst/>
          </a:prstGeom>
          <a:solidFill>
            <a:srgbClr val="C0392B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470673" y="3749040"/>
            <a:ext cx="113384" cy="113384"/>
          </a:xfrm>
          <a:prstGeom prst="ellipse">
            <a:avLst/>
          </a:prstGeom>
          <a:solidFill>
            <a:srgbClr val="C0392B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5576743" y="3579328"/>
            <a:ext cx="113384" cy="113384"/>
          </a:xfrm>
          <a:prstGeom prst="ellipse">
            <a:avLst/>
          </a:prstGeom>
          <a:solidFill>
            <a:srgbClr val="C0392B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465576" y="4279392"/>
            <a:ext cx="24688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600" b="1" i="0">
                <a:solidFill>
                  <a:srgbClr val="C0392B"/>
                </a:solidFill>
                <a:latin typeface="DejaVu Sans"/>
              </a:rPr>
              <a:t>ՃՇԳՐԻՏ, ԲԱՅՑ</a:t>
            </a:r>
          </a:p>
          <a:p>
            <a:pPr algn="ctr">
              <a:lnSpc>
                <a:spcPct val="125000"/>
              </a:lnSpc>
            </a:pPr>
            <a:r>
              <a:rPr sz="1600" b="1" i="0">
                <a:solidFill>
                  <a:srgbClr val="C0392B"/>
                </a:solidFill>
                <a:latin typeface="DejaVu Sans"/>
              </a:rPr>
              <a:t>ՃԻՇՏ</a:t>
            </a:r>
          </a:p>
        </p:txBody>
      </p:sp>
      <p:sp>
        <p:nvSpPr>
          <p:cNvPr id="24" name="Oval 23"/>
          <p:cNvSpPr/>
          <p:nvPr/>
        </p:nvSpPr>
        <p:spPr>
          <a:xfrm>
            <a:off x="6382512" y="2002536"/>
            <a:ext cx="2121408" cy="2121408"/>
          </a:xfrm>
          <a:prstGeom prst="ellipse">
            <a:avLst/>
          </a:prstGeom>
          <a:solidFill>
            <a:srgbClr val="F7F5F1"/>
          </a:solidFill>
          <a:ln w="12700">
            <a:solidFill>
              <a:srgbClr val="E4E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785579" y="2405603"/>
            <a:ext cx="1315272" cy="13152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E4E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167432" y="2787456"/>
            <a:ext cx="551566" cy="551566"/>
          </a:xfrm>
          <a:prstGeom prst="ellipse">
            <a:avLst/>
          </a:prstGeom>
          <a:solidFill>
            <a:srgbClr val="DCEDEF"/>
          </a:solidFill>
          <a:ln w="12700">
            <a:solidFill>
              <a:srgbClr val="E4E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980518" y="2454981"/>
            <a:ext cx="113384" cy="113384"/>
          </a:xfrm>
          <a:prstGeom prst="ellipse">
            <a:avLst/>
          </a:prstGeom>
          <a:solidFill>
            <a:srgbClr val="D98324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6750101" y="3515685"/>
            <a:ext cx="113384" cy="113384"/>
          </a:xfrm>
          <a:prstGeom prst="ellipse">
            <a:avLst/>
          </a:prstGeom>
          <a:solidFill>
            <a:srgbClr val="D98324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7471380" y="3770254"/>
            <a:ext cx="113384" cy="113384"/>
          </a:xfrm>
          <a:prstGeom prst="ellipse">
            <a:avLst/>
          </a:prstGeom>
          <a:solidFill>
            <a:srgbClr val="D98324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7280453" y="2285269"/>
            <a:ext cx="113384" cy="113384"/>
          </a:xfrm>
          <a:prstGeom prst="ellipse">
            <a:avLst/>
          </a:prstGeom>
          <a:solidFill>
            <a:srgbClr val="D98324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208776" y="4279392"/>
            <a:ext cx="24688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600" b="1" i="0">
                <a:solidFill>
                  <a:srgbClr val="D98324"/>
                </a:solidFill>
                <a:latin typeface="DejaVu Sans"/>
              </a:rPr>
              <a:t>ՃԻՇՏ, ԲԱՅՑ</a:t>
            </a:r>
          </a:p>
          <a:p>
            <a:pPr algn="ctr">
              <a:lnSpc>
                <a:spcPct val="125000"/>
              </a:lnSpc>
            </a:pPr>
            <a:r>
              <a:rPr sz="1390" b="1" i="0">
                <a:solidFill>
                  <a:srgbClr val="D98324"/>
                </a:solidFill>
                <a:latin typeface="DejaVu Sans"/>
              </a:rPr>
              <a:t>ՈՉ ՃՇԳՐԻՏ</a:t>
            </a:r>
          </a:p>
        </p:txBody>
      </p:sp>
      <p:sp>
        <p:nvSpPr>
          <p:cNvPr id="32" name="Oval 31"/>
          <p:cNvSpPr/>
          <p:nvPr/>
        </p:nvSpPr>
        <p:spPr>
          <a:xfrm>
            <a:off x="9125712" y="2002536"/>
            <a:ext cx="2121408" cy="2121408"/>
          </a:xfrm>
          <a:prstGeom prst="ellipse">
            <a:avLst/>
          </a:prstGeom>
          <a:solidFill>
            <a:srgbClr val="F7F5F1"/>
          </a:solidFill>
          <a:ln w="12700">
            <a:solidFill>
              <a:srgbClr val="E4E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9528779" y="2405603"/>
            <a:ext cx="1315272" cy="13152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E4E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9910632" y="2787456"/>
            <a:ext cx="551566" cy="551566"/>
          </a:xfrm>
          <a:prstGeom prst="ellipse">
            <a:avLst/>
          </a:prstGeom>
          <a:solidFill>
            <a:srgbClr val="DCEDEF"/>
          </a:solidFill>
          <a:ln w="12700">
            <a:solidFill>
              <a:srgbClr val="E4E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10978287" y="2412553"/>
            <a:ext cx="113384" cy="113384"/>
          </a:xfrm>
          <a:prstGeom prst="ellipse">
            <a:avLst/>
          </a:prstGeom>
          <a:solidFill>
            <a:srgbClr val="6B7680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9747870" y="3855111"/>
            <a:ext cx="113384" cy="113384"/>
          </a:xfrm>
          <a:prstGeom prst="ellipse">
            <a:avLst/>
          </a:prstGeom>
          <a:solidFill>
            <a:srgbClr val="6B7680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11063143" y="3345973"/>
            <a:ext cx="113384" cy="113384"/>
          </a:xfrm>
          <a:prstGeom prst="ellipse">
            <a:avLst/>
          </a:prstGeom>
          <a:solidFill>
            <a:srgbClr val="6B7680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9323588" y="2582266"/>
            <a:ext cx="113384" cy="113384"/>
          </a:xfrm>
          <a:prstGeom prst="ellipse">
            <a:avLst/>
          </a:prstGeom>
          <a:solidFill>
            <a:srgbClr val="6B7680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951976" y="4279392"/>
            <a:ext cx="24688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600" b="1" i="0">
                <a:solidFill>
                  <a:srgbClr val="6B7680"/>
                </a:solidFill>
                <a:latin typeface="DejaVu Sans"/>
              </a:rPr>
              <a:t>ՈՉ ՄԵԿԸ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58368" y="5230368"/>
            <a:ext cx="10874959" cy="868680"/>
          </a:xfrm>
          <a:prstGeom prst="roundRect">
            <a:avLst>
              <a:gd name="adj" fmla="val 10000"/>
            </a:avLst>
          </a:prstGeom>
          <a:solidFill>
            <a:srgbClr val="FAECD8"/>
          </a:solidFill>
          <a:ln w="15875">
            <a:solidFill>
              <a:srgbClr val="D983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600" b="1">
                <a:solidFill>
                  <a:srgbClr val="1A1F24"/>
                </a:solidFill>
                <a:latin typeface="DejaVu Sans"/>
              </a:rPr>
              <a:t>Թիրախի կենտրոնը ՃՇՄԱՐԻՏ արժեքն է։ Ճշգրտությունը ցույց է տալիս, թե որքան խիտ են կուտակված կրակոցները։</a:t>
            </a:r>
          </a:p>
          <a:p>
            <a:pPr algn="ctr"/>
            <a:r>
              <a:rPr sz="1750" b="1">
                <a:solidFill>
                  <a:srgbClr val="1A1F24"/>
                </a:solidFill>
                <a:latin typeface="DejaVu Sans"/>
              </a:rPr>
              <a:t>Ճշտությունը ցույց է տալիս, թե որտեղ է գտնվում կուտակումը։ Նրանք անկախ են — և միայն մեկը շտկելի է ստուգաչափմամբ։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640080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6B7680"/>
                </a:solidFill>
                <a:latin typeface="DejaVu Sans"/>
              </a:rPr>
              <a:t>MEMS և տվիչներ  ·  Դասախոսություն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18927" y="640080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 i="0">
                <a:solidFill>
                  <a:srgbClr val="6B7680"/>
                </a:solidFill>
                <a:latin typeface="Arial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74320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D98324"/>
                </a:solidFill>
                <a:latin typeface="DejaVu Sans"/>
              </a:rPr>
              <a:t>ՀԱՐՑՈՒՄ 2   ·   ՐՈՊԵ 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658368"/>
            <a:ext cx="10874959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300" b="1" i="0">
                <a:solidFill>
                  <a:srgbClr val="1A1F24"/>
                </a:solidFill>
                <a:latin typeface="DejaVu Sans"/>
              </a:rPr>
              <a:t>Ճնշման տվիչը գտնվում է խցիկում, որտեղ ճշմարիտ, հաստատուն ճնշումը 1000.0 hPa է, և կարդացվում է 100 անգամ։ Բոլոր ցուցմունքները 1012.3–1012.5 hPa միջակայքում են։ Սարքը՝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2286000"/>
            <a:ext cx="10874959" cy="65836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E4E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500" b="0">
                <a:solidFill>
                  <a:srgbClr val="1A1F24"/>
                </a:solidFill>
                <a:latin typeface="Arial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9536" y="2404872"/>
            <a:ext cx="45720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i="0">
                <a:solidFill>
                  <a:srgbClr val="6B7680"/>
                </a:solidFill>
                <a:latin typeface="Arial"/>
              </a:rPr>
              <a:t>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2414016"/>
            <a:ext cx="9869119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 i="0">
                <a:solidFill>
                  <a:srgbClr val="1A1F24"/>
                </a:solidFill>
                <a:latin typeface="DejaVu Sans"/>
              </a:rPr>
              <a:t>Ճիշտ է, բայց ոչ ճշգրիտ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3090672"/>
            <a:ext cx="10874959" cy="65836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E4E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500" b="0">
                <a:solidFill>
                  <a:srgbClr val="1A1F24"/>
                </a:solidFill>
                <a:latin typeface="Arial"/>
              </a:rPr>
              <a:t/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9536" y="3209544"/>
            <a:ext cx="45720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i="0">
                <a:solidFill>
                  <a:srgbClr val="6B7680"/>
                </a:solidFill>
                <a:latin typeface="Arial"/>
              </a:rPr>
              <a:t>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3218688"/>
            <a:ext cx="9869119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 i="0">
                <a:solidFill>
                  <a:srgbClr val="1A1F24"/>
                </a:solidFill>
                <a:latin typeface="DejaVu Sans"/>
              </a:rPr>
              <a:t>Ճշգրիտ է, բայց ոչ ճիշտ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3895344"/>
            <a:ext cx="10874959" cy="65836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E4E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500" b="0">
                <a:solidFill>
                  <a:srgbClr val="1A1F24"/>
                </a:solidFill>
                <a:latin typeface="Arial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9536" y="4014216"/>
            <a:ext cx="45720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i="0">
                <a:solidFill>
                  <a:srgbClr val="6B7680"/>
                </a:solidFill>
                <a:latin typeface="Arial"/>
              </a:rPr>
              <a:t>C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71600" y="4023360"/>
            <a:ext cx="9869119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20" b="0" i="0">
                <a:solidFill>
                  <a:srgbClr val="1A1F24"/>
                </a:solidFill>
                <a:latin typeface="DejaVu Sans"/>
              </a:rPr>
              <a:t>Երկուսն էլ — ցրվածությունը ընդամենը 0.2 hPa է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" y="4700016"/>
            <a:ext cx="10874959" cy="65836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E4E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500" b="0">
                <a:solidFill>
                  <a:srgbClr val="1A1F24"/>
                </a:solidFill>
                <a:latin typeface="Arial"/>
              </a:rPr>
              <a:t/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9536" y="4818888"/>
            <a:ext cx="45720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i="0">
                <a:solidFill>
                  <a:srgbClr val="6B7680"/>
                </a:solidFill>
                <a:latin typeface="Arial"/>
              </a:rPr>
              <a:t>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4828032"/>
            <a:ext cx="9869119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 i="0">
                <a:solidFill>
                  <a:srgbClr val="1A1F24"/>
                </a:solidFill>
                <a:latin typeface="DejaVu Sans"/>
              </a:rPr>
              <a:t>Ոչ մեկը, քանի որ լուծունակությունը նշված չէ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5541264"/>
            <a:ext cx="10874959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30" b="0" i="1">
                <a:solidFill>
                  <a:srgbClr val="6B7680"/>
                </a:solidFill>
                <a:latin typeface="DejaVu Sans"/>
              </a:rPr>
              <a:t>Քվեարկե՛ք ինքնուրույն, ապա գտե՛ք մեկին, ով համաձայն չէ։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640080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6B7680"/>
                </a:solidFill>
                <a:latin typeface="DejaVu Sans"/>
              </a:rPr>
              <a:t>MEMS և տվիչներ  ·  Դասախոսություն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18927" y="640080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 i="0">
                <a:solidFill>
                  <a:srgbClr val="6B7680"/>
                </a:solidFill>
                <a:latin typeface="Arial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74320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0E7C86"/>
                </a:solidFill>
                <a:latin typeface="DejaVu Sans"/>
              </a:rPr>
              <a:t>ՀԱՐՑՈՒՄ 2   ·   ՐՈՊԵ 18   ·   ՊԱՏԱՍԽԱՆ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658368"/>
            <a:ext cx="10874959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300" b="1" i="0">
                <a:solidFill>
                  <a:srgbClr val="1A1F24"/>
                </a:solidFill>
                <a:latin typeface="DejaVu Sans"/>
              </a:rPr>
              <a:t>Ճնշման տվիչը գտնվում է խցիկում, որտեղ ճշմարիտ, հաստատուն ճնշումը 1000.0 hPa է, և կարդացվում է 100 անգամ։ Բոլոր ցուցմունքները 1012.3–1012.5 hPa միջակայքում են։ Սարքը՝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2286000"/>
            <a:ext cx="10874959" cy="65836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E4E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500" b="0">
                <a:solidFill>
                  <a:srgbClr val="1A1F24"/>
                </a:solidFill>
                <a:latin typeface="Arial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9536" y="2404872"/>
            <a:ext cx="45720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i="0">
                <a:solidFill>
                  <a:srgbClr val="6B7680"/>
                </a:solidFill>
                <a:latin typeface="Arial"/>
              </a:rPr>
              <a:t>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2414016"/>
            <a:ext cx="9869119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 i="0">
                <a:solidFill>
                  <a:srgbClr val="1A1F24"/>
                </a:solidFill>
                <a:latin typeface="DejaVu Sans"/>
              </a:rPr>
              <a:t>Ճիշտ է, բայց ոչ ճշգրիտ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3090672"/>
            <a:ext cx="10874959" cy="658368"/>
          </a:xfrm>
          <a:prstGeom prst="roundRect">
            <a:avLst>
              <a:gd name="adj" fmla="val 10000"/>
            </a:avLst>
          </a:prstGeom>
          <a:solidFill>
            <a:srgbClr val="DCEDEF"/>
          </a:solidFill>
          <a:ln w="3175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500" b="0">
                <a:solidFill>
                  <a:srgbClr val="1A1F24"/>
                </a:solidFill>
                <a:latin typeface="Arial"/>
              </a:rPr>
              <a:t/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9536" y="3209544"/>
            <a:ext cx="45720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i="0">
                <a:solidFill>
                  <a:srgbClr val="0E7C86"/>
                </a:solidFill>
                <a:latin typeface="Arial"/>
              </a:rPr>
              <a:t>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3218688"/>
            <a:ext cx="9869119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1A1F24"/>
                </a:solidFill>
                <a:latin typeface="DejaVu Sans"/>
              </a:rPr>
              <a:t>Ճշգրիտ է, բայց ոչ ճիշտ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3895344"/>
            <a:ext cx="10874959" cy="65836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E4E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500" b="0">
                <a:solidFill>
                  <a:srgbClr val="1A1F24"/>
                </a:solidFill>
                <a:latin typeface="Arial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9536" y="4014216"/>
            <a:ext cx="45720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i="0">
                <a:solidFill>
                  <a:srgbClr val="6B7680"/>
                </a:solidFill>
                <a:latin typeface="Arial"/>
              </a:rPr>
              <a:t>C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71600" y="4023360"/>
            <a:ext cx="9869119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20" b="0" i="0">
                <a:solidFill>
                  <a:srgbClr val="1A1F24"/>
                </a:solidFill>
                <a:latin typeface="DejaVu Sans"/>
              </a:rPr>
              <a:t>Երկուսն էլ — ցրվածությունը ընդամենը 0.2 hPa է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" y="4700016"/>
            <a:ext cx="10874959" cy="65836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E4E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500" b="0">
                <a:solidFill>
                  <a:srgbClr val="1A1F24"/>
                </a:solidFill>
                <a:latin typeface="Arial"/>
              </a:rPr>
              <a:t/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9536" y="4818888"/>
            <a:ext cx="45720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i="0">
                <a:solidFill>
                  <a:srgbClr val="6B7680"/>
                </a:solidFill>
                <a:latin typeface="Arial"/>
              </a:rPr>
              <a:t>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4828032"/>
            <a:ext cx="9869119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 i="0">
                <a:solidFill>
                  <a:srgbClr val="1A1F24"/>
                </a:solidFill>
                <a:latin typeface="DejaVu Sans"/>
              </a:rPr>
              <a:t>Ոչ մեկը, քանի որ լուծունակությունը նշված չէ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5541264"/>
            <a:ext cx="10874959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1">
                <a:solidFill>
                  <a:srgbClr val="0E7C86"/>
                </a:solidFill>
                <a:latin typeface="DejaVu Sans"/>
              </a:rPr>
              <a:t>12.4 hPa զրոյական շեղում, պահված 0.2 hPa ցրվածությամբ։ Հիանալի ճշգրտություն, անպետք ճշտություն — մինչև որ ինչ-որ մեկը ստուգաչափի։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640080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6B7680"/>
                </a:solidFill>
                <a:latin typeface="DejaVu Sans"/>
              </a:rPr>
              <a:t>MEMS և տվիչներ  ·  Դասախոսություն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18927" y="640080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 i="0">
                <a:solidFill>
                  <a:srgbClr val="6B7680"/>
                </a:solidFill>
                <a:latin typeface="Arial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475488"/>
            <a:ext cx="10874959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 i="0">
                <a:solidFill>
                  <a:srgbClr val="1A1F24"/>
                </a:solidFill>
                <a:latin typeface="DejaVu Sans"/>
              </a:rPr>
              <a:t>Կանոնը, որ արժե անգիր անել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188720"/>
            <a:ext cx="1371600" cy="571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58368" y="2011680"/>
            <a:ext cx="3246120" cy="841248"/>
          </a:xfrm>
          <a:prstGeom prst="roundRect">
            <a:avLst>
              <a:gd name="adj" fmla="val 10000"/>
            </a:avLst>
          </a:prstGeom>
          <a:solidFill>
            <a:srgbClr val="0E7C86"/>
          </a:solidFill>
          <a:ln w="15875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590" b="1">
                <a:solidFill>
                  <a:srgbClr val="F7F5F1"/>
                </a:solidFill>
                <a:latin typeface="DejaVu Sans"/>
              </a:rPr>
              <a:t>ՀԱՄԱԿԱՐԳԱՅԻՆ ՍԽԱԼԱՆՔ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78808" y="2057400"/>
            <a:ext cx="7498079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 i="0">
                <a:solidFill>
                  <a:srgbClr val="1A1F24"/>
                </a:solidFill>
                <a:latin typeface="DejaVu Sans"/>
              </a:rPr>
              <a:t>ստուգաչափման խնդիր է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78808" y="2487168"/>
            <a:ext cx="749807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30" b="0" i="0">
                <a:solidFill>
                  <a:srgbClr val="6B7680"/>
                </a:solidFill>
                <a:latin typeface="DejaVu Sans"/>
              </a:rPr>
              <a:t>զրոյական շեղում, մասշտաբի գործակից — չափելի, հեռացվող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3063240"/>
            <a:ext cx="3246120" cy="841248"/>
          </a:xfrm>
          <a:prstGeom prst="roundRect">
            <a:avLst>
              <a:gd name="adj" fmla="val 10000"/>
            </a:avLst>
          </a:prstGeom>
          <a:solidFill>
            <a:srgbClr val="D98324"/>
          </a:solidFill>
          <a:ln w="15875">
            <a:solidFill>
              <a:srgbClr val="D983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90" b="1">
                <a:solidFill>
                  <a:srgbClr val="F7F5F1"/>
                </a:solidFill>
                <a:latin typeface="DejaVu Sans"/>
              </a:rPr>
              <a:t>ՊԱՏԱՀԱԿԱՆ ՍԽԱԼԱՆՔ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78808" y="3108960"/>
            <a:ext cx="7498079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 i="0">
                <a:solidFill>
                  <a:srgbClr val="1A1F24"/>
                </a:solidFill>
                <a:latin typeface="DejaVu Sans"/>
              </a:rPr>
              <a:t>թողունակության խնդիր է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78808" y="3538728"/>
            <a:ext cx="749807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60" b="0" i="0">
                <a:solidFill>
                  <a:srgbClr val="6B7680"/>
                </a:solidFill>
                <a:latin typeface="DejaVu Sans"/>
              </a:rPr>
              <a:t>աղմուկ — նվազեցվում է միայն միջինացմամբ, ինչը արժենում է արագություն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4114800"/>
            <a:ext cx="3246120" cy="841248"/>
          </a:xfrm>
          <a:prstGeom prst="roundRect">
            <a:avLst>
              <a:gd name="adj" fmla="val 10000"/>
            </a:avLst>
          </a:prstGeom>
          <a:solidFill>
            <a:srgbClr val="C0392B"/>
          </a:solidFill>
          <a:ln w="15875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630" b="1">
                <a:solidFill>
                  <a:srgbClr val="F7F5F1"/>
                </a:solidFill>
                <a:latin typeface="DejaVu Sans"/>
              </a:rPr>
              <a:t>ՇԵՂՈՒՄ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78808" y="4160520"/>
            <a:ext cx="7498079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 i="0">
                <a:solidFill>
                  <a:srgbClr val="1A1F24"/>
                </a:solidFill>
                <a:latin typeface="DejaVu Sans"/>
              </a:rPr>
              <a:t>բաղադրիչի ընտրության խնդիր է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78808" y="4590288"/>
            <a:ext cx="749807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90" b="0" i="0">
                <a:solidFill>
                  <a:srgbClr val="6B7680"/>
                </a:solidFill>
                <a:latin typeface="DejaVu Sans"/>
              </a:rPr>
              <a:t>շարժվում է ստուգաչափելուց հետո — ուստի չեք կարող ստուգաչափմամբ վերացնել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" y="5349240"/>
            <a:ext cx="10874959" cy="731520"/>
          </a:xfrm>
          <a:prstGeom prst="roundRect">
            <a:avLst>
              <a:gd name="adj" fmla="val 10000"/>
            </a:avLst>
          </a:prstGeom>
          <a:solidFill>
            <a:srgbClr val="F7F5F1"/>
          </a:solidFill>
          <a:ln w="15875">
            <a:solidFill>
              <a:srgbClr val="6B76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800" b="1">
                <a:solidFill>
                  <a:srgbClr val="1A1F24"/>
                </a:solidFill>
                <a:latin typeface="DejaVu Sans"/>
              </a:rPr>
              <a:t>Այս կանոնը 14-րդ դասախոսության և 3-րդ, 5-րդ լաբորատորիաների առանցքն է։ Կօգտագործեք վեցերորդ շաբաթում։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640080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6B7680"/>
                </a:solidFill>
                <a:latin typeface="DejaVu Sans"/>
              </a:rPr>
              <a:t>MEMS և տվիչներ  ·  Դասախոսություն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18927" y="640080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 i="0">
                <a:solidFill>
                  <a:srgbClr val="6B7680"/>
                </a:solidFill>
                <a:latin typeface="Arial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475488"/>
            <a:ext cx="10874959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 i="0">
                <a:solidFill>
                  <a:srgbClr val="1A1F24"/>
                </a:solidFill>
                <a:latin typeface="DejaVu Sans"/>
              </a:rPr>
              <a:t>Բառապաշարը՝ դասակարգված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188720"/>
            <a:ext cx="1371600" cy="571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1353312"/>
            <a:ext cx="1087495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1">
                <a:solidFill>
                  <a:srgbClr val="6B7680"/>
                </a:solidFill>
                <a:latin typeface="DejaVu Sans"/>
              </a:rPr>
              <a:t>Ստատիկ. ինչ է անում, երբ ոչինչ չի շարժվում։ Դինամիկ. ինչ է անում, երբ ամեն ինչ փոփոխվում է։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2057400"/>
            <a:ext cx="5349240" cy="566928"/>
          </a:xfrm>
          <a:prstGeom prst="roundRect">
            <a:avLst>
              <a:gd name="adj" fmla="val 10000"/>
            </a:avLst>
          </a:prstGeom>
          <a:solidFill>
            <a:srgbClr val="0E7C86"/>
          </a:solidFill>
          <a:ln w="15875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700" b="1">
                <a:solidFill>
                  <a:srgbClr val="F7F5F1"/>
                </a:solidFill>
                <a:latin typeface="DejaVu Sans"/>
              </a:rPr>
              <a:t>ՍՏԱՏԻԿ ԲՆՈՒԹԱԳՐԵՐ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64808" y="2057400"/>
            <a:ext cx="5349240" cy="566928"/>
          </a:xfrm>
          <a:prstGeom prst="roundRect">
            <a:avLst>
              <a:gd name="adj" fmla="val 10000"/>
            </a:avLst>
          </a:prstGeom>
          <a:solidFill>
            <a:srgbClr val="D98324"/>
          </a:solidFill>
          <a:ln w="15875">
            <a:solidFill>
              <a:srgbClr val="D983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700" b="1">
                <a:solidFill>
                  <a:srgbClr val="1A1F24"/>
                </a:solidFill>
                <a:latin typeface="DejaVu Sans"/>
              </a:rPr>
              <a:t>ԴԻՆԱՄԻԿ ԲՆՈՒԹԱԳՐԵՐ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4088" y="2788920"/>
            <a:ext cx="1737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30" b="1" i="0">
                <a:solidFill>
                  <a:srgbClr val="0E7C86"/>
                </a:solidFill>
                <a:latin typeface="DejaVu Sans"/>
              </a:rPr>
              <a:t>Տիրույթ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487168" y="2788920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6B7680"/>
                </a:solidFill>
                <a:latin typeface="DejaVu Sans"/>
              </a:rPr>
              <a:t>նվազագույնից առավելագույն չափելի արժեք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10528" y="2788920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80" b="1" i="0">
                <a:solidFill>
                  <a:srgbClr val="D98324"/>
                </a:solidFill>
                <a:latin typeface="DejaVu Sans"/>
              </a:rPr>
              <a:t>Թողունակություն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22208" y="2788920"/>
            <a:ext cx="3200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30" b="0" i="0">
                <a:solidFill>
                  <a:srgbClr val="6B7680"/>
                </a:solidFill>
                <a:latin typeface="DejaVu Sans"/>
              </a:rPr>
              <a:t>հավաստիորեն հաղորդվող առավելագույն հաճախություն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4088" y="3278124"/>
            <a:ext cx="1737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0E7C86"/>
                </a:solidFill>
                <a:latin typeface="DejaVu Sans"/>
              </a:rPr>
              <a:t>Զգայունություն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487168" y="3278124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30" b="0" i="0">
                <a:solidFill>
                  <a:srgbClr val="6B7680"/>
                </a:solidFill>
                <a:latin typeface="DejaVu Sans"/>
              </a:rPr>
              <a:t>ելքի փոփոխություն մուտքի միավորի հաշվով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10528" y="3278124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D98324"/>
                </a:solidFill>
                <a:latin typeface="DejaVu Sans"/>
              </a:rPr>
              <a:t>Արձագանքման ժամանակ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22208" y="3278124"/>
            <a:ext cx="3200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i="0">
                <a:solidFill>
                  <a:srgbClr val="6B7680"/>
                </a:solidFill>
                <a:latin typeface="DejaVu Sans"/>
              </a:rPr>
              <a:t>թռիչքից հետո կայունանալու ժամանակ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4088" y="3767328"/>
            <a:ext cx="1737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80" b="1" i="0">
                <a:solidFill>
                  <a:srgbClr val="0E7C86"/>
                </a:solidFill>
                <a:latin typeface="DejaVu Sans"/>
              </a:rPr>
              <a:t>Լուծունակություն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487168" y="3767328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10" b="0" i="0">
                <a:solidFill>
                  <a:srgbClr val="6B7680"/>
                </a:solidFill>
                <a:latin typeface="DejaVu Sans"/>
              </a:rPr>
              <a:t>նվազագույն տարբերակելի փոփոխություն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10528" y="3767328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D98324"/>
                </a:solidFill>
                <a:latin typeface="Arial"/>
              </a:rPr>
              <a:t>ODR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22208" y="3767328"/>
            <a:ext cx="3200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20" b="0" i="0">
                <a:solidFill>
                  <a:srgbClr val="6B7680"/>
                </a:solidFill>
                <a:latin typeface="DejaVu Sans"/>
              </a:rPr>
              <a:t>տվյալների հաճախություն — ՈՉ թողունակություն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4088" y="4256532"/>
            <a:ext cx="1737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80" b="1" i="0">
                <a:solidFill>
                  <a:srgbClr val="0E7C86"/>
                </a:solidFill>
                <a:latin typeface="DejaVu Sans"/>
              </a:rPr>
              <a:t>Զրոյական շեղում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487168" y="4256532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6B7680"/>
                </a:solidFill>
                <a:latin typeface="DejaVu Sans"/>
              </a:rPr>
              <a:t>ելքը, երբ մուտքը զրո է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10528" y="4256532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80" b="1" i="0">
                <a:solidFill>
                  <a:srgbClr val="D98324"/>
                </a:solidFill>
                <a:latin typeface="DejaVu Sans"/>
              </a:rPr>
              <a:t>Աղմուկի խտություն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22208" y="4256532"/>
            <a:ext cx="3200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40" b="0" i="0">
                <a:solidFill>
                  <a:srgbClr val="6B7680"/>
                </a:solidFill>
                <a:latin typeface="DejaVu Sans"/>
              </a:rPr>
              <a:t>աղմուկ √Hz-ի հաշվով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4088" y="4745736"/>
            <a:ext cx="1737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70" b="1" i="0">
                <a:solidFill>
                  <a:srgbClr val="0E7C86"/>
                </a:solidFill>
                <a:latin typeface="DejaVu Sans"/>
              </a:rPr>
              <a:t>Գծայնություն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487168" y="4745736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6B7680"/>
                </a:solidFill>
                <a:latin typeface="DejaVu Sans"/>
              </a:rPr>
              <a:t>շեղում ուղիղ գծից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10528" y="4745736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D98324"/>
                </a:solidFill>
                <a:latin typeface="DejaVu Sans"/>
              </a:rPr>
              <a:t>Խմբային ուշացում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22208" y="4745736"/>
            <a:ext cx="3200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6B7680"/>
                </a:solidFill>
                <a:latin typeface="DejaVu Sans"/>
              </a:rPr>
              <a:t>որքան ուշ է գալիս պատասխանը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4088" y="5234940"/>
            <a:ext cx="1737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0E7C86"/>
                </a:solidFill>
                <a:latin typeface="DejaVu Sans"/>
              </a:rPr>
              <a:t>Հիստերեզիս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487168" y="5234940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6B7680"/>
                </a:solidFill>
                <a:latin typeface="DejaVu Sans"/>
              </a:rPr>
              <a:t>կարևո՞ր է, թե որ կողմից եք եկել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10528" y="5234940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20" b="1" i="0">
                <a:solidFill>
                  <a:srgbClr val="D98324"/>
                </a:solidFill>
                <a:latin typeface="DejaVu Sans"/>
              </a:rPr>
              <a:t>Խաչաձև զգայունություն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522208" y="5234940"/>
            <a:ext cx="3200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6B7680"/>
                </a:solidFill>
                <a:latin typeface="DejaVu Sans"/>
              </a:rPr>
              <a:t>առանցքը, որը չէիք ուզում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04088" y="5724144"/>
            <a:ext cx="1737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0E7C86"/>
                </a:solidFill>
                <a:latin typeface="DejaVu Sans"/>
              </a:rPr>
              <a:t>Կրկնելիություն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487168" y="5724144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6B7680"/>
                </a:solidFill>
                <a:latin typeface="DejaVu Sans"/>
              </a:rPr>
              <a:t>նույն մուտք, նույն ելք, ավելի ուշ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10528" y="5724144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50" b="1" i="0">
                <a:solidFill>
                  <a:srgbClr val="D98324"/>
                </a:solidFill>
                <a:latin typeface="DejaVu Sans"/>
              </a:rPr>
              <a:t>Շեղում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522208" y="5724144"/>
            <a:ext cx="3200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30" b="0" i="0">
                <a:solidFill>
                  <a:srgbClr val="6B7680"/>
                </a:solidFill>
                <a:latin typeface="DejaVu Sans"/>
              </a:rPr>
              <a:t>դանդաղ փոփոխություն ժամանակի և ջերմաստիճանի հետ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640080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7A848C"/>
                </a:solidFill>
                <a:latin typeface="DejaVu Sans"/>
              </a:rPr>
              <a:t>MEMS և տվիչներ  ·  Դասախոսություն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18927" y="640080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 i="0">
                <a:solidFill>
                  <a:srgbClr val="7A848C"/>
                </a:solidFill>
                <a:latin typeface="Arial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74320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0E7C86"/>
                </a:solidFill>
                <a:latin typeface="DejaVu Sans"/>
              </a:rPr>
              <a:t>ՄԱՍ 2  ·  ՐՈՊԵ 28–46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737360"/>
            <a:ext cx="9046159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400" b="1" i="0">
                <a:solidFill>
                  <a:srgbClr val="F7F5F1"/>
                </a:solidFill>
                <a:latin typeface="DejaVu Sans"/>
              </a:rPr>
              <a:t>Ինչ իրականում</a:t>
            </a:r>
          </a:p>
          <a:p>
            <a:pPr algn="l">
              <a:lnSpc>
                <a:spcPct val="115000"/>
              </a:lnSpc>
            </a:pPr>
            <a:r>
              <a:rPr sz="3570" b="1" i="0">
                <a:solidFill>
                  <a:srgbClr val="F7F5F1"/>
                </a:solidFill>
                <a:latin typeface="DejaVu Sans"/>
              </a:rPr>
              <a:t>ասում է datasheet-ը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90127" y="256032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300" b="1" i="0">
                <a:solidFill>
                  <a:srgbClr val="6B7680"/>
                </a:solidFill>
                <a:latin typeface="Courier New"/>
              </a:rPr>
              <a:t>28:00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3794760"/>
            <a:ext cx="1371600" cy="508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4160520"/>
            <a:ext cx="10874959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900" b="0" i="0">
                <a:solidFill>
                  <a:srgbClr val="B8C0C6"/>
                </a:solidFill>
                <a:latin typeface="DejaVu Sans"/>
              </a:rPr>
              <a:t>Datasheet-ը իրավական փաստաթուղթ է, ոչ խոստում։</a:t>
            </a:r>
          </a:p>
          <a:p>
            <a:pPr algn="l">
              <a:lnSpc>
                <a:spcPct val="150000"/>
              </a:lnSpc>
            </a:pPr>
            <a:r>
              <a:rPr sz="1900" b="0" i="0">
                <a:solidFill>
                  <a:srgbClr val="B8C0C6"/>
                </a:solidFill>
                <a:latin typeface="DejaVu Sans"/>
              </a:rPr>
              <a:t>Վերնագիրը առաջին էջում է։ Ճշմարտությունը՝ պայմաններում։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640080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6B7680"/>
                </a:solidFill>
                <a:latin typeface="DejaVu Sans"/>
              </a:rPr>
              <a:t>MEMS և տվիչներ  ·  Դասախոսություն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18927" y="640080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 i="0">
                <a:solidFill>
                  <a:srgbClr val="6B7680"/>
                </a:solidFill>
                <a:latin typeface="Arial"/>
              </a:rPr>
              <a:t>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475488"/>
            <a:ext cx="10874959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 i="0">
                <a:solidFill>
                  <a:srgbClr val="1A1F24"/>
                </a:solidFill>
                <a:latin typeface="DejaVu Sans"/>
              </a:rPr>
              <a:t>Նախ կարդացե՛ք պայմանների բլոկը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188720"/>
            <a:ext cx="1371600" cy="571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1353312"/>
            <a:ext cx="1087495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1">
                <a:solidFill>
                  <a:srgbClr val="6B7680"/>
                </a:solidFill>
                <a:latin typeface="DejaVu Sans"/>
              </a:rPr>
              <a:t>Ապա, և միայն ապա, կարդացե՛ք թիվը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58368" y="1965960"/>
          <a:ext cx="10874955" cy="28529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27489"/>
                <a:gridCol w="869996"/>
                <a:gridCol w="1087495"/>
                <a:gridCol w="869996"/>
                <a:gridCol w="1196245"/>
                <a:gridCol w="4023734"/>
              </a:tblGrid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450" b="1">
                          <a:solidFill>
                            <a:srgbClr val="F7F5F1"/>
                          </a:solidFill>
                          <a:latin typeface="DejaVu Sans"/>
                        </a:rPr>
                        <a:t>Պարամետր</a:t>
                      </a:r>
                    </a:p>
                  </a:txBody>
                  <a:tcPr marL="91440" marR="91440" marT="27432" marB="27432" anchor="ctr">
                    <a:solidFill>
                      <a:srgbClr val="1A1F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50" b="1">
                          <a:solidFill>
                            <a:srgbClr val="F7F5F1"/>
                          </a:solidFill>
                          <a:latin typeface="DejaVu Sans"/>
                        </a:rPr>
                        <a:t>Նվազ.</a:t>
                      </a:r>
                    </a:p>
                  </a:txBody>
                  <a:tcPr marL="91440" marR="91440" marT="27432" marB="27432" anchor="ctr">
                    <a:solidFill>
                      <a:srgbClr val="1A1F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50" b="1">
                          <a:solidFill>
                            <a:srgbClr val="F7F5F1"/>
                          </a:solidFill>
                          <a:latin typeface="DejaVu Sans"/>
                        </a:rPr>
                        <a:t>Տիպ.</a:t>
                      </a:r>
                    </a:p>
                  </a:txBody>
                  <a:tcPr marL="91440" marR="91440" marT="27432" marB="27432" anchor="ctr">
                    <a:solidFill>
                      <a:srgbClr val="1A1F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50" b="1">
                          <a:solidFill>
                            <a:srgbClr val="F7F5F1"/>
                          </a:solidFill>
                          <a:latin typeface="DejaVu Sans"/>
                        </a:rPr>
                        <a:t>Առավ.</a:t>
                      </a:r>
                    </a:p>
                  </a:txBody>
                  <a:tcPr marL="91440" marR="91440" marT="27432" marB="27432" anchor="ctr">
                    <a:solidFill>
                      <a:srgbClr val="1A1F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60" b="1">
                          <a:solidFill>
                            <a:srgbClr val="F7F5F1"/>
                          </a:solidFill>
                          <a:latin typeface="DejaVu Sans"/>
                        </a:rPr>
                        <a:t>Միավոր</a:t>
                      </a:r>
                    </a:p>
                  </a:txBody>
                  <a:tcPr marL="91440" marR="91440" marT="27432" marB="27432" anchor="ctr">
                    <a:solidFill>
                      <a:srgbClr val="1A1F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50" b="1">
                          <a:solidFill>
                            <a:srgbClr val="F7F5F1"/>
                          </a:solidFill>
                          <a:latin typeface="DejaVu Sans"/>
                        </a:rPr>
                        <a:t>Պայմաններ</a:t>
                      </a:r>
                    </a:p>
                  </a:txBody>
                  <a:tcPr marL="91440" marR="91440" marT="27432" marB="27432" anchor="ctr">
                    <a:solidFill>
                      <a:srgbClr val="1A1F24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310" b="1">
                          <a:solidFill>
                            <a:srgbClr val="1A1F24"/>
                          </a:solidFill>
                          <a:latin typeface="DejaVu Sans"/>
                        </a:rPr>
                        <a:t>Զգայունություն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1A1F24"/>
                          </a:solidFill>
                          <a:latin typeface="Courier New"/>
                        </a:rPr>
                        <a:t>—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1A1F24"/>
                          </a:solidFill>
                          <a:latin typeface="Courier New"/>
                        </a:rPr>
                        <a:t>0.061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1A1F24"/>
                          </a:solidFill>
                          <a:latin typeface="Courier New"/>
                        </a:rPr>
                        <a:t>—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1A1F24"/>
                          </a:solidFill>
                          <a:latin typeface="Arial"/>
                        </a:rPr>
                        <a:t>mg/LSB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1A1F24"/>
                          </a:solidFill>
                          <a:latin typeface="Arial"/>
                        </a:rPr>
                        <a:t>FS = ±2 g, 25 °C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1A1F24"/>
                          </a:solidFill>
                          <a:latin typeface="DejaVu Sans"/>
                        </a:rPr>
                        <a:t>Զրոյական-g մակարդակ</a:t>
                      </a:r>
                    </a:p>
                  </a:txBody>
                  <a:tcPr marL="91440" marR="91440" marT="27432" marB="27432" anchor="ctr">
                    <a:solidFill>
                      <a:srgbClr val="F7F5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1A1F24"/>
                          </a:solidFill>
                          <a:latin typeface="Courier New"/>
                        </a:rPr>
                        <a:t>—</a:t>
                      </a:r>
                    </a:p>
                  </a:txBody>
                  <a:tcPr marL="91440" marR="91440" marT="27432" marB="27432" anchor="ctr">
                    <a:solidFill>
                      <a:srgbClr val="F7F5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1A1F24"/>
                          </a:solidFill>
                          <a:latin typeface="Courier New"/>
                        </a:rPr>
                        <a:t>±40</a:t>
                      </a:r>
                    </a:p>
                  </a:txBody>
                  <a:tcPr marL="91440" marR="91440" marT="27432" marB="27432" anchor="ctr">
                    <a:solidFill>
                      <a:srgbClr val="F7F5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1A1F24"/>
                          </a:solidFill>
                          <a:latin typeface="Courier New"/>
                        </a:rPr>
                        <a:t>—</a:t>
                      </a:r>
                    </a:p>
                  </a:txBody>
                  <a:tcPr marL="91440" marR="91440" marT="27432" marB="27432" anchor="ctr">
                    <a:solidFill>
                      <a:srgbClr val="F7F5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1A1F24"/>
                          </a:solidFill>
                          <a:latin typeface="Arial"/>
                        </a:rPr>
                        <a:t>mg</a:t>
                      </a:r>
                    </a:p>
                  </a:txBody>
                  <a:tcPr marL="91440" marR="91440" marT="27432" marB="27432" anchor="ctr">
                    <a:solidFill>
                      <a:srgbClr val="F7F5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1A1F24"/>
                          </a:solidFill>
                          <a:latin typeface="DejaVu Sans"/>
                        </a:rPr>
                        <a:t>25 °C, զոդելուց հետո</a:t>
                      </a:r>
                    </a:p>
                  </a:txBody>
                  <a:tcPr marL="91440" marR="91440" marT="27432" marB="27432" anchor="ctr">
                    <a:solidFill>
                      <a:srgbClr val="F7F5F1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1A1F24"/>
                          </a:solidFill>
                          <a:latin typeface="DejaVu Sans"/>
                        </a:rPr>
                        <a:t>Զրոյական-g ջերմ. գործակից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1A1F24"/>
                          </a:solidFill>
                          <a:latin typeface="Courier New"/>
                        </a:rPr>
                        <a:t>—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1A1F24"/>
                          </a:solidFill>
                          <a:latin typeface="Courier New"/>
                        </a:rPr>
                        <a:t>±0.5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1A1F24"/>
                          </a:solidFill>
                          <a:latin typeface="Courier New"/>
                        </a:rPr>
                        <a:t>—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1A1F24"/>
                          </a:solidFill>
                          <a:latin typeface="Arial"/>
                        </a:rPr>
                        <a:t>mg/°C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1A1F24"/>
                          </a:solidFill>
                          <a:latin typeface="DejaVu Sans"/>
                        </a:rPr>
                        <a:t>−40-ից +85 °C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290" b="1">
                          <a:solidFill>
                            <a:srgbClr val="1A1F24"/>
                          </a:solidFill>
                          <a:latin typeface="DejaVu Sans"/>
                        </a:rPr>
                        <a:t>Աղմուկի խտություն</a:t>
                      </a:r>
                    </a:p>
                  </a:txBody>
                  <a:tcPr marL="91440" marR="91440" marT="27432" marB="27432" anchor="ctr">
                    <a:solidFill>
                      <a:srgbClr val="F7F5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1A1F24"/>
                          </a:solidFill>
                          <a:latin typeface="Courier New"/>
                        </a:rPr>
                        <a:t>—</a:t>
                      </a:r>
                    </a:p>
                  </a:txBody>
                  <a:tcPr marL="91440" marR="91440" marT="27432" marB="27432" anchor="ctr">
                    <a:solidFill>
                      <a:srgbClr val="F7F5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1A1F24"/>
                          </a:solidFill>
                          <a:latin typeface="Courier New"/>
                        </a:rPr>
                        <a:t>100</a:t>
                      </a:r>
                    </a:p>
                  </a:txBody>
                  <a:tcPr marL="91440" marR="91440" marT="27432" marB="27432" anchor="ctr">
                    <a:solidFill>
                      <a:srgbClr val="F7F5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1A1F24"/>
                          </a:solidFill>
                          <a:latin typeface="Courier New"/>
                        </a:rPr>
                        <a:t>—</a:t>
                      </a:r>
                    </a:p>
                  </a:txBody>
                  <a:tcPr marL="91440" marR="91440" marT="27432" marB="27432" anchor="ctr">
                    <a:solidFill>
                      <a:srgbClr val="F7F5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1A1F24"/>
                          </a:solidFill>
                          <a:latin typeface="Arial"/>
                        </a:rPr>
                        <a:t>µg/√Hz</a:t>
                      </a:r>
                    </a:p>
                  </a:txBody>
                  <a:tcPr marL="91440" marR="91440" marT="27432" marB="27432" anchor="ctr">
                    <a:solidFill>
                      <a:srgbClr val="F7F5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1A1F24"/>
                          </a:solidFill>
                          <a:latin typeface="Arial"/>
                        </a:rPr>
                        <a:t>ODR = 200 Hz, BW = 50 Hz</a:t>
                      </a:r>
                    </a:p>
                  </a:txBody>
                  <a:tcPr marL="91440" marR="91440" marT="27432" marB="27432" anchor="ctr">
                    <a:solidFill>
                      <a:srgbClr val="F7F5F1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220" b="1">
                          <a:solidFill>
                            <a:srgbClr val="1A1F24"/>
                          </a:solidFill>
                          <a:latin typeface="DejaVu Sans"/>
                        </a:rPr>
                        <a:t>Խաչաձև առանցքային զգայունություն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1A1F24"/>
                          </a:solidFill>
                          <a:latin typeface="Courier New"/>
                        </a:rPr>
                        <a:t>—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1A1F24"/>
                          </a:solidFill>
                          <a:latin typeface="Courier New"/>
                        </a:rPr>
                        <a:t>±1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1A1F24"/>
                          </a:solidFill>
                          <a:latin typeface="Courier New"/>
                        </a:rPr>
                        <a:t>—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1A1F24"/>
                          </a:solidFill>
                          <a:latin typeface="Arial"/>
                        </a:rPr>
                        <a:t>%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1A1F24"/>
                          </a:solidFill>
                          <a:latin typeface="DejaVu Sans"/>
                        </a:rPr>
                        <a:t>փաթեթի մակարդակ, ոչ տախտակի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58368" y="4892040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C0392B"/>
                </a:solidFill>
                <a:latin typeface="DejaVu Sans"/>
              </a:rPr>
              <a:t>▸  Ամեն թիվ «typ» է։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07407" y="4892040"/>
            <a:ext cx="73152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700" b="0" i="0">
                <a:solidFill>
                  <a:srgbClr val="1A1F24"/>
                </a:solidFill>
                <a:latin typeface="DejaVu Sans"/>
              </a:rPr>
              <a:t>Ոչ նվազագույն, ոչ առավելագույն։ Ձեզ ասում են արտադրական խմբաքանակի միջինը, ոչ երաշխիք։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5550408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20" b="1" i="0">
                <a:solidFill>
                  <a:srgbClr val="C0392B"/>
                </a:solidFill>
                <a:latin typeface="DejaVu Sans"/>
              </a:rPr>
              <a:t>▸  Պայմանները տարբեր են ամեն տողի համար։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07407" y="5550408"/>
            <a:ext cx="73152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40" b="0" i="0">
                <a:solidFill>
                  <a:srgbClr val="1A1F24"/>
                </a:solidFill>
                <a:latin typeface="DejaVu Sans"/>
              </a:rPr>
              <a:t>Զգայունությունը 25 °C-ում։ Շեղումը 125 °C տիրույթում։ Աղմուկը մեկ կոնկրետ թողունակությամբ։ Այնպես, ինչպես տպված են, համեմատելի չեն։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640080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6B7680"/>
                </a:solidFill>
                <a:latin typeface="DejaVu Sans"/>
              </a:rPr>
              <a:t>MEMS և տվիչներ  ·  Դասախոսություն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18927" y="640080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 i="0">
                <a:solidFill>
                  <a:srgbClr val="6B7680"/>
                </a:solidFill>
                <a:latin typeface="Arial"/>
              </a:rPr>
              <a:t>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475488"/>
            <a:ext cx="10874959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 i="0">
                <a:solidFill>
                  <a:srgbClr val="1A1F24"/>
                </a:solidFill>
                <a:latin typeface="DejaVu Sans"/>
              </a:rPr>
              <a:t>Որսը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188720"/>
            <a:ext cx="1371600" cy="571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1353312"/>
            <a:ext cx="1087495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1">
                <a:solidFill>
                  <a:srgbClr val="6B7680"/>
                </a:solidFill>
                <a:latin typeface="DejaVu Sans"/>
              </a:rPr>
              <a:t>ISM330DHCX datasheet · զույգերով · 8 րոպե · ամեն պատասխանի կողքին գրե՛ք էջի համարը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965960"/>
            <a:ext cx="502920" cy="502920"/>
          </a:xfrm>
          <a:prstGeom prst="roundRect">
            <a:avLst>
              <a:gd name="adj" fmla="val 10000"/>
            </a:avLst>
          </a:prstGeom>
          <a:solidFill>
            <a:srgbClr val="0E7C86"/>
          </a:solidFill>
          <a:ln w="15875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700" b="1">
                <a:solidFill>
                  <a:srgbClr val="F7F5F1"/>
                </a:solidFill>
                <a:latin typeface="Courier New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35608" y="2057400"/>
            <a:ext cx="102412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0" i="0">
                <a:solidFill>
                  <a:srgbClr val="1A1F24"/>
                </a:solidFill>
                <a:latin typeface="DejaVu Sans"/>
              </a:rPr>
              <a:t>Սնման լարման տիրույթը — և առանձին Ի/Ե սնումը, եթե կա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2587752"/>
            <a:ext cx="502920" cy="502920"/>
          </a:xfrm>
          <a:prstGeom prst="roundRect">
            <a:avLst>
              <a:gd name="adj" fmla="val 10000"/>
            </a:avLst>
          </a:prstGeom>
          <a:solidFill>
            <a:srgbClr val="0E7C86"/>
          </a:solidFill>
          <a:ln w="15875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700" b="1">
                <a:solidFill>
                  <a:srgbClr val="F7F5F1"/>
                </a:solidFill>
                <a:latin typeface="Courier New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35608" y="2679192"/>
            <a:ext cx="102412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0" i="0">
                <a:solidFill>
                  <a:srgbClr val="1A1F24"/>
                </a:solidFill>
                <a:latin typeface="DejaVu Sans"/>
              </a:rPr>
              <a:t>Զգայունությունը ԱՄԵՆ ընտրելի լրիվ տիրույթի համար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8368" y="3209544"/>
            <a:ext cx="502920" cy="502920"/>
          </a:xfrm>
          <a:prstGeom prst="roundRect">
            <a:avLst>
              <a:gd name="adj" fmla="val 10000"/>
            </a:avLst>
          </a:prstGeom>
          <a:solidFill>
            <a:srgbClr val="0E7C86"/>
          </a:solidFill>
          <a:ln w="15875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700" b="1">
                <a:solidFill>
                  <a:srgbClr val="F7F5F1"/>
                </a:solidFill>
                <a:latin typeface="Courier New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35608" y="3300984"/>
            <a:ext cx="102412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30" b="0" i="0">
                <a:solidFill>
                  <a:srgbClr val="1A1F24"/>
                </a:solidFill>
                <a:latin typeface="DejaVu Sans"/>
              </a:rPr>
              <a:t>Զրոյական շեղման մակարդակը ԵՎ նրա ջերմաստիճանային գործակիցը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3831336"/>
            <a:ext cx="502920" cy="502920"/>
          </a:xfrm>
          <a:prstGeom prst="roundRect">
            <a:avLst>
              <a:gd name="adj" fmla="val 10000"/>
            </a:avLst>
          </a:prstGeom>
          <a:solidFill>
            <a:srgbClr val="0E7C86"/>
          </a:solidFill>
          <a:ln w="15875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700" b="1">
                <a:solidFill>
                  <a:srgbClr val="F7F5F1"/>
                </a:solidFill>
                <a:latin typeface="Courier New"/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35608" y="3922776"/>
            <a:ext cx="102412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0" i="0">
                <a:solidFill>
                  <a:srgbClr val="1A1F24"/>
                </a:solidFill>
                <a:latin typeface="DejaVu Sans"/>
              </a:rPr>
              <a:t>Աղմուկի խտությունը — և թողունակությունը, որով չափվել է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" y="4453128"/>
            <a:ext cx="502920" cy="502920"/>
          </a:xfrm>
          <a:prstGeom prst="roundRect">
            <a:avLst>
              <a:gd name="adj" fmla="val 10000"/>
            </a:avLst>
          </a:prstGeom>
          <a:solidFill>
            <a:srgbClr val="0E7C86"/>
          </a:solidFill>
          <a:ln w="15875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700" b="1">
                <a:solidFill>
                  <a:srgbClr val="F7F5F1"/>
                </a:solidFill>
                <a:latin typeface="Courier New"/>
              </a:rPr>
              <a:t>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35608" y="4544568"/>
            <a:ext cx="102412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0" i="0">
                <a:solidFill>
                  <a:srgbClr val="1A1F24"/>
                </a:solidFill>
                <a:latin typeface="DejaVu Sans"/>
              </a:rPr>
              <a:t>Սարքի նույնականացման ռեգիստրը և նրա սպասվող արժեքը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8368" y="5074920"/>
            <a:ext cx="502920" cy="502920"/>
          </a:xfrm>
          <a:prstGeom prst="roundRect">
            <a:avLst>
              <a:gd name="adj" fmla="val 10000"/>
            </a:avLst>
          </a:prstGeom>
          <a:solidFill>
            <a:srgbClr val="0E7C86"/>
          </a:solidFill>
          <a:ln w="15875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700" b="1">
                <a:solidFill>
                  <a:srgbClr val="F7F5F1"/>
                </a:solidFill>
                <a:latin typeface="Courier New"/>
              </a:rPr>
              <a:t>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35608" y="5166360"/>
            <a:ext cx="102412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0" i="0">
                <a:solidFill>
                  <a:srgbClr val="1A1F24"/>
                </a:solidFill>
                <a:latin typeface="DejaVu Sans"/>
              </a:rPr>
              <a:t>Արդյոք վերնագրային թվերը typ, min թե max են — և ո՞ր ջերմաստիճանում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" y="5779008"/>
            <a:ext cx="10874959" cy="548640"/>
          </a:xfrm>
          <a:prstGeom prst="roundRect">
            <a:avLst>
              <a:gd name="adj" fmla="val 10000"/>
            </a:avLst>
          </a:prstGeom>
          <a:solidFill>
            <a:srgbClr val="FAECD8"/>
          </a:solidFill>
          <a:ln w="15875">
            <a:solidFill>
              <a:srgbClr val="D983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750" b="1">
                <a:solidFill>
                  <a:srgbClr val="1A1F24"/>
                </a:solidFill>
                <a:latin typeface="DejaVu Sans"/>
              </a:rPr>
              <a:t>5-րդը տեսական չէ — ձեզ պետք կգա լաբորատորիայում հաջորդ շաբաթ՝ ապացուցելու, որ ձեր տվիչը հենց այն տվիչն է։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640080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7A848C"/>
                </a:solidFill>
                <a:latin typeface="DejaVu Sans"/>
              </a:rPr>
              <a:t>MEMS և տվիչներ  ·  Դասախոսություն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18927" y="640080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 i="0">
                <a:solidFill>
                  <a:srgbClr val="7A848C"/>
                </a:solidFill>
                <a:latin typeface="Arial"/>
              </a:rPr>
              <a:t>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74320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C0392B"/>
                </a:solidFill>
                <a:latin typeface="DejaVu Sans"/>
              </a:rPr>
              <a:t>ԱՅԺՄ ԳՏԵ՛Ք ՍԱ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965960"/>
            <a:ext cx="10874959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3200" b="1" i="0">
                <a:solidFill>
                  <a:srgbClr val="F7F5F1"/>
                </a:solidFill>
                <a:latin typeface="DejaVu Sans"/>
              </a:rPr>
              <a:t>«Ո՞րն է այս սարքի</a:t>
            </a:r>
          </a:p>
          <a:p>
            <a:pPr algn="l">
              <a:lnSpc>
                <a:spcPct val="118000"/>
              </a:lnSpc>
            </a:pPr>
            <a:r>
              <a:rPr sz="3200" b="1" i="0">
                <a:solidFill>
                  <a:srgbClr val="F7F5F1"/>
                </a:solidFill>
                <a:latin typeface="DejaVu Sans"/>
              </a:rPr>
              <a:t>խաչաձև առանցքային զգայունությունը</a:t>
            </a:r>
          </a:p>
          <a:p>
            <a:pPr algn="l">
              <a:lnSpc>
                <a:spcPct val="118000"/>
              </a:lnSpc>
            </a:pPr>
            <a:r>
              <a:rPr sz="3200" b="1" i="0">
                <a:solidFill>
                  <a:srgbClr val="F7F5F1"/>
                </a:solidFill>
                <a:latin typeface="DejaVu Sans"/>
              </a:rPr>
              <a:t>իմ տախտակին զոդվելուց հետո»։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4617720"/>
            <a:ext cx="1371600" cy="5080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4892040"/>
            <a:ext cx="9960559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900" b="0" i="0">
                <a:solidFill>
                  <a:srgbClr val="B8C0C6"/>
                </a:solidFill>
                <a:latin typeface="DejaVu Sans"/>
              </a:rPr>
              <a:t>Այն datasheet-ում չկա։ Չի կարող լինել։ Թիվը նշված է փաթեթավորված բյուրեղի համար — իսկ ամրացման լարվածությունը, զոդակի անհամաչափությունը և տախտակի ճկումը փոխում են այն։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640080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7A848C"/>
                </a:solidFill>
                <a:latin typeface="DejaVu Sans"/>
              </a:rPr>
              <a:t>MEMS և տվիչներ  ·  Դասախոսություն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18927" y="640080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 i="0">
                <a:solidFill>
                  <a:srgbClr val="7A848C"/>
                </a:solidFill>
                <a:latin typeface="Arial"/>
              </a:rPr>
              <a:t>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74320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D98324"/>
                </a:solidFill>
                <a:latin typeface="DejaVu Sans"/>
              </a:rPr>
              <a:t>ՐՈՊԵ 44  ·  ՈՏՔԻ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691640"/>
            <a:ext cx="1005840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 i="0">
                <a:solidFill>
                  <a:srgbClr val="F7F5F1"/>
                </a:solidFill>
                <a:latin typeface="DejaVu Sans"/>
              </a:rPr>
              <a:t>Ո՞ր թիվն էր</a:t>
            </a:r>
          </a:p>
          <a:p>
            <a:pPr algn="l">
              <a:lnSpc>
                <a:spcPct val="115000"/>
              </a:lnSpc>
            </a:pPr>
            <a:r>
              <a:rPr sz="4000" b="1" i="0">
                <a:solidFill>
                  <a:srgbClr val="F7F5F1"/>
                </a:solidFill>
                <a:latin typeface="DejaVu Sans"/>
              </a:rPr>
              <a:t>ամենադժվար գտնելը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3657600"/>
            <a:ext cx="100584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400" b="0" i="0">
                <a:solidFill>
                  <a:srgbClr val="B8C0C6"/>
                </a:solidFill>
                <a:latin typeface="DejaVu Sans"/>
              </a:rPr>
              <a:t>Ձեռքե՛րը վեր։ Ապա ասե՛ք ինչու էր դժվար —</a:t>
            </a:r>
          </a:p>
          <a:p>
            <a:pPr algn="l">
              <a:lnSpc>
                <a:spcPct val="135000"/>
              </a:lnSpc>
            </a:pPr>
            <a:r>
              <a:rPr sz="2400" b="0" i="0">
                <a:solidFill>
                  <a:srgbClr val="B8C0C6"/>
                </a:solidFill>
                <a:latin typeface="DejaVu Sans"/>
              </a:rPr>
              <a:t>ոչ թե ինչ էր պատասխանը։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4937760"/>
            <a:ext cx="10874959" cy="868680"/>
          </a:xfrm>
          <a:prstGeom prst="roundRect">
            <a:avLst>
              <a:gd name="adj" fmla="val 10000"/>
            </a:avLst>
          </a:prstGeom>
          <a:solidFill>
            <a:srgbClr val="0E7C86"/>
          </a:solidFill>
          <a:ln w="15875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2800" b="1">
                <a:solidFill>
                  <a:srgbClr val="F7F5F1"/>
                </a:solidFill>
                <a:latin typeface="DejaVu Sans"/>
              </a:rPr>
              <a:t>Ճշմարտությունը բնակվում է պայմաններում։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640080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7A848C"/>
                </a:solidFill>
                <a:latin typeface="DejaVu Sans"/>
              </a:rPr>
              <a:t>MEMS և տվիչներ  ·  Դասախոսություն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18927" y="640080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 i="0">
                <a:solidFill>
                  <a:srgbClr val="7A848C"/>
                </a:solidFill>
                <a:latin typeface="Arial"/>
              </a:rPr>
              <a:t>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74320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0E7C86"/>
                </a:solidFill>
                <a:latin typeface="DejaVu Sans"/>
              </a:rPr>
              <a:t>ՄԱՍ 3  ·  ՐՈՊԵ 46–70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737360"/>
            <a:ext cx="9046159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400" b="1" i="0">
                <a:solidFill>
                  <a:srgbClr val="F7F5F1"/>
                </a:solidFill>
                <a:latin typeface="DejaVu Sans"/>
              </a:rPr>
              <a:t>Այժմ հաշվե՛ք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90127" y="256032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300" b="1" i="0">
                <a:solidFill>
                  <a:srgbClr val="6B7680"/>
                </a:solidFill>
                <a:latin typeface="Courier New"/>
              </a:rPr>
              <a:t>46:00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3794760"/>
            <a:ext cx="1371600" cy="508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4160520"/>
            <a:ext cx="10874959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900" b="0" i="0">
                <a:solidFill>
                  <a:srgbClr val="B8C0C6"/>
                </a:solidFill>
                <a:latin typeface="DejaVu Sans"/>
              </a:rPr>
              <a:t>Չորս բաղադրիչ։ Մեկ պահանջ։ Քսան րոպե։</a:t>
            </a:r>
          </a:p>
          <a:p>
            <a:pPr algn="l">
              <a:lnSpc>
                <a:spcPct val="150000"/>
              </a:lnSpc>
            </a:pPr>
            <a:r>
              <a:rPr sz="1900" b="0" i="0">
                <a:solidFill>
                  <a:srgbClr val="B8C0C6"/>
                </a:solidFill>
                <a:latin typeface="DejaVu Sans"/>
              </a:rPr>
              <a:t>Վերջում կիմանաք, թե որ սարքը պետք էր ընտրեիք։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640080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6B7680"/>
                </a:solidFill>
                <a:latin typeface="DejaVu Sans"/>
              </a:rPr>
              <a:t>MEMS և տվիչներ  ·  Դասախոսություն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18927" y="640080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 i="0">
                <a:solidFill>
                  <a:srgbClr val="6B7680"/>
                </a:solidFill>
                <a:latin typeface="Arial"/>
              </a:rPr>
              <a:t>19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475488"/>
            <a:ext cx="10874959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950" b="1" i="0">
                <a:solidFill>
                  <a:srgbClr val="1A1F24"/>
                </a:solidFill>
                <a:latin typeface="DejaVu Sans"/>
              </a:rPr>
              <a:t>Աղմուկի խտությունը դառնում է աղմուկ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188720"/>
            <a:ext cx="1371600" cy="571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1353312"/>
            <a:ext cx="1087495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80" b="0" i="1">
                <a:solidFill>
                  <a:srgbClr val="6B7680"/>
                </a:solidFill>
                <a:latin typeface="DejaVu Sans"/>
              </a:rPr>
              <a:t>…երբ ընտրում եք թողունակությունը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2011680"/>
            <a:ext cx="10874959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600"/>
              </a:spcAft>
            </a:pPr>
            <a:r>
              <a:rPr sz="2370" b="1" i="0">
                <a:solidFill>
                  <a:srgbClr val="1A1F24"/>
                </a:solidFill>
                <a:latin typeface="DejaVu Sans Mono"/>
              </a:rPr>
              <a:t>աղմուկRMS  =  աղմուկի խտություն  ×  √թողունակություն</a:t>
            </a:r>
            <a:r>
              <a:rPr sz="1800" b="0" i="0">
                <a:solidFill>
                  <a:srgbClr val="1A1F24"/>
                </a:solidFill>
                <a:latin typeface="Courier New"/>
              </a:rPr>
              <a:t/>
            </a:r>
            <a:r>
              <a:rPr sz="2700" b="1" i="0">
                <a:solidFill>
                  <a:srgbClr val="1A1F24"/>
                </a:solidFill>
                <a:latin typeface="Courier New"/>
              </a:rPr>
              <a:t/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3127248"/>
            <a:ext cx="10874959" cy="89611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3175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2100" b="1">
                <a:solidFill>
                  <a:srgbClr val="1A1F24"/>
                </a:solidFill>
                <a:latin typeface="Courier New"/>
              </a:rPr>
              <a:t>100 µg/√Hz  ×  √50 Hz  =  100 × 7.07  =  707 µg  =  0.71 mg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4279392"/>
            <a:ext cx="3794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50" b="1" i="0">
                <a:solidFill>
                  <a:srgbClr val="0E7C86"/>
                </a:solidFill>
                <a:latin typeface="DejaVu Sans"/>
              </a:rPr>
              <a:t>▸  Միավորները ցույց են տալիս պատասխանը։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90288" y="4279392"/>
            <a:ext cx="71323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550" b="0" i="0">
                <a:solidFill>
                  <a:srgbClr val="1A1F24"/>
                </a:solidFill>
                <a:latin typeface="DejaVu Sans"/>
              </a:rPr>
              <a:t>µg/√Hz × √Hz = µg։ Եթե միավորները չեն կրճատվում, սխալ թիվ եք օգտագործել։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4937760"/>
            <a:ext cx="3794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20" b="1" i="0">
                <a:solidFill>
                  <a:srgbClr val="0E7C86"/>
                </a:solidFill>
                <a:latin typeface="DejaVu Sans"/>
              </a:rPr>
              <a:t>▸  Թողունակություն, ոչ ODR։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90288" y="4937760"/>
            <a:ext cx="71323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550" b="0" i="0">
                <a:solidFill>
                  <a:srgbClr val="1A1F24"/>
                </a:solidFill>
                <a:latin typeface="DejaVu Sans"/>
              </a:rPr>
              <a:t>ODR-ը 200 Hz էր։ √200-ի օգտագործումը տալիս է 1.41 mg — սխալ պատասխան, որը ճիշտ է երևում։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5596128"/>
            <a:ext cx="3794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50" b="1" i="0">
                <a:solidFill>
                  <a:srgbClr val="0E7C86"/>
                </a:solidFill>
                <a:latin typeface="DejaVu Sans"/>
              </a:rPr>
              <a:t>▸  Կիսե՛ք թողունակությունը, շահե՛ք √2։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90288" y="5596128"/>
            <a:ext cx="71323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550" b="0" i="0">
                <a:solidFill>
                  <a:srgbClr val="1A1F24"/>
                </a:solidFill>
                <a:latin typeface="DejaVu Sans"/>
              </a:rPr>
              <a:t>Աղմուկը միայն տվիչի հատկություն չէ։ Այն տվիչի և ձեր ընտրած թողունակության հատկությունն է։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640080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6B7680"/>
                </a:solidFill>
                <a:latin typeface="DejaVu Sans"/>
              </a:rPr>
              <a:t>MEMS և տվիչներ  ·  Դասախոսություն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18927" y="640080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 i="0">
                <a:solidFill>
                  <a:srgbClr val="6B7680"/>
                </a:solidFill>
                <a:latin typeface="Arial"/>
              </a:rPr>
              <a:t>20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74320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D98324"/>
                </a:solidFill>
                <a:latin typeface="DejaVu Sans"/>
              </a:rPr>
              <a:t>ՀԱՐՑՈՒՄ 3   ·   ՐՈՊԵ 56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658368"/>
            <a:ext cx="10874959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300" b="1" i="0">
                <a:solidFill>
                  <a:srgbClr val="1A1F24"/>
                </a:solidFill>
                <a:latin typeface="DejaVu Sans"/>
              </a:rPr>
              <a:t>Աղմուկի խտությունը 100 µg/√Hz։ Կարգավորում եք ODR = 200 Hz և չափման թողունակություն = 50 Hz։ Ի՞նչ RMS աղմուկ կհայտնվի ձեր ցուցմունքներում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2286000"/>
            <a:ext cx="10874959" cy="65836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E4E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500" b="0">
                <a:solidFill>
                  <a:srgbClr val="1A1F24"/>
                </a:solidFill>
                <a:latin typeface="Arial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9536" y="2404872"/>
            <a:ext cx="45720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i="0">
                <a:solidFill>
                  <a:srgbClr val="6B7680"/>
                </a:solidFill>
                <a:latin typeface="Arial"/>
              </a:rPr>
              <a:t>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2414016"/>
            <a:ext cx="9869119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 i="0">
                <a:solidFill>
                  <a:srgbClr val="1A1F24"/>
                </a:solidFill>
                <a:latin typeface="Arial"/>
              </a:rPr>
              <a:t>≈ 0.1 mg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3090672"/>
            <a:ext cx="10874959" cy="65836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E4E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500" b="0">
                <a:solidFill>
                  <a:srgbClr val="1A1F24"/>
                </a:solidFill>
                <a:latin typeface="Arial"/>
              </a:rPr>
              <a:t/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9536" y="3209544"/>
            <a:ext cx="45720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i="0">
                <a:solidFill>
                  <a:srgbClr val="6B7680"/>
                </a:solidFill>
                <a:latin typeface="Arial"/>
              </a:rPr>
              <a:t>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3218688"/>
            <a:ext cx="9869119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 i="0">
                <a:solidFill>
                  <a:srgbClr val="1A1F24"/>
                </a:solidFill>
                <a:latin typeface="Arial"/>
              </a:rPr>
              <a:t>≈ 0.7 mg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3895344"/>
            <a:ext cx="10874959" cy="65836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E4E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500" b="0">
                <a:solidFill>
                  <a:srgbClr val="1A1F24"/>
                </a:solidFill>
                <a:latin typeface="Arial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9536" y="4014216"/>
            <a:ext cx="45720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i="0">
                <a:solidFill>
                  <a:srgbClr val="6B7680"/>
                </a:solidFill>
                <a:latin typeface="Arial"/>
              </a:rPr>
              <a:t>C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71600" y="4023360"/>
            <a:ext cx="9869119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 i="0">
                <a:solidFill>
                  <a:srgbClr val="1A1F24"/>
                </a:solidFill>
                <a:latin typeface="Arial"/>
              </a:rPr>
              <a:t>≈ 1.4 mg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" y="4700016"/>
            <a:ext cx="10874959" cy="65836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E4E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500" b="0">
                <a:solidFill>
                  <a:srgbClr val="1A1F24"/>
                </a:solidFill>
                <a:latin typeface="Arial"/>
              </a:rPr>
              <a:t/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9536" y="4818888"/>
            <a:ext cx="45720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i="0">
                <a:solidFill>
                  <a:srgbClr val="6B7680"/>
                </a:solidFill>
                <a:latin typeface="Arial"/>
              </a:rPr>
              <a:t>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4828032"/>
            <a:ext cx="9869119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 i="0">
                <a:solidFill>
                  <a:srgbClr val="1A1F24"/>
                </a:solidFill>
                <a:latin typeface="Arial"/>
              </a:rPr>
              <a:t>≈ 5 mg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5541264"/>
            <a:ext cx="10874959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 i="1">
                <a:solidFill>
                  <a:srgbClr val="6B7680"/>
                </a:solidFill>
                <a:latin typeface="DejaVu Sans"/>
              </a:rPr>
              <a:t>Այստեղ ամեն սխալ պատասխան կոնկրետ թվաբանական սխալ է — ուստի սա օրվա ամենաօգտակար քվեարկությունն է։ Լուրջ վերաբերվե՛ք։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640080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6B7680"/>
                </a:solidFill>
                <a:latin typeface="DejaVu Sans"/>
              </a:rPr>
              <a:t>MEMS և տվիչներ  ·  Դասախոսություն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18927" y="640080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 i="0">
                <a:solidFill>
                  <a:srgbClr val="6B7680"/>
                </a:solidFill>
                <a:latin typeface="Arial"/>
              </a:rPr>
              <a:t>21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74320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0E7C86"/>
                </a:solidFill>
                <a:latin typeface="DejaVu Sans"/>
              </a:rPr>
              <a:t>ՀԱՐՑՈՒՄ 3   ·   ՐՈՊԵ 56   ·   ՊԱՏԱՍԽԱՆ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658368"/>
            <a:ext cx="10874959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300" b="1" i="0">
                <a:solidFill>
                  <a:srgbClr val="1A1F24"/>
                </a:solidFill>
                <a:latin typeface="DejaVu Sans"/>
              </a:rPr>
              <a:t>Աղմուկի խտությունը 100 µg/√Hz։ Կարգավորում եք ODR = 200 Hz և չափման թողունակություն = 50 Hz։ Ի՞նչ RMS աղմուկ կհայտնվի ձեր ցուցմունքներում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2286000"/>
            <a:ext cx="10874959" cy="65836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E4E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500" b="0">
                <a:solidFill>
                  <a:srgbClr val="1A1F24"/>
                </a:solidFill>
                <a:latin typeface="Arial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9536" y="2404872"/>
            <a:ext cx="45720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i="0">
                <a:solidFill>
                  <a:srgbClr val="6B7680"/>
                </a:solidFill>
                <a:latin typeface="Arial"/>
              </a:rPr>
              <a:t>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2414016"/>
            <a:ext cx="9869119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 i="0">
                <a:solidFill>
                  <a:srgbClr val="1A1F24"/>
                </a:solidFill>
                <a:latin typeface="Arial"/>
              </a:rPr>
              <a:t>≈ 0.1 mg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3090672"/>
            <a:ext cx="10874959" cy="658368"/>
          </a:xfrm>
          <a:prstGeom prst="roundRect">
            <a:avLst>
              <a:gd name="adj" fmla="val 10000"/>
            </a:avLst>
          </a:prstGeom>
          <a:solidFill>
            <a:srgbClr val="DCEDEF"/>
          </a:solidFill>
          <a:ln w="3175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500" b="0">
                <a:solidFill>
                  <a:srgbClr val="1A1F24"/>
                </a:solidFill>
                <a:latin typeface="Arial"/>
              </a:rPr>
              <a:t/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9536" y="3209544"/>
            <a:ext cx="45720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i="0">
                <a:solidFill>
                  <a:srgbClr val="0E7C86"/>
                </a:solidFill>
                <a:latin typeface="Arial"/>
              </a:rPr>
              <a:t>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3218688"/>
            <a:ext cx="9869119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1A1F24"/>
                </a:solidFill>
                <a:latin typeface="Arial"/>
              </a:rPr>
              <a:t>≈ 0.7 mg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3895344"/>
            <a:ext cx="10874959" cy="65836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E4E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500" b="0">
                <a:solidFill>
                  <a:srgbClr val="1A1F24"/>
                </a:solidFill>
                <a:latin typeface="Arial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9536" y="4014216"/>
            <a:ext cx="45720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i="0">
                <a:solidFill>
                  <a:srgbClr val="6B7680"/>
                </a:solidFill>
                <a:latin typeface="Arial"/>
              </a:rPr>
              <a:t>C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71600" y="4023360"/>
            <a:ext cx="9869119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 i="0">
                <a:solidFill>
                  <a:srgbClr val="1A1F24"/>
                </a:solidFill>
                <a:latin typeface="Arial"/>
              </a:rPr>
              <a:t>≈ 1.4 mg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" y="4700016"/>
            <a:ext cx="10874959" cy="65836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E4E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500" b="0">
                <a:solidFill>
                  <a:srgbClr val="1A1F24"/>
                </a:solidFill>
                <a:latin typeface="Arial"/>
              </a:rPr>
              <a:t/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9536" y="4818888"/>
            <a:ext cx="45720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i="0">
                <a:solidFill>
                  <a:srgbClr val="6B7680"/>
                </a:solidFill>
                <a:latin typeface="Arial"/>
              </a:rPr>
              <a:t>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4828032"/>
            <a:ext cx="9869119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 i="0">
                <a:solidFill>
                  <a:srgbClr val="1A1F24"/>
                </a:solidFill>
                <a:latin typeface="Arial"/>
              </a:rPr>
              <a:t>≈ 5 mg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5541264"/>
            <a:ext cx="10874959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 i="1">
                <a:solidFill>
                  <a:srgbClr val="0E7C86"/>
                </a:solidFill>
                <a:latin typeface="DejaVu Sans"/>
              </a:rPr>
              <a:t>100 µg/√Hz × √50 Hz = 707 µg = 0.71 mg։  Այժմ համեմատե՛ք այն 8.73 mg-ի հետ, որը փորձում ենք չափել — և հարցե՛ք՝ արդյոք աղմուկը երբևէ խնդի՞ր էր։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640080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6B7680"/>
                </a:solidFill>
                <a:latin typeface="DejaVu Sans"/>
              </a:rPr>
              <a:t>MEMS և տվիչներ  ·  Դասախոսություն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18927" y="640080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 i="0">
                <a:solidFill>
                  <a:srgbClr val="6B7680"/>
                </a:solidFill>
                <a:latin typeface="Arial"/>
              </a:rPr>
              <a:t>22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475488"/>
            <a:ext cx="10874959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 i="0">
                <a:solidFill>
                  <a:srgbClr val="1A1F24"/>
                </a:solidFill>
                <a:latin typeface="DejaVu Sans"/>
              </a:rPr>
              <a:t>ԵՒս երեք բաղադրիչ, և դրանցից մեկը փոքր չէ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188720"/>
            <a:ext cx="1371600" cy="571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58368" y="1965960"/>
            <a:ext cx="3520440" cy="594360"/>
          </a:xfrm>
          <a:prstGeom prst="roundRect">
            <a:avLst>
              <a:gd name="adj" fmla="val 10000"/>
            </a:avLst>
          </a:prstGeom>
          <a:solidFill>
            <a:srgbClr val="0E7C86"/>
          </a:solidFill>
          <a:ln w="15875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700" b="1">
                <a:solidFill>
                  <a:srgbClr val="F7F5F1"/>
                </a:solidFill>
                <a:latin typeface="DejaVu Sans"/>
              </a:rPr>
              <a:t>ՔՎԱՆՏԱՑՈՒՄ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2651760"/>
            <a:ext cx="3520440" cy="56692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900" b="1">
                <a:solidFill>
                  <a:srgbClr val="0E7C86"/>
                </a:solidFill>
                <a:latin typeface="Courier New"/>
              </a:rPr>
              <a:t>LSB / √12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8096" y="3401568"/>
            <a:ext cx="33375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1A1F24"/>
                </a:solidFill>
                <a:latin typeface="DejaVu Sans Mono"/>
              </a:rPr>
              <a:t>Ա.  0.061/3.46 = 0.018</a:t>
            </a:r>
          </a:p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1A1F24"/>
                </a:solidFill>
                <a:latin typeface="DejaVu Sans Mono"/>
              </a:rPr>
              <a:t>Բ.  0.488/3.46 = 0.141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4343400"/>
            <a:ext cx="333756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30" b="0" i="0">
                <a:solidFill>
                  <a:srgbClr val="6B7680"/>
                </a:solidFill>
                <a:latin typeface="DejaVu Sans"/>
              </a:rPr>
              <a:t>Երկուսն էլ բոլորովին անտեսելի են 8.73 mg-ի դիմաց։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15968" y="1965960"/>
            <a:ext cx="3520440" cy="594360"/>
          </a:xfrm>
          <a:prstGeom prst="roundRect">
            <a:avLst>
              <a:gd name="adj" fmla="val 10000"/>
            </a:avLst>
          </a:prstGeom>
          <a:solidFill>
            <a:srgbClr val="0E7C86"/>
          </a:solidFill>
          <a:ln w="15875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60" b="1">
                <a:solidFill>
                  <a:srgbClr val="F7F5F1"/>
                </a:solidFill>
                <a:latin typeface="DejaVu Sans"/>
              </a:rPr>
              <a:t>ԶՐՈՅԱԿԱՆ ՇԵՂՈՒՄ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15968" y="2651760"/>
            <a:ext cx="3520440" cy="56692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520" b="1">
                <a:solidFill>
                  <a:srgbClr val="0E7C86"/>
                </a:solidFill>
                <a:latin typeface="DejaVu Sans Mono"/>
              </a:rPr>
              <a:t>ստուգաչափմամբ հեռացվում է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5696" y="3401568"/>
            <a:ext cx="33375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1A1F24"/>
                </a:solidFill>
                <a:latin typeface="DejaVu Sans Mono"/>
              </a:rPr>
              <a:t>Ա.  ±40 mg  →  0</a:t>
            </a:r>
          </a:p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1A1F24"/>
                </a:solidFill>
                <a:latin typeface="DejaVu Sans Mono"/>
              </a:rPr>
              <a:t>Բ.  ±10 mg  →  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25696" y="4343400"/>
            <a:ext cx="333756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0" i="0">
                <a:solidFill>
                  <a:srgbClr val="6B7680"/>
                </a:solidFill>
                <a:latin typeface="DejaVu Sans"/>
              </a:rPr>
              <a:t>Մեկ լաբորատոր ստուգաչափումը հեռացնում է սա — մեկ ջերմաստիճանում։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973568" y="1965960"/>
            <a:ext cx="3520440" cy="594360"/>
          </a:xfrm>
          <a:prstGeom prst="roundRect">
            <a:avLst>
              <a:gd name="adj" fmla="val 10000"/>
            </a:avLst>
          </a:prstGeom>
          <a:solidFill>
            <a:srgbClr val="C0392B"/>
          </a:solidFill>
          <a:ln w="15875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60" b="1">
                <a:solidFill>
                  <a:srgbClr val="F7F5F1"/>
                </a:solidFill>
                <a:latin typeface="DejaVu Sans"/>
              </a:rPr>
              <a:t>ԶՐՈՅԱԿԱՆ ՇԵՂՄԱՆ ԴՐԵՅՖ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973568" y="2651760"/>
            <a:ext cx="3520440" cy="56692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900" b="1">
                <a:solidFill>
                  <a:srgbClr val="C0392B"/>
                </a:solidFill>
                <a:latin typeface="DejaVu Sans Mono"/>
              </a:rPr>
              <a:t>ՋԳ × ΔT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83296" y="3401568"/>
            <a:ext cx="33375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1A1F24"/>
                </a:solidFill>
                <a:latin typeface="DejaVu Sans Mono"/>
              </a:rPr>
              <a:t>Ա.  0.5 × 20 = 10.0</a:t>
            </a:r>
          </a:p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1A1F24"/>
                </a:solidFill>
                <a:latin typeface="DejaVu Sans Mono"/>
              </a:rPr>
              <a:t>Բ.  0.1 × 20 =  2.0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83296" y="4343400"/>
            <a:ext cx="333756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70" b="0" i="0">
                <a:solidFill>
                  <a:srgbClr val="6B7680"/>
                </a:solidFill>
                <a:latin typeface="DejaVu Sans"/>
              </a:rPr>
              <a:t>Ստուգաչափված 20 °C-ում, օգտագործվում է 0–40 °C, ուստի ΔT = ±20 °C։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8368" y="5349240"/>
            <a:ext cx="10874959" cy="822960"/>
          </a:xfrm>
          <a:prstGeom prst="roundRect">
            <a:avLst>
              <a:gd name="adj" fmla="val 10000"/>
            </a:avLst>
          </a:prstGeom>
          <a:solidFill>
            <a:srgbClr val="F7DFDC"/>
          </a:solidFill>
          <a:ln w="15875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2300" b="1">
                <a:solidFill>
                  <a:srgbClr val="1A1F24"/>
                </a:solidFill>
                <a:latin typeface="DejaVu Sans"/>
              </a:rPr>
              <a:t>Սարք Ա-ի շեղումը 10 mg է։ Ամբողջ մեծությունը, որը փորձում ենք չափել, 8.73 mg է։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640080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6B7680"/>
                </a:solidFill>
                <a:latin typeface="DejaVu Sans"/>
              </a:rPr>
              <a:t>MEMS և տվիչներ  ·  Դասախոսություն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18927" y="640080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 i="0">
                <a:solidFill>
                  <a:srgbClr val="6B7680"/>
                </a:solidFill>
                <a:latin typeface="Arial"/>
              </a:rPr>
              <a:t>23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475488"/>
            <a:ext cx="10874959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90" b="1" i="0">
                <a:solidFill>
                  <a:srgbClr val="1A1F24"/>
                </a:solidFill>
                <a:latin typeface="DejaVu Sans"/>
              </a:rPr>
              <a:t>Սխալանքի հաշվեկազմը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188720"/>
            <a:ext cx="1371600" cy="571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1353312"/>
            <a:ext cx="1087495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70" b="0" i="1">
                <a:solidFill>
                  <a:srgbClr val="6B7680"/>
                </a:solidFill>
                <a:latin typeface="DejaVu Sans"/>
              </a:rPr>
              <a:t>Քառակուսիների գումարի արմատ, քանի որ բաղադրիչները անկախ են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58368" y="1901952"/>
          <a:ext cx="10874957" cy="33604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14985"/>
                <a:gridCol w="1631243"/>
                <a:gridCol w="2066242"/>
                <a:gridCol w="3262487"/>
              </a:tblGrid>
              <a:tr h="480060">
                <a:tc>
                  <a:txBody>
                    <a:bodyPr wrap="square"/>
                    <a:lstStyle/>
                    <a:p>
                      <a:pPr algn="l"/>
                      <a:r>
                        <a:rPr sz="1280" b="1">
                          <a:solidFill>
                            <a:srgbClr val="F7F5F1"/>
                          </a:solidFill>
                          <a:latin typeface="DejaVu Sans"/>
                        </a:rPr>
                        <a:t>Բաղադրիչ</a:t>
                      </a:r>
                    </a:p>
                  </a:txBody>
                  <a:tcPr marL="91440" marR="91440" marT="27432" marB="27432" anchor="ctr">
                    <a:solidFill>
                      <a:srgbClr val="1A1F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F7F5F1"/>
                          </a:solidFill>
                          <a:latin typeface="DejaVu Sans"/>
                        </a:rPr>
                        <a:t>Սարք Ա</a:t>
                      </a:r>
                    </a:p>
                  </a:txBody>
                  <a:tcPr marL="91440" marR="91440" marT="27432" marB="27432" anchor="ctr">
                    <a:solidFill>
                      <a:srgbClr val="1A1F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F7F5F1"/>
                          </a:solidFill>
                          <a:latin typeface="DejaVu Sans"/>
                        </a:rPr>
                        <a:t>Սարք Բ</a:t>
                      </a:r>
                    </a:p>
                  </a:txBody>
                  <a:tcPr marL="91440" marR="91440" marT="27432" marB="27432" anchor="ctr">
                    <a:solidFill>
                      <a:srgbClr val="1A1F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F7F5F1"/>
                          </a:solidFill>
                          <a:latin typeface="DejaVu Sans"/>
                        </a:rPr>
                        <a:t>Որտեղից է եկել</a:t>
                      </a:r>
                    </a:p>
                  </a:txBody>
                  <a:tcPr marL="91440" marR="91440" marT="27432" marB="27432" anchor="ctr">
                    <a:solidFill>
                      <a:srgbClr val="1A1F24"/>
                    </a:solidFill>
                  </a:tcPr>
                </a:tc>
              </a:tr>
              <a:tr h="480060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1A1F24"/>
                          </a:solidFill>
                          <a:latin typeface="DejaVu Sans"/>
                        </a:rPr>
                        <a:t>Աղմուկ  (100 µg/√Hz × √50 Hz)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F24"/>
                          </a:solidFill>
                          <a:latin typeface="Courier New"/>
                        </a:rPr>
                        <a:t>0.707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F24"/>
                          </a:solidFill>
                          <a:latin typeface="Courier New"/>
                        </a:rPr>
                        <a:t>0.707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30" b="0">
                          <a:solidFill>
                            <a:srgbClr val="1A1F24"/>
                          </a:solidFill>
                          <a:latin typeface="DejaVu Sans"/>
                        </a:rPr>
                        <a:t>datasheet × ձեր թողունակությունը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480060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1A1F24"/>
                          </a:solidFill>
                          <a:latin typeface="DejaVu Sans"/>
                        </a:rPr>
                        <a:t>Քվանտացում  (LSB/√12)</a:t>
                      </a:r>
                    </a:p>
                  </a:txBody>
                  <a:tcPr marL="91440" marR="91440" marT="27432" marB="27432" anchor="ctr">
                    <a:solidFill>
                      <a:srgbClr val="F7F5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F24"/>
                          </a:solidFill>
                          <a:latin typeface="Courier New"/>
                        </a:rPr>
                        <a:t>0.018</a:t>
                      </a:r>
                    </a:p>
                  </a:txBody>
                  <a:tcPr marL="91440" marR="91440" marT="27432" marB="27432" anchor="ctr">
                    <a:solidFill>
                      <a:srgbClr val="F7F5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F24"/>
                          </a:solidFill>
                          <a:latin typeface="Courier New"/>
                        </a:rPr>
                        <a:t>0.141</a:t>
                      </a:r>
                    </a:p>
                  </a:txBody>
                  <a:tcPr marL="91440" marR="91440" marT="27432" marB="27432" anchor="ctr">
                    <a:solidFill>
                      <a:srgbClr val="F7F5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20" b="0">
                          <a:solidFill>
                            <a:srgbClr val="1A1F24"/>
                          </a:solidFill>
                          <a:latin typeface="DejaVu Sans"/>
                        </a:rPr>
                        <a:t>լուծունակություն և լրիվ տիրույթ</a:t>
                      </a:r>
                    </a:p>
                  </a:txBody>
                  <a:tcPr marL="91440" marR="91440" marT="27432" marB="27432" anchor="ctr">
                    <a:solidFill>
                      <a:srgbClr val="F7F5F1"/>
                    </a:solidFill>
                  </a:tcPr>
                </a:tc>
              </a:tr>
              <a:tr h="480060">
                <a:tc>
                  <a:txBody>
                    <a:bodyPr wrap="square"/>
                    <a:lstStyle/>
                    <a:p>
                      <a:pPr algn="l"/>
                      <a:r>
                        <a:rPr sz="1330" b="1">
                          <a:solidFill>
                            <a:srgbClr val="1A1F24"/>
                          </a:solidFill>
                          <a:latin typeface="DejaVu Sans"/>
                        </a:rPr>
                        <a:t>Զրոյական շեղման դրեյֆ  (ՋԳ × ΔT)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F24"/>
                          </a:solidFill>
                          <a:latin typeface="Courier New"/>
                        </a:rPr>
                        <a:t>10.000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F24"/>
                          </a:solidFill>
                          <a:latin typeface="Courier New"/>
                        </a:rPr>
                        <a:t>2.000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F24"/>
                          </a:solidFill>
                          <a:latin typeface="DejaVu Sans"/>
                        </a:rPr>
                        <a:t>ջերմ. գործակից × 20 °C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480060">
                <a:tc>
                  <a:txBody>
                    <a:bodyPr wrap="square"/>
                    <a:lstStyle/>
                    <a:p>
                      <a:pPr algn="l"/>
                      <a:r>
                        <a:rPr sz="1420" b="1">
                          <a:solidFill>
                            <a:srgbClr val="1A1F24"/>
                          </a:solidFill>
                          <a:latin typeface="DejaVu Sans"/>
                        </a:rPr>
                        <a:t>ԸՆԴԱՄԵՆԸ  (RSS)</a:t>
                      </a:r>
                    </a:p>
                  </a:txBody>
                  <a:tcPr marL="91440" marR="91440" marT="27432" marB="27432" anchor="ctr">
                    <a:solidFill>
                      <a:srgbClr val="F7F5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1A1F24"/>
                          </a:solidFill>
                          <a:latin typeface="Courier New"/>
                        </a:rPr>
                        <a:t>10.02</a:t>
                      </a:r>
                    </a:p>
                  </a:txBody>
                  <a:tcPr marL="91440" marR="91440" marT="27432" marB="27432" anchor="ctr">
                    <a:solidFill>
                      <a:srgbClr val="F7DF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1A1F24"/>
                          </a:solidFill>
                          <a:latin typeface="Courier New"/>
                        </a:rPr>
                        <a:t>2.13</a:t>
                      </a:r>
                    </a:p>
                  </a:txBody>
                  <a:tcPr marL="91440" marR="91440" marT="27432" marB="27432" anchor="ctr">
                    <a:solidFill>
                      <a:srgbClr val="DCED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50" b="0">
                          <a:solidFill>
                            <a:srgbClr val="1A1F24"/>
                          </a:solidFill>
                          <a:latin typeface="DejaVu Sans"/>
                        </a:rPr>
                        <a:t>√(քառակուսիների գումար)</a:t>
                      </a:r>
                    </a:p>
                  </a:txBody>
                  <a:tcPr marL="91440" marR="91440" marT="27432" marB="27432" anchor="ctr">
                    <a:solidFill>
                      <a:srgbClr val="F7F5F1"/>
                    </a:solidFill>
                  </a:tcPr>
                </a:tc>
              </a:tr>
              <a:tr h="480060">
                <a:tc>
                  <a:txBody>
                    <a:bodyPr wrap="square"/>
                    <a:lstStyle/>
                    <a:p>
                      <a:pPr algn="l"/>
                      <a:r>
                        <a:rPr sz="1280" b="1">
                          <a:solidFill>
                            <a:srgbClr val="1A1F24"/>
                          </a:solidFill>
                          <a:latin typeface="DejaVu Sans"/>
                        </a:rPr>
                        <a:t>ՈՐՊԵՍ ԹԵՔՈՒԹՅԱՆ ԱՆԿՅՈՒՆ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1A1F24"/>
                          </a:solidFill>
                          <a:latin typeface="Courier New"/>
                        </a:rPr>
                        <a:t>0.574°</a:t>
                      </a:r>
                    </a:p>
                  </a:txBody>
                  <a:tcPr marL="91440" marR="91440" marT="27432" marB="27432" anchor="ctr">
                    <a:solidFill>
                      <a:srgbClr val="F7DF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1A1F24"/>
                          </a:solidFill>
                          <a:latin typeface="Courier New"/>
                        </a:rPr>
                        <a:t>0.122°</a:t>
                      </a:r>
                    </a:p>
                  </a:txBody>
                  <a:tcPr marL="91440" marR="91440" marT="27432" marB="27432" anchor="ctr">
                    <a:solidFill>
                      <a:srgbClr val="DCED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F24"/>
                          </a:solidFill>
                          <a:latin typeface="Arial"/>
                        </a:rPr>
                        <a:t>asin(mg / 1000)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480060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1A1F24"/>
                          </a:solidFill>
                          <a:latin typeface="DejaVu Sans"/>
                        </a:rPr>
                        <a:t>±0.5°-Ի ԴԻՄԱՑ</a:t>
                      </a:r>
                    </a:p>
                  </a:txBody>
                  <a:tcPr marL="91440" marR="91440" marT="27432" marB="27432" anchor="ctr">
                    <a:solidFill>
                      <a:srgbClr val="F7F5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80" b="1">
                          <a:solidFill>
                            <a:srgbClr val="1A1F24"/>
                          </a:solidFill>
                          <a:latin typeface="DejaVu Sans Mono"/>
                        </a:rPr>
                        <a:t>ՉԻ ԲԱՎԱՐԱՐՈՒՄ</a:t>
                      </a:r>
                    </a:p>
                  </a:txBody>
                  <a:tcPr marL="91440" marR="91440" marT="27432" marB="27432" anchor="ctr">
                    <a:solidFill>
                      <a:srgbClr val="F7DF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90" b="1">
                          <a:solidFill>
                            <a:srgbClr val="1A1F24"/>
                          </a:solidFill>
                          <a:latin typeface="DejaVu Sans Mono"/>
                        </a:rPr>
                        <a:t>բավարարում է, 4× պաշար</a:t>
                      </a:r>
                    </a:p>
                  </a:txBody>
                  <a:tcPr marL="91440" marR="91440" marT="27432" marB="27432" anchor="ctr">
                    <a:solidFill>
                      <a:srgbClr val="DCED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F24"/>
                          </a:solidFill>
                          <a:latin typeface="DejaVu Sans"/>
                        </a:rPr>
                        <a:t>պահանջը</a:t>
                      </a:r>
                    </a:p>
                  </a:txBody>
                  <a:tcPr marL="91440" marR="91440" marT="27432" marB="27432" anchor="ctr">
                    <a:solidFill>
                      <a:srgbClr val="F7F5F1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58368" y="5358384"/>
            <a:ext cx="1087495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90" b="0" i="1">
                <a:solidFill>
                  <a:srgbClr val="6B7680"/>
                </a:solidFill>
                <a:latin typeface="DejaVu Sans"/>
              </a:rPr>
              <a:t>Բոլոր արժեքները mg-ով, եթե այլ բան նշված չէ։ Թողունակություն 50 Hz, ստուգաչափված 20 °C-ում, օգտագործվում է 0–40 °C։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5742432"/>
            <a:ext cx="10874959" cy="548640"/>
          </a:xfrm>
          <a:prstGeom prst="roundRect">
            <a:avLst>
              <a:gd name="adj" fmla="val 10000"/>
            </a:avLst>
          </a:prstGeom>
          <a:solidFill>
            <a:srgbClr val="1A1F24"/>
          </a:solidFill>
          <a:ln w="15875">
            <a:solidFill>
              <a:srgbClr val="1A1F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800" b="1">
                <a:solidFill>
                  <a:srgbClr val="F7F5F1"/>
                </a:solidFill>
                <a:latin typeface="DejaVu Sans"/>
              </a:rPr>
              <a:t>Մեկ բաղադրիչ գերիշխում է։ Այն իններորդ էջում էր, և ոչ մի առաջին էջում չկար։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640080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6B7680"/>
                </a:solidFill>
                <a:latin typeface="DejaVu Sans"/>
              </a:rPr>
              <a:t>MEMS և տվիչներ  ·  Դասախոսություն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18927" y="640080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 i="0">
                <a:solidFill>
                  <a:srgbClr val="6B7680"/>
                </a:solidFill>
                <a:latin typeface="Arial"/>
              </a:rPr>
              <a:t>24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475488"/>
            <a:ext cx="10874959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 i="0">
                <a:solidFill>
                  <a:srgbClr val="1A1F24"/>
                </a:solidFill>
                <a:latin typeface="DejaVu Sans"/>
              </a:rPr>
              <a:t>Այժմ՝ ձեր լաբորատորիայի սարքը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188720"/>
            <a:ext cx="1371600" cy="571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1353312"/>
            <a:ext cx="1087495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1">
                <a:solidFill>
                  <a:srgbClr val="6B7680"/>
                </a:solidFill>
                <a:latin typeface="DejaVu Sans"/>
              </a:rPr>
              <a:t>ISM330DHCX · նույն հաշվեկազմը, երկու անգամ՝ իր datasheet-ից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58368" y="1847088"/>
          <a:ext cx="10874957" cy="3456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27489"/>
                <a:gridCol w="2174991"/>
                <a:gridCol w="2174991"/>
                <a:gridCol w="3697486"/>
              </a:tblGrid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20" b="1">
                          <a:solidFill>
                            <a:srgbClr val="F7F5F1"/>
                          </a:solidFill>
                          <a:latin typeface="DejaVu Sans"/>
                        </a:rPr>
                        <a:t>Բաղադրիչ</a:t>
                      </a:r>
                    </a:p>
                  </a:txBody>
                  <a:tcPr marL="91440" marR="91440" marT="27432" marB="27432" anchor="ctr">
                    <a:solidFill>
                      <a:srgbClr val="1A1F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7F5F1"/>
                          </a:solidFill>
                          <a:latin typeface="DejaVu Sans"/>
                        </a:rPr>
                        <a:t>ըստ TYP</a:t>
                      </a:r>
                    </a:p>
                  </a:txBody>
                  <a:tcPr marL="91440" marR="91440" marT="27432" marB="27432" anchor="ctr">
                    <a:solidFill>
                      <a:srgbClr val="1A1F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7F5F1"/>
                          </a:solidFill>
                          <a:latin typeface="DejaVu Sans"/>
                        </a:rPr>
                        <a:t>ըստ MAX</a:t>
                      </a:r>
                    </a:p>
                  </a:txBody>
                  <a:tcPr marL="91440" marR="91440" marT="27432" marB="27432" anchor="ctr">
                    <a:solidFill>
                      <a:srgbClr val="1A1F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7F5F1"/>
                          </a:solidFill>
                          <a:latin typeface="DejaVu Sans"/>
                        </a:rPr>
                        <a:t>DS13012 Rev 6-ից</a:t>
                      </a:r>
                    </a:p>
                  </a:txBody>
                  <a:tcPr marL="91440" marR="91440" marT="27432" marB="27432" anchor="ctr">
                    <a:solidFill>
                      <a:srgbClr val="1A1F24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210" b="1">
                          <a:solidFill>
                            <a:srgbClr val="1A1F24"/>
                          </a:solidFill>
                          <a:latin typeface="DejaVu Sans"/>
                        </a:rPr>
                        <a:t>Աղմուկի խտություն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A1F24"/>
                          </a:solidFill>
                          <a:latin typeface="Courier New"/>
                        </a:rPr>
                        <a:t>60 µg/√Hz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A1F24"/>
                          </a:solidFill>
                          <a:latin typeface="Courier New"/>
                        </a:rPr>
                        <a:t>100 µg/√Hz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80" b="0">
                          <a:solidFill>
                            <a:srgbClr val="1A1F24"/>
                          </a:solidFill>
                          <a:latin typeface="DejaVu Sans"/>
                        </a:rPr>
                        <a:t>երկուսն էլ տպված, նույն տողում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1A1F24"/>
                          </a:solidFill>
                          <a:latin typeface="DejaVu Sans"/>
                        </a:rPr>
                        <a:t>Աղմուկ, × √50 Hz</a:t>
                      </a:r>
                    </a:p>
                  </a:txBody>
                  <a:tcPr marL="91440" marR="91440" marT="27432" marB="27432" anchor="ctr">
                    <a:solidFill>
                      <a:srgbClr val="F7F5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A1F24"/>
                          </a:solidFill>
                          <a:latin typeface="Courier New"/>
                        </a:rPr>
                        <a:t>0.424</a:t>
                      </a:r>
                    </a:p>
                  </a:txBody>
                  <a:tcPr marL="91440" marR="91440" marT="27432" marB="27432" anchor="ctr">
                    <a:solidFill>
                      <a:srgbClr val="F7F5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A1F24"/>
                          </a:solidFill>
                          <a:latin typeface="Courier New"/>
                        </a:rPr>
                        <a:t>0.707</a:t>
                      </a:r>
                    </a:p>
                  </a:txBody>
                  <a:tcPr marL="91440" marR="91440" marT="27432" marB="27432" anchor="ctr">
                    <a:solidFill>
                      <a:srgbClr val="F7F5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1A1F24"/>
                          </a:solidFill>
                          <a:latin typeface="DejaVu Sans"/>
                        </a:rPr>
                        <a:t>ձեր թողունակությունը</a:t>
                      </a:r>
                    </a:p>
                  </a:txBody>
                  <a:tcPr marL="91440" marR="91440" marT="27432" marB="27432" anchor="ctr">
                    <a:solidFill>
                      <a:srgbClr val="F7F5F1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1A1F24"/>
                          </a:solidFill>
                          <a:latin typeface="DejaVu Sans"/>
                        </a:rPr>
                        <a:t>Քվանտացում, LSB/√12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A1F24"/>
                          </a:solidFill>
                          <a:latin typeface="Courier New"/>
                        </a:rPr>
                        <a:t>0.018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A1F24"/>
                          </a:solidFill>
                          <a:latin typeface="Courier New"/>
                        </a:rPr>
                        <a:t>0.018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A1F24"/>
                          </a:solidFill>
                          <a:latin typeface="DejaVu Sans"/>
                        </a:rPr>
                        <a:t>16-բիթ, ±2 g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270" b="1">
                          <a:solidFill>
                            <a:srgbClr val="1A1F24"/>
                          </a:solidFill>
                          <a:latin typeface="DejaVu Sans"/>
                        </a:rPr>
                        <a:t>Զրոյական շեղման ՋԳ</a:t>
                      </a:r>
                    </a:p>
                  </a:txBody>
                  <a:tcPr marL="91440" marR="91440" marT="27432" marB="27432" anchor="ctr">
                    <a:solidFill>
                      <a:srgbClr val="F7F5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A1F24"/>
                          </a:solidFill>
                          <a:latin typeface="Courier New"/>
                        </a:rPr>
                        <a:t>±0.1 mg/°C</a:t>
                      </a:r>
                    </a:p>
                  </a:txBody>
                  <a:tcPr marL="91440" marR="91440" marT="27432" marB="27432" anchor="ctr">
                    <a:solidFill>
                      <a:srgbClr val="F7F5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A1F24"/>
                          </a:solidFill>
                          <a:latin typeface="Courier New"/>
                        </a:rPr>
                        <a:t>±0.5 mg/°C</a:t>
                      </a:r>
                    </a:p>
                  </a:txBody>
                  <a:tcPr marL="91440" marR="91440" marT="27432" marB="27432" anchor="ctr">
                    <a:solidFill>
                      <a:srgbClr val="F7F5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80" b="0">
                          <a:solidFill>
                            <a:srgbClr val="1A1F24"/>
                          </a:solidFill>
                          <a:latin typeface="DejaVu Sans"/>
                        </a:rPr>
                        <a:t>երկուսն էլ տպված, նույն տողում</a:t>
                      </a:r>
                    </a:p>
                  </a:txBody>
                  <a:tcPr marL="91440" marR="91440" marT="27432" marB="27432" anchor="ctr">
                    <a:solidFill>
                      <a:srgbClr val="F7F5F1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1A1F24"/>
                          </a:solidFill>
                          <a:latin typeface="DejaVu Sans"/>
                        </a:rPr>
                        <a:t>Շեղում, × 20 °C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A1F24"/>
                          </a:solidFill>
                          <a:latin typeface="Courier New"/>
                        </a:rPr>
                        <a:t>2.000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A1F24"/>
                          </a:solidFill>
                          <a:latin typeface="Courier New"/>
                        </a:rPr>
                        <a:t>10.000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70" b="0">
                          <a:solidFill>
                            <a:srgbClr val="1A1F24"/>
                          </a:solidFill>
                          <a:latin typeface="DejaVu Sans"/>
                        </a:rPr>
                        <a:t>0–40 °C, ստուգաչափ. 20 °C-ում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230" b="1">
                          <a:solidFill>
                            <a:srgbClr val="1A1F24"/>
                          </a:solidFill>
                          <a:latin typeface="DejaVu Sans"/>
                        </a:rPr>
                        <a:t>ԸՆԴԱՄԵՆԸ (RSS)</a:t>
                      </a:r>
                    </a:p>
                  </a:txBody>
                  <a:tcPr marL="91440" marR="91440" marT="27432" marB="27432" anchor="ctr">
                    <a:solidFill>
                      <a:srgbClr val="F7F5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A1F24"/>
                          </a:solidFill>
                          <a:latin typeface="Courier New"/>
                        </a:rPr>
                        <a:t>2.05</a:t>
                      </a:r>
                    </a:p>
                  </a:txBody>
                  <a:tcPr marL="91440" marR="91440" marT="27432" marB="27432" anchor="ctr">
                    <a:solidFill>
                      <a:srgbClr val="DCED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A1F24"/>
                          </a:solidFill>
                          <a:latin typeface="Courier New"/>
                        </a:rPr>
                        <a:t>10.02</a:t>
                      </a:r>
                    </a:p>
                  </a:txBody>
                  <a:tcPr marL="91440" marR="91440" marT="27432" marB="27432" anchor="ctr">
                    <a:solidFill>
                      <a:srgbClr val="F7DF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90" b="0">
                          <a:solidFill>
                            <a:srgbClr val="1A1F24"/>
                          </a:solidFill>
                          <a:latin typeface="DejaVu Sans"/>
                        </a:rPr>
                        <a:t>√(քառակուսիների գումար)</a:t>
                      </a:r>
                    </a:p>
                  </a:txBody>
                  <a:tcPr marL="91440" marR="91440" marT="27432" marB="27432" anchor="ctr">
                    <a:solidFill>
                      <a:srgbClr val="F7F5F1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20" b="1">
                          <a:solidFill>
                            <a:srgbClr val="1A1F24"/>
                          </a:solidFill>
                          <a:latin typeface="DejaVu Sans"/>
                        </a:rPr>
                        <a:t>ՈՐՊԵՍ ԹԵՔՈՒԹՅԱՆ ԱՆԿՅՈՒՆ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A1F24"/>
                          </a:solidFill>
                          <a:latin typeface="Courier New"/>
                        </a:rPr>
                        <a:t>0.117°</a:t>
                      </a:r>
                    </a:p>
                  </a:txBody>
                  <a:tcPr marL="91440" marR="91440" marT="27432" marB="27432" anchor="ctr">
                    <a:solidFill>
                      <a:srgbClr val="DCED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A1F24"/>
                          </a:solidFill>
                          <a:latin typeface="Courier New"/>
                        </a:rPr>
                        <a:t>0.574°</a:t>
                      </a:r>
                    </a:p>
                  </a:txBody>
                  <a:tcPr marL="91440" marR="91440" marT="27432" marB="27432" anchor="ctr">
                    <a:solidFill>
                      <a:srgbClr val="F7DF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A1F24"/>
                          </a:solidFill>
                          <a:latin typeface="Arial"/>
                        </a:rPr>
                        <a:t>asin(mg/1000)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1A1F24"/>
                          </a:solidFill>
                          <a:latin typeface="DejaVu Sans"/>
                        </a:rPr>
                        <a:t>±0.5°-Ի ԴԻՄԱՑ</a:t>
                      </a:r>
                    </a:p>
                  </a:txBody>
                  <a:tcPr marL="91440" marR="91440" marT="27432" marB="27432" anchor="ctr">
                    <a:solidFill>
                      <a:srgbClr val="F7F5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10" b="1">
                          <a:solidFill>
                            <a:srgbClr val="1A1F24"/>
                          </a:solidFill>
                          <a:latin typeface="DejaVu Sans Mono"/>
                        </a:rPr>
                        <a:t>բավարարում է, 4× պաշար</a:t>
                      </a:r>
                    </a:p>
                  </a:txBody>
                  <a:tcPr marL="91440" marR="91440" marT="27432" marB="27432" anchor="ctr">
                    <a:solidFill>
                      <a:srgbClr val="DCED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20" b="1">
                          <a:solidFill>
                            <a:srgbClr val="1A1F24"/>
                          </a:solidFill>
                          <a:latin typeface="DejaVu Sans Mono"/>
                        </a:rPr>
                        <a:t>ՉԻ ԲԱՎԱՐԱՐՈՒՄ</a:t>
                      </a:r>
                    </a:p>
                  </a:txBody>
                  <a:tcPr marL="91440" marR="91440" marT="27432" marB="27432" anchor="ctr">
                    <a:solidFill>
                      <a:srgbClr val="F7DF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A1F24"/>
                          </a:solidFill>
                          <a:latin typeface="DejaVu Sans"/>
                        </a:rPr>
                        <a:t>պահանջը</a:t>
                      </a:r>
                    </a:p>
                  </a:txBody>
                  <a:tcPr marL="91440" marR="91440" marT="27432" marB="27432" anchor="ctr">
                    <a:solidFill>
                      <a:srgbClr val="F7F5F1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658368" y="5504688"/>
            <a:ext cx="10874959" cy="713232"/>
          </a:xfrm>
          <a:prstGeom prst="roundRect">
            <a:avLst>
              <a:gd name="adj" fmla="val 10000"/>
            </a:avLst>
          </a:prstGeom>
          <a:solidFill>
            <a:srgbClr val="1A1F24"/>
          </a:solidFill>
          <a:ln w="15875">
            <a:solidFill>
              <a:srgbClr val="1A1F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2100" b="1">
                <a:solidFill>
                  <a:srgbClr val="F7F5F1"/>
                </a:solidFill>
                <a:latin typeface="DejaVu Sans"/>
              </a:rPr>
              <a:t>Մեկ սարքի կոդ։ Մեկ datasheet։ Երկու սյունակ — և պահանջը գտնվում է նրանց միջև։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640080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6B7680"/>
                </a:solidFill>
                <a:latin typeface="DejaVu Sans"/>
              </a:rPr>
              <a:t>MEMS և տվիչներ  ·  Դասախոսություն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18927" y="640080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 i="0">
                <a:solidFill>
                  <a:srgbClr val="6B7680"/>
                </a:solidFill>
                <a:latin typeface="Arial"/>
              </a:rPr>
              <a:t>25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74320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0E7C86"/>
                </a:solidFill>
                <a:latin typeface="DejaVu Sans"/>
              </a:rPr>
              <a:t>ՀԱՐՑՈՒՄ 1   ·   ՐՈՊԵ 70   ·   ՊԱՏԱՍԽԱՆ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658368"/>
            <a:ext cx="10874959" cy="1325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1" i="0">
                <a:solidFill>
                  <a:srgbClr val="1A1F24"/>
                </a:solidFill>
                <a:latin typeface="DejaVu Sans"/>
              </a:rPr>
              <a:t>Ո՞ր սարքը կնշեք ±0.5° թեքության չափման համար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2057400"/>
            <a:ext cx="10874959" cy="65836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E4E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500" b="0">
                <a:solidFill>
                  <a:srgbClr val="1A1F24"/>
                </a:solidFill>
                <a:latin typeface="Arial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9536" y="2176272"/>
            <a:ext cx="45720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i="0">
                <a:solidFill>
                  <a:srgbClr val="6B7680"/>
                </a:solidFill>
                <a:latin typeface="Arial"/>
              </a:rPr>
              <a:t>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2185416"/>
            <a:ext cx="9869119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10" b="0" i="0">
                <a:solidFill>
                  <a:srgbClr val="1A1F24"/>
                </a:solidFill>
                <a:latin typeface="DejaVu Sans"/>
              </a:rPr>
              <a:t>Սարք Ա — ութ անգամ ավելի բարձր լուծունակություն, և ավելի էժան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2862072"/>
            <a:ext cx="10874959" cy="658368"/>
          </a:xfrm>
          <a:prstGeom prst="roundRect">
            <a:avLst>
              <a:gd name="adj" fmla="val 10000"/>
            </a:avLst>
          </a:prstGeom>
          <a:solidFill>
            <a:srgbClr val="DCEDEF"/>
          </a:solidFill>
          <a:ln w="3175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500" b="0">
                <a:solidFill>
                  <a:srgbClr val="1A1F24"/>
                </a:solidFill>
                <a:latin typeface="Arial"/>
              </a:rPr>
              <a:t/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9536" y="2980944"/>
            <a:ext cx="45720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i="0">
                <a:solidFill>
                  <a:srgbClr val="0E7C86"/>
                </a:solidFill>
                <a:latin typeface="Arial"/>
              </a:rPr>
              <a:t>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990088"/>
            <a:ext cx="9869119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1A1F24"/>
                </a:solidFill>
                <a:latin typeface="DejaVu Sans"/>
              </a:rPr>
              <a:t>Սարք Բ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3666744"/>
            <a:ext cx="10874959" cy="65836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E4E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500" b="0">
                <a:solidFill>
                  <a:srgbClr val="1A1F24"/>
                </a:solidFill>
                <a:latin typeface="Arial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9536" y="3785616"/>
            <a:ext cx="45720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i="0">
                <a:solidFill>
                  <a:srgbClr val="6B7680"/>
                </a:solidFill>
                <a:latin typeface="Arial"/>
              </a:rPr>
              <a:t>C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71600" y="3794760"/>
            <a:ext cx="9869119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 i="0">
                <a:solidFill>
                  <a:srgbClr val="1A1F24"/>
                </a:solidFill>
                <a:latin typeface="DejaVu Sans"/>
              </a:rPr>
              <a:t>Սա հնարավոր չէ որոշել միայն առաջին էջերից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" y="5541264"/>
            <a:ext cx="10874959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 i="1">
                <a:solidFill>
                  <a:srgbClr val="0E7C86"/>
                </a:solidFill>
                <a:latin typeface="DejaVu Sans"/>
              </a:rPr>
              <a:t>ՃԻՇՏ ԱՌԱՋԻՆ պատասխանը Գ-ն էր — բավարար տեղեկույթ չունեիք։ Ճիշտ ԵՐԿՐՈՐԴ պատասխանը, տասներկու րոպե թվաբանությունից հետո, Բ-ն է։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640080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7A848C"/>
                </a:solidFill>
                <a:latin typeface="DejaVu Sans"/>
              </a:rPr>
              <a:t>MEMS և տվիչներ  ·  Դասախոսություն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18927" y="640080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 i="0">
                <a:solidFill>
                  <a:srgbClr val="7A848C"/>
                </a:solidFill>
                <a:latin typeface="Arial"/>
              </a:rPr>
              <a:t>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74320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C0392B"/>
                </a:solidFill>
                <a:latin typeface="DejaVu Sans"/>
              </a:rPr>
              <a:t>ԴԱՏԱՎՃԻՌԸ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965960"/>
            <a:ext cx="10874959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3400" b="1" i="0">
                <a:solidFill>
                  <a:srgbClr val="F7F5F1"/>
                </a:solidFill>
                <a:latin typeface="DejaVu Sans"/>
              </a:rPr>
              <a:t>Սարք Ա-ն ութ անգամ ավելի բարձր</a:t>
            </a:r>
          </a:p>
          <a:p>
            <a:pPr algn="l">
              <a:lnSpc>
                <a:spcPct val="118000"/>
              </a:lnSpc>
            </a:pPr>
            <a:r>
              <a:rPr sz="3010" b="1" i="0">
                <a:solidFill>
                  <a:srgbClr val="F7F5F1"/>
                </a:solidFill>
                <a:latin typeface="DejaVu Sans"/>
              </a:rPr>
              <a:t>լուծունակություն ունի — և չի կատարում խնդիրը։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4617720"/>
            <a:ext cx="1371600" cy="5080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4892040"/>
            <a:ext cx="9960559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900" b="0" i="0">
                <a:solidFill>
                  <a:srgbClr val="B8C0C6"/>
                </a:solidFill>
                <a:latin typeface="DejaVu Sans"/>
              </a:rPr>
              <a:t>Սարք Բ-ն տարբերակում է 0.028° թեքություն. տասնութ անգամ ավելի մանր, քան պահանջվող ±0.5°-ը։ Լուծունակությունը երբեք որոշիչ մեծություն չէր։ Այն միայն այդպես երևաց, որովհետև առաջին էջի թիվն էր։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640080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6B7680"/>
                </a:solidFill>
                <a:latin typeface="DejaVu Sans"/>
              </a:rPr>
              <a:t>MEMS և տվիչներ  ·  Դասախոսություն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18927" y="640080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 i="0">
                <a:solidFill>
                  <a:srgbClr val="6B7680"/>
                </a:solidFill>
                <a:latin typeface="Arial"/>
              </a:rPr>
              <a:t>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475488"/>
            <a:ext cx="10874959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 i="0">
                <a:solidFill>
                  <a:srgbClr val="1A1F24"/>
                </a:solidFill>
                <a:latin typeface="DejaVu Sans"/>
              </a:rPr>
              <a:t>Ձեր հերթն է. երեք թեկնածու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188720"/>
            <a:ext cx="1371600" cy="571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1353312"/>
            <a:ext cx="1087495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1">
                <a:solidFill>
                  <a:srgbClr val="6B7680"/>
                </a:solidFill>
                <a:latin typeface="DejaVu Sans"/>
              </a:rPr>
              <a:t>Երեքական խմբեր · 8 րոպե · ընտրե՛ք մեկը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58368" y="1920240"/>
          <a:ext cx="777240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1399032"/>
                <a:gridCol w="1088136"/>
                <a:gridCol w="1088136"/>
                <a:gridCol w="1088136"/>
              </a:tblGrid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550" b="1">
                          <a:solidFill>
                            <a:srgbClr val="F7F5F1"/>
                          </a:solidFill>
                          <a:latin typeface="DejaVu Sans"/>
                        </a:rPr>
                        <a:t>Չափանիշ</a:t>
                      </a:r>
                    </a:p>
                  </a:txBody>
                  <a:tcPr marL="91440" marR="91440" marT="27432" marB="27432" anchor="ctr">
                    <a:solidFill>
                      <a:srgbClr val="1A1F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50" b="1">
                          <a:solidFill>
                            <a:srgbClr val="F7F5F1"/>
                          </a:solidFill>
                          <a:latin typeface="DejaVu Sans"/>
                        </a:rPr>
                        <a:t>Կշիռ</a:t>
                      </a:r>
                    </a:p>
                  </a:txBody>
                  <a:tcPr marL="91440" marR="91440" marT="27432" marB="27432" anchor="ctr">
                    <a:solidFill>
                      <a:srgbClr val="1A1F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50" b="1">
                          <a:solidFill>
                            <a:srgbClr val="F7F5F1"/>
                          </a:solidFill>
                          <a:latin typeface="Arial"/>
                        </a:rPr>
                        <a:t>A</a:t>
                      </a:r>
                    </a:p>
                  </a:txBody>
                  <a:tcPr marL="91440" marR="91440" marT="27432" marB="27432" anchor="ctr">
                    <a:solidFill>
                      <a:srgbClr val="1A1F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50" b="1">
                          <a:solidFill>
                            <a:srgbClr val="F7F5F1"/>
                          </a:solidFill>
                          <a:latin typeface="Arial"/>
                        </a:rPr>
                        <a:t>B</a:t>
                      </a:r>
                    </a:p>
                  </a:txBody>
                  <a:tcPr marL="91440" marR="91440" marT="27432" marB="27432" anchor="ctr">
                    <a:solidFill>
                      <a:srgbClr val="1A1F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50" b="1">
                          <a:solidFill>
                            <a:srgbClr val="F7F5F1"/>
                          </a:solidFill>
                          <a:latin typeface="Arial"/>
                        </a:rPr>
                        <a:t>C</a:t>
                      </a:r>
                    </a:p>
                  </a:txBody>
                  <a:tcPr marL="91440" marR="91440" marT="27432" marB="27432" anchor="ctr">
                    <a:solidFill>
                      <a:srgbClr val="1A1F24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370" b="1">
                          <a:solidFill>
                            <a:srgbClr val="1A1F24"/>
                          </a:solidFill>
                          <a:latin typeface="DejaVu Sans"/>
                        </a:rPr>
                        <a:t>Բավարարում է ±0.5° 0–40 °C-ում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50" b="0">
                          <a:solidFill>
                            <a:srgbClr val="1A1F24"/>
                          </a:solidFill>
                          <a:latin typeface="DejaVu Sans"/>
                        </a:rPr>
                        <a:t>այո/ոչ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50" b="0">
                          <a:solidFill>
                            <a:srgbClr val="1A1F24"/>
                          </a:solidFill>
                          <a:latin typeface="DejaVu Sans Mono"/>
                        </a:rPr>
                        <a:t>ոչ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50" b="0">
                          <a:solidFill>
                            <a:srgbClr val="1A1F24"/>
                          </a:solidFill>
                          <a:latin typeface="DejaVu Sans Mono"/>
                        </a:rPr>
                        <a:t>այո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50" b="0">
                          <a:solidFill>
                            <a:srgbClr val="1A1F24"/>
                          </a:solidFill>
                          <a:latin typeface="DejaVu Sans Mono"/>
                        </a:rPr>
                        <a:t>այո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90" b="1">
                          <a:solidFill>
                            <a:srgbClr val="1A1F24"/>
                          </a:solidFill>
                          <a:latin typeface="DejaVu Sans"/>
                        </a:rPr>
                        <a:t>Ընդհանուր սխալանքը որպես անկյուն</a:t>
                      </a:r>
                    </a:p>
                  </a:txBody>
                  <a:tcPr marL="91440" marR="91440" marT="27432" marB="27432" anchor="ctr">
                    <a:solidFill>
                      <a:srgbClr val="F7F5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70" b="0">
                          <a:solidFill>
                            <a:srgbClr val="1A1F24"/>
                          </a:solidFill>
                          <a:latin typeface="DejaVu Sans"/>
                        </a:rPr>
                        <a:t>բարձր</a:t>
                      </a:r>
                    </a:p>
                  </a:txBody>
                  <a:tcPr marL="91440" marR="91440" marT="27432" marB="27432" anchor="ctr">
                    <a:solidFill>
                      <a:srgbClr val="F7F5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50" b="0">
                          <a:solidFill>
                            <a:srgbClr val="1A1F24"/>
                          </a:solidFill>
                          <a:latin typeface="Courier New"/>
                        </a:rPr>
                        <a:t>0.574°</a:t>
                      </a:r>
                    </a:p>
                  </a:txBody>
                  <a:tcPr marL="91440" marR="91440" marT="27432" marB="27432" anchor="ctr">
                    <a:solidFill>
                      <a:srgbClr val="F7F5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50" b="0">
                          <a:solidFill>
                            <a:srgbClr val="1A1F24"/>
                          </a:solidFill>
                          <a:latin typeface="Courier New"/>
                        </a:rPr>
                        <a:t>0.122°</a:t>
                      </a:r>
                    </a:p>
                  </a:txBody>
                  <a:tcPr marL="91440" marR="91440" marT="27432" marB="27432" anchor="ctr">
                    <a:solidFill>
                      <a:srgbClr val="F7F5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50" b="0">
                          <a:solidFill>
                            <a:srgbClr val="1A1F24"/>
                          </a:solidFill>
                          <a:latin typeface="Courier New"/>
                        </a:rPr>
                        <a:t>0.06°</a:t>
                      </a:r>
                    </a:p>
                  </a:txBody>
                  <a:tcPr marL="91440" marR="91440" marT="27432" marB="27432" anchor="ctr">
                    <a:solidFill>
                      <a:srgbClr val="F7F5F1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1A1F24"/>
                          </a:solidFill>
                          <a:latin typeface="DejaVu Sans"/>
                        </a:rPr>
                        <a:t>Միավորի գինը 500 հատի դեպքում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50" b="0">
                          <a:solidFill>
                            <a:srgbClr val="1A1F24"/>
                          </a:solidFill>
                          <a:latin typeface="DejaVu Sans"/>
                        </a:rPr>
                        <a:t>միջին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50" b="0">
                          <a:solidFill>
                            <a:srgbClr val="1A1F24"/>
                          </a:solidFill>
                          <a:latin typeface="Courier New"/>
                        </a:rPr>
                        <a:t>€1.80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50" b="0">
                          <a:solidFill>
                            <a:srgbClr val="1A1F24"/>
                          </a:solidFill>
                          <a:latin typeface="Courier New"/>
                        </a:rPr>
                        <a:t>€4.20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50" b="0">
                          <a:solidFill>
                            <a:srgbClr val="1A1F24"/>
                          </a:solidFill>
                          <a:latin typeface="Courier New"/>
                        </a:rPr>
                        <a:t>€11.50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370" b="1">
                          <a:solidFill>
                            <a:srgbClr val="1A1F24"/>
                          </a:solidFill>
                          <a:latin typeface="DejaVu Sans"/>
                        </a:rPr>
                        <a:t>Հոսանքի սպառում</a:t>
                      </a:r>
                    </a:p>
                  </a:txBody>
                  <a:tcPr marL="91440" marR="91440" marT="27432" marB="27432" anchor="ctr">
                    <a:solidFill>
                      <a:srgbClr val="F7F5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50" b="0">
                          <a:solidFill>
                            <a:srgbClr val="1A1F24"/>
                          </a:solidFill>
                          <a:latin typeface="DejaVu Sans"/>
                        </a:rPr>
                        <a:t>միջին</a:t>
                      </a:r>
                    </a:p>
                  </a:txBody>
                  <a:tcPr marL="91440" marR="91440" marT="27432" marB="27432" anchor="ctr">
                    <a:solidFill>
                      <a:srgbClr val="F7F5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50" b="0">
                          <a:solidFill>
                            <a:srgbClr val="1A1F24"/>
                          </a:solidFill>
                          <a:latin typeface="Courier New"/>
                        </a:rPr>
                        <a:t>0.15 mA</a:t>
                      </a:r>
                    </a:p>
                  </a:txBody>
                  <a:tcPr marL="91440" marR="91440" marT="27432" marB="27432" anchor="ctr">
                    <a:solidFill>
                      <a:srgbClr val="F7F5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50" b="0">
                          <a:solidFill>
                            <a:srgbClr val="1A1F24"/>
                          </a:solidFill>
                          <a:latin typeface="Courier New"/>
                        </a:rPr>
                        <a:t>0.18 mA</a:t>
                      </a:r>
                    </a:p>
                  </a:txBody>
                  <a:tcPr marL="91440" marR="91440" marT="27432" marB="27432" anchor="ctr">
                    <a:solidFill>
                      <a:srgbClr val="F7F5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50" b="0">
                          <a:solidFill>
                            <a:srgbClr val="1A1F24"/>
                          </a:solidFill>
                          <a:latin typeface="Courier New"/>
                        </a:rPr>
                        <a:t>0.90 mA</a:t>
                      </a:r>
                    </a:p>
                  </a:txBody>
                  <a:tcPr marL="91440" marR="91440" marT="27432" marB="27432" anchor="ctr">
                    <a:solidFill>
                      <a:srgbClr val="F7F5F1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80" b="1">
                          <a:solidFill>
                            <a:srgbClr val="1A1F24"/>
                          </a:solidFill>
                          <a:latin typeface="DejaVu Sans"/>
                        </a:rPr>
                        <a:t>Գրադարանն արդեն գոյություն ունի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50" b="0">
                          <a:solidFill>
                            <a:srgbClr val="1A1F24"/>
                          </a:solidFill>
                          <a:latin typeface="DejaVu Sans"/>
                        </a:rPr>
                        <a:t>ՑԱԾՐ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50" b="0">
                          <a:solidFill>
                            <a:srgbClr val="1A1F24"/>
                          </a:solidFill>
                          <a:latin typeface="DejaVu Sans Mono"/>
                        </a:rPr>
                        <a:t>այո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50" b="0">
                          <a:solidFill>
                            <a:srgbClr val="1A1F24"/>
                          </a:solidFill>
                          <a:latin typeface="DejaVu Sans Mono"/>
                        </a:rPr>
                        <a:t>ոչ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50" b="0">
                          <a:solidFill>
                            <a:srgbClr val="1A1F24"/>
                          </a:solidFill>
                          <a:latin typeface="DejaVu Sans Mono"/>
                        </a:rPr>
                        <a:t>ոչ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8705088" y="1920240"/>
            <a:ext cx="3063240" cy="914400"/>
          </a:xfrm>
          <a:prstGeom prst="roundRect">
            <a:avLst>
              <a:gd name="adj" fmla="val 10000"/>
            </a:avLst>
          </a:prstGeom>
          <a:solidFill>
            <a:srgbClr val="6B7680"/>
          </a:solidFill>
          <a:ln w="15875">
            <a:solidFill>
              <a:srgbClr val="6B76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900" b="1">
                <a:solidFill>
                  <a:srgbClr val="F7F5F1"/>
                </a:solidFill>
                <a:latin typeface="DejaVu Sans"/>
              </a:rPr>
              <a:t>ՍԱՐՔ Գ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42247" y="2971800"/>
            <a:ext cx="292608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600" b="0" i="0">
                <a:solidFill>
                  <a:srgbClr val="1A1F24"/>
                </a:solidFill>
                <a:latin typeface="DejaVu Sans Mono"/>
              </a:rPr>
              <a:t>16-բիթ, ±2 g</a:t>
            </a:r>
          </a:p>
          <a:p>
            <a:pPr algn="l">
              <a:lnSpc>
                <a:spcPct val="145000"/>
              </a:lnSpc>
            </a:pPr>
            <a:r>
              <a:rPr sz="1600" b="0" i="0">
                <a:solidFill>
                  <a:srgbClr val="1A1F24"/>
                </a:solidFill>
                <a:latin typeface="Courier New"/>
              </a:rPr>
              <a:t>60 µg/√Hz</a:t>
            </a:r>
          </a:p>
          <a:p>
            <a:pPr algn="l">
              <a:lnSpc>
                <a:spcPct val="145000"/>
              </a:lnSpc>
            </a:pPr>
            <a:r>
              <a:rPr sz="1370" b="0" i="0">
                <a:solidFill>
                  <a:srgbClr val="1A1F24"/>
                </a:solidFill>
                <a:latin typeface="DejaVu Sans Mono"/>
              </a:rPr>
              <a:t>զր. շեղում ±5 mg</a:t>
            </a:r>
          </a:p>
          <a:p>
            <a:pPr algn="l">
              <a:lnSpc>
                <a:spcPct val="145000"/>
              </a:lnSpc>
            </a:pPr>
            <a:r>
              <a:rPr sz="1600" b="0" i="0">
                <a:solidFill>
                  <a:srgbClr val="1A1F24"/>
                </a:solidFill>
                <a:latin typeface="DejaVu Sans Mono"/>
              </a:rPr>
              <a:t>ՋԳ ±0.05 mg/°C</a:t>
            </a:r>
          </a:p>
          <a:p>
            <a:pPr algn="l">
              <a:lnSpc>
                <a:spcPct val="145000"/>
              </a:lnSpc>
            </a:pPr>
            <a:r>
              <a:rPr sz="1600" b="0" i="0">
                <a:solidFill>
                  <a:srgbClr val="1A1F24"/>
                </a:solidFill>
                <a:latin typeface="Courier New"/>
              </a:rPr>
              <a:t>€11.50, 0.9 mA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4892040"/>
            <a:ext cx="10874959" cy="658368"/>
          </a:xfrm>
          <a:prstGeom prst="roundRect">
            <a:avLst>
              <a:gd name="adj" fmla="val 10000"/>
            </a:avLst>
          </a:prstGeom>
          <a:solidFill>
            <a:srgbClr val="FAECD8"/>
          </a:solidFill>
          <a:ln w="15875">
            <a:solidFill>
              <a:srgbClr val="D983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680" b="1">
                <a:solidFill>
                  <a:srgbClr val="1A1F24"/>
                </a:solidFill>
                <a:latin typeface="DejaVu Sans"/>
              </a:rPr>
              <a:t>Գրե՛ք մեկ նախադասություն.   «Մենք ընտրում ենք Սարք ___, որովհետև ___»   — նշելով ԳԵՐԻՇԽՈՂ ՍԽԱԼԱՆՔԻ ԲԱՂԱԴՐԻՉԸ, ոչ վերնագիրը։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5715000"/>
            <a:ext cx="1087495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700" b="0" i="1">
                <a:solidFill>
                  <a:srgbClr val="6B7680"/>
                </a:solidFill>
                <a:latin typeface="DejaVu Sans"/>
              </a:rPr>
              <a:t>Սարք Գ-ն թակարդ է հակառակ ուղղությամբ. տեխնիկապես լավագույն սարքը, վեց անգամ ավելի թանկ, և ոչ մի հատկություն չի ավելացնում, որ պահանջն ուզում է։ Ավելորդ բնութագրումը նույնպես ինժեներական ձախողում է։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640080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6B7680"/>
                </a:solidFill>
                <a:latin typeface="DejaVu Sans"/>
              </a:rPr>
              <a:t>MEMS և տվիչներ  ·  Դասախոսություն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18927" y="640080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 i="0">
                <a:solidFill>
                  <a:srgbClr val="6B7680"/>
                </a:solidFill>
                <a:latin typeface="Arial"/>
              </a:rPr>
              <a:t>28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74320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D98324"/>
                </a:solidFill>
                <a:latin typeface="DejaVu Sans"/>
              </a:rPr>
              <a:t>ՀԱՐՑՈՒՄ 4   ·   ՐՈՊԵ 72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658368"/>
            <a:ext cx="10874959" cy="1755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50" b="1" i="0">
                <a:solidFill>
                  <a:srgbClr val="1A1F24"/>
                </a:solidFill>
                <a:latin typeface="DejaVu Sans"/>
              </a:rPr>
              <a:t>Նոր խնդիր։ Ջրի մակարդակը բացօթյա բաքում, 2 մ խորություն (≈20 kPa լրիվ տիրույթ), ±20 մմ ճշտությամբ, ջուրը 5–35 °C։  P. ընդհանուր սխալանքի շերտ ±0.25 % FS 0–50 °C-ում։  Q. ±0.05 % FS 25 °C-ում, ջերմաստիճանային գործակիցը նշված չէ։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2487168"/>
            <a:ext cx="10874959" cy="65836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E4E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500" b="0">
                <a:solidFill>
                  <a:srgbClr val="1A1F24"/>
                </a:solidFill>
                <a:latin typeface="Arial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9536" y="2606040"/>
            <a:ext cx="45720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i="0">
                <a:solidFill>
                  <a:srgbClr val="6B7680"/>
                </a:solidFill>
                <a:latin typeface="Arial"/>
              </a:rPr>
              <a:t>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2615184"/>
            <a:ext cx="9869119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 i="0">
                <a:solidFill>
                  <a:srgbClr val="1A1F24"/>
                </a:solidFill>
                <a:latin typeface="DejaVu Sans"/>
              </a:rPr>
              <a:t>Տվիչ Q — հինգ անգամ ավելի լավ ճշտություն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3291840"/>
            <a:ext cx="10874959" cy="65836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E4E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500" b="0">
                <a:solidFill>
                  <a:srgbClr val="1A1F24"/>
                </a:solidFill>
                <a:latin typeface="Arial"/>
              </a:rPr>
              <a:t/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9536" y="3410712"/>
            <a:ext cx="45720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i="0">
                <a:solidFill>
                  <a:srgbClr val="6B7680"/>
                </a:solidFill>
                <a:latin typeface="Arial"/>
              </a:rPr>
              <a:t>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3419856"/>
            <a:ext cx="9869119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 i="0">
                <a:solidFill>
                  <a:srgbClr val="1A1F24"/>
                </a:solidFill>
                <a:latin typeface="DejaVu Sans"/>
              </a:rPr>
              <a:t>Տվիչ P — նրա սխալանքը սահմանափակված է ամբողջ ջերմաստիճանային տիրույթում. Q-ինը նշված է միայն մեկ կետում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4096512"/>
            <a:ext cx="10874959" cy="65836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E4E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500" b="0">
                <a:solidFill>
                  <a:srgbClr val="1A1F24"/>
                </a:solidFill>
                <a:latin typeface="Arial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9536" y="4215384"/>
            <a:ext cx="45720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i="0">
                <a:solidFill>
                  <a:srgbClr val="6B7680"/>
                </a:solidFill>
                <a:latin typeface="Arial"/>
              </a:rPr>
              <a:t>C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71600" y="4224528"/>
            <a:ext cx="9869119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 i="0">
                <a:solidFill>
                  <a:srgbClr val="1A1F24"/>
                </a:solidFill>
                <a:latin typeface="DejaVu Sans"/>
              </a:rPr>
              <a:t>Ցանկացածը — ջերմաստիճանային գործակիցը կարելի է չափել հետո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" y="4901184"/>
            <a:ext cx="10874959" cy="65836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E4E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500" b="0">
                <a:solidFill>
                  <a:srgbClr val="1A1F24"/>
                </a:solidFill>
                <a:latin typeface="Arial"/>
              </a:rPr>
              <a:t/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9536" y="5020056"/>
            <a:ext cx="45720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i="0">
                <a:solidFill>
                  <a:srgbClr val="6B7680"/>
                </a:solidFill>
                <a:latin typeface="Arial"/>
              </a:rPr>
              <a:t>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5029200"/>
            <a:ext cx="9869119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 i="0">
                <a:solidFill>
                  <a:srgbClr val="1A1F24"/>
                </a:solidFill>
                <a:latin typeface="DejaVu Sans"/>
              </a:rPr>
              <a:t>Տվիչ Q, ստուգաչափված 25 °C-ում մինչ տեղադրումը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5541264"/>
            <a:ext cx="10874959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 i="1">
                <a:solidFill>
                  <a:srgbClr val="6B7680"/>
                </a:solidFill>
                <a:latin typeface="DejaVu Sans"/>
              </a:rPr>
              <a:t>Այլ չափվող մեծություն, այլ սխալանքի բաղադրիչ։ Ներքևում՝ նույն հարցը։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640080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6B7680"/>
                </a:solidFill>
                <a:latin typeface="DejaVu Sans"/>
              </a:rPr>
              <a:t>MEMS և տվիչներ  ·  Դասախոսություն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18927" y="640080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 i="0">
                <a:solidFill>
                  <a:srgbClr val="6B7680"/>
                </a:solidFill>
                <a:latin typeface="Arial"/>
              </a:rPr>
              <a:t>29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74320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0E7C86"/>
                </a:solidFill>
                <a:latin typeface="DejaVu Sans"/>
              </a:rPr>
              <a:t>ՀԱՐՑՈՒՄ 4   ·   ՐՈՊԵ 72   ·   ՊԱՏԱՍԽԱՆ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658368"/>
            <a:ext cx="10874959" cy="1755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50" b="1" i="0">
                <a:solidFill>
                  <a:srgbClr val="1A1F24"/>
                </a:solidFill>
                <a:latin typeface="DejaVu Sans"/>
              </a:rPr>
              <a:t>Նոր խնդիր։ Ջրի մակարդակը բացօթյա բաքում, 2 մ խորություն (≈20 kPa լրիվ տիրույթ), ±20 մմ ճշտությամբ, ջուրը 5–35 °C։  P. ընդհանուր սխալանքի շերտ ±0.25 % FS 0–50 °C-ում։  Q. ±0.05 % FS 25 °C-ում, ջերմաստիճանային գործակիցը նշված չէ։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2487168"/>
            <a:ext cx="10874959" cy="65836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E4E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500" b="0">
                <a:solidFill>
                  <a:srgbClr val="1A1F24"/>
                </a:solidFill>
                <a:latin typeface="Arial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9536" y="2606040"/>
            <a:ext cx="45720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i="0">
                <a:solidFill>
                  <a:srgbClr val="6B7680"/>
                </a:solidFill>
                <a:latin typeface="Arial"/>
              </a:rPr>
              <a:t>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2615184"/>
            <a:ext cx="9869119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 i="0">
                <a:solidFill>
                  <a:srgbClr val="1A1F24"/>
                </a:solidFill>
                <a:latin typeface="DejaVu Sans"/>
              </a:rPr>
              <a:t>Տվիչ Q — հինգ անգամ ավելի լավ ճշտություն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3291840"/>
            <a:ext cx="10874959" cy="658368"/>
          </a:xfrm>
          <a:prstGeom prst="roundRect">
            <a:avLst>
              <a:gd name="adj" fmla="val 10000"/>
            </a:avLst>
          </a:prstGeom>
          <a:solidFill>
            <a:srgbClr val="DCEDEF"/>
          </a:solidFill>
          <a:ln w="3175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500" b="0">
                <a:solidFill>
                  <a:srgbClr val="1A1F24"/>
                </a:solidFill>
                <a:latin typeface="Arial"/>
              </a:rPr>
              <a:t/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9536" y="3410712"/>
            <a:ext cx="45720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i="0">
                <a:solidFill>
                  <a:srgbClr val="0E7C86"/>
                </a:solidFill>
                <a:latin typeface="Arial"/>
              </a:rPr>
              <a:t>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3419856"/>
            <a:ext cx="9869119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1A1F24"/>
                </a:solidFill>
                <a:latin typeface="DejaVu Sans"/>
              </a:rPr>
              <a:t>Տվիչ P — նրա սխալանքը սահմանափակված է ամբողջ ջերմաստիճանային տիրույթում. Q-ինը նշված է միայն մեկ կետում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4096512"/>
            <a:ext cx="10874959" cy="65836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E4E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500" b="0">
                <a:solidFill>
                  <a:srgbClr val="1A1F24"/>
                </a:solidFill>
                <a:latin typeface="Arial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9536" y="4215384"/>
            <a:ext cx="45720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i="0">
                <a:solidFill>
                  <a:srgbClr val="6B7680"/>
                </a:solidFill>
                <a:latin typeface="Arial"/>
              </a:rPr>
              <a:t>C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71600" y="4224528"/>
            <a:ext cx="9869119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 i="0">
                <a:solidFill>
                  <a:srgbClr val="1A1F24"/>
                </a:solidFill>
                <a:latin typeface="DejaVu Sans"/>
              </a:rPr>
              <a:t>Ցանկացածը — ջերմաստիճանային գործակիցը կարելի է չափել հետո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" y="4901184"/>
            <a:ext cx="10874959" cy="65836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E4E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500" b="0">
                <a:solidFill>
                  <a:srgbClr val="1A1F24"/>
                </a:solidFill>
                <a:latin typeface="Arial"/>
              </a:rPr>
              <a:t/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9536" y="5020056"/>
            <a:ext cx="45720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i="0">
                <a:solidFill>
                  <a:srgbClr val="6B7680"/>
                </a:solidFill>
                <a:latin typeface="Arial"/>
              </a:rPr>
              <a:t>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5029200"/>
            <a:ext cx="9869119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 i="0">
                <a:solidFill>
                  <a:srgbClr val="1A1F24"/>
                </a:solidFill>
                <a:latin typeface="DejaVu Sans"/>
              </a:rPr>
              <a:t>Տվիչ Q, ստուգաչափված 25 °C-ում մինչ տեղադրումը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5541264"/>
            <a:ext cx="10874959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 i="1">
                <a:solidFill>
                  <a:srgbClr val="0E7C86"/>
                </a:solidFill>
                <a:latin typeface="DejaVu Sans"/>
              </a:rPr>
              <a:t>Աշխատանքային տիրույթում ընդհանուր սխալանքի շերտը գերազանցում է մեկ ջերմաստիճանում նշված վերնագրային ճշտությունը։ Չնշված գործակիցը փոքր սխալանք չէ — այն անսահմանափա՛կ է։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640080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6B7680"/>
                </a:solidFill>
                <a:latin typeface="DejaVu Sans"/>
              </a:rPr>
              <a:t>MEMS և տվիչներ  ·  Դասախոսություն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18927" y="640080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 i="0">
                <a:solidFill>
                  <a:srgbClr val="6B7680"/>
                </a:solidFill>
                <a:latin typeface="Arial"/>
              </a:rPr>
              <a:t>30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475488"/>
            <a:ext cx="10874959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 i="0">
                <a:solidFill>
                  <a:srgbClr val="1A1F24"/>
                </a:solidFill>
                <a:latin typeface="DejaVu Sans"/>
              </a:rPr>
              <a:t>Դասընթացի ընտրության կանոնը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188720"/>
            <a:ext cx="1371600" cy="571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1353312"/>
            <a:ext cx="1087495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30" b="0" i="1">
                <a:solidFill>
                  <a:srgbClr val="6B7680"/>
                </a:solidFill>
                <a:latin typeface="DejaVu Sans"/>
              </a:rPr>
              <a:t>Մեջբերում ձեր սեփական կիսամյակային պլանից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2148840"/>
            <a:ext cx="10874959" cy="1371600"/>
          </a:xfrm>
          <a:prstGeom prst="roundRect">
            <a:avLst>
              <a:gd name="adj" fmla="val 10000"/>
            </a:avLst>
          </a:prstGeom>
          <a:solidFill>
            <a:srgbClr val="1A1F24"/>
          </a:solidFill>
          <a:ln w="381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2300" b="1">
                <a:solidFill>
                  <a:srgbClr val="F7F5F1"/>
                </a:solidFill>
                <a:latin typeface="DejaVu Sans"/>
              </a:rPr>
              <a:t>«Խուսափե՛ք սարք ընտրելուց միայն այն պատճառով, որ Arduino գրադարան կա.</a:t>
            </a:r>
          </a:p>
          <a:p>
            <a:pPr algn="ctr"/>
            <a:r>
              <a:rPr sz="2300" b="1">
                <a:solidFill>
                  <a:srgbClr val="F7F5F1"/>
                </a:solidFill>
                <a:latin typeface="DejaVu Sans"/>
              </a:rPr>
              <a:t>ուսանողները պետք է տեսնեն հիմքում ընկած կարգավորումն ու տվյալների ուղին»։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3794760"/>
            <a:ext cx="1087495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30" b="1" i="0">
                <a:solidFill>
                  <a:srgbClr val="C0392B"/>
                </a:solidFill>
                <a:latin typeface="DejaVu Sans"/>
              </a:rPr>
              <a:t>Սարք Ա-ն գրադարան ուներ։ Սարք Ա-ն չի կատարում խնդիրը։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4526280"/>
            <a:ext cx="1087495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1A1F24"/>
                </a:solidFill>
                <a:latin typeface="DejaVu Sans"/>
              </a:rPr>
              <a:t>Ինչի հիման վրա ընտրել՝ սարքեր, որոնք բացահայտում են ինժեներությունը.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4983480"/>
            <a:ext cx="2606040" cy="457200"/>
          </a:xfrm>
          <a:prstGeom prst="roundRect">
            <a:avLst>
              <a:gd name="adj" fmla="val 10000"/>
            </a:avLst>
          </a:prstGeom>
          <a:solidFill>
            <a:srgbClr val="DCEDEF"/>
          </a:solidFill>
          <a:ln w="15875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50" b="1">
                <a:solidFill>
                  <a:srgbClr val="1A1F24"/>
                </a:solidFill>
                <a:latin typeface="DejaVu Sans"/>
              </a:rPr>
              <a:t>ընտրելի տիրույթ և ODR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47288" y="4983480"/>
            <a:ext cx="2606040" cy="457200"/>
          </a:xfrm>
          <a:prstGeom prst="roundRect">
            <a:avLst>
              <a:gd name="adj" fmla="val 10000"/>
            </a:avLst>
          </a:prstGeom>
          <a:solidFill>
            <a:srgbClr val="DCEDEF"/>
          </a:solidFill>
          <a:ln w="15875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150" b="1">
                <a:solidFill>
                  <a:srgbClr val="1A1F24"/>
                </a:solidFill>
                <a:latin typeface="DejaVu Sans"/>
              </a:rPr>
              <a:t>փաստաթղթավորված թողունակություն և աղմուկ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36208" y="4983480"/>
            <a:ext cx="2606040" cy="457200"/>
          </a:xfrm>
          <a:prstGeom prst="roundRect">
            <a:avLst>
              <a:gd name="adj" fmla="val 10000"/>
            </a:avLst>
          </a:prstGeom>
          <a:solidFill>
            <a:srgbClr val="DCEDEF"/>
          </a:solidFill>
          <a:ln w="15875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100" b="1">
                <a:solidFill>
                  <a:srgbClr val="1A1F24"/>
                </a:solidFill>
                <a:latin typeface="DejaVu Sans"/>
              </a:rPr>
              <a:t>ինքնաստուգում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025128" y="4983480"/>
            <a:ext cx="2606040" cy="457200"/>
          </a:xfrm>
          <a:prstGeom prst="roundRect">
            <a:avLst>
              <a:gd name="adj" fmla="val 10000"/>
            </a:avLst>
          </a:prstGeom>
          <a:solidFill>
            <a:srgbClr val="DCEDEF"/>
          </a:solidFill>
          <a:ln w="15875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080" b="1">
                <a:solidFill>
                  <a:srgbClr val="1A1F24"/>
                </a:solidFill>
                <a:latin typeface="DejaVu Sans"/>
              </a:rPr>
              <a:t>տվյալի պատրաստության ընդհատում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58368" y="5532120"/>
            <a:ext cx="2606040" cy="457200"/>
          </a:xfrm>
          <a:prstGeom prst="roundRect">
            <a:avLst>
              <a:gd name="adj" fmla="val 10000"/>
            </a:avLst>
          </a:prstGeom>
          <a:solidFill>
            <a:srgbClr val="DCEDEF"/>
          </a:solidFill>
          <a:ln w="15875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50" b="1">
                <a:solidFill>
                  <a:srgbClr val="1A1F24"/>
                </a:solidFill>
                <a:latin typeface="DejaVu Sans"/>
              </a:rPr>
              <a:t>FIFO, որտեղ տեղին է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447288" y="5532120"/>
            <a:ext cx="2606040" cy="457200"/>
          </a:xfrm>
          <a:prstGeom prst="roundRect">
            <a:avLst>
              <a:gd name="adj" fmla="val 10000"/>
            </a:avLst>
          </a:prstGeom>
          <a:solidFill>
            <a:srgbClr val="DCEDEF"/>
          </a:solidFill>
          <a:ln w="15875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50" b="1">
                <a:solidFill>
                  <a:srgbClr val="1A1F24"/>
                </a:solidFill>
                <a:latin typeface="DejaVu Sans"/>
              </a:rPr>
              <a:t>հասանելի ռեգիստրների քարտեզ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36208" y="5532120"/>
            <a:ext cx="2606040" cy="457200"/>
          </a:xfrm>
          <a:prstGeom prst="roundRect">
            <a:avLst>
              <a:gd name="adj" fmla="val 10000"/>
            </a:avLst>
          </a:prstGeom>
          <a:solidFill>
            <a:srgbClr val="DCEDEF"/>
          </a:solidFill>
          <a:ln w="15875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50" b="1">
                <a:solidFill>
                  <a:srgbClr val="1A1F24"/>
                </a:solidFill>
                <a:latin typeface="DejaVu Sans"/>
              </a:rPr>
              <a:t>ամբողջական datasheet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640080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6B7680"/>
                </a:solidFill>
                <a:latin typeface="DejaVu Sans"/>
              </a:rPr>
              <a:t>MEMS և տվիչներ  ·  Դասախոսություն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18927" y="640080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 i="0">
                <a:solidFill>
                  <a:srgbClr val="6B7680"/>
                </a:solidFill>
                <a:latin typeface="Arial"/>
              </a:rPr>
              <a:t>31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475488"/>
            <a:ext cx="10874959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 i="0">
                <a:solidFill>
                  <a:srgbClr val="1A1F24"/>
                </a:solidFill>
                <a:latin typeface="DejaVu Sans"/>
              </a:rPr>
              <a:t>Չորս բան՝ հիշելու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188720"/>
            <a:ext cx="1371600" cy="571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1874519"/>
            <a:ext cx="685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 i="0">
                <a:solidFill>
                  <a:srgbClr val="DCEDEF"/>
                </a:solidFill>
                <a:latin typeface="Courier New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35608" y="1856231"/>
            <a:ext cx="102412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1" i="0">
                <a:solidFill>
                  <a:srgbClr val="1A1F24"/>
                </a:solidFill>
                <a:latin typeface="DejaVu Sans"/>
              </a:rPr>
              <a:t>Պահանջը վերածե՛ք թվի, մինչ որևէ datasheet կարդալը։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35608" y="2258567"/>
            <a:ext cx="10241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6B7680"/>
                </a:solidFill>
                <a:latin typeface="DejaVu Sans"/>
              </a:rPr>
              <a:t>0.5°-ը դարձավ 8.73 mg, և 8.73 mg-ը որոշեց հետագա ամեն ինչ։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2898647"/>
            <a:ext cx="685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 i="0">
                <a:solidFill>
                  <a:srgbClr val="DCEDEF"/>
                </a:solidFill>
                <a:latin typeface="Courier New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35608" y="2880359"/>
            <a:ext cx="102412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1" i="0">
                <a:solidFill>
                  <a:srgbClr val="1A1F24"/>
                </a:solidFill>
                <a:latin typeface="DejaVu Sans"/>
              </a:rPr>
              <a:t>Գտե՛ք գերիշխող բաղադրիչը։ Մնացած ամեն ինչ զարդարանք է։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35608" y="3282695"/>
            <a:ext cx="10241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80" b="0" i="0">
                <a:solidFill>
                  <a:srgbClr val="6B7680"/>
                </a:solidFill>
                <a:latin typeface="DejaVu Sans"/>
              </a:rPr>
              <a:t>10 mg-ը և 0.7 mg-ը միասին տալիս են 10.02 mg։ Փոքր բաղադրիչը երբեք նշանակություն չուներ։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3922775"/>
            <a:ext cx="685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 i="0">
                <a:solidFill>
                  <a:srgbClr val="DCEDEF"/>
                </a:solidFill>
                <a:latin typeface="Courier New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35608" y="3904487"/>
            <a:ext cx="102412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1" i="0">
                <a:solidFill>
                  <a:srgbClr val="1A1F24"/>
                </a:solidFill>
                <a:latin typeface="DejaVu Sans"/>
              </a:rPr>
              <a:t>Լուծունակությունը ճշտություն չէ, ոչ էլ ճշգրտությունը։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35608" y="4306823"/>
            <a:ext cx="10241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6B7680"/>
                </a:solidFill>
                <a:latin typeface="DejaVu Sans"/>
              </a:rPr>
              <a:t>Համակարգային → ստուգաչափում։ Պատահական → թողունակություն։ Շեղում → բաղադրիչի ընտրություն։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" y="4946903"/>
            <a:ext cx="685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 i="0">
                <a:solidFill>
                  <a:srgbClr val="DCEDEF"/>
                </a:solidFill>
                <a:latin typeface="Courier New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35608" y="4928615"/>
            <a:ext cx="102412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1" i="0">
                <a:solidFill>
                  <a:srgbClr val="1A1F24"/>
                </a:solidFill>
                <a:latin typeface="DejaVu Sans"/>
              </a:rPr>
              <a:t>Թիվը առանց իր պայմանների թիվ չէ։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35608" y="5330951"/>
            <a:ext cx="10241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6B7680"/>
                </a:solidFill>
                <a:latin typeface="DejaVu Sans"/>
              </a:rPr>
              <a:t>typ 25 °C-ում երաշխիք չէ, իսկ չնշված գործակիցը անսահմանափակ է։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640080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6B7680"/>
                </a:solidFill>
                <a:latin typeface="DejaVu Sans"/>
              </a:rPr>
              <a:t>MEMS և տվիչներ  ·  Դասախոսություն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18927" y="640080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 i="0">
                <a:solidFill>
                  <a:srgbClr val="6B7680"/>
                </a:solidFill>
                <a:latin typeface="Arial"/>
              </a:rPr>
              <a:t>32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475488"/>
            <a:ext cx="10874959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 i="0">
                <a:solidFill>
                  <a:srgbClr val="1A1F24"/>
                </a:solidFill>
                <a:latin typeface="DejaVu Sans"/>
              </a:rPr>
              <a:t>Ելքի տոմս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188720"/>
            <a:ext cx="1371600" cy="571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1353312"/>
            <a:ext cx="1087495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1">
                <a:solidFill>
                  <a:srgbClr val="6B7680"/>
                </a:solidFill>
                <a:latin typeface="DejaVu Sans"/>
              </a:rPr>
              <a:t>Անանուն · հանձնե՛ք դռան մոտ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965960"/>
            <a:ext cx="3520440" cy="621792"/>
          </a:xfrm>
          <a:prstGeom prst="roundRect">
            <a:avLst>
              <a:gd name="adj" fmla="val 10000"/>
            </a:avLst>
          </a:prstGeom>
          <a:solidFill>
            <a:srgbClr val="0E7C86"/>
          </a:solidFill>
          <a:ln w="15875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650" b="1">
                <a:solidFill>
                  <a:srgbClr val="F7F5F1"/>
                </a:solidFill>
                <a:latin typeface="DejaVu Sans"/>
              </a:rPr>
              <a:t>1  ·  ՀԱՇՎԵ՛Ք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8096" y="2834640"/>
            <a:ext cx="333756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1A1F24"/>
                </a:solidFill>
                <a:latin typeface="DejaVu Sans"/>
              </a:rPr>
              <a:t>Տվիչը տալիս է 200 µg/√Hz։</a:t>
            </a:r>
          </a:p>
          <a:p>
            <a:pPr algn="l">
              <a:lnSpc>
                <a:spcPct val="140000"/>
              </a:lnSpc>
            </a:pPr>
            <a:r>
              <a:rPr sz="1440" b="0" i="0">
                <a:solidFill>
                  <a:srgbClr val="1A1F24"/>
                </a:solidFill>
                <a:latin typeface="DejaVu Sans"/>
              </a:rPr>
              <a:t>Դուք սահմանում եք 100 Hz թողունակություն։</a:t>
            </a:r>
          </a:p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1A1F24"/>
                </a:solidFill>
                <a:latin typeface="Arial"/>
              </a:rPr>
              <a:t/>
            </a:r>
          </a:p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1A1F24"/>
                </a:solidFill>
                <a:latin typeface="DejaVu Sans"/>
              </a:rPr>
              <a:t>Նշե՛ք RMS աղմուկը։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15968" y="1965960"/>
            <a:ext cx="3520440" cy="621792"/>
          </a:xfrm>
          <a:prstGeom prst="roundRect">
            <a:avLst>
              <a:gd name="adj" fmla="val 10000"/>
            </a:avLst>
          </a:prstGeom>
          <a:solidFill>
            <a:srgbClr val="D98324"/>
          </a:solidFill>
          <a:ln w="15875">
            <a:solidFill>
              <a:srgbClr val="D983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90" b="1">
                <a:solidFill>
                  <a:srgbClr val="1A1F24"/>
                </a:solidFill>
                <a:latin typeface="DejaVu Sans"/>
              </a:rPr>
              <a:t>2  ·  ԴԱՏՈՂՈՒԹՅՈՒՆ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25696" y="2834640"/>
            <a:ext cx="333756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1A1F24"/>
                </a:solidFill>
                <a:latin typeface="DejaVu Sans"/>
              </a:rPr>
              <a:t>Նշե՛ք այն մեկ բնութագիրը, որը</a:t>
            </a:r>
          </a:p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1A1F24"/>
                </a:solidFill>
                <a:latin typeface="DejaVu Sans"/>
              </a:rPr>
              <a:t>առաջինը կփնտրեք ձեր ողջ</a:t>
            </a:r>
          </a:p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1A1F24"/>
                </a:solidFill>
                <a:latin typeface="DejaVu Sans"/>
              </a:rPr>
              <a:t>կարիերայի ընթացքում, մինչ</a:t>
            </a:r>
          </a:p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1A1F24"/>
                </a:solidFill>
                <a:latin typeface="DejaVu Sans"/>
              </a:rPr>
              <a:t>վերնագրային թիվը։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973568" y="1965960"/>
            <a:ext cx="3520440" cy="621792"/>
          </a:xfrm>
          <a:prstGeom prst="roundRect">
            <a:avLst>
              <a:gd name="adj" fmla="val 10000"/>
            </a:avLst>
          </a:prstGeom>
          <a:solidFill>
            <a:srgbClr val="6B7680"/>
          </a:solidFill>
          <a:ln w="15875">
            <a:solidFill>
              <a:srgbClr val="6B76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1">
                <a:solidFill>
                  <a:srgbClr val="F7F5F1"/>
                </a:solidFill>
                <a:latin typeface="DejaVu Sans"/>
              </a:rPr>
              <a:t>3  ·  ԱՄԵՆԱԱՆՀԱՍԿԱՆԱԼԻ ԿԵՏԸ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83296" y="2834640"/>
            <a:ext cx="333756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1A1F24"/>
                </a:solidFill>
                <a:latin typeface="DejaVu Sans"/>
              </a:rPr>
              <a:t>Ո՞րն է այսօրվա այն մեկ բանը,</a:t>
            </a:r>
          </a:p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1A1F24"/>
                </a:solidFill>
                <a:latin typeface="DejaVu Sans"/>
              </a:rPr>
              <a:t>որում ամենաքիչ վստահ եք</a:t>
            </a:r>
          </a:p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1A1F24"/>
                </a:solidFill>
                <a:latin typeface="Arial"/>
              </a:rPr>
              <a:t/>
            </a:r>
          </a:p>
          <a:p>
            <a:pPr algn="l">
              <a:lnSpc>
                <a:spcPct val="140000"/>
              </a:lnSpc>
            </a:pPr>
            <a:r>
              <a:rPr sz="1460" b="0" i="0">
                <a:solidFill>
                  <a:srgbClr val="1A1F24"/>
                </a:solidFill>
                <a:latin typeface="DejaVu Sans"/>
              </a:rPr>
              <a:t>Մեկ նախադասություն։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5257800"/>
            <a:ext cx="10874959" cy="685800"/>
          </a:xfrm>
          <a:prstGeom prst="roundRect">
            <a:avLst>
              <a:gd name="adj" fmla="val 10000"/>
            </a:avLst>
          </a:prstGeom>
          <a:solidFill>
            <a:srgbClr val="F7F5F1"/>
          </a:solidFill>
          <a:ln w="15875">
            <a:solidFill>
              <a:srgbClr val="6B76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800" b="1">
                <a:solidFill>
                  <a:srgbClr val="1A1F24"/>
                </a:solidFill>
                <a:latin typeface="DejaVu Sans"/>
              </a:rPr>
              <a:t>1-ին հարցով ես գնահատում եմ ինքս ինձ։ Եթե լսարանը չի կարողանում, նշանակում է վատ եմ դասավանդել։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640080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7A848C"/>
                </a:solidFill>
                <a:latin typeface="DejaVu Sans"/>
              </a:rPr>
              <a:t>MEMS և տվիչներ  ·  Դասախոսություն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18927" y="640080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 i="0">
                <a:solidFill>
                  <a:srgbClr val="7A848C"/>
                </a:solidFill>
                <a:latin typeface="Arial"/>
              </a:rPr>
              <a:t>33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74320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60" b="1" i="0">
                <a:solidFill>
                  <a:srgbClr val="0E7C86"/>
                </a:solidFill>
                <a:latin typeface="DejaVu Sans"/>
              </a:rPr>
              <a:t>ՀԱՋՈՐԴԸ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234440"/>
            <a:ext cx="100584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529" b="1" i="0">
                <a:solidFill>
                  <a:srgbClr val="F7F5F1"/>
                </a:solidFill>
                <a:latin typeface="DejaVu Sans"/>
              </a:rPr>
              <a:t>Երեքշաբթի. Լաբորատորիա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201168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310" b="1" i="0">
                <a:solidFill>
                  <a:srgbClr val="0E7C86"/>
                </a:solidFill>
                <a:latin typeface="DejaVu Sans"/>
              </a:rPr>
              <a:t>Datasheet-ից տվյալ — բերե՛ք նախալաբորատոր թերթը, ստորագրված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2697480"/>
            <a:ext cx="1060704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B8C0C6"/>
                </a:solidFill>
                <a:latin typeface="DejaVu Sans"/>
              </a:rPr>
              <a:t>Որսի ժամանակ արդեն գտել եք 5-րդը՝ սարքի նույնականացման ռեգիստրը։</a:t>
            </a:r>
          </a:p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B8C0C6"/>
                </a:solidFill>
                <a:latin typeface="DejaVu Sans"/>
              </a:rPr>
              <a:t>Երեքշաբթի կկարդաք այն իրական բյուրեղից — և կապացուցեք, որ ձեր տվիչը</a:t>
            </a:r>
          </a:p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B8C0C6"/>
                </a:solidFill>
                <a:latin typeface="DejaVu Sans"/>
              </a:rPr>
              <a:t>հենց այն տվիչն է։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4069080"/>
            <a:ext cx="1371600" cy="50800"/>
          </a:xfrm>
          <a:prstGeom prst="rect">
            <a:avLst/>
          </a:prstGeom>
          <a:solidFill>
            <a:srgbClr val="D983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4370832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D98324"/>
                </a:solidFill>
                <a:latin typeface="DejaVu Sans"/>
              </a:rPr>
              <a:t>ԵՎ ԱՊԱ՝ ԴԱՍԱԽՈՍՈՒԹՅՈՒՆ 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4754880"/>
            <a:ext cx="103327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7F5F1"/>
                </a:solidFill>
                <a:latin typeface="DejaVu Sans"/>
              </a:rPr>
              <a:t>Ֆիզիկական մեծությունից մինչև վստահելի նմուշներ — նմուշառում, ալիասինգ,</a:t>
            </a:r>
          </a:p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7F5F1"/>
                </a:solidFill>
                <a:latin typeface="DejaVu Sans"/>
              </a:rPr>
              <a:t>քվանտացում, և ԱԹԿ-ի կարգավորումը, որը սպանեց շարժիչը։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