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THE BELL: have the muddiest-point list from Lecture 1 in front of you, and</a:t>
            </a:r>
          </a:p>
          <a:p>
            <a:r>
              <a:t>have two real datasheets ready — printed, or on the students' laptops.</a:t>
            </a:r>
          </a:p>
          <a:p/>
          <a:p>
            <a:r>
              <a:t>Open with the muddiest points (next slide). Do not skip it: answering last week's</a:t>
            </a:r>
          </a:p>
          <a:p>
            <a:r>
              <a:t>confusions in the first two minutes is the single highest-return habit available</a:t>
            </a:r>
          </a:p>
          <a:p>
            <a:r>
              <a:t>to you, and in a first offering it is also how you find out what is not landing.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0:00–0:02. TEMPLATE SLIDE — you must fill it in before class.</a:t>
            </a:r>
          </a:p>
          <a:p/>
          <a:p>
            <a:r>
              <a:t>Transcribe the three most frequent muddiest points from Lecture 1's exit tickets</a:t>
            </a:r>
          </a:p>
          <a:p>
            <a:r>
              <a:t>and answer each in about 25 seconds. Name the concept, never the student.</a:t>
            </a:r>
          </a:p>
          <a:p/>
          <a:p>
            <a:r>
              <a:t>If the tickets show that scaling (Poll 3) is still unresolved for a large part of</a:t>
            </a:r>
          </a:p>
          <a:p>
            <a:r>
              <a:t>the room, put k ∝ L and m ∝ L³ back on the board now and leave them there — you</a:t>
            </a:r>
          </a:p>
          <a:p>
            <a:r>
              <a:t>will want them again when noise density comes up at minute 50.</a:t>
            </a:r>
          </a:p>
          <a:p/>
          <a:p>
            <a:r>
              <a:t>If you genuinely received no useful tickets, delete this slide rather than</a:t>
            </a:r>
          </a:p>
          <a:p>
            <a:r>
              <a:t>improvising; a hollow version of this ritual is worse than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0:02–0:05. RETRIEVAL PRACTICE, not review. Ask before you show:</a:t>
            </a:r>
          </a:p>
          <a:p/>
          <a:p>
            <a:r>
              <a:t>"Without looking at your sheet — name the seven stages." Take them from the room,</a:t>
            </a:r>
          </a:p>
          <a:p>
            <a:r>
              <a:t>in order, one student per stage. It costs 90 seconds and it is worth more than</a:t>
            </a:r>
          </a:p>
          <a:p>
            <a:r>
              <a:t>re-explaining the diagram.</a:t>
            </a:r>
          </a:p>
          <a:p/>
          <a:p>
            <a:r>
              <a:t>Then: "Today is stage 3 — the device itself. But notice: we are choosing it</a:t>
            </a:r>
          </a:p>
          <a:p>
            <a:r>
              <a:t>before we have it. The only tools available are a document and arithmetic."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0:05–0:07. Show ONLY these two cards. Resist adding anything.</a:t>
            </a:r>
          </a:p>
          <a:p/>
          <a:p>
            <a:r>
              <a:t>Read the two cards aloud, deadpan. Part A: eight times finer resolution, lower</a:t>
            </a:r>
          </a:p>
          <a:p>
            <a:r>
              <a:t>price, and a marketing line. Part B: coarser, more expensive, nothing to say for</a:t>
            </a:r>
          </a:p>
          <a:p>
            <a:r>
              <a:t>itself.</a:t>
            </a:r>
          </a:p>
          <a:p/>
          <a:p>
            <a:r>
              <a:t>Then the job, and then the poll — immediately, before anyone can think too hard.</a:t>
            </a:r>
          </a:p>
          <a:p/>
          <a:p>
            <a:r>
              <a:t>NOTE: these are representative commercial figures, not a named product, chosen so</a:t>
            </a:r>
          </a:p>
          <a:p>
            <a:r>
              <a:t>the arithmetic is exact. Say so if a student asks — and praise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0:07–0:10. Baseline. Expect a clear majority for A (misconceptions M1</a:t>
            </a:r>
          </a:p>
          <a:p>
            <a:r>
              <a:t>and M5 — resolution read as accuracy, headline read as truth).</a:t>
            </a:r>
          </a:p>
          <a:p/>
          <a:p>
            <a:r>
              <a:t>Do NOT reveal. Record the distribution; you re-show it at minute 70.</a:t>
            </a:r>
          </a:p>
          <a:p/>
          <a:p>
            <a:r>
              <a:t>If a sizeable group picks C, that is excellent — say "some of you are already</a:t>
            </a:r>
          </a:p>
          <a:p>
            <a:r>
              <a:t>being careful, and you are right, but hold on to why."</a:t>
            </a:r>
          </a:p>
          <a:p/>
          <a:p>
            <a:r>
              <a:t>Then set the agenda: "By minute fifty you will have computed the answer</a:t>
            </a:r>
          </a:p>
          <a:p>
            <a:r>
              <a:t>yourselves. Everything between here and there is the equipment you need."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0:10–0:13. WRITE 8.73 mg ON THE PHYSICAL BOARD AND DO NOT ERASE IT.</a:t>
            </a:r>
          </a:p>
          <a:p>
            <a:r>
              <a:t>You will point at it at least six times in the next hour.</a:t>
            </a:r>
          </a:p>
          <a:p/>
          <a:p>
            <a:r>
              <a:t>Derive it live — it takes fifteen seconds and it models the habit: "a tilted</a:t>
            </a:r>
          </a:p>
          <a:p>
            <a:r>
              <a:t>accelerometer sees a component of gravity, so half a degree is sin(0.5°) of one</a:t>
            </a:r>
          </a:p>
          <a:p>
            <a:r>
              <a:t>g. Eight and three-quarter milli-g. That is the whole signal."</a:t>
            </a:r>
          </a:p>
          <a:p/>
          <a:p>
            <a:r>
              <a:t>Then the sentence that makes the rest of the lecture make sense: "This single</a:t>
            </a:r>
          </a:p>
          <a:p>
            <a:r>
              <a:t>number converts 'which is better?' — which is an opinion — into arithmetic."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0:13. Section marker, 15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0:13–0:18.</a:t>
            </a:r>
          </a:p>
          <a:p/>
          <a:p>
            <a:r>
              <a:t>Work left to right, but spend your time on the SECOND target — precise but</a:t>
            </a:r>
          </a:p>
          <a:p>
            <a:r>
              <a:t>inaccurate. "This is the dangerous instrument. It looks superb. Every reading</a:t>
            </a:r>
          </a:p>
          <a:p>
            <a:r>
              <a:t>agrees with every other reading. And they are all wrong by the same amount."</a:t>
            </a:r>
          </a:p>
          <a:p/>
          <a:p>
            <a:r>
              <a:t>Then the question that carries the rest of the lecture — ask it, take answers:</a:t>
            </a:r>
          </a:p>
          <a:p>
            <a:r>
              <a:t>"Which of these four can I fix with a calibration?"</a:t>
            </a:r>
          </a:p>
          <a:p/>
          <a:p>
            <a:r>
              <a:t>Answer: target 2, completely (measure the offset once, subtract it). Target 3,</a:t>
            </a:r>
          </a:p>
          <a:p>
            <a:r>
              <a:t>not at all by calibration — only by averaging, and averaging costs bandwidth.</a:t>
            </a:r>
          </a:p>
          <a:p/>
          <a:p>
            <a:r>
              <a:t>Add resolution verbally: "Resolution is not on this picture at all. Resolution</a:t>
            </a:r>
          </a:p>
          <a:p>
            <a:r>
              <a:t>is how finely I can report where the shot landed. I can report a wrong position</a:t>
            </a:r>
          </a:p>
          <a:p>
            <a:r>
              <a:t>to six decimal places." (Misconception M1.)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0:18–0:22. TARGET 45–65 % first vote.</a:t>
            </a:r>
          </a:p>
          <a:p/>
          <a:p>
            <a:r>
              <a:t>Full peer instruction: silent vote (45 s) → find a disagreeing partner (90 s) →</a:t>
            </a:r>
          </a:p>
          <a:p>
            <a:r>
              <a:t>re-vote. Announce both percentages.</a:t>
            </a:r>
          </a:p>
          <a:p/>
          <a:p>
            <a:r>
              <a:t>C is the target distractor: a 0.2 hPa spread LOOKS like quality. It is quality —</a:t>
            </a:r>
          </a:p>
          <a:p>
            <a:r>
              <a:t>of the wrong kind. The device is 12.4 hPa wrong and beautifully consistent</a:t>
            </a:r>
          </a:p>
          <a:p>
            <a:r>
              <a:t>about it.</a:t>
            </a:r>
          </a:p>
          <a:p/>
          <a:p>
            <a:r>
              <a:t>RECORD BOTH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Reveal, then IMMEDIATELY ask the follow-up (show of hands, no device):</a:t>
            </a:r>
          </a:p>
          <a:p/>
          <a:p>
            <a:r>
              <a:t>  "Which of these two problems can I fix with a calibration?"</a:t>
            </a:r>
          </a:p>
          <a:p/>
          <a:p>
            <a:r>
              <a:t>The 12.4 hPa offset — YES, single-point calibration against a reference.</a:t>
            </a:r>
          </a:p>
          <a:p>
            <a:r>
              <a:t>The 0.2 hPa scatter — NO. Not removable, only reducible by averaging, and</a:t>
            </a:r>
          </a:p>
          <a:p>
            <a:r>
              <a:t>averaging costs you bandwidth.</a:t>
            </a:r>
          </a:p>
          <a:p/>
          <a:p>
            <a:r>
              <a:t>Then the rule on the next slide. This is the most portable thing in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0:22–0:25. Read the three headlines. Then the third line again, slowly.</a:t>
            </a:r>
          </a:p>
          <a:p/>
          <a:p>
            <a:r>
              <a:t>"Drift is the one that ruins careers, because it passes every test you run on</a:t>
            </a:r>
          </a:p>
          <a:p>
            <a:r>
              <a:t>the bench at 22 degrees and fails in the field in February."</a:t>
            </a:r>
          </a:p>
          <a:p/>
          <a:p>
            <a:r>
              <a:t>That sentence is the bridge to the reveal at minute 70. Plant it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0:25–0:28. DO NOT READ THIS SLIDE OUT. It is a reference page; say so.</a:t>
            </a:r>
          </a:p>
          <a:p/>
          <a:p>
            <a:r>
              <a:t>Point at exactly two entries:</a:t>
            </a:r>
          </a:p>
          <a:p/>
          <a:p>
            <a:r>
              <a:t>ODR is not bandwidth. "A sensor can hand you 200 numbers a second while telling</a:t>
            </a:r>
          </a:p>
          <a:p>
            <a:r>
              <a:t>you nothing above 50 Hz. Students lose a whole afternoon to this every year, and</a:t>
            </a:r>
          </a:p>
          <a:p>
            <a:r>
              <a:t>in Poll 3 I am going to catch some of you with it."</a:t>
            </a:r>
          </a:p>
          <a:p/>
          <a:p>
            <a:r>
              <a:t>Cross-sensitivity: "an accelerometer that reports Z when you shake it in X. Every</a:t>
            </a:r>
          </a:p>
          <a:p>
            <a:r>
              <a:t>real device does this. We come back to it in ten minutes with a question your</a:t>
            </a:r>
          </a:p>
          <a:p>
            <a:r>
              <a:t>datasheet cannot answer."</a:t>
            </a:r>
          </a:p>
          <a:p/>
          <a:p>
            <a:r>
              <a:t>Tell them this slide is in the handout so nobody transcribes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0:28. Section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0:28–0:33. This is a REPRESENTATIVE extract, built to look exactly like</a:t>
            </a:r>
          </a:p>
          <a:p>
            <a:r>
              <a:t>the ones they are about to open. Say that.</a:t>
            </a:r>
          </a:p>
          <a:p/>
          <a:p>
            <a:r>
              <a:t>Teach the reading order explicitly, right to left: "Column six. Then column one.</a:t>
            </a:r>
          </a:p>
          <a:p>
            <a:r>
              <a:t>Then, last, the number. Most people read it in exactly the opposite order and</a:t>
            </a:r>
          </a:p>
          <a:p>
            <a:r>
              <a:t>that is how they get surprised in February."</a:t>
            </a:r>
          </a:p>
          <a:p/>
          <a:p>
            <a:r>
              <a:t>The two red points are the lesson. On "typ": "typ means half the parts are worse.</a:t>
            </a:r>
          </a:p>
          <a:p>
            <a:r>
              <a:t>If your design only works with a typ part, half your production does not work."</a:t>
            </a:r>
          </a:p>
          <a:p/>
          <a:p>
            <a:r>
              <a:t>Now hand out the datasheets.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0:33–0:41. Use the ACTUAL device from the lab kit so the skill transfers</a:t>
            </a:r>
          </a:p>
          <a:p>
            <a:r>
              <a:t>directly to Lab 1 in week 2.</a:t>
            </a:r>
          </a:p>
          <a:p/>
          <a:p>
            <a:r>
              <a:t>Circulate. Do not answer "where is it?" — answer "which section would a</a:t>
            </a:r>
          </a:p>
          <a:p>
            <a:r>
              <a:t>manufacturer put that in?"</a:t>
            </a:r>
          </a:p>
          <a:p/>
          <a:p>
            <a:r>
              <a:t>Number 4 is the one they will struggle with: the conditions are usually in a</a:t>
            </a:r>
          </a:p>
          <a:p>
            <a:r>
              <a:t>footnote, and the ODR and the bandwidth are different numbers. That struggle IS</a:t>
            </a:r>
          </a:p>
          <a:p>
            <a:r>
              <a:t>the learning; let it happen.</a:t>
            </a:r>
          </a:p>
          <a:p/>
          <a:p>
            <a:r>
              <a:t>Number 5 is the WHO_AM_I register. Point out that they will type this value into</a:t>
            </a:r>
          </a:p>
          <a:p>
            <a:r>
              <a:t>their code on Tuesday.</a:t>
            </a:r>
          </a:p>
          <a:p/>
          <a:p>
            <a:r>
              <a:t>If the class is short on documents: project one page and run it as a whole-class</a:t>
            </a:r>
          </a:p>
          <a:p>
            <a:r>
              <a:t>hunt, calling on pairs for each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0:41–0:44. THE MOST IMPORTANT TWO MINUTES OF THE LECTURE.</a:t>
            </a:r>
          </a:p>
          <a:p/>
          <a:p>
            <a:r>
              <a:t>Let them hunt for it for a genuine 60 seconds before you say anything. Some will</a:t>
            </a:r>
          </a:p>
          <a:p>
            <a:r>
              <a:t>insist it must be there somewhere.</a:t>
            </a:r>
          </a:p>
          <a:p/>
          <a:p>
            <a:r>
              <a:t>Then: "It is not there. And the manufacturer is not being evasive — they cannot</a:t>
            </a:r>
          </a:p>
          <a:p>
            <a:r>
              <a:t>know what your board does to their part."</a:t>
            </a:r>
          </a:p>
          <a:p/>
          <a:p>
            <a:r>
              <a:t>The habit to install, said in the first person: "The datasheet cannot tell me</a:t>
            </a:r>
          </a:p>
          <a:p>
            <a:r>
              <a:t>this. I must measure it on my own assembled board."</a:t>
            </a:r>
          </a:p>
          <a:p/>
          <a:p>
            <a:r>
              <a:t>That is why Lab 3 exists.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0:44–0:46. Genuine state change — everyone stands, hands up, 90 seconds.</a:t>
            </a:r>
          </a:p>
          <a:p/>
          <a:p>
            <a:r>
              <a:t>The usual winner is noise density (number 4), because its conditions are</a:t>
            </a:r>
          </a:p>
          <a:p>
            <a:r>
              <a:t>buried in a footnote and ODR ≠ bandwidth.</a:t>
            </a:r>
          </a:p>
          <a:p/>
          <a:p>
            <a:r>
              <a:t>Take two answers on WHY, not WHAT. "Because the number was in one place and the</a:t>
            </a:r>
          </a:p>
          <a:p>
            <a:r>
              <a:t>conditions were in another" is the answer you are fishing for.</a:t>
            </a:r>
          </a:p>
          <a:p/>
          <a:p>
            <a:r>
              <a:t>Then land the line and sit them down. Next: the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0:46. Section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0:46–0:52. Do the arithmetic on the board with the units written out in</a:t>
            </a:r>
          </a:p>
          <a:p>
            <a:r>
              <a:t>full. Unit cancellation — not the physics — is what actually blocks students here.</a:t>
            </a:r>
          </a:p>
          <a:p/>
          <a:p>
            <a:r>
              <a:t>Emphasise the ODR trap explicitly before the poll. You WANT them to have been</a:t>
            </a:r>
          </a:p>
          <a:p>
            <a:r>
              <a:t>warned; the ones who still fall for it have a genuine misconception, and that is</a:t>
            </a:r>
          </a:p>
          <a:p>
            <a:r>
              <a:t>the diagnostic you need.</a:t>
            </a:r>
          </a:p>
          <a:p/>
          <a:p>
            <a:r>
              <a:t>The third bullet is the conceptual payoff and it connects straight back to</a:t>
            </a:r>
          </a:p>
          <a:p>
            <a:r>
              <a:t>Lecture 1's motor: bandwidth is a decision with consequences in both directions.</a:t>
            </a:r>
          </a:p>
          <a:p>
            <a:r>
              <a:t>Too little and you miss the signal. Too much and you buy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0:52–0:57. THE MOST DIAGNOSTIC POLL IN THE PILOT. Target 40–60 %.</a:t>
            </a:r>
          </a:p>
          <a:p/>
          <a:p>
            <a:r>
              <a:t>Each distractor is a named procedural error, so the DISTRIBUTION tells you what</a:t>
            </a:r>
          </a:p>
          <a:p>
            <a:r>
              <a:t>to re-teach:</a:t>
            </a:r>
          </a:p>
          <a:p>
            <a:r>
              <a:t>  A — ignored bandwidth entirely</a:t>
            </a:r>
          </a:p>
          <a:p>
            <a:r>
              <a:t>  B — correct: 100 × √50 = 707 µg</a:t>
            </a:r>
          </a:p>
          <a:p>
            <a:r>
              <a:t>  C — used √ODR instead of √bandwidth (the M7 confusion)</a:t>
            </a:r>
          </a:p>
          <a:p>
            <a:r>
              <a:t>  D — multiplied by bandwidth instead of its square root</a:t>
            </a:r>
          </a:p>
          <a:p/>
          <a:p>
            <a:r>
              <a:t>RECORD THE FULL DISTRIBUTION, not just the correct percentage. If C is large,</a:t>
            </a:r>
          </a:p>
          <a:p>
            <a:r>
              <a:t>that is your Lecture 3 opening. If D is large, the blocker is arithmetic, not</a:t>
            </a:r>
          </a:p>
          <a:p>
            <a:r>
              <a:t>sensing — write √Hz on the board with units in full.</a:t>
            </a:r>
          </a:p>
          <a:p/>
          <a:p>
            <a:r>
              <a:t>Peer instruction, then re-vote.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Reveal, then the reframe — this is the pivot of the whole lecture. Say it</a:t>
            </a:r>
          </a:p>
          <a:p>
            <a:r>
              <a:t>almost casually:</a:t>
            </a:r>
          </a:p>
          <a:p/>
          <a:p>
            <a:r>
              <a:t>"We just spent six minutes computing 0.71 mg of noise. Our signal is 8.73 mg.</a:t>
            </a:r>
          </a:p>
          <a:p>
            <a:r>
              <a:t>So noise costs us about eight per cent of the measurand. Annoying. Survivable.</a:t>
            </a:r>
          </a:p>
          <a:p>
            <a:r>
              <a:t>Now let me show you the term nobody computed."</a:t>
            </a:r>
          </a:p>
          <a:p/>
          <a:p>
            <a:r>
              <a:t>Then go straight to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0:57–1:02. Build left to right; the punch is on the right.</a:t>
            </a:r>
          </a:p>
          <a:p/>
          <a:p>
            <a:r>
              <a:t>Quantisation: "Both are a rounding error on a rounding error. Note that Part A's</a:t>
            </a:r>
          </a:p>
          <a:p>
            <a:r>
              <a:t>celebrated eight-times-finer resolution buys it 0.12 mg of advantage on a term</a:t>
            </a:r>
          </a:p>
          <a:p>
            <a:r>
              <a:t>that was already invisible."</a:t>
            </a:r>
          </a:p>
          <a:p/>
          <a:p>
            <a:r>
              <a:t>Offset: "Both fixable. This is the calibration column."</a:t>
            </a:r>
          </a:p>
          <a:p/>
          <a:p>
            <a:r>
              <a:t>Drift: STOP HERE. "Part A's offset moves by ten milli-g across the temperature</a:t>
            </a:r>
          </a:p>
          <a:p>
            <a:r>
              <a:t>range. Our signal is eight point seven three. The error is larger than the</a:t>
            </a:r>
          </a:p>
          <a:p>
            <a:r>
              <a:t>thing being measured — and it appears after you calibrated, so no bench</a:t>
            </a:r>
          </a:p>
          <a:p>
            <a:r>
              <a:t>procedure catches it."</a:t>
            </a:r>
          </a:p>
          <a:p/>
          <a:p>
            <a:r>
              <a:t>Ask the room: "Which of the three columns did the front page mention?"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1:02–1:06. Reveal row by row if your tooling allows; otherwise walk down</a:t>
            </a:r>
          </a:p>
          <a:p>
            <a:r>
              <a:t>with the cursor and make them predict the total before you say it.</a:t>
            </a:r>
          </a:p>
          <a:p/>
          <a:p>
            <a:r>
              <a:t>Say the RSS rule and why: independent random terms add in quadrature, so the</a:t>
            </a:r>
          </a:p>
          <a:p>
            <a:r>
              <a:t>LARGEST term dominates completely. 10 and 0.7 combine to 10.03 — the noise</a:t>
            </a:r>
          </a:p>
          <a:p>
            <a:r>
              <a:t>term you spent six minutes on has changed the answer by three hundredths.</a:t>
            </a:r>
          </a:p>
          <a:p/>
          <a:p>
            <a:r>
              <a:t>"That is the most important lesson in error budgeting: find the biggest term</a:t>
            </a:r>
          </a:p>
          <a:p>
            <a:r>
              <a:t>first. Everything else is decoration."</a:t>
            </a:r>
          </a:p>
          <a:p/>
          <a:p>
            <a:r>
              <a:t>Then the two bottom rows, slowly. FAILS. Passes with fourfold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1:06–1:08. Show the minute-7 distribution next to this. The shift is the</a:t>
            </a:r>
          </a:p>
          <a:p>
            <a:r>
              <a:t>lecture's evidence that it worked.</a:t>
            </a:r>
          </a:p>
          <a:p/>
          <a:p>
            <a:r>
              <a:t>Say both halves explicitly — this is the professional habit, not a trick:</a:t>
            </a:r>
          </a:p>
          <a:p/>
          <a:p>
            <a:r>
              <a:t>"If you chose C at minute seven, you were right, and you were right for the best</a:t>
            </a:r>
          </a:p>
          <a:p>
            <a:r>
              <a:t>possible reason: you knew you could not decide. If you chose A, you were doing</a:t>
            </a:r>
          </a:p>
          <a:p>
            <a:r>
              <a:t>what most engineers do — reading the headline. And if you now choose B, you can</a:t>
            </a:r>
          </a:p>
          <a:p>
            <a:r>
              <a:t>defend it with a number, which is the only defence that survives a design</a:t>
            </a:r>
          </a:p>
          <a:p>
            <a:r>
              <a:t>review."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1:08–1:09. Silence, then read once.</a:t>
            </a:r>
          </a:p>
          <a:p/>
          <a:p>
            <a:r>
              <a:t>Optional, if the room is with you: "And Part A was cheaper, and had a library.</a:t>
            </a:r>
          </a:p>
          <a:p>
            <a:r>
              <a:t>Every incentive pointed at the wrong part."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1:09–1:15. Teams of three, 8 minutes, one sheet. Circulate.</a:t>
            </a:r>
          </a:p>
          <a:p/>
          <a:p>
            <a:r>
              <a:t>Two teams read their sentence aloud. Insist on the form: Part, then the dominant</a:t>
            </a:r>
          </a:p>
          <a:p>
            <a:r>
              <a:t>term. "Because it is better" is not an answer.</a:t>
            </a:r>
          </a:p>
          <a:p/>
          <a:p>
            <a:r>
              <a:t>IF A TEAM CHOOSES C: do not correct it — ask "what did the customer get for the</a:t>
            </a:r>
          </a:p>
          <a:p>
            <a:r>
              <a:t>extra €4,850?" (500 units × €9.70.) Let them find it. Over-specification is a</a:t>
            </a:r>
          </a:p>
          <a:p>
            <a:r>
              <a:t>real failure mode and this is the only place in the pilot that teaches it.</a:t>
            </a:r>
          </a:p>
          <a:p/>
          <a:p>
            <a:r>
              <a:t>IF SHORT OF TIME: drop Part C, run it with two candidates in 5 minutes, set the</a:t>
            </a:r>
          </a:p>
          <a:p>
            <a:r>
              <a:t>third as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1:15–1:18. TRANSFER — deliberately a new measurand so it tests the</a:t>
            </a:r>
          </a:p>
          <a:p>
            <a:r>
              <a:t>principle, not memory of the tilt case. Target 55–75 %.</a:t>
            </a:r>
          </a:p>
          <a:p/>
          <a:p>
            <a:r>
              <a:t>60 seconds, quick vote, short discussion.</a:t>
            </a:r>
          </a:p>
          <a:p/>
          <a:p>
            <a:r>
              <a:t>THE POINT: P's ±0.25 % FS over the full range is 50 Pa ≈ 5 mm — comfortably</a:t>
            </a:r>
          </a:p>
          <a:p>
            <a:r>
              <a:t>inside ±20 mm, and GUARANTEED across the operating temperature. Q's ±0.05 % FS</a:t>
            </a:r>
          </a:p>
          <a:p>
            <a:r>
              <a:t>is 10 Pa ≈ 1 mm at 25 °C and UNKNOWN at 5 °C, because the temperature</a:t>
            </a:r>
          </a:p>
          <a:p>
            <a:r>
              <a:t>coefficient is not specified at all.</a:t>
            </a:r>
          </a:p>
          <a:p/>
          <a:p>
            <a:r>
              <a:t>You cannot write a defensible error budget for Q. That is the whole answer.</a:t>
            </a:r>
          </a:p>
          <a:p/>
          <a:p>
            <a:r>
              <a:t>C and D are the "calibration fixes everything" misconception, now in a second</a:t>
            </a:r>
          </a:p>
          <a:p>
            <a:r>
              <a:t>context. If students still pick them here after the drift lesson, note it — that</a:t>
            </a:r>
          </a:p>
          <a:p>
            <a:r>
              <a:t>is a genuine finding for next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Reveal. The sentence to land:</a:t>
            </a:r>
          </a:p>
          <a:p/>
          <a:p>
            <a:r>
              <a:t>"An unspecified number is not a good number. It is an unknown number, and you</a:t>
            </a:r>
          </a:p>
          <a:p>
            <a:r>
              <a:t>cannot put an unknown into a budget you have to sign."</a:t>
            </a:r>
          </a:p>
          <a:p/>
          <a:p>
            <a:r>
              <a:t>Note the deliberate echo: in the tilt case the killer term was drift you could</a:t>
            </a:r>
          </a:p>
          <a:p>
            <a:r>
              <a:t>compute. Here it is drift you cannot even compute. Same lesson, harder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1:18–1:19. Ninety seconds.</a:t>
            </a:r>
          </a:p>
          <a:p/>
          <a:p>
            <a:r>
              <a:t>Be honest about why the rule exists: "A library is a real asset and it will save</a:t>
            </a:r>
          </a:p>
          <a:p>
            <a:r>
              <a:t>you a week. It is just not a specification. Rank it last, not zero."</a:t>
            </a:r>
          </a:p>
          <a:p/>
          <a:p>
            <a:r>
              <a:t>The seven boxes are the plan's own component-selection criteria. Tell them these</a:t>
            </a:r>
          </a:p>
          <a:p>
            <a:r>
              <a:t>are the features the lab kit was chosen to expose — which is why they will be</a:t>
            </a:r>
          </a:p>
          <a:p>
            <a:r>
              <a:t>writing register values rather than calling someone's begin()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1:19. Read the four bold lines only. Sixty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1:19–1:20.</a:t>
            </a:r>
          </a:p>
          <a:p/>
          <a:p>
            <a:r>
              <a:t>Q1 key: 200 × √100 = 2000 µg = 2 mg. This is the independent check on L2.3 —</a:t>
            </a:r>
          </a:p>
          <a:p>
            <a:r>
              <a:t>group work can hide an individual who cannot do it.</a:t>
            </a:r>
          </a:p>
          <a:p/>
          <a:p>
            <a:r>
              <a:t>Q2 accepts either "the conditions block" or "offset drift / temperature</a:t>
            </a:r>
          </a:p>
          <a:p>
            <a:r>
              <a:t>coefficient". Both are the right instinct.</a:t>
            </a:r>
          </a:p>
          <a:p/>
          <a:p>
            <a:r>
              <a:t>Say the bottom line out loud. It is true, and it buys honest tickets.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1:20. End on time.</a:t>
            </a:r>
          </a:p>
          <a:p/>
          <a:p>
            <a:r>
              <a:t>Close the loop with Lecture 1 explicitly: "In week one a motor died because</a:t>
            </a:r>
          </a:p>
          <a:p>
            <a:r>
              <a:t>nobody specified a bandwidth. Next week we build the thing that specifies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7C86"/>
                </a:solidFill>
                <a:latin typeface="Arial"/>
              </a:rPr>
              <a:t>MICROELECTROMECHANICAL SYSTEMS AND SENSORS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7F5F1"/>
                </a:solidFill>
                <a:latin typeface="Arial"/>
              </a:rPr>
              <a:t>Sensor specifications and</a:t>
            </a:r>
          </a:p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7F5F1"/>
                </a:solidFill>
                <a:latin typeface="Arial"/>
              </a:rPr>
              <a:t>datasheet-based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315968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617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B8C0C6"/>
                </a:solidFill>
                <a:latin typeface="Arial"/>
              </a:rPr>
              <a:t>Lecture 2 of 16   ·   80 minutes   ·   Module A: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257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Today one number decides a design — and it is not on any front page.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Last week's muddiest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Your questions, answered before we 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Courier New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7048" y="2057400"/>
            <a:ext cx="100584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17520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Courier New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7048" y="3017520"/>
            <a:ext cx="100584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977640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Courier New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7048" y="3977640"/>
            <a:ext cx="100584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2212848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E4E2DE"/>
                </a:solidFill>
                <a:latin typeface="Arial"/>
              </a:rPr>
              <a:t>INSTRUCTOR: fill these three in from the exit tickets before class.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212080"/>
            <a:ext cx="10874959" cy="77724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Arial"/>
              </a:rPr>
              <a:t>Refer to concepts, never to students. Ninety seconds total, then move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Where are we today?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Retrieval: last week's chain, this week's 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PHYSICAL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MECHANICAL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COUPLING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317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TRANSDUCTION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8324"/>
                </a:solidFill>
                <a:latin typeface="Courier New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3376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ANALOG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CONDITIONING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23376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SAMPLING &amp;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QUANTISATION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CODES → SI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46704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TIMESTAMP,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LOG, 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856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7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926080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614416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302752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9729216" y="3346704"/>
            <a:ext cx="201168" cy="566928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ft Arrow 25"/>
          <p:cNvSpPr/>
          <p:nvPr/>
        </p:nvSpPr>
        <p:spPr>
          <a:xfrm>
            <a:off x="5614416" y="4425696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ft Arrow 26"/>
          <p:cNvSpPr/>
          <p:nvPr/>
        </p:nvSpPr>
        <p:spPr>
          <a:xfrm>
            <a:off x="2926080" y="4425696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5596128"/>
            <a:ext cx="10874959" cy="566928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Arial"/>
              </a:rPr>
              <a:t>Everything today happens BEFORE you own any hardware. This is the box you choose — and you choose it with arithmetic.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Two front pages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You must order today. Which one?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10512"/>
            <a:ext cx="5349240" cy="340156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10512"/>
            <a:ext cx="5349240" cy="56692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F7F5F1"/>
                </a:solidFill>
                <a:latin typeface="Arial"/>
              </a:rPr>
              <a:t>PART 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96312"/>
            <a:ext cx="5020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7680"/>
                </a:solidFill>
                <a:latin typeface="Arial"/>
              </a:rPr>
              <a:t>Accelerometer, 3-axis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52927"/>
            <a:ext cx="24917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B7680"/>
                </a:solidFill>
                <a:latin typeface="Arial"/>
              </a:rPr>
              <a:t>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2988" y="2852927"/>
            <a:ext cx="24734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1A1F24"/>
                </a:solidFill>
                <a:latin typeface="Courier New"/>
              </a:rPr>
              <a:t>16-bit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0399"/>
            <a:ext cx="24917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B7680"/>
                </a:solidFill>
                <a:latin typeface="Arial"/>
              </a:rPr>
              <a:t>Full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2988" y="3200399"/>
            <a:ext cx="24734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1A1F24"/>
                </a:solidFill>
                <a:latin typeface="Courier New"/>
              </a:rPr>
              <a:t>±2 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47871"/>
            <a:ext cx="24917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B7680"/>
                </a:solidFill>
                <a:latin typeface="Arial"/>
              </a:rPr>
              <a:t>Sensitivity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2988" y="3547871"/>
            <a:ext cx="24734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1A1F24"/>
                </a:solidFill>
                <a:latin typeface="Courier New"/>
              </a:rPr>
              <a:t>0.061 mg/LSB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95343"/>
            <a:ext cx="24917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B7680"/>
                </a:solidFill>
                <a:latin typeface="Arial"/>
              </a:rPr>
              <a:t>Noise density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2988" y="3895343"/>
            <a:ext cx="24734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1A1F24"/>
                </a:solidFill>
                <a:latin typeface="Courier New"/>
              </a:rPr>
              <a:t>100 µg/√Hz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42815"/>
            <a:ext cx="24917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B7680"/>
                </a:solidFill>
                <a:latin typeface="Arial"/>
              </a:rPr>
              <a:t>Unit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2988" y="4242815"/>
            <a:ext cx="24734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1A1F24"/>
                </a:solidFill>
                <a:latin typeface="Courier New"/>
              </a:rPr>
              <a:t>€1.80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709160"/>
            <a:ext cx="5020056" cy="402336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DCE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50" b="1">
                <a:solidFill>
                  <a:srgbClr val="1A1F24"/>
                </a:solidFill>
                <a:latin typeface="Arial"/>
              </a:rPr>
              <a:t>“HIGH RESOLUTION · LOW NOISE”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4808" y="1810512"/>
            <a:ext cx="5349240" cy="3401568"/>
          </a:xfrm>
          <a:prstGeom prst="rect">
            <a:avLst/>
          </a:prstGeom>
          <a:solidFill>
            <a:srgbClr val="FFFFFF"/>
          </a:solidFill>
          <a:ln w="25400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64808" y="1810512"/>
            <a:ext cx="5349240" cy="566928"/>
          </a:xfrm>
          <a:prstGeom prst="rect">
            <a:avLst/>
          </a:prstGeom>
          <a:solidFill>
            <a:srgbClr val="6B7680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F7F5F1"/>
                </a:solidFill>
                <a:latin typeface="Arial"/>
              </a:rPr>
              <a:t>PART 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496312"/>
            <a:ext cx="5020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7680"/>
                </a:solidFill>
                <a:latin typeface="Arial"/>
              </a:rPr>
              <a:t>Accelerometer, 3-axis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852927"/>
            <a:ext cx="24917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B7680"/>
                </a:solidFill>
                <a:latin typeface="Arial"/>
              </a:rPr>
              <a:t>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9428" y="2852927"/>
            <a:ext cx="24734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1A1F24"/>
                </a:solidFill>
                <a:latin typeface="Courier New"/>
              </a:rPr>
              <a:t>14-bit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200399"/>
            <a:ext cx="24917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B7680"/>
                </a:solidFill>
                <a:latin typeface="Arial"/>
              </a:rPr>
              <a:t>Full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9428" y="3200399"/>
            <a:ext cx="24734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1A1F24"/>
                </a:solidFill>
                <a:latin typeface="Courier New"/>
              </a:rPr>
              <a:t>±4 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547871"/>
            <a:ext cx="24917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B7680"/>
                </a:solidFill>
                <a:latin typeface="Arial"/>
              </a:rPr>
              <a:t>Sensitivity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9428" y="3547871"/>
            <a:ext cx="24734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1A1F24"/>
                </a:solidFill>
                <a:latin typeface="Courier New"/>
              </a:rPr>
              <a:t>0.488 mg/LSB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895343"/>
            <a:ext cx="24917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B7680"/>
                </a:solidFill>
                <a:latin typeface="Arial"/>
              </a:rPr>
              <a:t>Noise density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9428" y="3895343"/>
            <a:ext cx="24734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1A1F24"/>
                </a:solidFill>
                <a:latin typeface="Courier New"/>
              </a:rPr>
              <a:t>100 µg/√Hz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242815"/>
            <a:ext cx="24917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B7680"/>
                </a:solidFill>
                <a:latin typeface="Arial"/>
              </a:rPr>
              <a:t>Unit price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9428" y="4242815"/>
            <a:ext cx="24734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1A1F24"/>
                </a:solidFill>
                <a:latin typeface="Courier New"/>
              </a:rPr>
              <a:t>€4.20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413248"/>
            <a:ext cx="10874959" cy="749808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F7F5F1"/>
                </a:solidFill>
                <a:latin typeface="Arial"/>
              </a:rPr>
              <a:t>The job:  report the tilt of a solar-tracker frame to ±0.5°, outdoors, 0 to 40 °C.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1   ·   MINUTE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F24"/>
                </a:solidFill>
                <a:latin typeface="Arial"/>
              </a:rPr>
              <a:t>Which part do you specify for a ±0.5° tilt measurement?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762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854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Part A — eight times finer resolution, and cheaper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620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9809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900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Part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667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7856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947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This cannot be decided from front pages alone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Commit. In seventy minutes I will show you that most of this room just chose a part that cannot meet the requirement — and that its own datasheet said so, on page nine.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First, turn the requirement into a number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You cannot budget an error against an angle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03120"/>
            <a:ext cx="108749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500" b="0" i="0">
                <a:solidFill>
                  <a:srgbClr val="1A1F24"/>
                </a:solidFill>
                <a:latin typeface="Courier New"/>
              </a:rPr>
              <a:t>tilt of 0.5°  →  sin(0.5°) × 1 g  =  </a:t>
            </a:r>
            <a:r>
              <a:rPr sz="3100" b="1" i="0">
                <a:solidFill>
                  <a:srgbClr val="0E7C86"/>
                </a:solidFill>
                <a:latin typeface="Courier New"/>
              </a:rPr>
              <a:t>8.73 mg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520440"/>
            <a:ext cx="10874959" cy="96012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7F5F1"/>
                </a:solidFill>
                <a:latin typeface="Arial"/>
              </a:rPr>
              <a:t>8.73 mg is the entire signal we are trying to measure.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800600"/>
            <a:ext cx="108749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0" i="0">
                <a:solidFill>
                  <a:srgbClr val="1A1F24"/>
                </a:solidFill>
                <a:latin typeface="Arial"/>
              </a:rPr>
              <a:t>Every error term in this lecture gets compared against those 8.73 mg.</a:t>
            </a:r>
          </a:p>
          <a:p>
            <a:pPr algn="l">
              <a:lnSpc>
                <a:spcPct val="140000"/>
              </a:lnSpc>
            </a:pPr>
            <a:r>
              <a:rPr sz="2100" b="0" i="0">
                <a:solidFill>
                  <a:srgbClr val="1A1F24"/>
                </a:solidFill>
                <a:latin typeface="Arial"/>
              </a:rPr>
              <a:t>Any term larger than that is fatal. Any term far below it is irrelevant — no matter how good it looks on a front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CHUNK 1  ·  MINUTES 10–28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The four words</a:t>
            </a:r>
          </a:p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that get confused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2560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6B7680"/>
                </a:solidFill>
                <a:latin typeface="Courier New"/>
              </a:rPr>
              <a:t>10:00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Accuracy. Precision. Resolution. Sensitivity.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Most engineering arguments about sensors are really arguments about these.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Accuracy is not precision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Same target, four different instruments</a:t>
            </a:r>
          </a:p>
        </p:txBody>
      </p:sp>
      <p:sp>
        <p:nvSpPr>
          <p:cNvPr id="8" name="Oval 7"/>
          <p:cNvSpPr/>
          <p:nvPr/>
        </p:nvSpPr>
        <p:spPr>
          <a:xfrm>
            <a:off x="896112" y="2002536"/>
            <a:ext cx="2121408" cy="2121408"/>
          </a:xfrm>
          <a:prstGeom prst="ellipse">
            <a:avLst/>
          </a:prstGeom>
          <a:solidFill>
            <a:srgbClr val="F7F5F1"/>
          </a:solidFill>
          <a:ln w="12700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99179" y="2405603"/>
            <a:ext cx="1315272" cy="13152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81032" y="2787456"/>
            <a:ext cx="551566" cy="551566"/>
          </a:xfrm>
          <a:prstGeom prst="ellipse">
            <a:avLst/>
          </a:prstGeom>
          <a:solidFill>
            <a:srgbClr val="DCEDEF"/>
          </a:solidFill>
          <a:ln w="12700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42552" y="3112618"/>
            <a:ext cx="113384" cy="113384"/>
          </a:xfrm>
          <a:prstGeom prst="ellipse">
            <a:avLst/>
          </a:prstGeom>
          <a:solidFill>
            <a:srgbClr val="0E7C8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15267" y="2964119"/>
            <a:ext cx="113384" cy="113384"/>
          </a:xfrm>
          <a:prstGeom prst="ellipse">
            <a:avLst/>
          </a:prstGeom>
          <a:solidFill>
            <a:srgbClr val="0E7C8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63766" y="2900477"/>
            <a:ext cx="113384" cy="113384"/>
          </a:xfrm>
          <a:prstGeom prst="ellipse">
            <a:avLst/>
          </a:prstGeom>
          <a:solidFill>
            <a:srgbClr val="0E7C8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57695" y="3070190"/>
            <a:ext cx="113384" cy="113384"/>
          </a:xfrm>
          <a:prstGeom prst="ellipse">
            <a:avLst/>
          </a:prstGeom>
          <a:solidFill>
            <a:srgbClr val="0E7C8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4279392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0E7C86"/>
                </a:solidFill>
                <a:latin typeface="Arial"/>
              </a:rPr>
              <a:t>ACCURATE</a:t>
            </a:r>
          </a:p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0E7C86"/>
                </a:solidFill>
                <a:latin typeface="Arial"/>
              </a:rPr>
              <a:t>AND PRECISE</a:t>
            </a:r>
          </a:p>
        </p:txBody>
      </p:sp>
      <p:sp>
        <p:nvSpPr>
          <p:cNvPr id="16" name="Oval 15"/>
          <p:cNvSpPr/>
          <p:nvPr/>
        </p:nvSpPr>
        <p:spPr>
          <a:xfrm>
            <a:off x="3639312" y="2002536"/>
            <a:ext cx="2121408" cy="2121408"/>
          </a:xfrm>
          <a:prstGeom prst="ellipse">
            <a:avLst/>
          </a:prstGeom>
          <a:solidFill>
            <a:srgbClr val="F7F5F1"/>
          </a:solidFill>
          <a:ln w="12700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42379" y="2405603"/>
            <a:ext cx="1315272" cy="13152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4232" y="2787456"/>
            <a:ext cx="551566" cy="551566"/>
          </a:xfrm>
          <a:prstGeom prst="ellipse">
            <a:avLst/>
          </a:prstGeom>
          <a:solidFill>
            <a:srgbClr val="DCEDEF"/>
          </a:solidFill>
          <a:ln w="12700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34315" y="3642970"/>
            <a:ext cx="113384" cy="1133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19171" y="3770254"/>
            <a:ext cx="113384" cy="1133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70673" y="3749040"/>
            <a:ext cx="113384" cy="1133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6743" y="3579328"/>
            <a:ext cx="113384" cy="1133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65576" y="4279392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C0392B"/>
                </a:solidFill>
                <a:latin typeface="Arial"/>
              </a:rPr>
              <a:t>PRECISE, NOT</a:t>
            </a:r>
          </a:p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C0392B"/>
                </a:solidFill>
                <a:latin typeface="Arial"/>
              </a:rPr>
              <a:t>ACCURATE</a:t>
            </a:r>
          </a:p>
        </p:txBody>
      </p:sp>
      <p:sp>
        <p:nvSpPr>
          <p:cNvPr id="24" name="Oval 23"/>
          <p:cNvSpPr/>
          <p:nvPr/>
        </p:nvSpPr>
        <p:spPr>
          <a:xfrm>
            <a:off x="6382512" y="2002536"/>
            <a:ext cx="2121408" cy="2121408"/>
          </a:xfrm>
          <a:prstGeom prst="ellipse">
            <a:avLst/>
          </a:prstGeom>
          <a:solidFill>
            <a:srgbClr val="F7F5F1"/>
          </a:solidFill>
          <a:ln w="12700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85579" y="2405603"/>
            <a:ext cx="1315272" cy="13152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67432" y="2787456"/>
            <a:ext cx="551566" cy="551566"/>
          </a:xfrm>
          <a:prstGeom prst="ellipse">
            <a:avLst/>
          </a:prstGeom>
          <a:solidFill>
            <a:srgbClr val="DCEDEF"/>
          </a:solidFill>
          <a:ln w="12700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80518" y="2454981"/>
            <a:ext cx="113384" cy="113384"/>
          </a:xfrm>
          <a:prstGeom prst="ellipse">
            <a:avLst/>
          </a:prstGeom>
          <a:solidFill>
            <a:srgbClr val="D9832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0101" y="3515685"/>
            <a:ext cx="113384" cy="113384"/>
          </a:xfrm>
          <a:prstGeom prst="ellipse">
            <a:avLst/>
          </a:prstGeom>
          <a:solidFill>
            <a:srgbClr val="D9832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71380" y="3770254"/>
            <a:ext cx="113384" cy="113384"/>
          </a:xfrm>
          <a:prstGeom prst="ellipse">
            <a:avLst/>
          </a:prstGeom>
          <a:solidFill>
            <a:srgbClr val="D9832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80453" y="2285269"/>
            <a:ext cx="113384" cy="113384"/>
          </a:xfrm>
          <a:prstGeom prst="ellipse">
            <a:avLst/>
          </a:prstGeom>
          <a:solidFill>
            <a:srgbClr val="D9832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08776" y="4279392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D98324"/>
                </a:solidFill>
                <a:latin typeface="Arial"/>
              </a:rPr>
              <a:t>ACCURATE, NOT</a:t>
            </a:r>
          </a:p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D98324"/>
                </a:solidFill>
                <a:latin typeface="Arial"/>
              </a:rPr>
              <a:t>PRECISE</a:t>
            </a:r>
          </a:p>
        </p:txBody>
      </p:sp>
      <p:sp>
        <p:nvSpPr>
          <p:cNvPr id="32" name="Oval 31"/>
          <p:cNvSpPr/>
          <p:nvPr/>
        </p:nvSpPr>
        <p:spPr>
          <a:xfrm>
            <a:off x="9125712" y="2002536"/>
            <a:ext cx="2121408" cy="2121408"/>
          </a:xfrm>
          <a:prstGeom prst="ellipse">
            <a:avLst/>
          </a:prstGeom>
          <a:solidFill>
            <a:srgbClr val="F7F5F1"/>
          </a:solidFill>
          <a:ln w="12700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28779" y="2405603"/>
            <a:ext cx="1315272" cy="13152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10632" y="2787456"/>
            <a:ext cx="551566" cy="551566"/>
          </a:xfrm>
          <a:prstGeom prst="ellipse">
            <a:avLst/>
          </a:prstGeom>
          <a:solidFill>
            <a:srgbClr val="DCEDEF"/>
          </a:solidFill>
          <a:ln w="12700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78287" y="2412553"/>
            <a:ext cx="113384" cy="113384"/>
          </a:xfrm>
          <a:prstGeom prst="ellipse">
            <a:avLst/>
          </a:prstGeom>
          <a:solidFill>
            <a:srgbClr val="6B76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47870" y="3855111"/>
            <a:ext cx="113384" cy="113384"/>
          </a:xfrm>
          <a:prstGeom prst="ellipse">
            <a:avLst/>
          </a:prstGeom>
          <a:solidFill>
            <a:srgbClr val="6B76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063143" y="3345973"/>
            <a:ext cx="113384" cy="113384"/>
          </a:xfrm>
          <a:prstGeom prst="ellipse">
            <a:avLst/>
          </a:prstGeom>
          <a:solidFill>
            <a:srgbClr val="6B76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323588" y="2582266"/>
            <a:ext cx="113384" cy="113384"/>
          </a:xfrm>
          <a:prstGeom prst="ellipse">
            <a:avLst/>
          </a:prstGeom>
          <a:solidFill>
            <a:srgbClr val="6B76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51976" y="4279392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6B7680"/>
                </a:solidFill>
                <a:latin typeface="Arial"/>
              </a:rPr>
              <a:t>NEITHER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230368"/>
            <a:ext cx="10874959" cy="86868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50" b="1">
                <a:solidFill>
                  <a:srgbClr val="1A1F24"/>
                </a:solidFill>
                <a:latin typeface="Arial"/>
              </a:rPr>
              <a:t>The centre of the target is the TRUE value. Precision is how tightly the shots group.</a:t>
            </a:r>
          </a:p>
          <a:p>
            <a:pPr algn="ctr"/>
            <a:r>
              <a:rPr sz="1750" b="1">
                <a:solidFill>
                  <a:srgbClr val="1A1F24"/>
                </a:solidFill>
                <a:latin typeface="Arial"/>
              </a:rPr>
              <a:t>Accuracy is where the group sits. They are independent — and only one of them is fixable by calibration.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2   ·   MINUTE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1A1F24"/>
                </a:solidFill>
                <a:latin typeface="Arial"/>
              </a:rPr>
              <a:t>A pressure sensor in a chamber held at a true, constant 1000.0 hPa is read 100 times. Every reading falls between 1012.3 and 1012.5 hPa. The device 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048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140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Accurate but not precise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906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95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186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Precise but not accurate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953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0142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Both — the spread is only 0.2 hPa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000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81888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28032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Neither, because the resolution is not stated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Vote alone, then find someone who disagrees.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POLL 2   ·   MINUTE 18   ·  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1A1F24"/>
                </a:solidFill>
                <a:latin typeface="Arial"/>
              </a:rPr>
              <a:t>A pressure sensor in a chamber held at a true, constant 1000.0 hPa is read 100 times. Every reading falls between 1012.3 and 1012.5 hPa. The device 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048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140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Accurate but not precise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906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95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186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Precise but not accurate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953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0142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Both — the spread is only 0.2 hPa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000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81888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28032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Neither, because the resolution is not stated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Arial"/>
              </a:rPr>
              <a:t>12.4 hPa of offset, held to 0.2 hPa of scatter. Superb precision, useless accuracy — until somebody calibrates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rule worth memorising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246120" cy="84124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7F5F1"/>
                </a:solidFill>
                <a:latin typeface="Arial"/>
              </a:rPr>
              <a:t>SYSTEMATIC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78808" y="2057400"/>
            <a:ext cx="74980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F24"/>
                </a:solidFill>
                <a:latin typeface="Arial"/>
              </a:rPr>
              <a:t>is a calibration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8808" y="2487168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offset, scale factor — measurable, removable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63240"/>
            <a:ext cx="3246120" cy="84124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7F5F1"/>
                </a:solidFill>
                <a:latin typeface="Arial"/>
              </a:rPr>
              <a:t>RANDOM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8" y="3108960"/>
            <a:ext cx="74980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F24"/>
                </a:solidFill>
                <a:latin typeface="Arial"/>
              </a:rPr>
              <a:t>is a bandwidth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8" y="3538728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noise — reducible only by averaging, which costs you speed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114800"/>
            <a:ext cx="3246120" cy="841248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7F5F1"/>
                </a:solidFill>
                <a:latin typeface="Arial"/>
              </a:rPr>
              <a:t>DRIFT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8" y="4160520"/>
            <a:ext cx="74980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F24"/>
                </a:solidFill>
                <a:latin typeface="Arial"/>
              </a:rPr>
              <a:t>is a component-selection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4590288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it moves after you calibrated — so you cannot calibrate it away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349240"/>
            <a:ext cx="10874959" cy="73152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Arial"/>
              </a:rPr>
              <a:t>This rule is the spine of Lecture 14 and of Laboratories 3 and 5. You will use it in week six.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vocabulary, sorted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Static: what it does when nothing is moving. Dynamic: what it does when things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STATIC CHARACTERISTICS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64808" y="2057400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Arial"/>
              </a:rPr>
              <a:t>DYNAMIC CHARACTERISTICS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889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Arial"/>
              </a:rPr>
              <a:t>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7889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680"/>
                </a:solidFill>
                <a:latin typeface="Arial"/>
              </a:rPr>
              <a:t>smallest to largest measurable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7889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8324"/>
                </a:solidFill>
                <a:latin typeface="Arial"/>
              </a:rPr>
              <a:t>Bandwidth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27889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680"/>
                </a:solidFill>
                <a:latin typeface="Arial"/>
              </a:rPr>
              <a:t>highest frequency reported faithfully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7812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Arial"/>
              </a:rPr>
              <a:t>Sensitivity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327812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680"/>
                </a:solidFill>
                <a:latin typeface="Arial"/>
              </a:rPr>
              <a:t>output change per unit of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2781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8324"/>
                </a:solidFill>
                <a:latin typeface="Arial"/>
              </a:rPr>
              <a:t>Response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327812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680"/>
                </a:solidFill>
                <a:latin typeface="Arial"/>
              </a:rPr>
              <a:t>time to settle after a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76732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Arial"/>
              </a:rPr>
              <a:t>Resolution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37673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680"/>
                </a:solidFill>
                <a:latin typeface="Arial"/>
              </a:rPr>
              <a:t>smallest distinguishable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7673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8324"/>
                </a:solidFill>
                <a:latin typeface="Arial"/>
              </a:rPr>
              <a:t>ODR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76732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680"/>
                </a:solidFill>
                <a:latin typeface="Arial"/>
              </a:rPr>
              <a:t>data rate — NOT bandwidth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425653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Arial"/>
              </a:rPr>
              <a:t>Offset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7168" y="42565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680"/>
                </a:solidFill>
                <a:latin typeface="Arial"/>
              </a:rPr>
              <a:t>output when the input is zero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25653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8324"/>
                </a:solidFill>
                <a:latin typeface="Arial"/>
              </a:rPr>
              <a:t>Noise density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425653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680"/>
                </a:solidFill>
                <a:latin typeface="Arial"/>
              </a:rPr>
              <a:t>noise per √Hz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474573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Arial"/>
              </a:rPr>
              <a:t>Linearity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474573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680"/>
                </a:solidFill>
                <a:latin typeface="Arial"/>
              </a:rPr>
              <a:t>deviation from a straight 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74573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8324"/>
                </a:solidFill>
                <a:latin typeface="Arial"/>
              </a:rPr>
              <a:t>Group delay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4745736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680"/>
                </a:solidFill>
                <a:latin typeface="Arial"/>
              </a:rPr>
              <a:t>how late the answer arrives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52349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Arial"/>
              </a:rPr>
              <a:t>Hysteresis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87168" y="52349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680"/>
                </a:solidFill>
                <a:latin typeface="Arial"/>
              </a:rPr>
              <a:t>does it matter which way you came?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52349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8324"/>
                </a:solidFill>
                <a:latin typeface="Arial"/>
              </a:rPr>
              <a:t>Cross-sensitivity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52349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680"/>
                </a:solidFill>
                <a:latin typeface="Arial"/>
              </a:rPr>
              <a:t>the axis you did not want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57241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Arial"/>
              </a:rPr>
              <a:t>Repeatability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87168" y="572414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680"/>
                </a:solidFill>
                <a:latin typeface="Arial"/>
              </a:rPr>
              <a:t>same input, same output, later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572414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8324"/>
                </a:solidFill>
                <a:latin typeface="Arial"/>
              </a:rPr>
              <a:t>Drift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572414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680"/>
                </a:solidFill>
                <a:latin typeface="Arial"/>
              </a:rPr>
              <a:t>slow change with time and temperature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CHUNK 2  ·  MINUTES 28–46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What the datasheet</a:t>
            </a:r>
          </a:p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actually says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2560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6B7680"/>
                </a:solidFill>
                <a:latin typeface="Courier New"/>
              </a:rPr>
              <a:t>28:00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A datasheet is a legal document, not a promise.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The headline is on page one. The truth is in the conditions.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Read the conditions block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Then, and only then, read the number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65960"/>
          <a:ext cx="10874955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7489"/>
                <a:gridCol w="869996"/>
                <a:gridCol w="1087495"/>
                <a:gridCol w="869996"/>
                <a:gridCol w="1196245"/>
                <a:gridCol w="4023734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Min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Typ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Max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Unit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Conditions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Sensitivity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</a:rPr>
                        <a:t>0.061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mg/LSB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FS = ±2 g, 25 °C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Zero-g level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</a:rPr>
                        <a:t>±40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mg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25 °C, after soldering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Zero-g temp. coefficient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</a:rPr>
                        <a:t>±0.5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mg/°C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−40 to +85 °C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Noise density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</a:rPr>
                        <a:t>100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µg/√Hz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ODR = 200 Hz, BW = 50 Hz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Cross-axis sensitivity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</a:rPr>
                        <a:t>±1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package level, not board level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4892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Arial"/>
              </a:rPr>
              <a:t>▸  Every number is “typ”.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7" y="48920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A1F24"/>
                </a:solidFill>
                <a:latin typeface="Arial"/>
              </a:rPr>
              <a:t>No min, no max. You are being told the average of a production run, not a guarantee.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5504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Arial"/>
              </a:rPr>
              <a:t>▸  The conditions differ per row.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7" y="555040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A1F24"/>
                </a:solidFill>
                <a:latin typeface="Arial"/>
              </a:rPr>
              <a:t>Sensitivity at 25 °C. Drift over 125 °C. Noise at one specific bandwidth. They are not comparable as printed.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hunt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Pairs · 8 minutes · write the page number next to every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Courier New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2057400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F24"/>
                </a:solidFill>
                <a:latin typeface="Arial"/>
              </a:rPr>
              <a:t>Supply voltage range — and the separate I/O supply, if there is 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87752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Courier New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2679192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F24"/>
                </a:solidFill>
                <a:latin typeface="Arial"/>
              </a:rPr>
              <a:t>Sensitivity at EACH selectable full-scale range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209544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Courier New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3300984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F24"/>
                </a:solidFill>
                <a:latin typeface="Arial"/>
              </a:rPr>
              <a:t>Zero-offset level AND its temperature coefficient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831336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Courier New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3922776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F24"/>
                </a:solidFill>
                <a:latin typeface="Arial"/>
              </a:rPr>
              <a:t>Noise density — and the bandwidth it was measured 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53128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Courier New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" y="4544568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F24"/>
                </a:solidFill>
                <a:latin typeface="Arial"/>
              </a:rPr>
              <a:t>The device-identification register and its expected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74920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Courier New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8" y="5166360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F24"/>
                </a:solidFill>
                <a:latin typeface="Arial"/>
              </a:rPr>
              <a:t>Whether the headline numbers are typ, min or max — and at what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779008"/>
            <a:ext cx="10874959" cy="54864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50" b="1">
                <a:solidFill>
                  <a:srgbClr val="1A1F24"/>
                </a:solidFill>
                <a:latin typeface="Arial"/>
              </a:rPr>
              <a:t>Number 5 is not academic — you need it at the bench next week to prove your sensor is the sensor you think it 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Arial"/>
              </a:rPr>
              <a:t>NOW FIND THIS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7495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F7F5F1"/>
                </a:solidFill>
                <a:latin typeface="Arial"/>
              </a:rPr>
              <a:t>“What is this device's</a:t>
            </a:r>
          </a:p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F7F5F1"/>
                </a:solidFill>
                <a:latin typeface="Arial"/>
              </a:rPr>
              <a:t>cross-axis sensitivity after it</a:t>
            </a:r>
          </a:p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F7F5F1"/>
                </a:solidFill>
                <a:latin typeface="Arial"/>
              </a:rPr>
              <a:t>has been soldered to my board?”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617720"/>
            <a:ext cx="137160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892040"/>
            <a:ext cx="99605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It is not in the datasheet. It cannot be. The figure is specified for the packaged die — and mounting stress, solder-joint asymmetry and PCB flex all change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MINUTE 44  ·  STAND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7F5F1"/>
                </a:solidFill>
                <a:latin typeface="Arial"/>
              </a:rPr>
              <a:t>Which number was</a:t>
            </a:r>
          </a:p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7F5F1"/>
                </a:solidFill>
                <a:latin typeface="Arial"/>
              </a:rPr>
              <a:t>hardest to find?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6576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B8C0C6"/>
                </a:solidFill>
                <a:latin typeface="Arial"/>
              </a:rPr>
              <a:t>Hands up. Then tell me why it was hard —</a:t>
            </a:r>
          </a:p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B8C0C6"/>
                </a:solidFill>
                <a:latin typeface="Arial"/>
              </a:rPr>
              <a:t>not what the answer was.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937760"/>
            <a:ext cx="10874959" cy="86868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800" b="1">
                <a:solidFill>
                  <a:srgbClr val="F7F5F1"/>
                </a:solidFill>
                <a:latin typeface="Arial"/>
              </a:rPr>
              <a:t>The conditions are where the truth lives.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CHUNK 3  ·  MINUTES 46–70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Now compute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2560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6B7680"/>
                </a:solidFill>
                <a:latin typeface="Courier New"/>
              </a:rPr>
              <a:t>46:00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Four terms. One requirement. Twenty minutes.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At the end of this you will know which part you should have chosen.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Noise density becomes noise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…once you choose a bandwidth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1168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A1F24"/>
                </a:solidFill>
                <a:latin typeface="Courier New"/>
              </a:rPr>
              <a:t>noise</a:t>
            </a:r>
            <a:r>
              <a:rPr sz="1800" b="0" i="0">
                <a:solidFill>
                  <a:srgbClr val="1A1F24"/>
                </a:solidFill>
                <a:latin typeface="Courier New"/>
              </a:rPr>
              <a:t>RMS</a:t>
            </a:r>
            <a:r>
              <a:rPr sz="2700" b="1" i="0">
                <a:solidFill>
                  <a:srgbClr val="1A1F24"/>
                </a:solidFill>
                <a:latin typeface="Courier New"/>
              </a:rPr>
              <a:t>  =  noise density  ×  √bandwidth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127248"/>
            <a:ext cx="1087495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Courier New"/>
              </a:rPr>
              <a:t>100 µg/√Hz  ×  √50 Hz  =  100 × 7.07  =  707 µg  =  0.71 mg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279392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7C86"/>
                </a:solidFill>
                <a:latin typeface="Arial"/>
              </a:rPr>
              <a:t>▸  The units tell you the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4279392"/>
            <a:ext cx="7132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1A1F24"/>
                </a:solidFill>
                <a:latin typeface="Arial"/>
              </a:rPr>
              <a:t>µg/√Hz × √Hz = µg. If your units do not cancel, you have used the wrong number.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937760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7C86"/>
                </a:solidFill>
                <a:latin typeface="Arial"/>
              </a:rPr>
              <a:t>▸  Bandwidth, not ODR.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4937760"/>
            <a:ext cx="7132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1A1F24"/>
                </a:solidFill>
                <a:latin typeface="Arial"/>
              </a:rPr>
              <a:t>The ODR was 200 Hz. Using √200 gives 1.41 mg — a wrong answer that looks right.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596128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7C86"/>
                </a:solidFill>
                <a:latin typeface="Arial"/>
              </a:rPr>
              <a:t>▸  Halve the bandwidth, gain √2.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5596128"/>
            <a:ext cx="7132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1A1F24"/>
                </a:solidFill>
                <a:latin typeface="Arial"/>
              </a:rPr>
              <a:t>Noise is not a property of the sensor alone. It is a property of the sensor and the bandwidth you chose.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3   ·   MINUTE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1A1F24"/>
                </a:solidFill>
                <a:latin typeface="Arial"/>
              </a:rPr>
              <a:t>Noise density 100 µg/√Hz. You configure ODR = 200 Hz and measurement bandwidth = 50 Hz. What RMS noise appears in your readings?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048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140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≈ 0.1 mg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906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95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186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≈ 0.7 mg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953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0142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≈ 1.4 mg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000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81888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28032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≈ 5 mg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Every wrong answer here is a specific arithmetic mistake — so this is the most useful vote of the day. Take it seriously.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POLL 3   ·   MINUTE 56   ·  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1A1F24"/>
                </a:solidFill>
                <a:latin typeface="Arial"/>
              </a:rPr>
              <a:t>Noise density 100 µg/√Hz. You configure ODR = 200 Hz and measurement bandwidth = 50 Hz. What RMS noise appears in your readings?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048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140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≈ 0.1 mg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906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95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186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≈ 0.7 mg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953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0142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≈ 1.4 mg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000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81888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28032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≈ 5 mg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Arial"/>
              </a:rPr>
              <a:t>100 µg/√Hz × √50 Hz = 707 µg = 0.71 mg.  Now compare that with the 8.73 mg we are trying to measure — and ask whether noise was ever the problem.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Three more terms, and one of them is not small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520440" cy="59436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QUANTISATION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51760"/>
            <a:ext cx="35204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0E7C86"/>
                </a:solidFill>
                <a:latin typeface="Courier New"/>
              </a:rPr>
              <a:t>LSB / √12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401568"/>
            <a:ext cx="3337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F24"/>
                </a:solidFill>
                <a:latin typeface="Courier New"/>
              </a:rPr>
              <a:t>A:  0.061/3.46 = 0.018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F24"/>
                </a:solidFill>
                <a:latin typeface="Courier New"/>
              </a:rPr>
              <a:t>B:  0.488/3.46 = 0.141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343400"/>
            <a:ext cx="3337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B7680"/>
                </a:solidFill>
                <a:latin typeface="Arial"/>
              </a:rPr>
              <a:t>Both utterly negligible against 8.73 mg.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65960"/>
            <a:ext cx="3520440" cy="59436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OFFSET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651760"/>
            <a:ext cx="35204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0E7C86"/>
                </a:solidFill>
                <a:latin typeface="Courier New"/>
              </a:rPr>
              <a:t>calibrated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3401568"/>
            <a:ext cx="3337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F24"/>
                </a:solidFill>
                <a:latin typeface="Courier New"/>
              </a:rPr>
              <a:t>A:  ±40 mg  →  0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F24"/>
                </a:solidFill>
                <a:latin typeface="Courier New"/>
              </a:rPr>
              <a:t>B:  ±10 mg  → 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4343400"/>
            <a:ext cx="3337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B7680"/>
                </a:solidFill>
                <a:latin typeface="Arial"/>
              </a:rPr>
              <a:t>A single bench calibration removes this — at one temperature.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965960"/>
            <a:ext cx="3520440" cy="59436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OFFSET DRIFT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2651760"/>
            <a:ext cx="35204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C0392B"/>
                </a:solidFill>
                <a:latin typeface="Courier New"/>
              </a:rPr>
              <a:t>TC × ΔT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3401568"/>
            <a:ext cx="3337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F24"/>
                </a:solidFill>
                <a:latin typeface="Courier New"/>
              </a:rPr>
              <a:t>A:  0.5 × 20 = 10.0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F24"/>
                </a:solidFill>
                <a:latin typeface="Courier New"/>
              </a:rPr>
              <a:t>B:  0.1 × 20 =  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4343400"/>
            <a:ext cx="3337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B7680"/>
                </a:solidFill>
                <a:latin typeface="Arial"/>
              </a:rPr>
              <a:t>Calibrated at 20 °C, used 0–40 °C, so ΔT = ±20 °C.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34924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F7DFD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300" b="1">
                <a:solidFill>
                  <a:srgbClr val="1A1F24"/>
                </a:solidFill>
                <a:latin typeface="Arial"/>
              </a:rPr>
              <a:t>Part A drifts by 10 mg. The entire quantity we are trying to measure is 8.73 mg.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error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Root-sum-square, because the terms are independent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01952"/>
          <a:ext cx="10874957" cy="3360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4985"/>
                <a:gridCol w="1631243"/>
                <a:gridCol w="2066242"/>
                <a:gridCol w="3262487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</a:rPr>
                        <a:t>Part A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</a:rPr>
                        <a:t>Part B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</a:rPr>
                        <a:t>Where it came from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Noise  (100 µg/√Hz × √50 Hz)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0.707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0.707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datasheet × your bandwidth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Quantisation  (LSB/√12)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0.018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0.141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resolution and full scale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Offset drift  (TC × ΔT)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10.000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2.000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temp. coefficient × 20 °C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TOTAL  (RSS)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10.03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2.13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√(sum of squares)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AS A TILT ANGLE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0.574°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0.122°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asin(mg / 1000)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AGAINST ±0.5°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FAILS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passes, 4× margin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the requirement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358384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7680"/>
                </a:solidFill>
                <a:latin typeface="Arial"/>
              </a:rPr>
              <a:t>All values in mg unless stated. Bandwidth 50 Hz, calibrated at 20 °C, used over 0–40 °C.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742432"/>
            <a:ext cx="10874959" cy="54864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7F5F1"/>
                </a:solidFill>
                <a:latin typeface="Arial"/>
              </a:rPr>
              <a:t>One term dominates. It was on page nine, and it was not on either front page.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POLL 1   ·   MINUTE 70   ·  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F24"/>
                </a:solidFill>
                <a:latin typeface="Arial"/>
              </a:rPr>
              <a:t>Which part do you specify for a ±0.5° tilt measurement?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762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854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Part A — eight times finer resolution, and cheaper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620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9809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900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Part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667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7856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947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This cannot be decided from front pages alone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Arial"/>
              </a:rPr>
              <a:t>The right FIRST answer was C — you did not have enough information. The right SECOND answer, after twelve minutes of arithmetic, is B.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Arial"/>
              </a:rPr>
              <a:t>THE VERDICT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7495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i="0">
                <a:solidFill>
                  <a:srgbClr val="F7F5F1"/>
                </a:solidFill>
                <a:latin typeface="Arial"/>
              </a:rPr>
              <a:t>Part A resolves eight times finer</a:t>
            </a:r>
          </a:p>
          <a:p>
            <a:pPr algn="l">
              <a:lnSpc>
                <a:spcPct val="118000"/>
              </a:lnSpc>
            </a:pPr>
            <a:r>
              <a:rPr sz="3400" b="1" i="0">
                <a:solidFill>
                  <a:srgbClr val="F7F5F1"/>
                </a:solidFill>
                <a:latin typeface="Arial"/>
              </a:rPr>
              <a:t>than Part B — and cannot do the job.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617720"/>
            <a:ext cx="137160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892040"/>
            <a:ext cx="99605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Part B resolves 0.028° of tilt: eighteen times finer than the ±0.5° we need. Resolution was never the deciding variable. It only looked like it was, because it was the number on the front page.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Your turn: three candidates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Teams of three · 8 minutes · commit to one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399032"/>
                <a:gridCol w="1088136"/>
                <a:gridCol w="1088136"/>
                <a:gridCol w="1088136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7F5F1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F7F5F1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F7F5F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F7F5F1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F7F5F1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Meets ±0.5° over 0–40 °C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pass/fail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</a:rPr>
                        <a:t>fail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</a:rPr>
                        <a:t>pass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</a:rPr>
                        <a:t>pass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Total error as an angle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</a:rPr>
                        <a:t>0.574°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</a:rPr>
                        <a:t>0.122°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</a:rPr>
                        <a:t>0.06°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Unit price at 500 off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</a:rPr>
                        <a:t>€1.80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</a:rPr>
                        <a:t>€4.20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</a:rPr>
                        <a:t>€11.50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Current draw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</a:rPr>
                        <a:t>0.15 mA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</a:rPr>
                        <a:t>0.18 mA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</a:rPr>
                        <a:t>0.90 mA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Library already exists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705088" y="192024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6B7680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F7F5F1"/>
                </a:solidFill>
                <a:latin typeface="Arial"/>
              </a:rPr>
              <a:t>PART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2247" y="297180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A1F24"/>
                </a:solidFill>
                <a:latin typeface="Courier New"/>
              </a:rPr>
              <a:t>16-bit, ±2 g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A1F24"/>
                </a:solidFill>
                <a:latin typeface="Courier New"/>
              </a:rPr>
              <a:t>60 µg/√Hz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A1F24"/>
                </a:solidFill>
                <a:latin typeface="Courier New"/>
              </a:rPr>
              <a:t>offset ±5 mg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A1F24"/>
                </a:solidFill>
                <a:latin typeface="Courier New"/>
              </a:rPr>
              <a:t>TC ±0.05 mg/°C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A1F24"/>
                </a:solidFill>
                <a:latin typeface="Courier New"/>
              </a:rPr>
              <a:t>€11.50, 0.9 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8920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Arial"/>
              </a:rPr>
              <a:t>Write one sentence:   “We specify Part ___ because ___”   — naming the DOMINANT ERROR TERM, not the headline.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715000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1">
                <a:solidFill>
                  <a:srgbClr val="6B7680"/>
                </a:solidFill>
                <a:latin typeface="Arial"/>
              </a:rPr>
              <a:t>Part C is the trap in the other direction: technically the best part, six times the price, and it buys no capability the requirement asks for. Over-specifying is also an engineering failure.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4   ·   MINUTE 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New problem. Water level in an outdoor tank, 2 m deep (≈20 kPa full scale), to ±20 mm, water 5–35 °C.  P: total error band ±0.25 % FS over 0–50 °C.  Q: ±0.05 % FS at 25 °C, temperature coefficient not specified.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Sensor Q — five times better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Sensor P — its error is bounded over the whole temperature range; Q's is specified at one point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Either — the temperature coefficient can be measured later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Sensor Q, calibrated at 25 °C before installation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Different measurand, different error term. Same question underneath.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POLL 4   ·   MINUTE 72   ·  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New problem. Water level in an outdoor tank, 2 m deep (≈20 kPa full scale), to ±20 mm, water 5–35 °C.  P: total error band ±0.25 % FS over 0–50 °C.  Q: ±0.05 % FS at 25 °C, temperature coefficient not specified.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Sensor Q — five times better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Sensor P — its error is bounded over the whole temperature range; Q's is specified at one point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Either — the temperature coefficient can be measured later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Sensor Q, calibrated at 25 °C before installation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Arial"/>
              </a:rPr>
              <a:t>A total error band over the operating range beats a headline accuracy at one temperature. An unspecified coefficient is not a small error — it is an unbounded one.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course's selection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Quoted from your own semester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10874959" cy="137160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381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300" b="1">
                <a:solidFill>
                  <a:srgbClr val="F7F5F1"/>
                </a:solidFill>
                <a:latin typeface="Arial"/>
              </a:rPr>
              <a:t>“Avoid selecting a part only because an Arduino library exists;</a:t>
            </a:r>
          </a:p>
          <a:p>
            <a:pPr algn="ctr"/>
            <a:r>
              <a:rPr sz="2300" b="1">
                <a:solidFill>
                  <a:srgbClr val="F7F5F1"/>
                </a:solidFill>
                <a:latin typeface="Arial"/>
              </a:rPr>
              <a:t>students must still see the underlying configuration and data path.”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947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0392B"/>
                </a:solidFill>
                <a:latin typeface="Arial"/>
              </a:rPr>
              <a:t>Part A had a library. Part A cannot do the job.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2628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What to choose on instead — parts that expose the engineering: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983480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50" b="1">
                <a:solidFill>
                  <a:srgbClr val="1A1F24"/>
                </a:solidFill>
                <a:latin typeface="Arial"/>
              </a:rPr>
              <a:t>selectable range and ODR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4983480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50" b="1">
                <a:solidFill>
                  <a:srgbClr val="1A1F24"/>
                </a:solidFill>
                <a:latin typeface="Arial"/>
              </a:rPr>
              <a:t>documented bandwidth and noise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4983480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50" b="1">
                <a:solidFill>
                  <a:srgbClr val="1A1F24"/>
                </a:solidFill>
                <a:latin typeface="Arial"/>
              </a:rPr>
              <a:t>self-test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5128" y="4983480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50" b="1">
                <a:solidFill>
                  <a:srgbClr val="1A1F24"/>
                </a:solidFill>
                <a:latin typeface="Arial"/>
              </a:rPr>
              <a:t>data-ready interrupt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532120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50" b="1">
                <a:solidFill>
                  <a:srgbClr val="1A1F24"/>
                </a:solidFill>
                <a:latin typeface="Arial"/>
              </a:rPr>
              <a:t>FIFO where relevant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7288" y="5532120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50" b="1">
                <a:solidFill>
                  <a:srgbClr val="1A1F24"/>
                </a:solidFill>
                <a:latin typeface="Arial"/>
              </a:rPr>
              <a:t>an accessible register 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5532120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50" b="1">
                <a:solidFill>
                  <a:srgbClr val="1A1F24"/>
                </a:solidFill>
                <a:latin typeface="Arial"/>
              </a:rPr>
              <a:t>a complete datasheet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Four things to keep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EDEF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1856231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A1F24"/>
                </a:solidFill>
                <a:latin typeface="Arial"/>
              </a:rPr>
              <a:t>Turn the requirement into a number before you read any datasheet.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2258567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0.5° became 8.73 mg, and 8.73 mg decided everything that followed.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7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EDEF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2880359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A1F24"/>
                </a:solidFill>
                <a:latin typeface="Arial"/>
              </a:rPr>
              <a:t>Find the dominant term. Everything else is decoration.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3282695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10 mg and 0.7 mg combine to 10.03 mg. The small term never mattered.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922775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EDEF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3904487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A1F24"/>
                </a:solidFill>
                <a:latin typeface="Arial"/>
              </a:rPr>
              <a:t>Resolution is not accuracy, and neither is precision.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4306823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Systematic → calibration. Random → bandwidth. Drift → component choice.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946903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EDEF"/>
                </a:solidFill>
                <a:latin typeface="Courier New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" y="4928615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A1F24"/>
                </a:solidFill>
                <a:latin typeface="Arial"/>
              </a:rPr>
              <a:t>A number without its conditions is not a number.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8" y="5330951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typ at 25 °C is not a guarantee, and an unspecified coefficient is unbounded.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Exit ticket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Anonymous · hand it in at the door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3520440" cy="62179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50" b="1">
                <a:solidFill>
                  <a:srgbClr val="F7F5F1"/>
                </a:solidFill>
                <a:latin typeface="Arial"/>
              </a:rPr>
              <a:t>1  ·  COMPUTE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34640"/>
            <a:ext cx="3337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A sensor gives 200 µg/√Hz.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You set a 100 Hz bandwidth.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State the RMS noise.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965960"/>
            <a:ext cx="3520440" cy="621792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50" b="1">
                <a:solidFill>
                  <a:srgbClr val="1A1F24"/>
                </a:solidFill>
                <a:latin typeface="Arial"/>
              </a:rPr>
              <a:t>2  ·  JUDGEMENT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2834640"/>
            <a:ext cx="3337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Name the one specification you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will look for first, for the rest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of your career, before the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headline number.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965960"/>
            <a:ext cx="3520440" cy="621792"/>
          </a:xfrm>
          <a:prstGeom prst="roundRect">
            <a:avLst>
              <a:gd name="adj" fmla="val 10000"/>
            </a:avLst>
          </a:prstGeom>
          <a:solidFill>
            <a:srgbClr val="6B7680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50" b="1">
                <a:solidFill>
                  <a:srgbClr val="F7F5F1"/>
                </a:solidFill>
                <a:latin typeface="Arial"/>
              </a:rPr>
              <a:t>3  ·  MUDDIEST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2834640"/>
            <a:ext cx="3337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What is the one thing today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you are least sure about?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One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257800"/>
            <a:ext cx="10874959" cy="68580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Arial"/>
              </a:rPr>
              <a:t>Question 1 is the one I will actually grade myself on. If the room cannot do it, I taught it badly.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2  ·  Specifications and datasheet-based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7F5F1"/>
                </a:solidFill>
                <a:latin typeface="Arial"/>
              </a:rPr>
              <a:t>Tuesday: Laboratory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0E7C86"/>
                </a:solidFill>
                <a:latin typeface="Arial"/>
              </a:rPr>
              <a:t>Datasheet to data — bring the pre-lab sheet, signed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You already found number 5 on the hunt: the device-identification register.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On Tuesday you read it off real silicon — and prove your sensor is the sensor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you think it 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069080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3708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98324"/>
                </a:solidFill>
                <a:latin typeface="Arial"/>
              </a:rPr>
              <a:t>AND THEN LECTURE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75488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7F5F1"/>
                </a:solidFill>
                <a:latin typeface="Arial"/>
              </a:rPr>
              <a:t>From physical quantity to trustworthy samples — sampling, aliasing,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7F5F1"/>
                </a:solidFill>
                <a:latin typeface="Arial"/>
              </a:rPr>
              <a:t>quantisation, and the ADC configuration that killed the motor.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