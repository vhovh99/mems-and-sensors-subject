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THE BELL: have the hook slide ready. Do not open with administration —</a:t>
            </a:r>
          </a:p>
          <a:p>
            <a:r>
              <a:t>the syllabus, assessment and logistics come at minute 74, not now. The first</a:t>
            </a:r>
          </a:p>
          <a:p>
            <a:r>
              <a:t>90 seconds are the most valuable of the semester; spend them on the mystery.</a:t>
            </a:r>
          </a:p>
          <a:p/>
          <a:p>
            <a:r>
              <a:t>Say: "Before I tell you what this course is, I want to tell you about a motor</a:t>
            </a:r>
          </a:p>
          <a:p>
            <a:r>
              <a:t>that died while somebody was watching it."  Then advance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0:00–0:01. Tell this as a story, not a slide.</a:t>
            </a:r>
          </a:p>
          <a:p/>
          <a:p>
            <a:r>
              <a:t>"An industrial plant instrumented a motor to catch bearing failure early.</a:t>
            </a:r>
          </a:p>
          <a:p>
            <a:r>
              <a:t>Accelerometer on the housing, microcontroller, data logged every day, a</a:t>
            </a:r>
          </a:p>
          <a:p>
            <a:r>
              <a:t>trend line on a screen that somebody actually looked at."</a:t>
            </a:r>
          </a:p>
          <a:p/>
          <a:p>
            <a:r>
              <a:t>Do not rush. Let the room settle into narrative mode.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0:01–0:02.</a:t>
            </a:r>
          </a:p>
          <a:p/>
          <a:p>
            <a:r>
              <a:t>Point at the flat line: "For six weeks, this. A 20 Hz vibration, slowly rising.</a:t>
            </a:r>
          </a:p>
          <a:p>
            <a:r>
              <a:t>Every maintenance engineer in this room would read that as load variation."</a:t>
            </a:r>
          </a:p>
          <a:p/>
          <a:p>
            <a:r>
              <a:t>Then the cliff: "Week seven. The bearing seizes. The motor is scrap."</a:t>
            </a:r>
          </a:p>
          <a:p/>
          <a:p>
            <a:r>
              <a:t>Pause. Then: "Here is what makes this interesting."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0:02–0:03. Read the left column aloud, tick by tick. The rhythm matters —</a:t>
            </a:r>
          </a:p>
          <a:p>
            <a:r>
              <a:t>five ticks in a row builds the paradox.</a:t>
            </a:r>
          </a:p>
          <a:p/>
          <a:p>
            <a:r>
              <a:t>"Every component met its specification. Nobody was negligent. And the motor</a:t>
            </a:r>
          </a:p>
          <a:p>
            <a:r>
              <a:t>is still scrap."</a:t>
            </a:r>
          </a:p>
          <a:p/>
          <a:p>
            <a:r>
              <a:t>Then, flatly: "So I want your verdict." Advance to the poll.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0:03–0:05. Baseline commitment poll — NOT assessment.</a:t>
            </a:r>
          </a:p>
          <a:p/>
          <a:p>
            <a:r>
              <a:t>HOW TO RUN THE VOTE (no polling tool — this is the standard method all semester):</a:t>
            </a:r>
          </a:p>
          <a:p>
            <a:r>
              <a:t>  Question stays on screen. "Hands up for A on my count — three, two, one."</a:t>
            </a:r>
          </a:p>
          <a:p>
            <a:r>
              <a:t>  Then B, then C, then D, then E. One raise per student.</a:t>
            </a:r>
          </a:p>
          <a:p>
            <a:r>
              <a:t>  Count to the nearest quarter of the room and write it down.</a:t>
            </a:r>
          </a:p>
          <a:p>
            <a:r>
              <a:t>  ONLY THEN take two spoken answers: "A — tell me why."</a:t>
            </a:r>
          </a:p>
          <a:p/>
          <a:p>
            <a:r>
              <a:t>SILENT VOTE FIRST, ALWAYS. If anyone says an answer aloud before the hands go up,</a:t>
            </a:r>
          </a:p>
          <a:p>
            <a:r>
              <a:t>the room anchors on it and you lose the independent first vote — which is the whole</a:t>
            </a:r>
          </a:p>
          <a:p>
            <a:r>
              <a:t>mechanism. Voting first costs 40 seconds and protects the entire exercise.</a:t>
            </a:r>
          </a:p>
          <a:p/>
          <a:p>
            <a:r>
              <a:t>CRITICAL: do NOT reveal, hint, or react to the distribution. Say only</a:t>
            </a:r>
          </a:p>
          <a:p>
            <a:r>
              <a:t>"Hold that thought." Any tell here spends the ending you are saving.</a:t>
            </a:r>
          </a:p>
          <a:p/>
          <a:p>
            <a:r>
              <a:t>WRITE DOWN the distribution. You will re-run this exact poll at minute 70 and</a:t>
            </a:r>
          </a:p>
          <a:p>
            <a:r>
              <a:t>show the two side by side. For a first offering, that pair of numbers is the</a:t>
            </a:r>
          </a:p>
          <a:p>
            <a:r>
              <a:t>most useful evidence you will collect today.</a:t>
            </a:r>
          </a:p>
          <a:p/>
          <a:p>
            <a:r>
              <a:t>Expected: A and E dominate — both blame a component or a person rather than the</a:t>
            </a:r>
          </a:p>
          <a:p>
            <a:r>
              <a:t>absence of a system specification. That habit is what this course replaces.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0:05–0:07. Now — and only now — you may say what the course is.</a:t>
            </a:r>
          </a:p>
          <a:p/>
          <a:p>
            <a:r>
              <a:t>Point at the right-hand box explicitly: many students arrive expecting silicon</a:t>
            </a:r>
          </a:p>
          <a:p>
            <a:r>
              <a:t>processing and cleanroom photographs. Kill that expectation in one sentence so</a:t>
            </a:r>
          </a:p>
          <a:p>
            <a:r>
              <a:t>they stop waiting for it. (Misconception M2.)</a:t>
            </a:r>
          </a:p>
          <a:p/>
          <a:p>
            <a:r>
              <a:t>Read the design principle across the bottom slowly. Tell them it is the spine</a:t>
            </a:r>
          </a:p>
          <a:p>
            <a:r>
              <a:t>of the syllabus and that every lab is one arrow 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0:07–0:08. Fast — 60 seconds. Do not read all four aloud word for word.</a:t>
            </a:r>
          </a:p>
          <a:p/>
          <a:p>
            <a:r>
              <a:t>Say: "Four things, all of them verbs. If at the end of the hour you can't do</a:t>
            </a:r>
          </a:p>
          <a:p>
            <a:r>
              <a:t>these four, tell me on the exit ticket and I will fix it at the start of</a:t>
            </a:r>
          </a:p>
          <a:p>
            <a:r>
              <a:t>Lecture 2." That promise is cheap and it buys you real exit-ticket honesty.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0:08. Section marker — 15 seconds, do not linger.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0:08–0:12. Four minutes, no more. This is vocabulary, not physics.</a:t>
            </a:r>
          </a:p>
          <a:p/>
          <a:p>
            <a:r>
              <a:t>The one point worth making: "transducer" is the general term and "sensor" is the</a:t>
            </a:r>
          </a:p>
          <a:p>
            <a:r>
              <a:t>special case that points inward. Most datasheets use them interchangeably; you</a:t>
            </a:r>
          </a:p>
          <a:p>
            <a:r>
              <a:t>should not.</a:t>
            </a:r>
          </a:p>
          <a:p/>
          <a:p>
            <a:r>
              <a:t>The bottom line is the sentence students remember. Deliver it, then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0:12–0:14. First state change of the lecture — get them talking early,</a:t>
            </a:r>
          </a:p>
          <a:p>
            <a:r>
              <a:t>while the cost of speaking is still low.</a:t>
            </a:r>
          </a:p>
          <a:p/>
          <a:p>
            <a:r>
              <a:t>ANSWERS: microphone = sensor, sound pressure. Buzzer = actuator (and a</a:t>
            </a:r>
          </a:p>
          <a:p>
            <a:r>
              <a:t>transducer). Strain gauge = sensor, strain — PASSIVE, it needs excitation.</a:t>
            </a:r>
          </a:p>
          <a:p>
            <a:r>
              <a:t>MEMS mirror = actuator, angular deflection.</a:t>
            </a:r>
          </a:p>
          <a:p/>
          <a:p>
            <a:r>
              <a:t>The strain gauge is the point of the exercise: a passive sensor produces</a:t>
            </a:r>
          </a:p>
          <a:p>
            <a:r>
              <a:t>nothing on its own. That is the seed of Lecture 12's bridge excitation.</a:t>
            </a:r>
          </a:p>
          <a:p/>
          <a:p>
            <a:r>
              <a:t>Take answers from two pairs, 20 seconds each. Do not survey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0:14–0:15. Start with nothing but the physical world.</a:t>
            </a:r>
          </a:p>
          <a:p/>
          <a:p>
            <a:r>
              <a:t>"On the left is the only thing that is actually true: the motor is vibrating.</a:t>
            </a:r>
          </a:p>
          <a:p>
            <a:r>
              <a:t>Everything to the right of this box is a story we tell about it. Our job is to</a:t>
            </a:r>
          </a:p>
          <a:p>
            <a:r>
              <a:t>make the story faithful."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0:15–0:17. THIS IS THE SLIDE STUDENTS DO NOT EXPECT.</a:t>
            </a:r>
          </a:p>
          <a:p/>
          <a:p>
            <a:r>
              <a:t>Box 2 first: "Before any electronics exist, the vibration has to travel through</a:t>
            </a:r>
          </a:p>
          <a:p>
            <a:r>
              <a:t>a bolt, a bracket, a housing, maybe a rubber pad. That mechanical path is part of</a:t>
            </a:r>
          </a:p>
          <a:p>
            <a:r>
              <a:t>your instrument. It has a transfer function. Nobody puts it in the error budget."</a:t>
            </a:r>
          </a:p>
          <a:p/>
          <a:p>
            <a:r>
              <a:t>Then box 3, transduction: "Now, finally, physics becomes electricity —</a:t>
            </a:r>
          </a:p>
          <a:p>
            <a:r>
              <a:t>capacitance, resistance, charge. Lecture 4 is about how; Lectures 5 to 11 are</a:t>
            </a:r>
          </a:p>
          <a:p>
            <a:r>
              <a:t>about which."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0:17–0:20.</a:t>
            </a:r>
          </a:p>
          <a:p/>
          <a:p>
            <a:r>
              <a:t>Box 4 — conditioning: amplify, filter, level-shift. Say the words "anti-alias</a:t>
            </a:r>
          </a:p>
          <a:p>
            <a:r>
              <a:t>filter" now and flag it: "Remember this box. We come back to it at the end of</a:t>
            </a:r>
          </a:p>
          <a:p>
            <a:r>
              <a:t>the hour and it will cost somebody a motor."</a:t>
            </a:r>
          </a:p>
          <a:p/>
          <a:p>
            <a:r>
              <a:t>Box 5 — sampling and quantisation: "Two separate things happen here and students</a:t>
            </a:r>
          </a:p>
          <a:p>
            <a:r>
              <a:t>merge them for years. Sampling chops time. Quantisation chops amplitude. They</a:t>
            </a:r>
          </a:p>
          <a:p>
            <a:r>
              <a:t>fail differently."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0:20–0:22. The complete spine of the course.</a:t>
            </a:r>
          </a:p>
          <a:p/>
          <a:p>
            <a:r>
              <a:t>Box 6 — codes to units: "The sensor never outputs acceleration. It outputs an</a:t>
            </a:r>
          </a:p>
          <a:p>
            <a:r>
              <a:t>integer. Somebody multiplies it by a number from a datasheet. If that number is</a:t>
            </a:r>
          </a:p>
          <a:p>
            <a:r>
              <a:t>wrong, everything downstream is confidently wrong." (Misconception M4.)</a:t>
            </a:r>
          </a:p>
          <a:p/>
          <a:p>
            <a:r>
              <a:t>Box 7 — timestamp and decision: "An unstamped sample is nearly worthless. If you</a:t>
            </a:r>
          </a:p>
          <a:p>
            <a:r>
              <a:t>cannot say when it was taken, you cannot compute a frequency — and frequency is</a:t>
            </a:r>
          </a:p>
          <a:p>
            <a:r>
              <a:t>what tells you the bearing is dying."</a:t>
            </a:r>
          </a:p>
          <a:p/>
          <a:p>
            <a:r>
              <a:t>Say plainly: "This diagram is the syllabus. Sixteen lectures, and every one of</a:t>
            </a:r>
          </a:p>
          <a:p>
            <a:r>
              <a:t>them lives in one of these boxes."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0:22–0:23. Walk the numbers left to right, then down and back.</a:t>
            </a:r>
          </a:p>
          <a:p/>
          <a:p>
            <a:r>
              <a:t>The teaching beat is the 0.9 → 0.6 mg step. Ask: "Which of these numbers would</a:t>
            </a:r>
          </a:p>
          <a:p>
            <a:r>
              <a:t>appear in a datasheet?" Answer: only the ones inside boxes 3 to 6. The 33 % loss</a:t>
            </a:r>
          </a:p>
          <a:p>
            <a:r>
              <a:t>in box 2 is invisible to every datasheet ever written, and it is the integrator's</a:t>
            </a:r>
          </a:p>
          <a:p>
            <a:r>
              <a:t>problem — yours.</a:t>
            </a:r>
          </a:p>
          <a:p/>
          <a:p>
            <a:r>
              <a:t>Then: "Now hold on to that, because I want to test whether you believe it."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0:23–0:24. Do NOT read the whole table. Read the right-hand column only.</a:t>
            </a:r>
          </a:p>
          <a:p/>
          <a:p>
            <a:r>
              <a:t>The word to land on is "Never" in the sampling row. Circle it with the cursor.</a:t>
            </a:r>
          </a:p>
          <a:p>
            <a:r>
              <a:t>"This is the only 'never' on the slide. Remember which row it is on."</a:t>
            </a:r>
          </a:p>
          <a:p/>
          <a:p>
            <a:r>
              <a:t>That is the third and last time you plant the aliasing seed before the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0:24–0:28. First real ConcepTest. TARGET 40–60 % first vote.</a:t>
            </a:r>
          </a:p>
          <a:p/>
          <a:p>
            <a:r>
              <a:t>PEER INSTRUCTION PROTOCOL — run it properly:</a:t>
            </a:r>
          </a:p>
          <a:p>
            <a:r>
              <a:t>  1. Silent individual vote. 45 s. Everyone commits.</a:t>
            </a:r>
          </a:p>
          <a:p>
            <a:r>
              <a:t>  2. "Find someone with a different answer. 90 seconds. Convince them."</a:t>
            </a:r>
          </a:p>
          <a:p>
            <a:r>
              <a:t>  3. Re-vote. Announce both percentages out loud.</a:t>
            </a:r>
          </a:p>
          <a:p/>
          <a:p>
            <a:r>
              <a:t>IF &gt;70 % FIRST VOTE: skip discussion, take one justification, move on.</a:t>
            </a:r>
          </a:p>
          <a:p>
            <a:r>
              <a:t>IF &lt;30 %: do not discuss. Redraw the rubber pad as a low-pass filter sitting</a:t>
            </a:r>
          </a:p>
          <a:p>
            <a:r>
              <a:t>between the measurand and the proof mass, then re-vote.</a:t>
            </a:r>
          </a:p>
          <a:p/>
          <a:p>
            <a:r>
              <a:t>RECORD BOTH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Reveal. Then close the loop on each distractor — 20 seconds each, no longer:</a:t>
            </a:r>
          </a:p>
          <a:p/>
          <a:p>
            <a:r>
              <a:t>A — confuses resolution with accuracy. 16 bits is plenty; that was never the issue.</a:t>
            </a:r>
          </a:p>
          <a:p>
            <a:r>
              <a:t>B — a real bug, but it changes the SCALE of the answer, not its VALIDITY.</a:t>
            </a:r>
          </a:p>
          <a:p>
            <a:r>
              <a:t>D — the exact misconception this course exists to remove: fine resolution on a</a:t>
            </a:r>
          </a:p>
          <a:p>
            <a:r>
              <a:t>    corrupted signal gives you a precise wrong answer.</a:t>
            </a:r>
          </a:p>
          <a:p/>
          <a:p>
            <a:r>
              <a:t>Then: "This is why Lecture 5 specifies mounting orientation and Lecture 16</a:t>
            </a:r>
          </a:p>
          <a:p>
            <a:r>
              <a:t>specifies mechanical location. They are not housekeeping. They are link one."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0:28. Five seconds of silence on this slide. Let it land, then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0:28–0:29. Section marker, 15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0:29–0:33. Draw attention to three symbols only: m, k, d.</a:t>
            </a:r>
          </a:p>
          <a:p/>
          <a:p>
            <a:r>
              <a:t>"A mass on springs between two plates. That is a MEMS accelerometer. If you</a:t>
            </a:r>
          </a:p>
          <a:p>
            <a:r>
              <a:t>understood the spring-mass system in mechanics, you already understand the</a:t>
            </a:r>
          </a:p>
          <a:p>
            <a:r>
              <a:t>device — what you do not yet have is intuition for what happens when you make</a:t>
            </a:r>
          </a:p>
          <a:p>
            <a:r>
              <a:t>it a thousand times smaller."</a:t>
            </a:r>
          </a:p>
          <a:p/>
          <a:p>
            <a:r>
              <a:t>The 1–2 µm gap is worth a beat: "That gap is smaller than a red blood cell.</a:t>
            </a:r>
          </a:p>
          <a:p>
            <a:r>
              <a:t>It is also why a speck of dust in the package is a catastrophe, and why</a:t>
            </a:r>
          </a:p>
          <a:p>
            <a:r>
              <a:t>Lecture 4 spends its time on packaging rather than lithography."</a:t>
            </a:r>
          </a:p>
          <a:p/>
          <a:p>
            <a:r>
              <a:t>Do NOT derive the transfer function. That is Lecture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0:33–0:36. Slow down. This is the load-bearing slide of the lecture.</a:t>
            </a:r>
          </a:p>
          <a:p/>
          <a:p>
            <a:r>
              <a:t>Do the substitution on the board, out loud, even though it is on the slide:</a:t>
            </a:r>
          </a:p>
          <a:p>
            <a:r>
              <a:t>  k = E·w·t³ / 4L³   →   (s)(s³)/(s³)  =  s</a:t>
            </a:r>
          </a:p>
          <a:p/>
          <a:p>
            <a:r>
              <a:t>"Mass goes as the cube. Stiffness goes as the first power. Students assume they</a:t>
            </a:r>
          </a:p>
          <a:p>
            <a:r>
              <a:t>cancel. They do not, and the gap between them is where MEMS lives."</a:t>
            </a:r>
          </a:p>
          <a:p/>
          <a:p>
            <a:r>
              <a:t>Write k ∝ L¹ and m ∝ L³ on the physical board and LEAVE THEM THERE for the</a:t>
            </a:r>
          </a:p>
          <a:p>
            <a:r>
              <a:t>rest of the lecture. You will point at them again during Poll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0:36–0:39.</a:t>
            </a:r>
          </a:p>
          <a:p/>
          <a:p>
            <a:r>
              <a:t>Walk the algebra once: √(L/L³) = √(L⁻²) = 1/L. Then the table, top to bottom —</a:t>
            </a:r>
          </a:p>
          <a:p>
            <a:r>
              <a:t>five orders of magnitude in size, eight in frequency.</a:t>
            </a:r>
          </a:p>
          <a:p/>
          <a:p>
            <a:r>
              <a:t>The right-hand column is the engineering payoff and it is what connects to</a:t>
            </a:r>
          </a:p>
          <a:p>
            <a:r>
              <a:t>Lecture 2: bandwidth. "A high resonant frequency is not a curiosity. It is the</a:t>
            </a:r>
          </a:p>
          <a:p>
            <a:r>
              <a:t>reason you can put an accelerometer on a bearing at all."</a:t>
            </a:r>
          </a:p>
          <a:p/>
          <a:p>
            <a:r>
              <a:t>Then set up the poll: "Now — you have the two exponents. Use them."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0:39–0:43. HARDEST ITEM. TARGET 30–50 % first vote.</a:t>
            </a:r>
          </a:p>
          <a:p/>
          <a:p>
            <a:r>
              <a:t>Full peer instruction. Script for step 2:</a:t>
            </a:r>
          </a:p>
          <a:p>
            <a:r>
              <a:t>  "Find someone who voted differently. 90 seconds. Convince them using</a:t>
            </a:r>
          </a:p>
          <a:p>
            <a:r>
              <a:t>   k ∝ L and m ∝ L³ — not using your intuition about small things."</a:t>
            </a:r>
          </a:p>
          <a:p/>
          <a:p>
            <a:r>
              <a:t>C IS THE TRAP and it is a good-faith error: it assumes k and m scale together.</a:t>
            </a:r>
          </a:p>
          <a:p>
            <a:r>
              <a:t>Point at the board. k ∝ L¹, m ∝ L³, so k/m ∝ L⁻², so f₀ ∝ 1/L.</a:t>
            </a:r>
          </a:p>
          <a:p/>
          <a:p>
            <a:r>
              <a:t>IF &lt;20 % CORRECT AFTER THE RE-VOTE: stop and derive it in three lines on the</a:t>
            </a:r>
          </a:p>
          <a:p>
            <a:r>
              <a:t>board, then vote a third time. This concept is load-bearing for Lectures 5, 6</a:t>
            </a:r>
          </a:p>
          <a:p>
            <a:r>
              <a:t>and 11 — four extra minutes here is a good trade.</a:t>
            </a:r>
          </a:p>
          <a:p/>
          <a:p>
            <a:r>
              <a:t>RECORD BOTH NUMBERS. If this lands above 70 % first vote, your scaling chunk</a:t>
            </a:r>
          </a:p>
          <a:p>
            <a:r>
              <a:t>was too explicit — note it and compress next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Reveal, then explain the trade honestly — this is the most intellectually</a:t>
            </a:r>
          </a:p>
          <a:p>
            <a:r>
              <a:t>satisfying two minutes of the lecture:</a:t>
            </a:r>
          </a:p>
          <a:p/>
          <a:p>
            <a:r>
              <a:t>"Why doesn't everyone just make them smaller? Because the proof mass is what</a:t>
            </a:r>
          </a:p>
          <a:p>
            <a:r>
              <a:t>averages out the thermal buffeting of the gas molecules around it. Smaller mass,</a:t>
            </a:r>
          </a:p>
          <a:p>
            <a:r>
              <a:t>larger Brownian noise-equivalent acceleration. You are trading noise floor for</a:t>
            </a:r>
          </a:p>
          <a:p>
            <a:r>
              <a:t>bandwidth, and the datasheet will make you choose."</a:t>
            </a:r>
          </a:p>
          <a:p/>
          <a:p>
            <a:r>
              <a:t>Do not write out the full noise formula on the board. The proportionality —</a:t>
            </a:r>
          </a:p>
          <a:p>
            <a:r>
              <a:t>noise up as m goes down — is the whole content.</a:t>
            </a:r>
          </a:p>
          <a:p/>
          <a:p>
            <a:r>
              <a:t>Then: "So when you read a noise-density figure in Lecture 2, you now know what</a:t>
            </a:r>
          </a:p>
          <a:p>
            <a:r>
              <a:t>it costs to make it smaller."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0:43–0:44. 60 seconds. Read only the right-hand column aloud.</a:t>
            </a:r>
          </a:p>
          <a:p/>
          <a:p>
            <a:r>
              <a:t>The A/V line at the bottom is the unifying idea: gravity and inertia are volume</a:t>
            </a:r>
          </a:p>
          <a:p>
            <a:r>
              <a:t>effects, friction and adhesion and surface tension are area effects. Shrink, and</a:t>
            </a:r>
          </a:p>
          <a:p>
            <a:r>
              <a:t>the area effects win. That is stiction, and it is why a MEMS device can weld</a:t>
            </a:r>
          </a:p>
          <a:p>
            <a:r>
              <a:t>itself shut.</a:t>
            </a:r>
          </a:p>
          <a:p/>
          <a:p>
            <a:r>
              <a:t>"A macroscopic engineer worries about mass. A MEMS engineer worries about</a:t>
            </a:r>
          </a:p>
          <a:p>
            <a:r>
              <a:t>surfaces."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0:44–0:48. DO NOT SKIP THIS AND DO NOT SHORTEN IT BELOW 3 MINUTES.</a:t>
            </a:r>
          </a:p>
          <a:p/>
          <a:p>
            <a:r>
              <a:t>Genuinely make them stand — posture change is half the effect. Then slides</a:t>
            </a:r>
          </a:p>
          <a:p>
            <a:r>
              <a:t>BLANK (press B in most presenters) so recall is unaided. Free recall with the</a:t>
            </a:r>
          </a:p>
          <a:p>
            <a:r>
              <a:t>screen off is far stronger than any amount of re-reading.</a:t>
            </a:r>
          </a:p>
          <a:p/>
          <a:p>
            <a:r>
              <a:t>Walk the room. You will see which boxes are missing across the whole cohort —</a:t>
            </a:r>
          </a:p>
          <a:p>
            <a:r>
              <a:t>that is live diagnostic data, and for a first offering it is gold. Note the two</a:t>
            </a:r>
          </a:p>
          <a:p>
            <a:r>
              <a:t>most commonly forgotten boxes.</a:t>
            </a:r>
          </a:p>
          <a:p/>
          <a:p>
            <a:r>
              <a:t>Then show the next slide and have them self-correct in a different colour.</a:t>
            </a:r>
          </a:p>
          <a:p>
            <a:r>
              <a:t>They keep the sheet; it is their reference page for Lab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0:48. 45 seconds. Self-correction in a second colour is the point —</a:t>
            </a:r>
          </a:p>
          <a:p>
            <a:r>
              <a:t>seeing your own gap is what makes it stick.</a:t>
            </a:r>
          </a:p>
          <a:p/>
          <a:p>
            <a:r>
              <a:t>Name the two commonly missed boxes (adjust to what you actually saw while</a:t>
            </a:r>
          </a:p>
          <a:p>
            <a:r>
              <a:t>walking the room — that is better data than my prediction).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0:48–0:49. Section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0:49–0:50.</a:t>
            </a:r>
          </a:p>
          <a:p/>
          <a:p>
            <a:r>
              <a:t>Read it in a slightly bored managerial voice. Then: "There is not one number in</a:t>
            </a:r>
          </a:p>
          <a:p>
            <a:r>
              <a:t>that sentence. Until there is, you cannot buy anything, you cannot design</a:t>
            </a:r>
          </a:p>
          <a:p>
            <a:r>
              <a:t>anything, and you certainly cannot be held to anything."</a:t>
            </a:r>
          </a:p>
          <a:p/>
          <a:p>
            <a:r>
              <a:t>"So here is the interrogation."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0:50–0:54. Four minutes. Do not lecture all seven — read the headings,</a:t>
            </a:r>
          </a:p>
          <a:p>
            <a:r>
              <a:t>expand only on ACCURACY and BANDWIDTH.</a:t>
            </a:r>
          </a:p>
          <a:p/>
          <a:p>
            <a:r>
              <a:t>ACCURACY: "Notice the second half of the question — 'over what temperature'.</a:t>
            </a:r>
          </a:p>
          <a:p>
            <a:r>
              <a:t>An accuracy figure without a temperature range is marketing, not engineering."</a:t>
            </a:r>
          </a:p>
          <a:p>
            <a:r>
              <a:t>(This is the direct set-up for Lecture 2.)</a:t>
            </a:r>
          </a:p>
          <a:p/>
          <a:p>
            <a:r>
              <a:t>BANDWIDTH is highlighted deliberately. Do not explain why yet. If a student</a:t>
            </a:r>
          </a:p>
          <a:p>
            <a:r>
              <a:t>asks, say "good instinct — hold it for ten minutes."</a:t>
            </a:r>
          </a:p>
          <a:p/>
          <a:p>
            <a:r>
              <a:t>Tell them this list is the semester project's first deliverable and that they</a:t>
            </a:r>
          </a:p>
          <a:p>
            <a:r>
              <a:t>will use it in every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0:54–0:58. Build this live if you can — reveal the middle column row by</a:t>
            </a:r>
          </a:p>
          <a:p>
            <a:r>
              <a:t>row and ask the room for each number before showing it.</a:t>
            </a:r>
          </a:p>
          <a:p/>
          <a:p>
            <a:r>
              <a:t>The third column is the pedagogical point: EVERY specification number has a</a:t>
            </a:r>
          </a:p>
          <a:p>
            <a:r>
              <a:t>justification. A spec line without a reason is a guess wearing a suit.</a:t>
            </a:r>
          </a:p>
          <a:p/>
          <a:p>
            <a:r>
              <a:t>Note the bandwidth row out loud, then say nothing more about it.</a:t>
            </a:r>
          </a:p>
          <a:p/>
          <a:p>
            <a:r>
              <a:t>"Notice what is NOT on this slide: a manufacturer, a part number, a price. Those</a:t>
            </a:r>
          </a:p>
          <a:p>
            <a:r>
              <a:t>come after. Lecture 2 is entirely about what happens next."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0:58–1:02. Pairs, 4 minutes. Circulate; do not answer, redirect.</a:t>
            </a:r>
          </a:p>
          <a:p/>
          <a:p>
            <a:r>
              <a:t>THE INTENDED INSIGHT: the measurand is not altitude — it is barometric</a:t>
            </a:r>
          </a:p>
          <a:p>
            <a:r>
              <a:t>PRESSURE, and altitude is derived. That reframing is the whole exercise, and it</a:t>
            </a:r>
          </a:p>
          <a:p>
            <a:r>
              <a:t>previews Lab 5 directly.</a:t>
            </a:r>
          </a:p>
          <a:p/>
          <a:p>
            <a:r>
              <a:t>THE TRAP is range vs resolution: range might be 950–1050 hPa (weather), while</a:t>
            </a:r>
          </a:p>
          <a:p>
            <a:r>
              <a:t>the resolution needed for ±0.5 m is about 0.06 hPa. Four orders of magnitude</a:t>
            </a:r>
          </a:p>
          <a:p>
            <a:r>
              <a:t>apart. Students routinely conflate these two, and the exit ticket will show you</a:t>
            </a:r>
          </a:p>
          <a:p>
            <a:r>
              <a:t>exactly how many still do.</a:t>
            </a:r>
          </a:p>
          <a:p/>
          <a:p>
            <a:r>
              <a:t>If a pair finishes early: "now tell me what happens to your altitude reading</a:t>
            </a:r>
          </a:p>
          <a:p>
            <a:r>
              <a:t>when a door opens in the room."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1:02–1:05. Transfer poll. TARGET 55–75 % — this one should be gettable.</a:t>
            </a:r>
          </a:p>
          <a:p/>
          <a:p>
            <a:r>
              <a:t>Short peer instruction: 60 seconds, then re-vote.</a:t>
            </a:r>
          </a:p>
          <a:p/>
          <a:p>
            <a:r>
              <a:t>The framing in the note line is the actual learning objective: engineering</a:t>
            </a:r>
          </a:p>
          <a:p>
            <a:r>
              <a:t>judgement is knowing which specification line is FATAL versus merely</a:t>
            </a:r>
          </a:p>
          <a:p>
            <a:r>
              <a:t>SUBOPTIMAL. All four matter. Only one of them decides feasibility.</a:t>
            </a:r>
          </a:p>
          <a:p/>
          <a:p>
            <a:r>
              <a:t>Then: "Hold that answer. We are going back to the motor."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briefly — 45 seconds. Do not over-explain; the next four slides do the</a:t>
            </a:r>
          </a:p>
          <a:p>
            <a:r>
              <a:t>explaining.</a:t>
            </a:r>
          </a:p>
          <a:p/>
          <a:p>
            <a:r>
              <a:t>"Range too small: you clip the peaks. Resolution too coarse: you miss small</a:t>
            </a:r>
          </a:p>
          <a:p>
            <a:r>
              <a:t>faults. Temperature too low: it dies in the cabinet. All bad. All survivable.</a:t>
            </a:r>
          </a:p>
          <a:p>
            <a:r>
              <a:t>Bandwidth too low: you are not measuring the thing you think you are measuring</a:t>
            </a:r>
          </a:p>
          <a:p>
            <a:r>
              <a:t>at all. Let me show you."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1:05–1:07. Two minutes. Keep it short — the detail is in the handout.</a:t>
            </a:r>
          </a:p>
          <a:p/>
          <a:p>
            <a:r>
              <a:t>The one thing to emphasise: deliverable 1 contains NO technology. Students will</a:t>
            </a:r>
          </a:p>
          <a:p>
            <a:r>
              <a:t>want to write "STM32 + MPU6050". Refuse it. "If your first page names a part, you</a:t>
            </a:r>
          </a:p>
          <a:p>
            <a:r>
              <a:t>have skipped the only step that cannot be undone later."</a:t>
            </a:r>
          </a:p>
          <a:p/>
          <a:p>
            <a:r>
              <a:t>Teams are the lab teams — say this explicitly so Week 2 is not chaos.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1:07–1:08. Physical commitment beats a poll here — you can see the whole</a:t>
            </a:r>
          </a:p>
          <a:p>
            <a:r>
              <a:t>room at once, and so can they.</a:t>
            </a:r>
          </a:p>
          <a:p/>
          <a:p>
            <a:r>
              <a:t>Wait until every hand is on the paper. Genuinely wait. Then look around and</a:t>
            </a:r>
          </a:p>
          <a:p>
            <a:r>
              <a:t>narrate what you see: "Most of you are on box 5. Some on box 2 — and after the</a:t>
            </a:r>
          </a:p>
          <a:p>
            <a:r>
              <a:t>rubber pad question, I understand why."</a:t>
            </a:r>
          </a:p>
          <a:p/>
          <a:p>
            <a:r>
              <a:t>Then: "Box 5. Sampling. Here are the numbers nobody wrote down."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1:08–1:10. Let the three numbers sit for a moment before you speak.</a:t>
            </a:r>
          </a:p>
          <a:p/>
          <a:p>
            <a:r>
              <a:t>"1520 Hz of real, physical, destructive vibration. Sampled 100 times a second.</a:t>
            </a:r>
          </a:p>
          <a:p>
            <a:r>
              <a:t>No filter."</a:t>
            </a:r>
          </a:p>
          <a:p/>
          <a:p>
            <a:r>
              <a:t>State Nyquist plainly and move to the arithmetic — the next slide is where the</a:t>
            </a:r>
          </a:p>
          <a:p>
            <a:r>
              <a:t>understanding actually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1:10–1:13. THE INTELLECTUAL CENTRE OF THE LECTURE. Do not rush it.</a:t>
            </a:r>
          </a:p>
          <a:p/>
          <a:p>
            <a:r>
              <a:t>Walk it: "Here is the real signal — fast, teal. Here are the only instants the</a:t>
            </a:r>
          </a:p>
          <a:p>
            <a:r>
              <a:t>ADC ever looked — the red dots. Now: draw the smoothest curve you can through</a:t>
            </a:r>
          </a:p>
          <a:p>
            <a:r>
              <a:t>just the dots." Trace the dashed red line with your hand.</a:t>
            </a:r>
          </a:p>
          <a:p/>
          <a:p>
            <a:r>
              <a:t>"Twenty hertz. It is not noise, it is not a bug, it is not a broken sensor.</a:t>
            </a:r>
          </a:p>
          <a:p>
            <a:r>
              <a:t>It is the arithmetic of looking too slowly."</a:t>
            </a:r>
          </a:p>
          <a:p/>
          <a:p>
            <a:r>
              <a:t>Do the sum aloud: 15 × 100 = 1500. 1520 − 1500 = 20.</a:t>
            </a:r>
          </a:p>
          <a:p/>
          <a:p>
            <a:r>
              <a:t>Then the killer detail — say it slowly: "The shaft turns at 1500 rpm, which is</a:t>
            </a:r>
          </a:p>
          <a:p>
            <a:r>
              <a:t>25 Hz. So a 20 Hz component looked completely plausible to everyone who saw it."</a:t>
            </a:r>
          </a:p>
          <a:p/>
          <a:p>
            <a:r>
              <a:t>That is why nobody caught it. The wrong answer was believable.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1:13–1:14. Silence. Read it once, slowly. Do not add anything.</a:t>
            </a:r>
          </a:p>
          <a:p/>
          <a:p>
            <a:r>
              <a:t>This is the sentence you want them to still have in Week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1:14–1:15. Re-run POLL 1 here if you have 60 seconds — show the original</a:t>
            </a:r>
          </a:p>
          <a:p>
            <a:r>
              <a:t>distribution next to the new one. The shift is the most persuasive thing you can</a:t>
            </a:r>
          </a:p>
          <a:p>
            <a:r>
              <a:t>put on a screen in week one.</a:t>
            </a:r>
          </a:p>
          <a:p/>
          <a:p>
            <a:r>
              <a:t>Then connect forward: "You will alias a signal deliberately in Lab 2, in week</a:t>
            </a:r>
          </a:p>
          <a:p>
            <a:r>
              <a:t>four. It is much more fun when you do it on purpose."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1:15–1:16. Ninety seconds. Read the four bold lines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1:16–1:18.</a:t>
            </a:r>
          </a:p>
          <a:p/>
          <a:p>
            <a:r>
              <a:t>The bottom line is true and students respond to it — say it out loud. Honesty</a:t>
            </a:r>
          </a:p>
          <a:p>
            <a:r>
              <a:t>about a first offering buys you far better data than pretending to authority.</a:t>
            </a:r>
          </a:p>
          <a:p/>
          <a:p>
            <a:r>
              <a:t>COLLECT THESE AND KEEP THEM. Transcribe the muddiest points into one list. Open</a:t>
            </a:r>
          </a:p>
          <a:p>
            <a:r>
              <a:t>Lecture 2 by answering the top three in 90 seconds, referring to concepts and</a:t>
            </a:r>
          </a:p>
          <a:p>
            <a:r>
              <a:t>never to students. This single habit does more for your credibility than</a:t>
            </a:r>
          </a:p>
          <a:p>
            <a:r>
              <a:t>anything else in the first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1:18–1:19. THE AGREED MITIGATION for the ordering problem — Lab 1 runs</a:t>
            </a:r>
          </a:p>
          <a:p>
            <a:r>
              <a:t>a week before Lecture 3 teaches digital interfaces. Do not skip this slide.</a:t>
            </a:r>
          </a:p>
          <a:p/>
          <a:p>
            <a:r>
              <a:t>Be explicit and disarming about it: "You have not been taught I²C yet, and you</a:t>
            </a:r>
          </a:p>
          <a:p>
            <a:r>
              <a:t>have not been taught to program this board yet. Neither is an accident. The</a:t>
            </a:r>
          </a:p>
          <a:p>
            <a:r>
              <a:t>boards are already flashed with a console: you will type register addresses that</a:t>
            </a:r>
          </a:p>
          <a:p>
            <a:r>
              <a:t>YOU took from the datasheet, and you will do the arithmetic yourself. You write</a:t>
            </a:r>
          </a:p>
          <a:p>
            <a:r>
              <a:t>firmware later in the semester."</a:t>
            </a:r>
          </a:p>
          <a:p/>
          <a:p>
            <a:r>
              <a:t>Say the last part plainly — some students will have been dreading exactly that,</a:t>
            </a:r>
          </a:p>
          <a:p>
            <a:r>
              <a:t>and a few will be disappointed. Both are worth defusing in week one.</a:t>
            </a:r>
          </a:p>
          <a:p/>
          <a:p>
            <a:r>
              <a:t>Emphasise the gate. It exists to stop somebody putting 5 V on a 1.8 V part.</a:t>
            </a:r>
          </a:p>
          <a:p/>
          <a:p>
            <a:r>
              <a:t>Point at the right-hand column: every bench action maps to a box in today's</a:t>
            </a:r>
          </a:p>
          <a:p>
            <a:r>
              <a:t>diagram. That is why they keep the sketch.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1:19–1:20. Do not overrun. End on time in week one and they will</a:t>
            </a:r>
          </a:p>
          <a:p>
            <a:r>
              <a:t>believe you for fifteen more weeks.</a:t>
            </a:r>
          </a:p>
          <a:p/>
          <a:p>
            <a:r>
              <a:t>Last words: "Next week, two datasheets, and most of this room is going to</a:t>
            </a:r>
          </a:p>
          <a:p>
            <a:r>
              <a:t>choose the wrong part. I am looking forward to it."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7C86"/>
                </a:solidFill>
                <a:latin typeface="Arial"/>
              </a:rPr>
              <a:t>MICROELECTROMECHANICAL SYSTEMS AND SENSORS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3327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7F5F1"/>
                </a:solidFill>
                <a:latin typeface="Arial"/>
              </a:rPr>
              <a:t>MEMS, sensors, and the</a:t>
            </a:r>
          </a:p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7F5F1"/>
                </a:solidFill>
                <a:latin typeface="Arial"/>
              </a:rPr>
              <a:t>measurement-system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4315968"/>
            <a:ext cx="1371600" cy="50800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617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B8C0C6"/>
                </a:solidFill>
                <a:latin typeface="Arial"/>
              </a:rPr>
              <a:t>Lecture 1 of 16   ·   80 minutes   ·   Module A: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2578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6B7680"/>
                </a:solidFill>
                <a:latin typeface="Arial"/>
              </a:rPr>
              <a:t>Bachelor programme · Electrical Engineering · 7th semester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6B7680"/>
                </a:solidFill>
                <a:latin typeface="Arial"/>
              </a:rPr>
              <a:t>Institute of Energy and Electrical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Arial"/>
              </a:rPr>
              <a:t>MINUTE 0  ·  THE HOOK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100584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600" b="1" i="0">
                <a:solidFill>
                  <a:srgbClr val="F7F5F1"/>
                </a:solidFill>
                <a:latin typeface="Arial"/>
              </a:rPr>
              <a:t>The motor that died</a:t>
            </a:r>
          </a:p>
          <a:p>
            <a:pPr algn="l">
              <a:lnSpc>
                <a:spcPct val="112000"/>
              </a:lnSpc>
            </a:pPr>
            <a:r>
              <a:rPr sz="4600" b="1" i="0">
                <a:solidFill>
                  <a:srgbClr val="F7F5F1"/>
                </a:solidFill>
                <a:latin typeface="Arial"/>
              </a:rPr>
              <a:t>under observation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114800"/>
            <a:ext cx="1371600" cy="50800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4348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B8C0C6"/>
                </a:solidFill>
                <a:latin typeface="Arial"/>
              </a:rPr>
              <a:t>A 1500 rpm induction motor.  A vibration monitor.  Six weeks of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680"/>
                </a:solidFill>
                <a:latin typeface="Arial"/>
              </a:rPr>
              <a:t>WHAT THE SCREEN SHOWED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7F5F1"/>
                </a:solidFill>
                <a:latin typeface="Arial"/>
              </a:rPr>
              <a:t>Six weeks of calm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794760"/>
            <a:ext cx="9875520" cy="12700"/>
          </a:xfrm>
          <a:prstGeom prst="rect">
            <a:avLst/>
          </a:prstGeom>
          <a:solidFill>
            <a:srgbClr val="6B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658368" y="3098470"/>
            <a:ext cx="8778240" cy="357542"/>
          </a:xfrm>
          <a:custGeom>
            <a:avLst/>
            <a:gdLst/>
            <a:ahLst/>
            <a:cxnLst/>
            <a:rect l="l" t="t" r="r" b="b"/>
            <a:pathLst>
              <a:path w="8778240" h="357542">
                <a:moveTo>
                  <a:pt x="0" y="312242"/>
                </a:moveTo>
                <a:lnTo>
                  <a:pt x="146304" y="357542"/>
                </a:lnTo>
                <a:lnTo>
                  <a:pt x="292608" y="290246"/>
                </a:lnTo>
                <a:lnTo>
                  <a:pt x="438912" y="251964"/>
                </a:lnTo>
                <a:lnTo>
                  <a:pt x="585216" y="318803"/>
                </a:lnTo>
                <a:lnTo>
                  <a:pt x="731520" y="329539"/>
                </a:lnTo>
                <a:lnTo>
                  <a:pt x="877824" y="249611"/>
                </a:lnTo>
                <a:lnTo>
                  <a:pt x="1024128" y="249150"/>
                </a:lnTo>
                <a:lnTo>
                  <a:pt x="1170432" y="318874"/>
                </a:lnTo>
                <a:lnTo>
                  <a:pt x="1316736" y="291046"/>
                </a:lnTo>
                <a:lnTo>
                  <a:pt x="1463040" y="218171"/>
                </a:lnTo>
                <a:lnTo>
                  <a:pt x="1609344" y="254456"/>
                </a:lnTo>
                <a:lnTo>
                  <a:pt x="1755648" y="307659"/>
                </a:lnTo>
                <a:lnTo>
                  <a:pt x="1901952" y="247342"/>
                </a:lnTo>
                <a:lnTo>
                  <a:pt x="2048256" y="199360"/>
                </a:lnTo>
                <a:lnTo>
                  <a:pt x="2194560" y="261719"/>
                </a:lnTo>
                <a:lnTo>
                  <a:pt x="2340864" y="283310"/>
                </a:lnTo>
                <a:lnTo>
                  <a:pt x="2487168" y="205065"/>
                </a:lnTo>
                <a:lnTo>
                  <a:pt x="2633472" y="193315"/>
                </a:lnTo>
                <a:lnTo>
                  <a:pt x="2779776" y="264266"/>
                </a:lnTo>
                <a:lnTo>
                  <a:pt x="2926080" y="247410"/>
                </a:lnTo>
                <a:lnTo>
                  <a:pt x="3072384" y="170481"/>
                </a:lnTo>
                <a:lnTo>
                  <a:pt x="3218688" y="196838"/>
                </a:lnTo>
                <a:lnTo>
                  <a:pt x="3364992" y="256653"/>
                </a:lnTo>
                <a:lnTo>
                  <a:pt x="3511296" y="204560"/>
                </a:lnTo>
                <a:lnTo>
                  <a:pt x="3657600" y="147846"/>
                </a:lnTo>
                <a:lnTo>
                  <a:pt x="3803904" y="204232"/>
                </a:lnTo>
                <a:lnTo>
                  <a:pt x="3950208" y="236094"/>
                </a:lnTo>
                <a:lnTo>
                  <a:pt x="4096512" y="161175"/>
                </a:lnTo>
                <a:lnTo>
                  <a:pt x="4242816" y="138297"/>
                </a:lnTo>
                <a:lnTo>
                  <a:pt x="4389120" y="208789"/>
                </a:lnTo>
                <a:lnTo>
                  <a:pt x="4535424" y="203180"/>
                </a:lnTo>
                <a:lnTo>
                  <a:pt x="4681728" y="123812"/>
                </a:lnTo>
                <a:lnTo>
                  <a:pt x="4828032" y="139551"/>
                </a:lnTo>
                <a:lnTo>
                  <a:pt x="4974336" y="204541"/>
                </a:lnTo>
                <a:lnTo>
                  <a:pt x="5120640" y="161732"/>
                </a:lnTo>
                <a:lnTo>
                  <a:pt x="5266944" y="97451"/>
                </a:lnTo>
                <a:lnTo>
                  <a:pt x="5413248" y="146502"/>
                </a:lnTo>
                <a:lnTo>
                  <a:pt x="5559552" y="187821"/>
                </a:lnTo>
                <a:lnTo>
                  <a:pt x="5705856" y="117801"/>
                </a:lnTo>
                <a:lnTo>
                  <a:pt x="5852160" y="84203"/>
                </a:lnTo>
                <a:lnTo>
                  <a:pt x="5998464" y="152559"/>
                </a:lnTo>
                <a:lnTo>
                  <a:pt x="6144768" y="158220"/>
                </a:lnTo>
                <a:lnTo>
                  <a:pt x="6291072" y="78083"/>
                </a:lnTo>
                <a:lnTo>
                  <a:pt x="6437376" y="82750"/>
                </a:lnTo>
                <a:lnTo>
                  <a:pt x="6583680" y="151363"/>
                </a:lnTo>
                <a:lnTo>
                  <a:pt x="6729984" y="118693"/>
                </a:lnTo>
                <a:lnTo>
                  <a:pt x="6876288" y="48177"/>
                </a:lnTo>
                <a:lnTo>
                  <a:pt x="7022592" y="88696"/>
                </a:lnTo>
                <a:lnTo>
                  <a:pt x="7168896" y="138448"/>
                </a:lnTo>
                <a:lnTo>
                  <a:pt x="7315200" y="74786"/>
                </a:lnTo>
                <a:lnTo>
                  <a:pt x="7461504" y="31117"/>
                </a:lnTo>
                <a:lnTo>
                  <a:pt x="7607808" y="95710"/>
                </a:lnTo>
                <a:lnTo>
                  <a:pt x="7754112" y="112412"/>
                </a:lnTo>
                <a:lnTo>
                  <a:pt x="7900416" y="33193"/>
                </a:lnTo>
                <a:lnTo>
                  <a:pt x="8046720" y="26582"/>
                </a:lnTo>
                <a:lnTo>
                  <a:pt x="8193024" y="97183"/>
                </a:lnTo>
                <a:lnTo>
                  <a:pt x="8339328" y="75278"/>
                </a:lnTo>
                <a:lnTo>
                  <a:pt x="8485632" y="0"/>
                </a:lnTo>
                <a:lnTo>
                  <a:pt x="8631936" y="30981"/>
                </a:lnTo>
                <a:lnTo>
                  <a:pt x="8778240" y="87953"/>
                </a:lnTo>
              </a:path>
            </a:pathLst>
          </a:custGeom>
          <a:noFill/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224528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E7C86"/>
                </a:solidFill>
                <a:latin typeface="Courier New"/>
              </a:rPr>
              <a:t>20 Hz  ·  amplitude slowly rising  ·  read as normal load variation</a:t>
            </a:r>
          </a:p>
        </p:txBody>
      </p:sp>
      <p:sp>
        <p:nvSpPr>
          <p:cNvPr id="10" name="Freeform 9"/>
          <p:cNvSpPr/>
          <p:nvPr/>
        </p:nvSpPr>
        <p:spPr>
          <a:xfrm>
            <a:off x="9436608" y="1463040"/>
            <a:ext cx="566928" cy="2057400"/>
          </a:xfrm>
          <a:custGeom>
            <a:avLst/>
            <a:gdLst/>
            <a:ahLst/>
            <a:cxnLst/>
            <a:rect l="l" t="t" r="r" b="b"/>
            <a:pathLst>
              <a:path w="566928" h="2057400">
                <a:moveTo>
                  <a:pt x="0" y="1673352"/>
                </a:moveTo>
                <a:lnTo>
                  <a:pt x="274320" y="0"/>
                </a:lnTo>
                <a:lnTo>
                  <a:pt x="566928" y="2057400"/>
                </a:lnTo>
              </a:path>
            </a:pathLst>
          </a:custGeom>
          <a:noFill/>
          <a:ln w="381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0" y="14173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ourier New"/>
              </a:rPr>
              <a:t>WEEK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173736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C0392B"/>
                </a:solidFill>
                <a:latin typeface="Arial"/>
              </a:rPr>
              <a:t>bearing seized</a:t>
            </a:r>
          </a:p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C0392B"/>
                </a:solidFill>
                <a:latin typeface="Arial"/>
              </a:rPr>
              <a:t>motor destroyed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9227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680"/>
                </a:solidFill>
                <a:latin typeface="Courier New"/>
              </a:rPr>
              <a:t>week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Nothing failed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The post-mortem checked every component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37033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900" b="1">
                <a:solidFill>
                  <a:srgbClr val="1A1F24"/>
                </a:solidFill>
                <a:latin typeface="Arial"/>
              </a:rPr>
              <a:t>The accelerometer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7" y="209397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E7C86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4648" y="214884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6B7680"/>
                </a:solidFill>
                <a:latin typeface="Arial"/>
              </a:rPr>
              <a:t>met every number in its datasheet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52344"/>
            <a:ext cx="37033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900" b="1">
                <a:solidFill>
                  <a:srgbClr val="1A1F24"/>
                </a:solidFill>
                <a:latin typeface="Arial"/>
              </a:rPr>
              <a:t>The circuit 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880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E7C86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4648" y="2935224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6B7680"/>
                </a:solidFill>
                <a:latin typeface="Arial"/>
              </a:rPr>
              <a:t>no fault found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538728"/>
            <a:ext cx="37033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900" b="1">
                <a:solidFill>
                  <a:srgbClr val="1A1F24"/>
                </a:solidFill>
                <a:latin typeface="Arial"/>
              </a:rPr>
              <a:t>The firmware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36667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E7C86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4648" y="3721608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6B7680"/>
                </a:solidFill>
                <a:latin typeface="Arial"/>
              </a:rPr>
              <a:t>no bug found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325112"/>
            <a:ext cx="37033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900" b="1">
                <a:solidFill>
                  <a:srgbClr val="1A1F24"/>
                </a:solidFill>
                <a:latin typeface="Arial"/>
              </a:rPr>
              <a:t>The data logger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44531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E7C86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4507992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6B7680"/>
                </a:solidFill>
                <a:latin typeface="Arial"/>
              </a:rPr>
              <a:t>logged every single sample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111496"/>
            <a:ext cx="37033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900" b="1">
                <a:solidFill>
                  <a:srgbClr val="1A1F24"/>
                </a:solidFill>
                <a:latin typeface="Arial"/>
              </a:rPr>
              <a:t>The engineer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7" y="52395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E7C86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648" y="5294376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6B7680"/>
                </a:solidFill>
                <a:latin typeface="Arial"/>
              </a:rPr>
              <a:t>looked at the screen every week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Arial"/>
              </a:rPr>
              <a:t>POLL 1   ·   MINUTE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A1F24"/>
                </a:solidFill>
                <a:latin typeface="Arial"/>
              </a:rPr>
              <a:t>Where was the fault?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1087495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76272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85416"/>
            <a:ext cx="98691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F24"/>
                </a:solidFill>
                <a:latin typeface="Arial"/>
              </a:rPr>
              <a:t>The accelerometer was too cheap for industrial 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706624"/>
            <a:ext cx="1087495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825496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34640"/>
            <a:ext cx="98691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F24"/>
                </a:solidFill>
                <a:latin typeface="Arial"/>
              </a:rPr>
              <a:t>There was a firmware bug nobody found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55848"/>
            <a:ext cx="1087495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47472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83864"/>
            <a:ext cx="98691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F24"/>
                </a:solidFill>
                <a:latin typeface="Arial"/>
              </a:rPr>
              <a:t>Nobody specified the sample rate against the frequency of the 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005072"/>
            <a:ext cx="1087495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123944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133088"/>
            <a:ext cx="98691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F24"/>
                </a:solidFill>
                <a:latin typeface="Arial"/>
              </a:rPr>
              <a:t>Bearing degradation cannot be detected by vibration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654296"/>
            <a:ext cx="1087495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773168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782312"/>
            <a:ext cx="98691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F24"/>
                </a:solidFill>
                <a:latin typeface="Arial"/>
              </a:rPr>
              <a:t>The maintenance team ignored a rising trend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6B7680"/>
                </a:solidFill>
                <a:latin typeface="Arial"/>
              </a:rPr>
              <a:t>Commit now. No discussion. I will show you the answer in the last ten minutes of this lecture — and I want to see whether you change your mind.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What this course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and, just as importantly, what it is not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11680"/>
            <a:ext cx="5303520" cy="105156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Arial"/>
              </a:rPr>
              <a:t>THIS COURSE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24612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0" i="0">
                <a:solidFill>
                  <a:srgbClr val="1A1F24"/>
                </a:solidFill>
                <a:latin typeface="Arial"/>
              </a:rPr>
              <a:t>Choosing, interfacing, calibrating and</a:t>
            </a:r>
          </a:p>
          <a:p>
            <a:pPr algn="l">
              <a:lnSpc>
                <a:spcPct val="140000"/>
              </a:lnSpc>
            </a:pPr>
            <a:r>
              <a:rPr sz="2100" b="0" i="0">
                <a:solidFill>
                  <a:srgbClr val="1A1F24"/>
                </a:solidFill>
                <a:latin typeface="Arial"/>
              </a:rPr>
              <a:t>validating real sensors inside</a:t>
            </a:r>
          </a:p>
          <a:p>
            <a:pPr algn="l">
              <a:lnSpc>
                <a:spcPct val="140000"/>
              </a:lnSpc>
            </a:pPr>
            <a:r>
              <a:rPr sz="2100" b="0" i="0">
                <a:solidFill>
                  <a:srgbClr val="1A1F24"/>
                </a:solidFill>
                <a:latin typeface="Arial"/>
              </a:rPr>
              <a:t>real embedded systems.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64808" y="2011680"/>
            <a:ext cx="5303520" cy="1051560"/>
          </a:xfrm>
          <a:prstGeom prst="roundRect">
            <a:avLst>
              <a:gd name="adj" fmla="val 10000"/>
            </a:avLst>
          </a:prstGeom>
          <a:solidFill>
            <a:srgbClr val="E4E2DE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1A1F24"/>
                </a:solidFill>
                <a:latin typeface="Arial"/>
              </a:rPr>
              <a:t>IT IS NOT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324612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0" i="0">
                <a:solidFill>
                  <a:srgbClr val="6B7680"/>
                </a:solidFill>
                <a:latin typeface="Arial"/>
              </a:rPr>
              <a:t>A cleanroom fabrication course.</a:t>
            </a:r>
          </a:p>
          <a:p>
            <a:pPr algn="l">
              <a:lnSpc>
                <a:spcPct val="140000"/>
              </a:lnSpc>
            </a:pPr>
            <a:r>
              <a:rPr sz="2100" b="0" i="0">
                <a:solidFill>
                  <a:srgbClr val="6B7680"/>
                </a:solidFill>
                <a:latin typeface="Arial"/>
              </a:rPr>
              <a:t>We visit fabrication once, in Lecture 4,</a:t>
            </a:r>
          </a:p>
          <a:p>
            <a:pPr algn="l">
              <a:lnSpc>
                <a:spcPct val="140000"/>
              </a:lnSpc>
            </a:pPr>
            <a:r>
              <a:rPr sz="2100" b="0" i="0">
                <a:solidFill>
                  <a:srgbClr val="6B7680"/>
                </a:solidFill>
                <a:latin typeface="Arial"/>
              </a:rPr>
              <a:t>only as deep as packaging and drift require.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074920"/>
            <a:ext cx="10874959" cy="19050"/>
          </a:xfrm>
          <a:prstGeom prst="rect">
            <a:avLst/>
          </a:prstGeom>
          <a:solidFill>
            <a:srgbClr val="E4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349240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 i="0">
                <a:solidFill>
                  <a:srgbClr val="6B7680"/>
                </a:solidFill>
                <a:latin typeface="Arial"/>
              </a:rPr>
              <a:t>The design principle of all sixteen lectures:  </a:t>
            </a:r>
            <a:r>
              <a:rPr sz="1700" b="1" i="0">
                <a:solidFill>
                  <a:srgbClr val="1A1F24"/>
                </a:solidFill>
                <a:latin typeface="Arial"/>
              </a:rPr>
              <a:t>understand the measurand → select the sensor → interface it → acquire valid data → calibrate it → process or fuse it → validate it in a 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By the end of today you can…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00253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DCEDEF"/>
                </a:solidFill>
                <a:latin typeface="Courier New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8" y="19659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E7C86"/>
                </a:solidFill>
                <a:latin typeface="Arial"/>
              </a:rPr>
              <a:t>DRAW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5848" y="1993392"/>
            <a:ext cx="8138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A1F24"/>
                </a:solidFill>
                <a:latin typeface="Arial"/>
              </a:rPr>
              <a:t>the path from a physical quantity to a logged number, and say where information dies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9718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DCEDEF"/>
                </a:solidFill>
                <a:latin typeface="Courier New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2935224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E7C86"/>
                </a:solidFill>
                <a:latin typeface="Arial"/>
              </a:rPr>
              <a:t>CLASSIFY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2962656"/>
            <a:ext cx="8138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A1F24"/>
                </a:solidFill>
                <a:latin typeface="Arial"/>
              </a:rPr>
              <a:t>an unfamiliar device: sensor, transducer or actuator — and name its measurand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94106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DCEDEF"/>
                </a:solidFill>
                <a:latin typeface="Courier New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8" y="390448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E7C86"/>
                </a:solidFill>
                <a:latin typeface="Arial"/>
              </a:rPr>
              <a:t>PREDICT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3931920"/>
            <a:ext cx="8138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A1F24"/>
                </a:solidFill>
                <a:latin typeface="Arial"/>
              </a:rPr>
              <a:t>from scaling laws why MEMS devices are fast — and what gets worse when they shrink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91032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DCEDEF"/>
                </a:solidFill>
                <a:latin typeface="Courier New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8" y="487375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E7C86"/>
                </a:solidFill>
                <a:latin typeface="Arial"/>
              </a:rPr>
              <a:t>CONVERT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4901184"/>
            <a:ext cx="8138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A1F24"/>
                </a:solidFill>
                <a:latin typeface="Arial"/>
              </a:rPr>
              <a:t>a vague request into a measurement specification you could order against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Notice that all four are verbs. None of them is “know about”.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CHUNK 1  ·  MINUTES 8–26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90461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The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0127" y="2560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6B7680"/>
                </a:solidFill>
                <a:latin typeface="Courier New"/>
              </a:rPr>
              <a:t>08:00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794760"/>
            <a:ext cx="1371600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160520"/>
            <a:ext cx="1087495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A measurement is not a component. It is a path — and a path is only as</a:t>
            </a:r>
          </a:p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truthful as its worst link. We are going to build that path one box at a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Three words we will use precisely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because from here on the difference matters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3520440" cy="74980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F7F5F1"/>
                </a:solidFill>
                <a:latin typeface="Arial"/>
              </a:rPr>
              <a:t>SENSOR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907792"/>
            <a:ext cx="330098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Converts a physical quantity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into a signal you can read.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" y="4370832"/>
            <a:ext cx="73152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4599432"/>
            <a:ext cx="330098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B7680"/>
                </a:solidFill>
                <a:latin typeface="Courier New"/>
              </a:rPr>
              <a:t>MEMS microphone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B7680"/>
                </a:solidFill>
                <a:latin typeface="Courier New"/>
              </a:rPr>
              <a:t>sound pressure → voltage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8848" y="1965960"/>
            <a:ext cx="3520440" cy="74980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F7F5F1"/>
                </a:solidFill>
                <a:latin typeface="Arial"/>
              </a:rPr>
              <a:t>TRANSDUCER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907792"/>
            <a:ext cx="330098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Converts energy from one form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to another. A sensor is one kind.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08576" y="4370832"/>
            <a:ext cx="73152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4599432"/>
            <a:ext cx="330098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B7680"/>
                </a:solidFill>
                <a:latin typeface="Courier New"/>
              </a:rPr>
              <a:t>loudspeaker, strain gauge,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B7680"/>
                </a:solidFill>
                <a:latin typeface="Courier New"/>
              </a:rPr>
              <a:t>piezo disc — either direction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9328" y="1965960"/>
            <a:ext cx="3520440" cy="749808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F7F5F1"/>
                </a:solidFill>
                <a:latin typeface="Arial"/>
              </a:rPr>
              <a:t>ACTUATOR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907792"/>
            <a:ext cx="330098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Converts a signal into a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physical action on the world.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49056" y="4370832"/>
            <a:ext cx="731520" cy="38100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4599432"/>
            <a:ext cx="330098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B7680"/>
                </a:solidFill>
                <a:latin typeface="Courier New"/>
              </a:rPr>
              <a:t>MEMS mirror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B7680"/>
                </a:solidFill>
                <a:latin typeface="Courier New"/>
              </a:rPr>
              <a:t>voltage → beam deflection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76072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D98324"/>
                </a:solidFill>
                <a:latin typeface="Arial"/>
              </a:rPr>
              <a:t>Every actuator in this course is also a measurement problem: you only know it acted if you sense the result.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Thirty seconds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Sensor, transducer or actuator? And what is the measurand?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9456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1A1F24"/>
                </a:solidFill>
                <a:latin typeface="Arial"/>
              </a:rPr>
              <a:t>MEMS</a:t>
            </a:r>
          </a:p>
          <a:p>
            <a:pPr algn="ctr"/>
            <a:r>
              <a:rPr sz="2100" b="1">
                <a:solidFill>
                  <a:srgbClr val="1A1F24"/>
                </a:solidFill>
                <a:latin typeface="Arial"/>
              </a:rPr>
              <a:t>microphone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794760"/>
            <a:ext cx="2468880" cy="64008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6B7680"/>
                </a:solidFill>
                <a:latin typeface="Arial"/>
              </a:rPr>
              <a:t>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219456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1A1F24"/>
                </a:solidFill>
                <a:latin typeface="Arial"/>
              </a:rPr>
              <a:t>Piezo</a:t>
            </a:r>
          </a:p>
          <a:p>
            <a:pPr algn="ctr"/>
            <a:r>
              <a:rPr sz="2100" b="1">
                <a:solidFill>
                  <a:srgbClr val="1A1F24"/>
                </a:solidFill>
                <a:latin typeface="Arial"/>
              </a:rPr>
              <a:t>buzzer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3794760"/>
            <a:ext cx="2468880" cy="64008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6B7680"/>
                </a:solidFill>
                <a:latin typeface="Arial"/>
              </a:rPr>
              <a:t>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53328" y="219456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1A1F24"/>
                </a:solidFill>
                <a:latin typeface="Arial"/>
              </a:rPr>
              <a:t>Strain</a:t>
            </a:r>
          </a:p>
          <a:p>
            <a:pPr algn="ctr"/>
            <a:r>
              <a:rPr sz="2100" b="1">
                <a:solidFill>
                  <a:srgbClr val="1A1F24"/>
                </a:solidFill>
                <a:latin typeface="Arial"/>
              </a:rPr>
              <a:t>gauge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3328" y="3794760"/>
            <a:ext cx="2468880" cy="64008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6B7680"/>
                </a:solidFill>
                <a:latin typeface="Arial"/>
              </a:rPr>
              <a:t>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50808" y="219456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1A1F24"/>
                </a:solidFill>
                <a:latin typeface="Arial"/>
              </a:rPr>
              <a:t>MEMS</a:t>
            </a:r>
          </a:p>
          <a:p>
            <a:pPr algn="ctr"/>
            <a:r>
              <a:rPr sz="2100" b="1">
                <a:solidFill>
                  <a:srgbClr val="1A1F24"/>
                </a:solidFill>
                <a:latin typeface="Arial"/>
              </a:rPr>
              <a:t>mirror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50808" y="3794760"/>
            <a:ext cx="2468880" cy="64008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6B7680"/>
                </a:solidFill>
                <a:latin typeface="Arial"/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02920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F24"/>
                </a:solidFill>
                <a:latin typeface="Arial"/>
              </a:rPr>
              <a:t>Turn to your neighbour. Four devices, thirty seconds. Say the measurand out loud.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577840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1">
                <a:solidFill>
                  <a:srgbClr val="D98324"/>
                </a:solidFill>
                <a:latin typeface="Arial"/>
              </a:rPr>
              <a:t>One of these four is passive — it changes a resistance and needs an excitation current before it says anything at all. Which one, and why does that matter?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 measurand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PHYSICAL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QUANTITY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6704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E4E2DE"/>
                </a:solidFill>
                <a:latin typeface="Arial"/>
              </a:rPr>
              <a:t>MECHANICAL</a:t>
            </a:r>
          </a:p>
          <a:p>
            <a:pPr algn="ctr"/>
            <a:r>
              <a:rPr sz="1300" b="1">
                <a:solidFill>
                  <a:srgbClr val="E4E2DE"/>
                </a:solidFill>
                <a:latin typeface="Arial"/>
              </a:rPr>
              <a:t>COUPLING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E4E2DE"/>
                </a:solidFill>
                <a:latin typeface="Arial"/>
              </a:rPr>
              <a:t>TRANSDUCTION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23376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E4E2DE"/>
                </a:solidFill>
                <a:latin typeface="Arial"/>
              </a:rPr>
              <a:t>ANALOG</a:t>
            </a:r>
          </a:p>
          <a:p>
            <a:pPr algn="ctr"/>
            <a:r>
              <a:rPr sz="1300" b="1">
                <a:solidFill>
                  <a:srgbClr val="E4E2DE"/>
                </a:solidFill>
                <a:latin typeface="Arial"/>
              </a:rPr>
              <a:t>CONDITIONING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23376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E4E2DE"/>
                </a:solidFill>
                <a:latin typeface="Arial"/>
              </a:rPr>
              <a:t>SAMPLING &amp;</a:t>
            </a:r>
          </a:p>
          <a:p>
            <a:pPr algn="ctr"/>
            <a:r>
              <a:rPr sz="1300" b="1">
                <a:solidFill>
                  <a:srgbClr val="E4E2DE"/>
                </a:solidFill>
                <a:latin typeface="Arial"/>
              </a:rPr>
              <a:t>QUANTISATION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E4E2DE"/>
                </a:solidFill>
                <a:latin typeface="Arial"/>
              </a:rPr>
              <a:t>CODES → SI</a:t>
            </a:r>
          </a:p>
          <a:p>
            <a:pPr algn="ctr"/>
            <a:r>
              <a:rPr sz="1300" b="1">
                <a:solidFill>
                  <a:srgbClr val="E4E2DE"/>
                </a:solidFill>
                <a:latin typeface="Arial"/>
              </a:rPr>
              <a:t>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6704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E4E2DE"/>
                </a:solidFill>
                <a:latin typeface="Arial"/>
              </a:rPr>
              <a:t>TIMESTAMP,</a:t>
            </a:r>
          </a:p>
          <a:p>
            <a:pPr algn="ctr"/>
            <a:r>
              <a:rPr sz="1300" b="1">
                <a:solidFill>
                  <a:srgbClr val="E4E2DE"/>
                </a:solidFill>
                <a:latin typeface="Arial"/>
              </a:rPr>
              <a:t>LOG, DECIDE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It does not start at the sensor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The measurement chain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PHYSICAL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QUANTITY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MECHANICAL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COUPLING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56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TRANSDUCTION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192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3376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E4E2DE"/>
                </a:solidFill>
                <a:latin typeface="Arial"/>
              </a:rPr>
              <a:t>ANALOG</a:t>
            </a:r>
          </a:p>
          <a:p>
            <a:pPr algn="ctr"/>
            <a:r>
              <a:rPr sz="1300" b="1">
                <a:solidFill>
                  <a:srgbClr val="E4E2DE"/>
                </a:solidFill>
                <a:latin typeface="Arial"/>
              </a:rPr>
              <a:t>CONDITIONING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23376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E4E2DE"/>
                </a:solidFill>
                <a:latin typeface="Arial"/>
              </a:rPr>
              <a:t>SAMPLING &amp;</a:t>
            </a:r>
          </a:p>
          <a:p>
            <a:pPr algn="ctr"/>
            <a:r>
              <a:rPr sz="1300" b="1">
                <a:solidFill>
                  <a:srgbClr val="E4E2DE"/>
                </a:solidFill>
                <a:latin typeface="Arial"/>
              </a:rPr>
              <a:t>QUANTISATION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E4E2DE"/>
                </a:solidFill>
                <a:latin typeface="Arial"/>
              </a:rPr>
              <a:t>CODES → SI</a:t>
            </a:r>
          </a:p>
          <a:p>
            <a:pPr algn="ctr"/>
            <a:r>
              <a:rPr sz="1300" b="1">
                <a:solidFill>
                  <a:srgbClr val="E4E2DE"/>
                </a:solidFill>
                <a:latin typeface="Arial"/>
              </a:rPr>
              <a:t>UNITS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46704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E4E2DE"/>
                </a:solidFill>
                <a:latin typeface="Arial"/>
              </a:rPr>
              <a:t>TIMESTAMP,</a:t>
            </a:r>
          </a:p>
          <a:p>
            <a:pPr algn="ctr"/>
            <a:r>
              <a:rPr sz="1300" b="1">
                <a:solidFill>
                  <a:srgbClr val="E4E2DE"/>
                </a:solidFill>
                <a:latin typeface="Arial"/>
              </a:rPr>
              <a:t>LOG, DECIDE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926080" y="265176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5614416" y="265176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Through the electronics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The measurement chain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PHYSICAL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QUANTITY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MECHANICAL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COUPLING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56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TRANSDUCTION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192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3376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ANALOG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CONDITIONING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528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23376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SAMPLING &amp;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QUANTISATION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408736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E4E2DE"/>
                </a:solidFill>
                <a:latin typeface="Arial"/>
              </a:rPr>
              <a:t>CODES → SI</a:t>
            </a:r>
          </a:p>
          <a:p>
            <a:pPr algn="ctr"/>
            <a:r>
              <a:rPr sz="1300" b="1">
                <a:solidFill>
                  <a:srgbClr val="E4E2DE"/>
                </a:solidFill>
                <a:latin typeface="Arial"/>
              </a:rPr>
              <a:t>UNITS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46704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E4E2DE"/>
                </a:solidFill>
                <a:latin typeface="Arial"/>
              </a:rPr>
              <a:t>TIMESTAMP,</a:t>
            </a:r>
          </a:p>
          <a:p>
            <a:pPr algn="ctr"/>
            <a:r>
              <a:rPr sz="1300" b="1">
                <a:solidFill>
                  <a:srgbClr val="E4E2DE"/>
                </a:solidFill>
                <a:latin typeface="Arial"/>
              </a:rPr>
              <a:t>LOG, DECIDE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926080" y="265176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5614416" y="265176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8302752" y="265176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9729216" y="3346704"/>
            <a:ext cx="201168" cy="566928"/>
          </a:xfrm>
          <a:prstGeom prst="down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 full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The measurement chain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PHYSICAL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QUANTITY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MECHANICAL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COUPLING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56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TRANSDUCTION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192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3376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ANALOG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CONDITIONING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528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23376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SAMPLING &amp;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QUANTISATION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408736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CODES → SI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408736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46704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TIMESTAMP,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LOG, 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9856" y="408736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7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926080" y="265176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5614416" y="265176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8302752" y="265176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9729216" y="3346704"/>
            <a:ext cx="201168" cy="566928"/>
          </a:xfrm>
          <a:prstGeom prst="down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ft Arrow 25"/>
          <p:cNvSpPr/>
          <p:nvPr/>
        </p:nvSpPr>
        <p:spPr>
          <a:xfrm>
            <a:off x="5614416" y="4425696"/>
            <a:ext cx="365760" cy="201168"/>
          </a:xfrm>
          <a:prstGeom prst="lef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ft Arrow 26"/>
          <p:cNvSpPr/>
          <p:nvPr/>
        </p:nvSpPr>
        <p:spPr>
          <a:xfrm>
            <a:off x="2926080" y="4425696"/>
            <a:ext cx="365760" cy="201168"/>
          </a:xfrm>
          <a:prstGeom prst="lef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 same chain, with real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One 0.9 mg vibration, all the way to a decision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95728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PHYSICAL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QUANTITY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2395728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MECHANICAL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COUPLING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56" y="242316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395728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TRANSDUCTION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192" y="242316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3376" y="2395728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ANALOG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CONDITIONING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528" y="242316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23376" y="4169664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SAMPLING &amp;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QUANTISATION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419709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4169664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CODES → SI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419709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46704" y="4169664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TIMESTAMP,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LOG, 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9856" y="419709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7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926080" y="2761488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59152" y="2084832"/>
            <a:ext cx="14996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E7C86"/>
                </a:solidFill>
                <a:latin typeface="Courier New"/>
              </a:rPr>
              <a:t>0.9 mg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614416" y="2761488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7488" y="2084832"/>
            <a:ext cx="14996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E7C86"/>
                </a:solidFill>
                <a:latin typeface="Courier New"/>
              </a:rPr>
              <a:t>0.6 mg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302752" y="2761488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35824" y="2084832"/>
            <a:ext cx="14996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E7C86"/>
                </a:solidFill>
                <a:latin typeface="Courier New"/>
              </a:rPr>
              <a:t>1.4 mV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9729216" y="3456432"/>
            <a:ext cx="201168" cy="566928"/>
          </a:xfrm>
          <a:prstGeom prst="down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eft Arrow 28"/>
          <p:cNvSpPr/>
          <p:nvPr/>
        </p:nvSpPr>
        <p:spPr>
          <a:xfrm>
            <a:off x="5614416" y="4535424"/>
            <a:ext cx="365760" cy="201168"/>
          </a:xfrm>
          <a:prstGeom prst="lef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47488" y="3858768"/>
            <a:ext cx="14996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E7C86"/>
                </a:solidFill>
                <a:latin typeface="Courier New"/>
              </a:rPr>
              <a:t>code 8412</a:t>
            </a:r>
          </a:p>
        </p:txBody>
      </p:sp>
      <p:sp>
        <p:nvSpPr>
          <p:cNvPr id="31" name="Left Arrow 30"/>
          <p:cNvSpPr/>
          <p:nvPr/>
        </p:nvSpPr>
        <p:spPr>
          <a:xfrm>
            <a:off x="2926080" y="4535424"/>
            <a:ext cx="365760" cy="201168"/>
          </a:xfrm>
          <a:prstGeom prst="lef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59152" y="3858768"/>
            <a:ext cx="14996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E7C86"/>
                </a:solidFill>
                <a:latin typeface="Courier New"/>
              </a:rPr>
              <a:t>0.61 mg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96128"/>
            <a:ext cx="10874959" cy="566928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1A1F24"/>
                </a:solidFill>
                <a:latin typeface="Arial"/>
              </a:rPr>
              <a:t>Notice stage 2: the mechanical path already lost a third of the signal — before a single electron moved.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Where the truth dies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and whether you can ever get it back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0240"/>
          <a:ext cx="10874957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6238"/>
                <a:gridCol w="4784981"/>
                <a:gridCol w="3153738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7F5F1"/>
                          </a:solidFill>
                          <a:latin typeface="Arial"/>
                        </a:rPr>
                        <a:t>Stage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7F5F1"/>
                          </a:solidFill>
                          <a:latin typeface="Arial"/>
                        </a:rPr>
                        <a:t>What is lost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7F5F1"/>
                          </a:solidFill>
                          <a:latin typeface="Arial"/>
                        </a:rPr>
                        <a:t>Recoverable later?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2  Mechanical coupling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amplitude and phase, frequency-dependent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No — measure it yourself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3  Transduction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cross-axis leakage, nonlinearity, temperature drift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Partly — by calibration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4  Conditioning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saturation clips peaks; wrong filter kills the signal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5  Sampling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everything above half the sample rate, aliased in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Never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5  Quantisation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detail below one LSB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Partly — averaging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6  Scaling to units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accuracy, if the sensitivity constant is wrong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Yes — recompute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7  Timestamping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the time axis, and therefore all frequency content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94360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Arial"/>
              </a:rPr>
              <a:t>Three of these are permanent. Design decisions, not calibration problems.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Arial"/>
              </a:rPr>
              <a:t>POLL 2   ·   MINUTE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An accelerometer with 0.061 mg resolution is bolted to a motor housing through a 5 mm rubber pad. Which stage has already destroyed the accuracy of the reported number?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Digitisation — 16 bits cannot support three decimal places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Unit conversion — mg was never converted to m/s²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Mechanical coupling — the rubber pad filters the vibration before any electronics see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No stage — 0.061 mg resolution guarantees the digits are meaningful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6B7680"/>
                </a:solidFill>
                <a:latin typeface="Arial"/>
              </a:rPr>
              <a:t>Vote alone first. Then find someone who disagrees with you.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POLL 2   ·   MINUTE 24   ·  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An accelerometer with 0.061 mg resolution is bolted to a motor housing through a 5 mm rubber pad. Which stage has already destroyed the accuracy of the reported number?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Digitisation — 16 bits cannot support three decimal places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Unit conversion — mg was never converted to m/s²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F24"/>
                </a:solidFill>
                <a:latin typeface="Arial"/>
              </a:rPr>
              <a:t>Mechanical coupling — the rubber pad filters the vibration before any electronics see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No stage — 0.061 mg resolution guarantees the digits are meaningful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0E7C86"/>
                </a:solidFill>
                <a:latin typeface="Arial"/>
              </a:rPr>
              <a:t>The measurement chain begins before the sensor. If the mechanical path lies to the proof mass, no downstream precision recovers the truth.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Arial"/>
              </a:rPr>
              <a:t>HOLD ON TO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0874959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>
                <a:solidFill>
                  <a:srgbClr val="F7F5F1"/>
                </a:solidFill>
                <a:latin typeface="Arial"/>
              </a:rPr>
              <a:t>The chain begins before</a:t>
            </a:r>
          </a:p>
          <a:p>
            <a:pPr algn="l">
              <a:lnSpc>
                <a:spcPct val="118000"/>
              </a:lnSpc>
            </a:pPr>
            <a:r>
              <a:rPr sz="4000" b="1" i="0">
                <a:solidFill>
                  <a:srgbClr val="F7F5F1"/>
                </a:solidFill>
                <a:latin typeface="Arial"/>
              </a:rPr>
              <a:t>the sensor.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617720"/>
            <a:ext cx="1371600" cy="50800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892040"/>
            <a:ext cx="99605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Your instrument includes the bolt, the bracket and the housing. None of them are in the datasheet, and all of them are yours.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CHUNK 2  ·  MINUTES 26–44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90461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Why micro is different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0127" y="2560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6B7680"/>
                </a:solidFill>
                <a:latin typeface="Courier New"/>
              </a:rPr>
              <a:t>26:00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794760"/>
            <a:ext cx="1371600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160520"/>
            <a:ext cx="1087495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You have spent three years building intuition on machines you can hold.</a:t>
            </a:r>
          </a:p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At the micrometre scale, half of that intuition inverts. Here is which half.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What is actually inside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A capacitive MEMS accelerometer, in cross-section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2148840"/>
            <a:ext cx="5852160" cy="384048"/>
          </a:xfrm>
          <a:prstGeom prst="rect">
            <a:avLst/>
          </a:prstGeom>
          <a:solidFill>
            <a:srgbClr val="E4E2DE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FIXED PLATE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4224528"/>
            <a:ext cx="5852160" cy="384048"/>
          </a:xfrm>
          <a:prstGeom prst="rect">
            <a:avLst/>
          </a:prstGeom>
          <a:solidFill>
            <a:srgbClr val="E4E2DE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FIXED PLATE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999232"/>
            <a:ext cx="3657600" cy="786384"/>
          </a:xfrm>
          <a:prstGeom prst="rect">
            <a:avLst/>
          </a:prstGeom>
          <a:solidFill>
            <a:srgbClr val="DCEDE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1A1F24"/>
                </a:solidFill>
                <a:latin typeface="Arial"/>
              </a:rPr>
              <a:t>PROOF MASS  m</a:t>
            </a:r>
          </a:p>
        </p:txBody>
      </p:sp>
      <p:sp>
        <p:nvSpPr>
          <p:cNvPr id="11" name="Freeform 10"/>
          <p:cNvSpPr/>
          <p:nvPr/>
        </p:nvSpPr>
        <p:spPr>
          <a:xfrm>
            <a:off x="3383280" y="3017520"/>
            <a:ext cx="640080" cy="768096"/>
          </a:xfrm>
          <a:custGeom>
            <a:avLst/>
            <a:gdLst/>
            <a:ahLst/>
            <a:cxnLst/>
            <a:rect l="l" t="t" r="r" b="b"/>
            <a:pathLst>
              <a:path w="640080" h="768096">
                <a:moveTo>
                  <a:pt x="0" y="0"/>
                </a:moveTo>
                <a:lnTo>
                  <a:pt x="640080" y="96012"/>
                </a:lnTo>
                <a:lnTo>
                  <a:pt x="0" y="192024"/>
                </a:lnTo>
                <a:lnTo>
                  <a:pt x="640080" y="288036"/>
                </a:lnTo>
                <a:lnTo>
                  <a:pt x="0" y="384048"/>
                </a:lnTo>
                <a:lnTo>
                  <a:pt x="640080" y="480060"/>
                </a:lnTo>
                <a:lnTo>
                  <a:pt x="0" y="576072"/>
                </a:lnTo>
                <a:lnTo>
                  <a:pt x="640080" y="672084"/>
                </a:lnTo>
                <a:lnTo>
                  <a:pt x="0" y="768096"/>
                </a:lnTo>
              </a:path>
            </a:pathLst>
          </a:custGeom>
          <a:noFill/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138160" y="3017520"/>
            <a:ext cx="640080" cy="768096"/>
          </a:xfrm>
          <a:custGeom>
            <a:avLst/>
            <a:gdLst/>
            <a:ahLst/>
            <a:cxnLst/>
            <a:rect l="l" t="t" r="r" b="b"/>
            <a:pathLst>
              <a:path w="640080" h="768096">
                <a:moveTo>
                  <a:pt x="0" y="0"/>
                </a:moveTo>
                <a:lnTo>
                  <a:pt x="640080" y="96012"/>
                </a:lnTo>
                <a:lnTo>
                  <a:pt x="0" y="192024"/>
                </a:lnTo>
                <a:lnTo>
                  <a:pt x="640080" y="288036"/>
                </a:lnTo>
                <a:lnTo>
                  <a:pt x="0" y="384048"/>
                </a:lnTo>
                <a:lnTo>
                  <a:pt x="640080" y="480060"/>
                </a:lnTo>
                <a:lnTo>
                  <a:pt x="0" y="576072"/>
                </a:lnTo>
                <a:lnTo>
                  <a:pt x="640080" y="672084"/>
                </a:lnTo>
                <a:lnTo>
                  <a:pt x="0" y="768096"/>
                </a:lnTo>
              </a:path>
            </a:pathLst>
          </a:custGeom>
          <a:noFill/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306324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 i="0">
                <a:solidFill>
                  <a:srgbClr val="0E7C86"/>
                </a:solidFill>
                <a:latin typeface="Arial"/>
              </a:rPr>
              <a:t>suspension</a:t>
            </a:r>
          </a:p>
          <a:p>
            <a:pPr algn="r">
              <a:lnSpc>
                <a:spcPct val="120000"/>
              </a:lnSpc>
            </a:pPr>
            <a:r>
              <a:rPr sz="1300" b="1" i="0">
                <a:solidFill>
                  <a:srgbClr val="0E7C86"/>
                </a:solidFill>
                <a:latin typeface="Arial"/>
              </a:rPr>
              <a:t>beams, 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3063240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E7C86"/>
                </a:solidFill>
                <a:latin typeface="Arial"/>
              </a:rPr>
              <a:t>suspension</a:t>
            </a:r>
          </a:p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E7C86"/>
                </a:solidFill>
                <a:latin typeface="Arial"/>
              </a:rPr>
              <a:t>beams,  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651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98324"/>
                </a:solidFill>
                <a:latin typeface="Courier New"/>
              </a:rPr>
              <a:t>gap  d ≈ 1–2 µm</a:t>
            </a:r>
          </a:p>
        </p:txBody>
      </p:sp>
      <p:sp>
        <p:nvSpPr>
          <p:cNvPr id="16" name="Left Brace 15"/>
          <p:cNvSpPr/>
          <p:nvPr/>
        </p:nvSpPr>
        <p:spPr>
          <a:xfrm>
            <a:off x="8887968" y="2596896"/>
            <a:ext cx="164592" cy="329184"/>
          </a:xfrm>
          <a:prstGeom prst="leftBrace">
            <a:avLst/>
          </a:prstGeom>
          <a:noFill/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38587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98324"/>
                </a:solidFill>
                <a:latin typeface="Courier New"/>
              </a:rPr>
              <a:t>gap  d</a:t>
            </a:r>
          </a:p>
        </p:txBody>
      </p:sp>
      <p:sp>
        <p:nvSpPr>
          <p:cNvPr id="18" name="Left Brace 17"/>
          <p:cNvSpPr/>
          <p:nvPr/>
        </p:nvSpPr>
        <p:spPr>
          <a:xfrm>
            <a:off x="8887968" y="3803904"/>
            <a:ext cx="164592" cy="329184"/>
          </a:xfrm>
          <a:prstGeom prst="leftBrace">
            <a:avLst/>
          </a:prstGeom>
          <a:noFill/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956048"/>
            <a:ext cx="1087495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 i="0">
                <a:solidFill>
                  <a:srgbClr val="1A1F24"/>
                </a:solidFill>
                <a:latin typeface="Arial"/>
              </a:rPr>
              <a:t>Acceleration moves the mass. Movement changes both gaps — one grows, one shrinks — and the differential capacitance </a:t>
            </a:r>
            <a:r>
              <a:rPr sz="1800" b="1" i="0">
                <a:solidFill>
                  <a:srgbClr val="0E7C86"/>
                </a:solidFill>
                <a:latin typeface="Courier New"/>
              </a:rPr>
              <a:t>C = εA/d</a:t>
            </a:r>
            <a:r>
              <a:rPr sz="1800" b="0" i="0">
                <a:solidFill>
                  <a:srgbClr val="1A1F24"/>
                </a:solidFill>
                <a:latin typeface="Arial"/>
              </a:rPr>
              <a:t> is the signal.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 i="0">
                <a:solidFill>
                  <a:srgbClr val="6B7680"/>
                </a:solidFill>
                <a:latin typeface="Arial"/>
              </a:rPr>
              <a:t>That is the whole device — everything in the datasheet is a consequence of </a:t>
            </a:r>
            <a:r>
              <a:rPr sz="1800" b="1" i="0">
                <a:solidFill>
                  <a:srgbClr val="6B7680"/>
                </a:solidFill>
                <a:latin typeface="Courier New"/>
              </a:rPr>
              <a:t>m</a:t>
            </a:r>
            <a:r>
              <a:rPr sz="1800" b="0" i="0">
                <a:solidFill>
                  <a:srgbClr val="6B7680"/>
                </a:solidFill>
                <a:latin typeface="Arial"/>
              </a:rPr>
              <a:t>, </a:t>
            </a:r>
            <a:r>
              <a:rPr sz="1800" b="1" i="0">
                <a:solidFill>
                  <a:srgbClr val="6B7680"/>
                </a:solidFill>
                <a:latin typeface="Courier New"/>
              </a:rPr>
              <a:t>k</a:t>
            </a:r>
            <a:r>
              <a:rPr sz="1800" b="0" i="0">
                <a:solidFill>
                  <a:srgbClr val="6B7680"/>
                </a:solidFill>
                <a:latin typeface="Arial"/>
              </a:rPr>
              <a:t> and </a:t>
            </a:r>
            <a:r>
              <a:rPr sz="1800" b="1" i="0">
                <a:solidFill>
                  <a:srgbClr val="6B7680"/>
                </a:solidFill>
                <a:latin typeface="Courier New"/>
              </a:rPr>
              <a:t>d</a:t>
            </a:r>
            <a:r>
              <a:rPr sz="1800" b="0" i="0">
                <a:solidFill>
                  <a:srgbClr val="6B768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Shrink every dimension by the same factor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Isotropic scaling: length, width, thickness — all by factor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57400"/>
            <a:ext cx="52578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4200" b="1">
                <a:solidFill>
                  <a:srgbClr val="0E7C86"/>
                </a:solidFill>
                <a:latin typeface="Courier New"/>
              </a:rPr>
              <a:t>m  ∝  L³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45643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6B7680"/>
                </a:solidFill>
                <a:latin typeface="Courier New"/>
              </a:rPr>
              <a:t>mass scales with volume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2057400"/>
            <a:ext cx="52578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4200" b="1">
                <a:solidFill>
                  <a:srgbClr val="D98324"/>
                </a:solidFill>
                <a:latin typeface="Courier New"/>
              </a:rPr>
              <a:t>k  ∝  L¹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345643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6B7680"/>
                </a:solidFill>
                <a:latin typeface="Courier New"/>
              </a:rPr>
              <a:t>beam stiffness  k = E·w·t³ / 4L³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224528"/>
            <a:ext cx="10874959" cy="96012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500" b="1">
                <a:solidFill>
                  <a:srgbClr val="F7F5F1"/>
                </a:solidFill>
                <a:latin typeface="Arial"/>
              </a:rPr>
              <a:t>They do not scale together.  That single fact is the whole lecture.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6B7680"/>
                </a:solidFill>
                <a:latin typeface="Arial"/>
              </a:rPr>
              <a:t>Substitute w, t and L all by the same factor s into k = E·w·t³/4L³ and you get s·s³/s³ = s. Stiffness falls linearly. Mass falls cubically.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So the resonant frequency rises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965960"/>
            <a:ext cx="108749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3000" b="1" i="0">
                <a:solidFill>
                  <a:srgbClr val="1A1F24"/>
                </a:solidFill>
                <a:latin typeface="Courier New"/>
              </a:rPr>
              <a:t>f₀  =  (1/2π) · √(k/m)   ∝   √( L¹ / L³ )   =   √( L⁻² )   =   1 / 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200400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F7F5F1"/>
                </a:solidFill>
                <a:latin typeface="Arial"/>
              </a:rPr>
              <a:t>Shrink the device by 10  →  its resonant frequency rises by 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4251960"/>
          <a:ext cx="694943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6742"/>
                <a:gridCol w="1876348"/>
                <a:gridCol w="1876348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7F5F1"/>
                          </a:solidFill>
                          <a:latin typeface="Arial"/>
                        </a:rPr>
                        <a:t>Device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7F5F1"/>
                          </a:solidFill>
                          <a:latin typeface="Arial"/>
                        </a:rPr>
                        <a:t>Typical size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7F5F1"/>
                          </a:solidFill>
                          <a:latin typeface="Arial"/>
                        </a:rPr>
                        <a:t>Resonance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Bridge span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100 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≈ 0.2 Hz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Tuning fork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10 cm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≈ 440 Hz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MEMS accelerometer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300 µm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≈ 5 kHz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MEMS gyroscope drive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100 µm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≈ 20 kHz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MEMS RF resonator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10 µm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≈ 100 MHz+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19288" y="4279392"/>
            <a:ext cx="3566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1A1F24"/>
                </a:solidFill>
                <a:latin typeface="Arial"/>
              </a:rPr>
              <a:t>This is why MEMS can</a:t>
            </a:r>
          </a:p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1A1F24"/>
                </a:solidFill>
                <a:latin typeface="Arial"/>
              </a:rPr>
              <a:t>measure fast things.</a:t>
            </a:r>
          </a:p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1A1F24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1A1F24"/>
                </a:solidFill>
                <a:latin typeface="Arial"/>
              </a:rPr>
              <a:t>A sensor cannot report</a:t>
            </a:r>
          </a:p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1A1F24"/>
                </a:solidFill>
                <a:latin typeface="Arial"/>
              </a:rPr>
              <a:t>signals near its own</a:t>
            </a:r>
          </a:p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1A1F24"/>
                </a:solidFill>
                <a:latin typeface="Arial"/>
              </a:rPr>
              <a:t>resonance — so a high</a:t>
            </a:r>
          </a:p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1A1F24"/>
                </a:solidFill>
                <a:latin typeface="Arial"/>
              </a:rPr>
              <a:t>f₀ is what buys you</a:t>
            </a:r>
          </a:p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1A1F24"/>
                </a:solidFill>
                <a:latin typeface="Arial"/>
              </a:rPr>
              <a:t>bandwidth.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Arial"/>
              </a:rPr>
              <a:t>POLL 3   ·   MINUTE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1A1F24"/>
                </a:solidFill>
                <a:latin typeface="Arial"/>
              </a:rPr>
              <a:t>A MEMS accelerometer's proof mass and suspension beams are all scaled down by a factor of 10. Which statement is true?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8600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40487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1401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Resonant frequency rises ×10, and thermomechanical noise gets worse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9067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20954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1868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Resonant frequency falls ×10, and noise improves because it is smaller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9534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01421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2336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Resonant frequency is unchanged — mass and stiffness both shrink, so the ratio is constant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700016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818888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28032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Resonant frequency rises ×10, and noise improves because there is less material to vibrate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6B7680"/>
                </a:solidFill>
                <a:latin typeface="Arial"/>
              </a:rPr>
              <a:t>The hardest question of the lecture. Use the two exponents on the board, not your intuition.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POLL 3   ·   MINUTE 40   ·  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1A1F24"/>
                </a:solidFill>
                <a:latin typeface="Arial"/>
              </a:rPr>
              <a:t>A MEMS accelerometer's proof mass and suspension beams are all scaled down by a factor of 10. Which statement is true?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8600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40487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1401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F24"/>
                </a:solidFill>
                <a:latin typeface="Arial"/>
              </a:rPr>
              <a:t>Resonant frequency rises ×10, and thermomechanical noise gets worse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9067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20954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1868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Resonant frequency falls ×10, and noise improves because it is smaller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9534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01421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2336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Resonant frequency is unchanged — mass and stiffness both shrink, so the ratio is constant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700016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818888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28032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Resonant frequency rises ×10, and noise improves because there is less material to vibrate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0E7C86"/>
                </a:solidFill>
                <a:latin typeface="Arial"/>
              </a:rPr>
              <a:t>Thermomechanical noise ∝ √(4kBT·ω₀ / mQ) — it rises as the proof mass falls. You buy bandwidth and you pay in noise floor.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Smaller is not uniformly better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The honest ledger of shrinking a device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20240"/>
            <a:ext cx="5303520" cy="621792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7F5F1"/>
                </a:solidFill>
                <a:latin typeface="Arial"/>
              </a:rPr>
              <a:t>GETS BETTER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64808" y="1920240"/>
            <a:ext cx="5303520" cy="621792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7F5F1"/>
                </a:solidFill>
                <a:latin typeface="Arial"/>
              </a:rPr>
              <a:t>GETS WORSE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7432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▸  Bandwidth — f₀ ∝ 1/L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7432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▸  Thermomechanical noise floor ∝ 1/√m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346704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▸  Response time and thermal settling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3346704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▸  Stiction — surface forces beat body forces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950208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▸  Power per device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950208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▸  Sensitivity to packaging stress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553712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▸  Cost per device at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4553712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▸  Temperature drift and offset stability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5157216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▸  Batch fabrication: thousands per wafer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5157216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▸  Contamination: a dust speck is fatal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705856"/>
            <a:ext cx="10874959" cy="530352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1A1F24"/>
                </a:solidFill>
                <a:latin typeface="Courier New"/>
              </a:rPr>
              <a:t>Surface area / volume  ∝  1 / L   —   at small scale the world is all surface.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Arial"/>
              </a:rPr>
              <a:t>MINUTE 44  ·  EVERYBODY STANDS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7F5F1"/>
                </a:solidFill>
                <a:latin typeface="Arial"/>
              </a:rPr>
              <a:t>Slides off. Paper 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834640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1A1F24"/>
                </a:solidFill>
                <a:latin typeface="Courier New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2889504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 i="0">
                <a:solidFill>
                  <a:srgbClr val="F7F5F1"/>
                </a:solidFill>
                <a:latin typeface="Arial"/>
              </a:rPr>
              <a:t>Stand up. Actually stand.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822192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1A1F24"/>
                </a:solidFill>
                <a:latin typeface="Courier New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3877056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 i="0">
                <a:solidFill>
                  <a:srgbClr val="F7F5F1"/>
                </a:solidFill>
                <a:latin typeface="Arial"/>
              </a:rPr>
              <a:t>In pairs, one sheet: redraw the measurement chain from memory. Every box, every arrow. 90 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809744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1A1F24"/>
                </a:solidFill>
                <a:latin typeface="Courier New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4864608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 i="0">
                <a:solidFill>
                  <a:srgbClr val="F7F5F1"/>
                </a:solidFill>
                <a:latin typeface="Arial"/>
              </a:rPr>
              <a:t>Mark an X on every box where the motor's number could have been ruined.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85216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E7C86"/>
                </a:solidFill>
                <a:latin typeface="Arial"/>
              </a:rPr>
              <a:t>Keep this sheet. You will use it at the bench in Week 2.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Check your sheet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Correct in a different colour — do not rewrite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PHYSICAL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QUANTITY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MECHANICAL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COUPLING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56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TRANSDUCTION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192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3376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ANALOG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CONDITIONING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528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23376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SAMPLING &amp;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QUANTISATION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408736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CODES → SI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408736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46704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TIMESTAMP,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LOG, 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9856" y="408736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7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926080" y="265176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5614416" y="265176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8302752" y="265176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9729216" y="3346704"/>
            <a:ext cx="201168" cy="566928"/>
          </a:xfrm>
          <a:prstGeom prst="down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ft Arrow 25"/>
          <p:cNvSpPr/>
          <p:nvPr/>
        </p:nvSpPr>
        <p:spPr>
          <a:xfrm>
            <a:off x="5614416" y="4425696"/>
            <a:ext cx="365760" cy="201168"/>
          </a:xfrm>
          <a:prstGeom prst="lef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ft Arrow 26"/>
          <p:cNvSpPr/>
          <p:nvPr/>
        </p:nvSpPr>
        <p:spPr>
          <a:xfrm>
            <a:off x="2926080" y="4425696"/>
            <a:ext cx="365760" cy="201168"/>
          </a:xfrm>
          <a:prstGeom prst="lef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650992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1">
                <a:solidFill>
                  <a:srgbClr val="D98324"/>
                </a:solidFill>
                <a:latin typeface="Arial"/>
              </a:rPr>
              <a:t>Two boxes are forgotten more than any others: mechanical coupling, and timestamping.</a:t>
            </a:r>
          </a:p>
          <a:p>
            <a:pPr algn="l">
              <a:lnSpc>
                <a:spcPct val="130000"/>
              </a:lnSpc>
            </a:pPr>
            <a:r>
              <a:rPr sz="1700" b="0" i="1">
                <a:solidFill>
                  <a:srgbClr val="D98324"/>
                </a:solidFill>
                <a:latin typeface="Arial"/>
              </a:rPr>
              <a:t>Both are invisible in a datasheet. Both are yours.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CHUNK 3  ·  MINUTES 48–66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90461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From a wish to a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0127" y="2560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6B7680"/>
                </a:solidFill>
                <a:latin typeface="Courier New"/>
              </a:rPr>
              <a:t>48:00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794760"/>
            <a:ext cx="1371600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160520"/>
            <a:ext cx="1087495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Nobody will ever hand you a specification. They will hand you a sentence</a:t>
            </a:r>
          </a:p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like the one on the next slide, and expect an instrument at the end of 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Arial"/>
              </a:rPr>
              <a:t>THE CLIENT SAYS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0874959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800" b="1" i="0">
                <a:solidFill>
                  <a:srgbClr val="F7F5F1"/>
                </a:solidFill>
                <a:latin typeface="Arial"/>
              </a:rPr>
              <a:t>“Just tell me if the motor</a:t>
            </a:r>
          </a:p>
          <a:p>
            <a:pPr algn="l">
              <a:lnSpc>
                <a:spcPct val="118000"/>
              </a:lnSpc>
            </a:pPr>
            <a:r>
              <a:rPr sz="3800" b="1" i="0">
                <a:solidFill>
                  <a:srgbClr val="F7F5F1"/>
                </a:solidFill>
                <a:latin typeface="Arial"/>
              </a:rPr>
              <a:t>is vibrating too much.”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617720"/>
            <a:ext cx="1371600" cy="50800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892040"/>
            <a:ext cx="99605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This is what a request actually looks like. It contains no quantity, no range, no bandwidth, no accuracy and no environment. It is not yet an engineering problem.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Seven questions that turn a wish into a specification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2514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0E7C86"/>
                </a:solidFill>
                <a:latin typeface="Arial"/>
              </a:rPr>
              <a:t>QUANTITY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7288" y="1993391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F24"/>
                </a:solidFill>
                <a:latin typeface="Arial"/>
              </a:rPr>
              <a:t>What physical variable, in what units?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96311"/>
            <a:ext cx="2514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0E7C86"/>
                </a:solidFill>
                <a:latin typeface="Arial"/>
              </a:rPr>
              <a:t>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88" y="2615183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F24"/>
                </a:solidFill>
                <a:latin typeface="Arial"/>
              </a:rPr>
              <a:t>Smallest and largest value that must be reported?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118103"/>
            <a:ext cx="2514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0E7C86"/>
                </a:solidFill>
                <a:latin typeface="Arial"/>
              </a:rPr>
              <a:t>RESOLUTION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3236975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F24"/>
                </a:solidFill>
                <a:latin typeface="Arial"/>
              </a:rPr>
              <a:t>Smallest change that must be distinguishable?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739895"/>
            <a:ext cx="2514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0E7C86"/>
                </a:solidFill>
                <a:latin typeface="Arial"/>
              </a:rPr>
              <a:t>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858767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F24"/>
                </a:solidFill>
                <a:latin typeface="Arial"/>
              </a:rPr>
              <a:t>How wrong is a reading allowed to be — and over what temperature?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361687"/>
            <a:ext cx="2514600" cy="548640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7F5F1"/>
                </a:solidFill>
                <a:latin typeface="Arial"/>
              </a:rPr>
              <a:t>BANDWIDTH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4480559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F24"/>
                </a:solidFill>
                <a:latin typeface="Arial"/>
              </a:rPr>
              <a:t>How fast does it change? What is the highest frequency that matters?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983479"/>
            <a:ext cx="2514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0E7C86"/>
                </a:solidFill>
                <a:latin typeface="Arial"/>
              </a:rPr>
              <a:t>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5102351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F24"/>
                </a:solidFill>
                <a:latin typeface="Arial"/>
              </a:rPr>
              <a:t>Temperature, humidity, vibration, EMI, supply, power budget?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605271"/>
            <a:ext cx="2514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0E7C86"/>
                </a:solidFill>
                <a:latin typeface="Arial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5724143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F24"/>
                </a:solidFill>
                <a:latin typeface="Arial"/>
              </a:rPr>
              <a:t>Who consumes the number, in what form, how often, timestamped how?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14476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1">
                <a:solidFill>
                  <a:srgbClr val="D98324"/>
                </a:solidFill>
                <a:latin typeface="Arial"/>
              </a:rPr>
              <a:t>One of these seven killed the motor. You already know which one.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 same request, specified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Now it is something you can order against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0240"/>
          <a:ext cx="1087495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8743"/>
                <a:gridCol w="4132484"/>
                <a:gridCol w="4893731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7F5F1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F7F5F1"/>
                          </a:solidFill>
                          <a:latin typeface="Arial"/>
                        </a:rPr>
                        <a:t>Specification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F7F5F1"/>
                          </a:solidFill>
                          <a:latin typeface="Arial"/>
                        </a:rPr>
                        <a:t>Where the number came from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Arial"/>
                        </a:rPr>
                        <a:t>Quantity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housing acceleration, m/s² RMS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vibration is what a bearing radiates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Arial"/>
                        </a:rPr>
                        <a:t>Range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±16 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impact transients, not steady vibration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Arial"/>
                        </a:rPr>
                        <a:t>Resolution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≤ 5 mg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earliest detectable fault ≈ 30 mg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±5 % of reading, 0–70 °C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trend detection, not absolute metrology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Arial"/>
                        </a:rPr>
                        <a:t>Bandwidth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≥ 4 kHz, anti-aliased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bearing signature spans 1–4 kHz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Arial"/>
                        </a:rPr>
                        <a:t>Environment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0–70 °C, 24 V rail, oily, EMI from a VFD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the motor's actual cabinet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Arial"/>
                        </a:rPr>
                        <a:t>Output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RMS + spectrum, 1 Hz, timestamped ±1 ms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so a frequency can be computed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89788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E7C86"/>
                </a:solidFill>
                <a:latin typeface="Arial"/>
              </a:rPr>
              <a:t>Seven lines. This is the deliverable — not a part number.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Your turn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Four minutes, in pairs — write the seven 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10874959" cy="114300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>
                <a:solidFill>
                  <a:srgbClr val="F7F5F1"/>
                </a:solidFill>
                <a:latin typeface="Arial"/>
              </a:rPr>
              <a:t>“The drone keeps drifting up and down. Make it hold its altitude properly.”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429000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1A1F24"/>
                </a:solidFill>
                <a:latin typeface="Arial"/>
              </a:rPr>
              <a:t>Start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16052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What is the physical quantity?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It is probably not altitude.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3429000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1A1F24"/>
                </a:solidFill>
                <a:latin typeface="Arial"/>
              </a:rPr>
              <a:t>The hard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416052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What bandwidth? How fast does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a drone's altitude actually change?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3429000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1A1F24"/>
                </a:solidFill>
                <a:latin typeface="Arial"/>
              </a:rPr>
              <a:t>The trap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5008" y="416052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What is the RANGE — and is it the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same as the RESOLUTION you need?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76072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6B7680"/>
                </a:solidFill>
                <a:latin typeface="Arial"/>
              </a:rPr>
              <a:t>You will not finish all seven lines. Get three right.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Arial"/>
              </a:rPr>
              <a:t>POLL 4   ·   MINUTE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1A1F24"/>
                </a:solidFill>
                <a:latin typeface="Arial"/>
              </a:rPr>
              <a:t>Bearing fault energy appears between 1 and 4 kHz. Which single specification line decides whether your system can work at all?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8600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40487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1401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Full-scale range ≥ ±16 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9067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20954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1868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Bandwidth ≥ 4 kHz, sample rate ≥ 8 kHz, with anti-alias filtering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9534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01421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2336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Resolution ≤ 0.1 mg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700016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818888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28032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Operating temperature up to 85 °C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6B7680"/>
                </a:solidFill>
                <a:latin typeface="Arial"/>
              </a:rPr>
              <a:t>Every one of these four is a real requirement. Only one of them, if you get it wrong, makes the system incapable rather than merely imperfect.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POLL 4   ·   MINUTE 62   ·  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1A1F24"/>
                </a:solidFill>
                <a:latin typeface="Arial"/>
              </a:rPr>
              <a:t>Bearing fault energy appears between 1 and 4 kHz. Which single specification line decides whether your system can work at all?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8600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40487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1401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Full-scale range ≥ ±16 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9067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20954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1868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F24"/>
                </a:solidFill>
                <a:latin typeface="Arial"/>
              </a:rPr>
              <a:t>Bandwidth ≥ 4 kHz, sample rate ≥ 8 kHz, with anti-alias filtering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9534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01421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2336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Resolution ≤ 0.1 mg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700016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818888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28032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Operating temperature up to 85 °C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0E7C86"/>
                </a:solidFill>
                <a:latin typeface="Arial"/>
              </a:rPr>
              <a:t>A, C and D are all genuine requirements — get them wrong and the system is imperfect. Get B wrong and the system is blind.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 semester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Deliverable 1 is due before Lecture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20240"/>
            <a:ext cx="5349240" cy="621792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Arial"/>
              </a:rPr>
              <a:t>WHAT YOU WILL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52120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A multi-sensor embedded system that</a:t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measures something real, calibrated,</a:t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filtered, timestamped, validated against</a:t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stated requirements — and honest about</a:t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its own limitations.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64808" y="1920240"/>
            <a:ext cx="5349240" cy="621792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1A1F24"/>
                </a:solidFill>
                <a:latin typeface="Arial"/>
              </a:rPr>
              <a:t>DELIVERABLE 1  ·  ONE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743200"/>
            <a:ext cx="52120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The seven specification lines, for a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measurement problem you choose.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No part numbers. No circuit. No code.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Just the seven lines — each with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the reason it has that value.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230368"/>
            <a:ext cx="10874959" cy="68580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1A1F24"/>
                </a:solidFill>
                <a:latin typeface="Arial"/>
              </a:rPr>
              <a:t>Teams of 2–3. Same teams as the laboratory. Choose your measurand this week.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Back to the motor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Before I tell you — commit, physically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PHYSICAL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QUANTITY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7627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214884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MECHANICAL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COUPLING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56" y="217627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14884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TRANSDUCTION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192" y="217627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3376" y="214884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ANALOG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CONDITIONING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528" y="217627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23376" y="392277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SAMPLING &amp;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QUANTISATION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395020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392277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CODES → SI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395020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46704" y="392277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TIMESTAMP,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LOG, 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9856" y="395020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7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926080" y="251460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5614416" y="251460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8302752" y="251460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9729216" y="3209544"/>
            <a:ext cx="201168" cy="566928"/>
          </a:xfrm>
          <a:prstGeom prst="down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ft Arrow 25"/>
          <p:cNvSpPr/>
          <p:nvPr/>
        </p:nvSpPr>
        <p:spPr>
          <a:xfrm>
            <a:off x="5614416" y="4288536"/>
            <a:ext cx="365760" cy="201168"/>
          </a:xfrm>
          <a:prstGeom prst="lef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ft Arrow 26"/>
          <p:cNvSpPr/>
          <p:nvPr/>
        </p:nvSpPr>
        <p:spPr>
          <a:xfrm>
            <a:off x="2926080" y="4288536"/>
            <a:ext cx="365760" cy="201168"/>
          </a:xfrm>
          <a:prstGeom prst="lef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5486400"/>
            <a:ext cx="10874959" cy="731520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1A1F24"/>
                </a:solidFill>
                <a:latin typeface="Arial"/>
              </a:rPr>
              <a:t>Put your finger on the box where you now think this failed. Everyone. I am looking.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 three numbers from the post-mortem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3520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4400" b="1">
                <a:solidFill>
                  <a:srgbClr val="0E7C86"/>
                </a:solidFill>
                <a:latin typeface="Courier New"/>
              </a:rPr>
              <a:t>1520 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639312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the bearing fault signature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2103120"/>
            <a:ext cx="3520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4400" b="1">
                <a:solidFill>
                  <a:srgbClr val="C0392B"/>
                </a:solidFill>
                <a:latin typeface="Courier New"/>
              </a:rPr>
              <a:t>100 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3639312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the sample rate somebody chose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2103120"/>
            <a:ext cx="3520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4400" b="1">
                <a:solidFill>
                  <a:srgbClr val="C0392B"/>
                </a:solidFill>
                <a:latin typeface="Courier New"/>
              </a:rPr>
              <a:t>none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3639312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anti-alias filter fitted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572000"/>
            <a:ext cx="10874959" cy="914400"/>
          </a:xfrm>
          <a:prstGeom prst="roundRect">
            <a:avLst>
              <a:gd name="adj" fmla="val 10000"/>
            </a:avLst>
          </a:prstGeom>
          <a:solidFill>
            <a:srgbClr val="F7DFDC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1A1F24"/>
                </a:solidFill>
                <a:latin typeface="Arial"/>
              </a:rPr>
              <a:t>Sampling at 100 Hz, everything above 50 Hz is folded down into the band —</a:t>
            </a:r>
          </a:p>
          <a:p>
            <a:pPr algn="ctr"/>
            <a:r>
              <a:rPr sz="2100" b="1">
                <a:solidFill>
                  <a:srgbClr val="1A1F24"/>
                </a:solidFill>
                <a:latin typeface="Arial"/>
              </a:rPr>
              <a:t>and with no filter in front of the ADC, there was nothing to stop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76072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1A1F24"/>
                </a:solidFill>
                <a:latin typeface="Arial"/>
              </a:rPr>
              <a:t>Nyquist: to see 1520 Hz you need to sample above 3040 Hz. They sampled 30 times too slowly.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Where the 20 Hz line came from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Drawn at 19 cycles per 20 samples so you can see it — the motor's ratio was 1520:100, identical arithmetic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" y="3429000"/>
            <a:ext cx="7772400" cy="12700"/>
          </a:xfrm>
          <a:prstGeom prst="rect">
            <a:avLst/>
          </a:prstGeom>
          <a:solidFill>
            <a:srgbClr val="E4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795528" y="2468880"/>
            <a:ext cx="7772400" cy="1920240"/>
          </a:xfrm>
          <a:custGeom>
            <a:avLst/>
            <a:gdLst/>
            <a:ahLst/>
            <a:cxnLst/>
            <a:rect l="l" t="t" r="r" b="b"/>
            <a:pathLst>
              <a:path w="7772400" h="1920240">
                <a:moveTo>
                  <a:pt x="0" y="960120"/>
                </a:moveTo>
                <a:lnTo>
                  <a:pt x="19431" y="677806"/>
                </a:lnTo>
                <a:lnTo>
                  <a:pt x="38862" y="420452"/>
                </a:lnTo>
                <a:lnTo>
                  <a:pt x="58293" y="210813"/>
                </a:lnTo>
                <a:lnTo>
                  <a:pt x="77724" y="67423"/>
                </a:lnTo>
                <a:lnTo>
                  <a:pt x="97155" y="2959"/>
                </a:lnTo>
                <a:lnTo>
                  <a:pt x="116586" y="23122"/>
                </a:lnTo>
                <a:lnTo>
                  <a:pt x="136017" y="126129"/>
                </a:lnTo>
                <a:lnTo>
                  <a:pt x="155448" y="302872"/>
                </a:lnTo>
                <a:lnTo>
                  <a:pt x="174879" y="537725"/>
                </a:lnTo>
                <a:lnTo>
                  <a:pt x="194310" y="809924"/>
                </a:lnTo>
                <a:lnTo>
                  <a:pt x="213741" y="1095402"/>
                </a:lnTo>
                <a:lnTo>
                  <a:pt x="233172" y="1368919"/>
                </a:lnTo>
                <a:lnTo>
                  <a:pt x="252603" y="1606292"/>
                </a:lnTo>
                <a:lnTo>
                  <a:pt x="272034" y="1786535"/>
                </a:lnTo>
                <a:lnTo>
                  <a:pt x="291465" y="1893711"/>
                </a:lnTo>
                <a:lnTo>
                  <a:pt x="310896" y="1918345"/>
                </a:lnTo>
                <a:lnTo>
                  <a:pt x="330327" y="1858258"/>
                </a:lnTo>
                <a:lnTo>
                  <a:pt x="349758" y="1718763"/>
                </a:lnTo>
                <a:lnTo>
                  <a:pt x="369189" y="1512194"/>
                </a:lnTo>
                <a:lnTo>
                  <a:pt x="388620" y="1256813"/>
                </a:lnTo>
                <a:lnTo>
                  <a:pt x="408051" y="975200"/>
                </a:lnTo>
                <a:lnTo>
                  <a:pt x="427482" y="692255"/>
                </a:lnTo>
                <a:lnTo>
                  <a:pt x="446913" y="432992"/>
                </a:lnTo>
                <a:lnTo>
                  <a:pt x="466344" y="220334"/>
                </a:lnTo>
                <a:lnTo>
                  <a:pt x="485775" y="73084"/>
                </a:lnTo>
                <a:lnTo>
                  <a:pt x="505206" y="4261"/>
                </a:lnTo>
                <a:lnTo>
                  <a:pt x="524637" y="19948"/>
                </a:lnTo>
                <a:lnTo>
                  <a:pt x="544068" y="118760"/>
                </a:lnTo>
                <a:lnTo>
                  <a:pt x="563499" y="291960"/>
                </a:lnTo>
                <a:lnTo>
                  <a:pt x="582930" y="524234"/>
                </a:lnTo>
                <a:lnTo>
                  <a:pt x="602361" y="795047"/>
                </a:lnTo>
                <a:lnTo>
                  <a:pt x="621792" y="1080454"/>
                </a:lnTo>
                <a:lnTo>
                  <a:pt x="641223" y="1355223"/>
                </a:lnTo>
                <a:lnTo>
                  <a:pt x="660654" y="1595058"/>
                </a:lnTo>
                <a:lnTo>
                  <a:pt x="680085" y="1778756"/>
                </a:lnTo>
                <a:lnTo>
                  <a:pt x="699516" y="1890076"/>
                </a:lnTo>
                <a:lnTo>
                  <a:pt x="718947" y="1919174"/>
                </a:lnTo>
                <a:lnTo>
                  <a:pt x="738378" y="1863478"/>
                </a:lnTo>
                <a:lnTo>
                  <a:pt x="757809" y="1727913"/>
                </a:lnTo>
                <a:lnTo>
                  <a:pt x="777240" y="1524464"/>
                </a:lnTo>
                <a:lnTo>
                  <a:pt x="796671" y="1271119"/>
                </a:lnTo>
                <a:lnTo>
                  <a:pt x="816102" y="990278"/>
                </a:lnTo>
                <a:lnTo>
                  <a:pt x="835533" y="706770"/>
                </a:lnTo>
                <a:lnTo>
                  <a:pt x="854964" y="445661"/>
                </a:lnTo>
                <a:lnTo>
                  <a:pt x="874395" y="230039"/>
                </a:lnTo>
                <a:lnTo>
                  <a:pt x="893826" y="78965"/>
                </a:lnTo>
                <a:lnTo>
                  <a:pt x="913257" y="5798"/>
                </a:lnTo>
                <a:lnTo>
                  <a:pt x="932688" y="17006"/>
                </a:lnTo>
                <a:lnTo>
                  <a:pt x="952119" y="111598"/>
                </a:lnTo>
                <a:lnTo>
                  <a:pt x="971550" y="281212"/>
                </a:lnTo>
                <a:lnTo>
                  <a:pt x="990981" y="510851"/>
                </a:lnTo>
                <a:lnTo>
                  <a:pt x="1010412" y="780211"/>
                </a:lnTo>
                <a:lnTo>
                  <a:pt x="1029843" y="1065478"/>
                </a:lnTo>
                <a:lnTo>
                  <a:pt x="1049274" y="1341429"/>
                </a:lnTo>
                <a:lnTo>
                  <a:pt x="1068705" y="1583668"/>
                </a:lnTo>
                <a:lnTo>
                  <a:pt x="1088136" y="1770776"/>
                </a:lnTo>
                <a:lnTo>
                  <a:pt x="1107567" y="1886210"/>
                </a:lnTo>
                <a:lnTo>
                  <a:pt x="1126998" y="1919766"/>
                </a:lnTo>
                <a:lnTo>
                  <a:pt x="1146429" y="1868475"/>
                </a:lnTo>
                <a:lnTo>
                  <a:pt x="1165860" y="1736873"/>
                </a:lnTo>
                <a:lnTo>
                  <a:pt x="1185291" y="1536595"/>
                </a:lnTo>
                <a:lnTo>
                  <a:pt x="1204722" y="1285349"/>
                </a:lnTo>
                <a:lnTo>
                  <a:pt x="1224153" y="1005347"/>
                </a:lnTo>
                <a:lnTo>
                  <a:pt x="1243584" y="721347"/>
                </a:lnTo>
                <a:lnTo>
                  <a:pt x="1263015" y="458458"/>
                </a:lnTo>
                <a:lnTo>
                  <a:pt x="1282446" y="239923"/>
                </a:lnTo>
                <a:lnTo>
                  <a:pt x="1301877" y="85063"/>
                </a:lnTo>
                <a:lnTo>
                  <a:pt x="1321308" y="7570"/>
                </a:lnTo>
                <a:lnTo>
                  <a:pt x="1340739" y="14296"/>
                </a:lnTo>
                <a:lnTo>
                  <a:pt x="1360170" y="104646"/>
                </a:lnTo>
                <a:lnTo>
                  <a:pt x="1379601" y="270632"/>
                </a:lnTo>
                <a:lnTo>
                  <a:pt x="1399032" y="497578"/>
                </a:lnTo>
                <a:lnTo>
                  <a:pt x="1418463" y="765419"/>
                </a:lnTo>
                <a:lnTo>
                  <a:pt x="1437894" y="1050475"/>
                </a:lnTo>
                <a:lnTo>
                  <a:pt x="1457325" y="1327542"/>
                </a:lnTo>
                <a:lnTo>
                  <a:pt x="1476756" y="1572123"/>
                </a:lnTo>
                <a:lnTo>
                  <a:pt x="1496187" y="1762595"/>
                </a:lnTo>
                <a:lnTo>
                  <a:pt x="1515618" y="1882117"/>
                </a:lnTo>
                <a:lnTo>
                  <a:pt x="1535049" y="1920121"/>
                </a:lnTo>
                <a:lnTo>
                  <a:pt x="1554480" y="1873248"/>
                </a:lnTo>
                <a:lnTo>
                  <a:pt x="1573911" y="1745641"/>
                </a:lnTo>
                <a:lnTo>
                  <a:pt x="1593342" y="1548584"/>
                </a:lnTo>
                <a:lnTo>
                  <a:pt x="1612773" y="1299498"/>
                </a:lnTo>
                <a:lnTo>
                  <a:pt x="1632204" y="1020406"/>
                </a:lnTo>
                <a:lnTo>
                  <a:pt x="1651635" y="735984"/>
                </a:lnTo>
                <a:lnTo>
                  <a:pt x="1671066" y="471379"/>
                </a:lnTo>
                <a:lnTo>
                  <a:pt x="1690497" y="249985"/>
                </a:lnTo>
                <a:lnTo>
                  <a:pt x="1709928" y="91377"/>
                </a:lnTo>
                <a:lnTo>
                  <a:pt x="1729359" y="9578"/>
                </a:lnTo>
                <a:lnTo>
                  <a:pt x="1748790" y="11820"/>
                </a:lnTo>
                <a:lnTo>
                  <a:pt x="1768221" y="97905"/>
                </a:lnTo>
                <a:lnTo>
                  <a:pt x="1787652" y="260222"/>
                </a:lnTo>
                <a:lnTo>
                  <a:pt x="1807083" y="484420"/>
                </a:lnTo>
                <a:lnTo>
                  <a:pt x="1826514" y="750676"/>
                </a:lnTo>
                <a:lnTo>
                  <a:pt x="1845945" y="1035450"/>
                </a:lnTo>
                <a:lnTo>
                  <a:pt x="1865376" y="1313563"/>
                </a:lnTo>
                <a:lnTo>
                  <a:pt x="1884807" y="1560427"/>
                </a:lnTo>
                <a:lnTo>
                  <a:pt x="1904238" y="1754216"/>
                </a:lnTo>
                <a:lnTo>
                  <a:pt x="1923669" y="1877795"/>
                </a:lnTo>
                <a:lnTo>
                  <a:pt x="1943100" y="1920240"/>
                </a:lnTo>
                <a:lnTo>
                  <a:pt x="1962531" y="1877795"/>
                </a:lnTo>
                <a:lnTo>
                  <a:pt x="1981962" y="1754216"/>
                </a:lnTo>
                <a:lnTo>
                  <a:pt x="2001393" y="1560427"/>
                </a:lnTo>
                <a:lnTo>
                  <a:pt x="2020824" y="1313563"/>
                </a:lnTo>
                <a:lnTo>
                  <a:pt x="2040255" y="1035450"/>
                </a:lnTo>
                <a:lnTo>
                  <a:pt x="2059686" y="750676"/>
                </a:lnTo>
                <a:lnTo>
                  <a:pt x="2079117" y="484420"/>
                </a:lnTo>
                <a:lnTo>
                  <a:pt x="2098548" y="260222"/>
                </a:lnTo>
                <a:lnTo>
                  <a:pt x="2117979" y="97905"/>
                </a:lnTo>
                <a:lnTo>
                  <a:pt x="2137410" y="11820"/>
                </a:lnTo>
                <a:lnTo>
                  <a:pt x="2156841" y="9578"/>
                </a:lnTo>
                <a:lnTo>
                  <a:pt x="2176272" y="91377"/>
                </a:lnTo>
                <a:lnTo>
                  <a:pt x="2195703" y="249985"/>
                </a:lnTo>
                <a:lnTo>
                  <a:pt x="2215134" y="471379"/>
                </a:lnTo>
                <a:lnTo>
                  <a:pt x="2234565" y="735984"/>
                </a:lnTo>
                <a:lnTo>
                  <a:pt x="2253996" y="1020406"/>
                </a:lnTo>
                <a:lnTo>
                  <a:pt x="2273427" y="1299498"/>
                </a:lnTo>
                <a:lnTo>
                  <a:pt x="2292858" y="1548584"/>
                </a:lnTo>
                <a:lnTo>
                  <a:pt x="2312289" y="1745641"/>
                </a:lnTo>
                <a:lnTo>
                  <a:pt x="2331720" y="1873248"/>
                </a:lnTo>
                <a:lnTo>
                  <a:pt x="2351151" y="1920121"/>
                </a:lnTo>
                <a:lnTo>
                  <a:pt x="2370582" y="1882117"/>
                </a:lnTo>
                <a:lnTo>
                  <a:pt x="2390013" y="1762595"/>
                </a:lnTo>
                <a:lnTo>
                  <a:pt x="2409444" y="1572123"/>
                </a:lnTo>
                <a:lnTo>
                  <a:pt x="2428875" y="1327542"/>
                </a:lnTo>
                <a:lnTo>
                  <a:pt x="2448306" y="1050475"/>
                </a:lnTo>
                <a:lnTo>
                  <a:pt x="2467737" y="765419"/>
                </a:lnTo>
                <a:lnTo>
                  <a:pt x="2487168" y="497578"/>
                </a:lnTo>
                <a:lnTo>
                  <a:pt x="2506599" y="270632"/>
                </a:lnTo>
                <a:lnTo>
                  <a:pt x="2526030" y="104646"/>
                </a:lnTo>
                <a:lnTo>
                  <a:pt x="2545461" y="14296"/>
                </a:lnTo>
                <a:lnTo>
                  <a:pt x="2564892" y="7570"/>
                </a:lnTo>
                <a:lnTo>
                  <a:pt x="2584323" y="85063"/>
                </a:lnTo>
                <a:lnTo>
                  <a:pt x="2603754" y="239923"/>
                </a:lnTo>
                <a:lnTo>
                  <a:pt x="2623185" y="458458"/>
                </a:lnTo>
                <a:lnTo>
                  <a:pt x="2642616" y="721347"/>
                </a:lnTo>
                <a:lnTo>
                  <a:pt x="2662047" y="1005347"/>
                </a:lnTo>
                <a:lnTo>
                  <a:pt x="2681478" y="1285349"/>
                </a:lnTo>
                <a:lnTo>
                  <a:pt x="2700909" y="1536595"/>
                </a:lnTo>
                <a:lnTo>
                  <a:pt x="2720340" y="1736873"/>
                </a:lnTo>
                <a:lnTo>
                  <a:pt x="2739771" y="1868475"/>
                </a:lnTo>
                <a:lnTo>
                  <a:pt x="2759202" y="1919766"/>
                </a:lnTo>
                <a:lnTo>
                  <a:pt x="2778633" y="1886210"/>
                </a:lnTo>
                <a:lnTo>
                  <a:pt x="2798064" y="1770776"/>
                </a:lnTo>
                <a:lnTo>
                  <a:pt x="2817495" y="1583668"/>
                </a:lnTo>
                <a:lnTo>
                  <a:pt x="2836926" y="1341429"/>
                </a:lnTo>
                <a:lnTo>
                  <a:pt x="2856357" y="1065478"/>
                </a:lnTo>
                <a:lnTo>
                  <a:pt x="2875788" y="780211"/>
                </a:lnTo>
                <a:lnTo>
                  <a:pt x="2895219" y="510851"/>
                </a:lnTo>
                <a:lnTo>
                  <a:pt x="2914650" y="281212"/>
                </a:lnTo>
                <a:lnTo>
                  <a:pt x="2934081" y="111598"/>
                </a:lnTo>
                <a:lnTo>
                  <a:pt x="2953512" y="17006"/>
                </a:lnTo>
                <a:lnTo>
                  <a:pt x="2972943" y="5798"/>
                </a:lnTo>
                <a:lnTo>
                  <a:pt x="2992374" y="78965"/>
                </a:lnTo>
                <a:lnTo>
                  <a:pt x="3011805" y="230039"/>
                </a:lnTo>
                <a:lnTo>
                  <a:pt x="3031236" y="445661"/>
                </a:lnTo>
                <a:lnTo>
                  <a:pt x="3050667" y="706770"/>
                </a:lnTo>
                <a:lnTo>
                  <a:pt x="3070098" y="990278"/>
                </a:lnTo>
                <a:lnTo>
                  <a:pt x="3089529" y="1271119"/>
                </a:lnTo>
                <a:lnTo>
                  <a:pt x="3108960" y="1524464"/>
                </a:lnTo>
                <a:lnTo>
                  <a:pt x="3128391" y="1727913"/>
                </a:lnTo>
                <a:lnTo>
                  <a:pt x="3147822" y="1863478"/>
                </a:lnTo>
                <a:lnTo>
                  <a:pt x="3167253" y="1919174"/>
                </a:lnTo>
                <a:lnTo>
                  <a:pt x="3186684" y="1890076"/>
                </a:lnTo>
                <a:lnTo>
                  <a:pt x="3206115" y="1778756"/>
                </a:lnTo>
                <a:lnTo>
                  <a:pt x="3225546" y="1595058"/>
                </a:lnTo>
                <a:lnTo>
                  <a:pt x="3244977" y="1355223"/>
                </a:lnTo>
                <a:lnTo>
                  <a:pt x="3264408" y="1080454"/>
                </a:lnTo>
                <a:lnTo>
                  <a:pt x="3283839" y="795047"/>
                </a:lnTo>
                <a:lnTo>
                  <a:pt x="3303270" y="524234"/>
                </a:lnTo>
                <a:lnTo>
                  <a:pt x="3322701" y="291960"/>
                </a:lnTo>
                <a:lnTo>
                  <a:pt x="3342132" y="118760"/>
                </a:lnTo>
                <a:lnTo>
                  <a:pt x="3361563" y="19948"/>
                </a:lnTo>
                <a:lnTo>
                  <a:pt x="3380994" y="4261"/>
                </a:lnTo>
                <a:lnTo>
                  <a:pt x="3400425" y="73084"/>
                </a:lnTo>
                <a:lnTo>
                  <a:pt x="3419856" y="220334"/>
                </a:lnTo>
                <a:lnTo>
                  <a:pt x="3439287" y="432992"/>
                </a:lnTo>
                <a:lnTo>
                  <a:pt x="3458718" y="692255"/>
                </a:lnTo>
                <a:lnTo>
                  <a:pt x="3478149" y="975200"/>
                </a:lnTo>
                <a:lnTo>
                  <a:pt x="3497580" y="1256813"/>
                </a:lnTo>
                <a:lnTo>
                  <a:pt x="3517011" y="1512194"/>
                </a:lnTo>
                <a:lnTo>
                  <a:pt x="3536442" y="1718763"/>
                </a:lnTo>
                <a:lnTo>
                  <a:pt x="3555873" y="1858258"/>
                </a:lnTo>
                <a:lnTo>
                  <a:pt x="3575304" y="1918345"/>
                </a:lnTo>
                <a:lnTo>
                  <a:pt x="3594735" y="1893711"/>
                </a:lnTo>
                <a:lnTo>
                  <a:pt x="3614166" y="1786535"/>
                </a:lnTo>
                <a:lnTo>
                  <a:pt x="3633597" y="1606292"/>
                </a:lnTo>
                <a:lnTo>
                  <a:pt x="3653028" y="1368919"/>
                </a:lnTo>
                <a:lnTo>
                  <a:pt x="3672459" y="1095402"/>
                </a:lnTo>
                <a:lnTo>
                  <a:pt x="3691890" y="809924"/>
                </a:lnTo>
                <a:lnTo>
                  <a:pt x="3711321" y="537725"/>
                </a:lnTo>
                <a:lnTo>
                  <a:pt x="3730752" y="302872"/>
                </a:lnTo>
                <a:lnTo>
                  <a:pt x="3750183" y="126129"/>
                </a:lnTo>
                <a:lnTo>
                  <a:pt x="3769614" y="23122"/>
                </a:lnTo>
                <a:lnTo>
                  <a:pt x="3789045" y="2959"/>
                </a:lnTo>
                <a:lnTo>
                  <a:pt x="3808476" y="67423"/>
                </a:lnTo>
                <a:lnTo>
                  <a:pt x="3827907" y="210813"/>
                </a:lnTo>
                <a:lnTo>
                  <a:pt x="3847338" y="420452"/>
                </a:lnTo>
                <a:lnTo>
                  <a:pt x="3866769" y="677806"/>
                </a:lnTo>
                <a:lnTo>
                  <a:pt x="3886200" y="960119"/>
                </a:lnTo>
                <a:lnTo>
                  <a:pt x="3905631" y="1242433"/>
                </a:lnTo>
                <a:lnTo>
                  <a:pt x="3925062" y="1499787"/>
                </a:lnTo>
                <a:lnTo>
                  <a:pt x="3944493" y="1709426"/>
                </a:lnTo>
                <a:lnTo>
                  <a:pt x="3963924" y="1852816"/>
                </a:lnTo>
                <a:lnTo>
                  <a:pt x="3983355" y="1917280"/>
                </a:lnTo>
                <a:lnTo>
                  <a:pt x="4002786" y="1897117"/>
                </a:lnTo>
                <a:lnTo>
                  <a:pt x="4022217" y="1794110"/>
                </a:lnTo>
                <a:lnTo>
                  <a:pt x="4041648" y="1617367"/>
                </a:lnTo>
                <a:lnTo>
                  <a:pt x="4061079" y="1382514"/>
                </a:lnTo>
                <a:lnTo>
                  <a:pt x="4080510" y="1110315"/>
                </a:lnTo>
                <a:lnTo>
                  <a:pt x="4099941" y="824837"/>
                </a:lnTo>
                <a:lnTo>
                  <a:pt x="4119372" y="551320"/>
                </a:lnTo>
                <a:lnTo>
                  <a:pt x="4138803" y="313947"/>
                </a:lnTo>
                <a:lnTo>
                  <a:pt x="4158234" y="133704"/>
                </a:lnTo>
                <a:lnTo>
                  <a:pt x="4177665" y="26528"/>
                </a:lnTo>
                <a:lnTo>
                  <a:pt x="4197096" y="1894"/>
                </a:lnTo>
                <a:lnTo>
                  <a:pt x="4216527" y="61981"/>
                </a:lnTo>
                <a:lnTo>
                  <a:pt x="4235958" y="201476"/>
                </a:lnTo>
                <a:lnTo>
                  <a:pt x="4255389" y="408045"/>
                </a:lnTo>
                <a:lnTo>
                  <a:pt x="4274820" y="663426"/>
                </a:lnTo>
                <a:lnTo>
                  <a:pt x="4294251" y="945039"/>
                </a:lnTo>
                <a:lnTo>
                  <a:pt x="4313682" y="1227984"/>
                </a:lnTo>
                <a:lnTo>
                  <a:pt x="4333113" y="1487247"/>
                </a:lnTo>
                <a:lnTo>
                  <a:pt x="4352544" y="1699905"/>
                </a:lnTo>
                <a:lnTo>
                  <a:pt x="4371975" y="1847155"/>
                </a:lnTo>
                <a:lnTo>
                  <a:pt x="4391406" y="1915978"/>
                </a:lnTo>
                <a:lnTo>
                  <a:pt x="4410837" y="1900291"/>
                </a:lnTo>
                <a:lnTo>
                  <a:pt x="4430268" y="1801479"/>
                </a:lnTo>
                <a:lnTo>
                  <a:pt x="4449699" y="1628279"/>
                </a:lnTo>
                <a:lnTo>
                  <a:pt x="4469130" y="1396005"/>
                </a:lnTo>
                <a:lnTo>
                  <a:pt x="4488561" y="1125192"/>
                </a:lnTo>
                <a:lnTo>
                  <a:pt x="4507992" y="839785"/>
                </a:lnTo>
                <a:lnTo>
                  <a:pt x="4527423" y="565016"/>
                </a:lnTo>
                <a:lnTo>
                  <a:pt x="4546854" y="325181"/>
                </a:lnTo>
                <a:lnTo>
                  <a:pt x="4566285" y="141483"/>
                </a:lnTo>
                <a:lnTo>
                  <a:pt x="4585716" y="30163"/>
                </a:lnTo>
                <a:lnTo>
                  <a:pt x="4605147" y="1065"/>
                </a:lnTo>
                <a:lnTo>
                  <a:pt x="4624578" y="56761"/>
                </a:lnTo>
                <a:lnTo>
                  <a:pt x="4644009" y="192326"/>
                </a:lnTo>
                <a:lnTo>
                  <a:pt x="4663440" y="395775"/>
                </a:lnTo>
                <a:lnTo>
                  <a:pt x="4682871" y="649120"/>
                </a:lnTo>
                <a:lnTo>
                  <a:pt x="4702302" y="929961"/>
                </a:lnTo>
                <a:lnTo>
                  <a:pt x="4721733" y="1213469"/>
                </a:lnTo>
                <a:lnTo>
                  <a:pt x="4741164" y="1474578"/>
                </a:lnTo>
                <a:lnTo>
                  <a:pt x="4760595" y="1690200"/>
                </a:lnTo>
                <a:lnTo>
                  <a:pt x="4780026" y="1841274"/>
                </a:lnTo>
                <a:lnTo>
                  <a:pt x="4799457" y="1914441"/>
                </a:lnTo>
                <a:lnTo>
                  <a:pt x="4818888" y="1903233"/>
                </a:lnTo>
                <a:lnTo>
                  <a:pt x="4838319" y="1808641"/>
                </a:lnTo>
                <a:lnTo>
                  <a:pt x="4857750" y="1639027"/>
                </a:lnTo>
                <a:lnTo>
                  <a:pt x="4877181" y="1409388"/>
                </a:lnTo>
                <a:lnTo>
                  <a:pt x="4896612" y="1140028"/>
                </a:lnTo>
                <a:lnTo>
                  <a:pt x="4916043" y="854761"/>
                </a:lnTo>
                <a:lnTo>
                  <a:pt x="4935474" y="578810"/>
                </a:lnTo>
                <a:lnTo>
                  <a:pt x="4954905" y="336571"/>
                </a:lnTo>
                <a:lnTo>
                  <a:pt x="4974336" y="149463"/>
                </a:lnTo>
                <a:lnTo>
                  <a:pt x="4993767" y="34029"/>
                </a:lnTo>
                <a:lnTo>
                  <a:pt x="5013198" y="473"/>
                </a:lnTo>
                <a:lnTo>
                  <a:pt x="5032629" y="51764"/>
                </a:lnTo>
                <a:lnTo>
                  <a:pt x="5052060" y="183366"/>
                </a:lnTo>
                <a:lnTo>
                  <a:pt x="5071491" y="383644"/>
                </a:lnTo>
                <a:lnTo>
                  <a:pt x="5090922" y="634890"/>
                </a:lnTo>
                <a:lnTo>
                  <a:pt x="5110353" y="914892"/>
                </a:lnTo>
                <a:lnTo>
                  <a:pt x="5129784" y="1198892"/>
                </a:lnTo>
                <a:lnTo>
                  <a:pt x="5149215" y="1461781"/>
                </a:lnTo>
                <a:lnTo>
                  <a:pt x="5168646" y="1680316"/>
                </a:lnTo>
                <a:lnTo>
                  <a:pt x="5188077" y="1835176"/>
                </a:lnTo>
                <a:lnTo>
                  <a:pt x="5207508" y="1912669"/>
                </a:lnTo>
                <a:lnTo>
                  <a:pt x="5226939" y="1905943"/>
                </a:lnTo>
                <a:lnTo>
                  <a:pt x="5246370" y="1815593"/>
                </a:lnTo>
                <a:lnTo>
                  <a:pt x="5265801" y="1649607"/>
                </a:lnTo>
                <a:lnTo>
                  <a:pt x="5285232" y="1422661"/>
                </a:lnTo>
                <a:lnTo>
                  <a:pt x="5304663" y="1154820"/>
                </a:lnTo>
                <a:lnTo>
                  <a:pt x="5324094" y="869764"/>
                </a:lnTo>
                <a:lnTo>
                  <a:pt x="5343525" y="592697"/>
                </a:lnTo>
                <a:lnTo>
                  <a:pt x="5362956" y="348116"/>
                </a:lnTo>
                <a:lnTo>
                  <a:pt x="5382387" y="157644"/>
                </a:lnTo>
                <a:lnTo>
                  <a:pt x="5401818" y="38122"/>
                </a:lnTo>
                <a:lnTo>
                  <a:pt x="5421249" y="118"/>
                </a:lnTo>
                <a:lnTo>
                  <a:pt x="5440680" y="46991"/>
                </a:lnTo>
                <a:lnTo>
                  <a:pt x="5460111" y="174598"/>
                </a:lnTo>
                <a:lnTo>
                  <a:pt x="5479542" y="371655"/>
                </a:lnTo>
                <a:lnTo>
                  <a:pt x="5498973" y="620741"/>
                </a:lnTo>
                <a:lnTo>
                  <a:pt x="5518404" y="899833"/>
                </a:lnTo>
                <a:lnTo>
                  <a:pt x="5537835" y="1184255"/>
                </a:lnTo>
                <a:lnTo>
                  <a:pt x="5557266" y="1448860"/>
                </a:lnTo>
                <a:lnTo>
                  <a:pt x="5576697" y="1670254"/>
                </a:lnTo>
                <a:lnTo>
                  <a:pt x="5596128" y="1828862"/>
                </a:lnTo>
                <a:lnTo>
                  <a:pt x="5615559" y="1910661"/>
                </a:lnTo>
                <a:lnTo>
                  <a:pt x="5634990" y="1908419"/>
                </a:lnTo>
                <a:lnTo>
                  <a:pt x="5654421" y="1822334"/>
                </a:lnTo>
                <a:lnTo>
                  <a:pt x="5673852" y="1660017"/>
                </a:lnTo>
                <a:lnTo>
                  <a:pt x="5693283" y="1435819"/>
                </a:lnTo>
                <a:lnTo>
                  <a:pt x="5712714" y="1169563"/>
                </a:lnTo>
                <a:lnTo>
                  <a:pt x="5732145" y="884789"/>
                </a:lnTo>
                <a:lnTo>
                  <a:pt x="5751576" y="606676"/>
                </a:lnTo>
                <a:lnTo>
                  <a:pt x="5771007" y="359812"/>
                </a:lnTo>
                <a:lnTo>
                  <a:pt x="5790438" y="166023"/>
                </a:lnTo>
                <a:lnTo>
                  <a:pt x="5809869" y="42444"/>
                </a:lnTo>
                <a:lnTo>
                  <a:pt x="5829300" y="0"/>
                </a:lnTo>
                <a:lnTo>
                  <a:pt x="5848731" y="42444"/>
                </a:lnTo>
                <a:lnTo>
                  <a:pt x="5868162" y="166023"/>
                </a:lnTo>
                <a:lnTo>
                  <a:pt x="5887593" y="359812"/>
                </a:lnTo>
                <a:lnTo>
                  <a:pt x="5907024" y="606676"/>
                </a:lnTo>
                <a:lnTo>
                  <a:pt x="5926455" y="884789"/>
                </a:lnTo>
                <a:lnTo>
                  <a:pt x="5945886" y="1169563"/>
                </a:lnTo>
                <a:lnTo>
                  <a:pt x="5965317" y="1435819"/>
                </a:lnTo>
                <a:lnTo>
                  <a:pt x="5984748" y="1660017"/>
                </a:lnTo>
                <a:lnTo>
                  <a:pt x="6004179" y="1822334"/>
                </a:lnTo>
                <a:lnTo>
                  <a:pt x="6023610" y="1908419"/>
                </a:lnTo>
                <a:lnTo>
                  <a:pt x="6043041" y="1910661"/>
                </a:lnTo>
                <a:lnTo>
                  <a:pt x="6062472" y="1828862"/>
                </a:lnTo>
                <a:lnTo>
                  <a:pt x="6081903" y="1670254"/>
                </a:lnTo>
                <a:lnTo>
                  <a:pt x="6101334" y="1448860"/>
                </a:lnTo>
                <a:lnTo>
                  <a:pt x="6120765" y="1184255"/>
                </a:lnTo>
                <a:lnTo>
                  <a:pt x="6140196" y="899833"/>
                </a:lnTo>
                <a:lnTo>
                  <a:pt x="6159627" y="620741"/>
                </a:lnTo>
                <a:lnTo>
                  <a:pt x="6179058" y="371655"/>
                </a:lnTo>
                <a:lnTo>
                  <a:pt x="6198489" y="174598"/>
                </a:lnTo>
                <a:lnTo>
                  <a:pt x="6217920" y="46991"/>
                </a:lnTo>
                <a:lnTo>
                  <a:pt x="6237351" y="118"/>
                </a:lnTo>
                <a:lnTo>
                  <a:pt x="6256782" y="38122"/>
                </a:lnTo>
                <a:lnTo>
                  <a:pt x="6276213" y="157644"/>
                </a:lnTo>
                <a:lnTo>
                  <a:pt x="6295644" y="348116"/>
                </a:lnTo>
                <a:lnTo>
                  <a:pt x="6315075" y="592697"/>
                </a:lnTo>
                <a:lnTo>
                  <a:pt x="6334506" y="869764"/>
                </a:lnTo>
                <a:lnTo>
                  <a:pt x="6353937" y="1154820"/>
                </a:lnTo>
                <a:lnTo>
                  <a:pt x="6373368" y="1422661"/>
                </a:lnTo>
                <a:lnTo>
                  <a:pt x="6392799" y="1649607"/>
                </a:lnTo>
                <a:lnTo>
                  <a:pt x="6412230" y="1815593"/>
                </a:lnTo>
                <a:lnTo>
                  <a:pt x="6431661" y="1905943"/>
                </a:lnTo>
                <a:lnTo>
                  <a:pt x="6451092" y="1912669"/>
                </a:lnTo>
                <a:lnTo>
                  <a:pt x="6470523" y="1835176"/>
                </a:lnTo>
                <a:lnTo>
                  <a:pt x="6489954" y="1680316"/>
                </a:lnTo>
                <a:lnTo>
                  <a:pt x="6509385" y="1461781"/>
                </a:lnTo>
                <a:lnTo>
                  <a:pt x="6528816" y="1198892"/>
                </a:lnTo>
                <a:lnTo>
                  <a:pt x="6548247" y="914892"/>
                </a:lnTo>
                <a:lnTo>
                  <a:pt x="6567678" y="634890"/>
                </a:lnTo>
                <a:lnTo>
                  <a:pt x="6587109" y="383644"/>
                </a:lnTo>
                <a:lnTo>
                  <a:pt x="6606540" y="183366"/>
                </a:lnTo>
                <a:lnTo>
                  <a:pt x="6625971" y="51764"/>
                </a:lnTo>
                <a:lnTo>
                  <a:pt x="6645402" y="473"/>
                </a:lnTo>
                <a:lnTo>
                  <a:pt x="6664833" y="34029"/>
                </a:lnTo>
                <a:lnTo>
                  <a:pt x="6684264" y="149463"/>
                </a:lnTo>
                <a:lnTo>
                  <a:pt x="6703695" y="336571"/>
                </a:lnTo>
                <a:lnTo>
                  <a:pt x="6723126" y="578810"/>
                </a:lnTo>
                <a:lnTo>
                  <a:pt x="6742557" y="854761"/>
                </a:lnTo>
                <a:lnTo>
                  <a:pt x="6761988" y="1140028"/>
                </a:lnTo>
                <a:lnTo>
                  <a:pt x="6781419" y="1409388"/>
                </a:lnTo>
                <a:lnTo>
                  <a:pt x="6800850" y="1639027"/>
                </a:lnTo>
                <a:lnTo>
                  <a:pt x="6820281" y="1808641"/>
                </a:lnTo>
                <a:lnTo>
                  <a:pt x="6839712" y="1903233"/>
                </a:lnTo>
                <a:lnTo>
                  <a:pt x="6859143" y="1914441"/>
                </a:lnTo>
                <a:lnTo>
                  <a:pt x="6878574" y="1841274"/>
                </a:lnTo>
                <a:lnTo>
                  <a:pt x="6898005" y="1690200"/>
                </a:lnTo>
                <a:lnTo>
                  <a:pt x="6917436" y="1474578"/>
                </a:lnTo>
                <a:lnTo>
                  <a:pt x="6936867" y="1213469"/>
                </a:lnTo>
                <a:lnTo>
                  <a:pt x="6956298" y="929961"/>
                </a:lnTo>
                <a:lnTo>
                  <a:pt x="6975729" y="649120"/>
                </a:lnTo>
                <a:lnTo>
                  <a:pt x="6995160" y="395775"/>
                </a:lnTo>
                <a:lnTo>
                  <a:pt x="7014591" y="192326"/>
                </a:lnTo>
                <a:lnTo>
                  <a:pt x="7034022" y="56761"/>
                </a:lnTo>
                <a:lnTo>
                  <a:pt x="7053453" y="1065"/>
                </a:lnTo>
                <a:lnTo>
                  <a:pt x="7072884" y="30163"/>
                </a:lnTo>
                <a:lnTo>
                  <a:pt x="7092315" y="141483"/>
                </a:lnTo>
                <a:lnTo>
                  <a:pt x="7111746" y="325181"/>
                </a:lnTo>
                <a:lnTo>
                  <a:pt x="7131177" y="565016"/>
                </a:lnTo>
                <a:lnTo>
                  <a:pt x="7150608" y="839785"/>
                </a:lnTo>
                <a:lnTo>
                  <a:pt x="7170039" y="1125192"/>
                </a:lnTo>
                <a:lnTo>
                  <a:pt x="7189470" y="1396005"/>
                </a:lnTo>
                <a:lnTo>
                  <a:pt x="7208901" y="1628279"/>
                </a:lnTo>
                <a:lnTo>
                  <a:pt x="7228332" y="1801479"/>
                </a:lnTo>
                <a:lnTo>
                  <a:pt x="7247763" y="1900291"/>
                </a:lnTo>
                <a:lnTo>
                  <a:pt x="7267194" y="1915978"/>
                </a:lnTo>
                <a:lnTo>
                  <a:pt x="7286625" y="1847155"/>
                </a:lnTo>
                <a:lnTo>
                  <a:pt x="7306056" y="1699905"/>
                </a:lnTo>
                <a:lnTo>
                  <a:pt x="7325487" y="1487247"/>
                </a:lnTo>
                <a:lnTo>
                  <a:pt x="7344918" y="1227984"/>
                </a:lnTo>
                <a:lnTo>
                  <a:pt x="7364349" y="945039"/>
                </a:lnTo>
                <a:lnTo>
                  <a:pt x="7383780" y="663426"/>
                </a:lnTo>
                <a:lnTo>
                  <a:pt x="7403211" y="408045"/>
                </a:lnTo>
                <a:lnTo>
                  <a:pt x="7422642" y="201476"/>
                </a:lnTo>
                <a:lnTo>
                  <a:pt x="7442073" y="61981"/>
                </a:lnTo>
                <a:lnTo>
                  <a:pt x="7461504" y="1894"/>
                </a:lnTo>
                <a:lnTo>
                  <a:pt x="7480935" y="26528"/>
                </a:lnTo>
                <a:lnTo>
                  <a:pt x="7500366" y="133704"/>
                </a:lnTo>
                <a:lnTo>
                  <a:pt x="7519797" y="313947"/>
                </a:lnTo>
                <a:lnTo>
                  <a:pt x="7539228" y="551320"/>
                </a:lnTo>
                <a:lnTo>
                  <a:pt x="7558659" y="824837"/>
                </a:lnTo>
                <a:lnTo>
                  <a:pt x="7578090" y="1110315"/>
                </a:lnTo>
                <a:lnTo>
                  <a:pt x="7597521" y="1382514"/>
                </a:lnTo>
                <a:lnTo>
                  <a:pt x="7616952" y="1617367"/>
                </a:lnTo>
                <a:lnTo>
                  <a:pt x="7636383" y="1794110"/>
                </a:lnTo>
                <a:lnTo>
                  <a:pt x="7655814" y="1897117"/>
                </a:lnTo>
                <a:lnTo>
                  <a:pt x="7675245" y="1917280"/>
                </a:lnTo>
                <a:lnTo>
                  <a:pt x="7694676" y="1852816"/>
                </a:lnTo>
                <a:lnTo>
                  <a:pt x="7714107" y="1709426"/>
                </a:lnTo>
                <a:lnTo>
                  <a:pt x="7733538" y="1499787"/>
                </a:lnTo>
                <a:lnTo>
                  <a:pt x="7752969" y="1242433"/>
                </a:lnTo>
                <a:lnTo>
                  <a:pt x="7772400" y="960120"/>
                </a:lnTo>
              </a:path>
            </a:pathLst>
          </a:custGeom>
          <a:noFill/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084831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7C86"/>
                </a:solidFill>
                <a:latin typeface="Courier New"/>
              </a:rPr>
              <a:t>the real vibration  ·  19 cycles</a:t>
            </a:r>
          </a:p>
        </p:txBody>
      </p:sp>
      <p:sp>
        <p:nvSpPr>
          <p:cNvPr id="11" name="Oval 10"/>
          <p:cNvSpPr/>
          <p:nvPr/>
        </p:nvSpPr>
        <p:spPr>
          <a:xfrm>
            <a:off x="745236" y="3378708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3856" y="3675401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22476" y="3943052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11096" y="4155461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299716" y="4291836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88336" y="4338828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076956" y="4291836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65576" y="4155461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54196" y="3943052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42816" y="3675401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31436" y="3378707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20056" y="3082014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408676" y="2814363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97296" y="2601954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85916" y="2465579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74536" y="2418588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63156" y="2465579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51776" y="2601954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40396" y="2814363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29016" y="3082014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17636" y="3378708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795528" y="2468880"/>
            <a:ext cx="7772400" cy="1920240"/>
          </a:xfrm>
          <a:custGeom>
            <a:avLst/>
            <a:gdLst/>
            <a:ahLst/>
            <a:cxnLst/>
            <a:rect l="l" t="t" r="r" b="b"/>
            <a:pathLst>
              <a:path w="7772400" h="1920240">
                <a:moveTo>
                  <a:pt x="0" y="960120"/>
                </a:moveTo>
                <a:lnTo>
                  <a:pt x="19431" y="975200"/>
                </a:lnTo>
                <a:lnTo>
                  <a:pt x="38862" y="990278"/>
                </a:lnTo>
                <a:lnTo>
                  <a:pt x="58293" y="1005347"/>
                </a:lnTo>
                <a:lnTo>
                  <a:pt x="77724" y="1020406"/>
                </a:lnTo>
                <a:lnTo>
                  <a:pt x="97155" y="1035450"/>
                </a:lnTo>
                <a:lnTo>
                  <a:pt x="116586" y="1050475"/>
                </a:lnTo>
                <a:lnTo>
                  <a:pt x="136017" y="1065478"/>
                </a:lnTo>
                <a:lnTo>
                  <a:pt x="155448" y="1080454"/>
                </a:lnTo>
                <a:lnTo>
                  <a:pt x="174879" y="1095402"/>
                </a:lnTo>
                <a:lnTo>
                  <a:pt x="194310" y="1110315"/>
                </a:lnTo>
                <a:lnTo>
                  <a:pt x="213741" y="1125192"/>
                </a:lnTo>
                <a:lnTo>
                  <a:pt x="233172" y="1140028"/>
                </a:lnTo>
                <a:lnTo>
                  <a:pt x="252603" y="1154820"/>
                </a:lnTo>
                <a:lnTo>
                  <a:pt x="272034" y="1169563"/>
                </a:lnTo>
                <a:lnTo>
                  <a:pt x="291465" y="1184255"/>
                </a:lnTo>
                <a:lnTo>
                  <a:pt x="310896" y="1198892"/>
                </a:lnTo>
                <a:lnTo>
                  <a:pt x="330327" y="1213469"/>
                </a:lnTo>
                <a:lnTo>
                  <a:pt x="349758" y="1227984"/>
                </a:lnTo>
                <a:lnTo>
                  <a:pt x="369189" y="1242433"/>
                </a:lnTo>
                <a:lnTo>
                  <a:pt x="388620" y="1256813"/>
                </a:lnTo>
                <a:lnTo>
                  <a:pt x="408051" y="1271119"/>
                </a:lnTo>
                <a:lnTo>
                  <a:pt x="427482" y="1285349"/>
                </a:lnTo>
                <a:lnTo>
                  <a:pt x="446913" y="1299498"/>
                </a:lnTo>
                <a:lnTo>
                  <a:pt x="466344" y="1313563"/>
                </a:lnTo>
                <a:lnTo>
                  <a:pt x="485775" y="1327542"/>
                </a:lnTo>
                <a:lnTo>
                  <a:pt x="505206" y="1341429"/>
                </a:lnTo>
                <a:lnTo>
                  <a:pt x="524637" y="1355223"/>
                </a:lnTo>
                <a:lnTo>
                  <a:pt x="544068" y="1368919"/>
                </a:lnTo>
                <a:lnTo>
                  <a:pt x="563499" y="1382514"/>
                </a:lnTo>
                <a:lnTo>
                  <a:pt x="582930" y="1396005"/>
                </a:lnTo>
                <a:lnTo>
                  <a:pt x="602361" y="1409388"/>
                </a:lnTo>
                <a:lnTo>
                  <a:pt x="621792" y="1422661"/>
                </a:lnTo>
                <a:lnTo>
                  <a:pt x="641223" y="1435819"/>
                </a:lnTo>
                <a:lnTo>
                  <a:pt x="660654" y="1448860"/>
                </a:lnTo>
                <a:lnTo>
                  <a:pt x="680085" y="1461781"/>
                </a:lnTo>
                <a:lnTo>
                  <a:pt x="699516" y="1474578"/>
                </a:lnTo>
                <a:lnTo>
                  <a:pt x="718947" y="1487247"/>
                </a:lnTo>
                <a:lnTo>
                  <a:pt x="738378" y="1499787"/>
                </a:lnTo>
                <a:lnTo>
                  <a:pt x="757809" y="1512194"/>
                </a:lnTo>
                <a:lnTo>
                  <a:pt x="777240" y="1524464"/>
                </a:lnTo>
                <a:lnTo>
                  <a:pt x="796671" y="1536595"/>
                </a:lnTo>
                <a:lnTo>
                  <a:pt x="816102" y="1548584"/>
                </a:lnTo>
                <a:lnTo>
                  <a:pt x="835533" y="1560427"/>
                </a:lnTo>
                <a:lnTo>
                  <a:pt x="854964" y="1572123"/>
                </a:lnTo>
                <a:lnTo>
                  <a:pt x="874395" y="1583668"/>
                </a:lnTo>
                <a:lnTo>
                  <a:pt x="893826" y="1595058"/>
                </a:lnTo>
                <a:lnTo>
                  <a:pt x="913257" y="1606292"/>
                </a:lnTo>
                <a:lnTo>
                  <a:pt x="932688" y="1617367"/>
                </a:lnTo>
                <a:lnTo>
                  <a:pt x="952119" y="1628279"/>
                </a:lnTo>
                <a:lnTo>
                  <a:pt x="971550" y="1639027"/>
                </a:lnTo>
                <a:lnTo>
                  <a:pt x="990981" y="1649607"/>
                </a:lnTo>
                <a:lnTo>
                  <a:pt x="1010412" y="1660017"/>
                </a:lnTo>
                <a:lnTo>
                  <a:pt x="1029843" y="1670254"/>
                </a:lnTo>
                <a:lnTo>
                  <a:pt x="1049274" y="1680316"/>
                </a:lnTo>
                <a:lnTo>
                  <a:pt x="1068705" y="1690200"/>
                </a:lnTo>
                <a:lnTo>
                  <a:pt x="1088136" y="1699905"/>
                </a:lnTo>
                <a:lnTo>
                  <a:pt x="1107567" y="1709426"/>
                </a:lnTo>
                <a:lnTo>
                  <a:pt x="1126998" y="1718763"/>
                </a:lnTo>
                <a:lnTo>
                  <a:pt x="1146429" y="1727913"/>
                </a:lnTo>
                <a:lnTo>
                  <a:pt x="1165860" y="1736873"/>
                </a:lnTo>
                <a:lnTo>
                  <a:pt x="1185291" y="1745641"/>
                </a:lnTo>
                <a:lnTo>
                  <a:pt x="1204722" y="1754216"/>
                </a:lnTo>
                <a:lnTo>
                  <a:pt x="1224153" y="1762595"/>
                </a:lnTo>
                <a:lnTo>
                  <a:pt x="1243584" y="1770776"/>
                </a:lnTo>
                <a:lnTo>
                  <a:pt x="1263015" y="1778756"/>
                </a:lnTo>
                <a:lnTo>
                  <a:pt x="1282446" y="1786535"/>
                </a:lnTo>
                <a:lnTo>
                  <a:pt x="1301877" y="1794110"/>
                </a:lnTo>
                <a:lnTo>
                  <a:pt x="1321308" y="1801479"/>
                </a:lnTo>
                <a:lnTo>
                  <a:pt x="1340739" y="1808641"/>
                </a:lnTo>
                <a:lnTo>
                  <a:pt x="1360170" y="1815593"/>
                </a:lnTo>
                <a:lnTo>
                  <a:pt x="1379601" y="1822334"/>
                </a:lnTo>
                <a:lnTo>
                  <a:pt x="1399032" y="1828862"/>
                </a:lnTo>
                <a:lnTo>
                  <a:pt x="1418463" y="1835176"/>
                </a:lnTo>
                <a:lnTo>
                  <a:pt x="1437894" y="1841274"/>
                </a:lnTo>
                <a:lnTo>
                  <a:pt x="1457325" y="1847155"/>
                </a:lnTo>
                <a:lnTo>
                  <a:pt x="1476756" y="1852816"/>
                </a:lnTo>
                <a:lnTo>
                  <a:pt x="1496187" y="1858258"/>
                </a:lnTo>
                <a:lnTo>
                  <a:pt x="1515618" y="1863478"/>
                </a:lnTo>
                <a:lnTo>
                  <a:pt x="1535049" y="1868475"/>
                </a:lnTo>
                <a:lnTo>
                  <a:pt x="1554480" y="1873248"/>
                </a:lnTo>
                <a:lnTo>
                  <a:pt x="1573911" y="1877795"/>
                </a:lnTo>
                <a:lnTo>
                  <a:pt x="1593342" y="1882117"/>
                </a:lnTo>
                <a:lnTo>
                  <a:pt x="1612773" y="1886210"/>
                </a:lnTo>
                <a:lnTo>
                  <a:pt x="1632204" y="1890076"/>
                </a:lnTo>
                <a:lnTo>
                  <a:pt x="1651635" y="1893711"/>
                </a:lnTo>
                <a:lnTo>
                  <a:pt x="1671066" y="1897117"/>
                </a:lnTo>
                <a:lnTo>
                  <a:pt x="1690497" y="1900291"/>
                </a:lnTo>
                <a:lnTo>
                  <a:pt x="1709928" y="1903233"/>
                </a:lnTo>
                <a:lnTo>
                  <a:pt x="1729359" y="1905943"/>
                </a:lnTo>
                <a:lnTo>
                  <a:pt x="1748790" y="1908419"/>
                </a:lnTo>
                <a:lnTo>
                  <a:pt x="1768221" y="1910661"/>
                </a:lnTo>
                <a:lnTo>
                  <a:pt x="1787652" y="1912669"/>
                </a:lnTo>
                <a:lnTo>
                  <a:pt x="1807083" y="1914441"/>
                </a:lnTo>
                <a:lnTo>
                  <a:pt x="1826514" y="1915978"/>
                </a:lnTo>
                <a:lnTo>
                  <a:pt x="1845945" y="1917280"/>
                </a:lnTo>
                <a:lnTo>
                  <a:pt x="1865376" y="1918345"/>
                </a:lnTo>
                <a:lnTo>
                  <a:pt x="1884807" y="1919174"/>
                </a:lnTo>
                <a:lnTo>
                  <a:pt x="1904238" y="1919766"/>
                </a:lnTo>
                <a:lnTo>
                  <a:pt x="1923669" y="1920121"/>
                </a:lnTo>
                <a:lnTo>
                  <a:pt x="1943100" y="1920240"/>
                </a:lnTo>
                <a:lnTo>
                  <a:pt x="1962531" y="1920121"/>
                </a:lnTo>
                <a:lnTo>
                  <a:pt x="1981962" y="1919766"/>
                </a:lnTo>
                <a:lnTo>
                  <a:pt x="2001393" y="1919174"/>
                </a:lnTo>
                <a:lnTo>
                  <a:pt x="2020824" y="1918345"/>
                </a:lnTo>
                <a:lnTo>
                  <a:pt x="2040255" y="1917280"/>
                </a:lnTo>
                <a:lnTo>
                  <a:pt x="2059686" y="1915978"/>
                </a:lnTo>
                <a:lnTo>
                  <a:pt x="2079117" y="1914441"/>
                </a:lnTo>
                <a:lnTo>
                  <a:pt x="2098548" y="1912669"/>
                </a:lnTo>
                <a:lnTo>
                  <a:pt x="2117979" y="1910661"/>
                </a:lnTo>
                <a:lnTo>
                  <a:pt x="2137410" y="1908419"/>
                </a:lnTo>
                <a:lnTo>
                  <a:pt x="2156841" y="1905943"/>
                </a:lnTo>
                <a:lnTo>
                  <a:pt x="2176272" y="1903233"/>
                </a:lnTo>
                <a:lnTo>
                  <a:pt x="2195703" y="1900291"/>
                </a:lnTo>
                <a:lnTo>
                  <a:pt x="2215134" y="1897117"/>
                </a:lnTo>
                <a:lnTo>
                  <a:pt x="2234565" y="1893711"/>
                </a:lnTo>
                <a:lnTo>
                  <a:pt x="2253996" y="1890076"/>
                </a:lnTo>
                <a:lnTo>
                  <a:pt x="2273427" y="1886210"/>
                </a:lnTo>
                <a:lnTo>
                  <a:pt x="2292858" y="1882117"/>
                </a:lnTo>
                <a:lnTo>
                  <a:pt x="2312289" y="1877795"/>
                </a:lnTo>
                <a:lnTo>
                  <a:pt x="2331720" y="1873248"/>
                </a:lnTo>
                <a:lnTo>
                  <a:pt x="2351151" y="1868475"/>
                </a:lnTo>
                <a:lnTo>
                  <a:pt x="2370582" y="1863478"/>
                </a:lnTo>
                <a:lnTo>
                  <a:pt x="2390013" y="1858258"/>
                </a:lnTo>
                <a:lnTo>
                  <a:pt x="2409444" y="1852816"/>
                </a:lnTo>
                <a:lnTo>
                  <a:pt x="2428875" y="1847155"/>
                </a:lnTo>
                <a:lnTo>
                  <a:pt x="2448306" y="1841274"/>
                </a:lnTo>
                <a:lnTo>
                  <a:pt x="2467737" y="1835176"/>
                </a:lnTo>
                <a:lnTo>
                  <a:pt x="2487168" y="1828862"/>
                </a:lnTo>
                <a:lnTo>
                  <a:pt x="2506599" y="1822334"/>
                </a:lnTo>
                <a:lnTo>
                  <a:pt x="2526030" y="1815593"/>
                </a:lnTo>
                <a:lnTo>
                  <a:pt x="2545461" y="1808641"/>
                </a:lnTo>
                <a:lnTo>
                  <a:pt x="2564892" y="1801479"/>
                </a:lnTo>
                <a:lnTo>
                  <a:pt x="2584323" y="1794110"/>
                </a:lnTo>
                <a:lnTo>
                  <a:pt x="2603754" y="1786535"/>
                </a:lnTo>
                <a:lnTo>
                  <a:pt x="2623185" y="1778756"/>
                </a:lnTo>
                <a:lnTo>
                  <a:pt x="2642616" y="1770776"/>
                </a:lnTo>
                <a:lnTo>
                  <a:pt x="2662047" y="1762595"/>
                </a:lnTo>
                <a:lnTo>
                  <a:pt x="2681478" y="1754216"/>
                </a:lnTo>
                <a:lnTo>
                  <a:pt x="2700909" y="1745641"/>
                </a:lnTo>
                <a:lnTo>
                  <a:pt x="2720340" y="1736873"/>
                </a:lnTo>
                <a:lnTo>
                  <a:pt x="2739771" y="1727913"/>
                </a:lnTo>
                <a:lnTo>
                  <a:pt x="2759202" y="1718763"/>
                </a:lnTo>
                <a:lnTo>
                  <a:pt x="2778633" y="1709426"/>
                </a:lnTo>
                <a:lnTo>
                  <a:pt x="2798064" y="1699905"/>
                </a:lnTo>
                <a:lnTo>
                  <a:pt x="2817495" y="1690200"/>
                </a:lnTo>
                <a:lnTo>
                  <a:pt x="2836926" y="1680316"/>
                </a:lnTo>
                <a:lnTo>
                  <a:pt x="2856357" y="1670254"/>
                </a:lnTo>
                <a:lnTo>
                  <a:pt x="2875788" y="1660017"/>
                </a:lnTo>
                <a:lnTo>
                  <a:pt x="2895219" y="1649607"/>
                </a:lnTo>
                <a:lnTo>
                  <a:pt x="2914650" y="1639027"/>
                </a:lnTo>
                <a:lnTo>
                  <a:pt x="2934081" y="1628279"/>
                </a:lnTo>
                <a:lnTo>
                  <a:pt x="2953512" y="1617367"/>
                </a:lnTo>
                <a:lnTo>
                  <a:pt x="2972943" y="1606292"/>
                </a:lnTo>
                <a:lnTo>
                  <a:pt x="2992374" y="1595058"/>
                </a:lnTo>
                <a:lnTo>
                  <a:pt x="3011805" y="1583668"/>
                </a:lnTo>
                <a:lnTo>
                  <a:pt x="3031236" y="1572123"/>
                </a:lnTo>
                <a:lnTo>
                  <a:pt x="3050667" y="1560427"/>
                </a:lnTo>
                <a:lnTo>
                  <a:pt x="3070098" y="1548584"/>
                </a:lnTo>
                <a:lnTo>
                  <a:pt x="3089529" y="1536595"/>
                </a:lnTo>
                <a:lnTo>
                  <a:pt x="3108960" y="1524464"/>
                </a:lnTo>
                <a:lnTo>
                  <a:pt x="3128391" y="1512194"/>
                </a:lnTo>
                <a:lnTo>
                  <a:pt x="3147822" y="1499787"/>
                </a:lnTo>
                <a:lnTo>
                  <a:pt x="3167253" y="1487247"/>
                </a:lnTo>
                <a:lnTo>
                  <a:pt x="3186684" y="1474578"/>
                </a:lnTo>
                <a:lnTo>
                  <a:pt x="3206115" y="1461781"/>
                </a:lnTo>
                <a:lnTo>
                  <a:pt x="3225546" y="1448860"/>
                </a:lnTo>
                <a:lnTo>
                  <a:pt x="3244977" y="1435819"/>
                </a:lnTo>
                <a:lnTo>
                  <a:pt x="3264408" y="1422661"/>
                </a:lnTo>
                <a:lnTo>
                  <a:pt x="3283839" y="1409388"/>
                </a:lnTo>
                <a:lnTo>
                  <a:pt x="3303270" y="1396005"/>
                </a:lnTo>
                <a:lnTo>
                  <a:pt x="3322701" y="1382514"/>
                </a:lnTo>
                <a:lnTo>
                  <a:pt x="3342132" y="1368919"/>
                </a:lnTo>
                <a:lnTo>
                  <a:pt x="3361563" y="1355223"/>
                </a:lnTo>
                <a:lnTo>
                  <a:pt x="3380994" y="1341429"/>
                </a:lnTo>
                <a:lnTo>
                  <a:pt x="3400425" y="1327542"/>
                </a:lnTo>
                <a:lnTo>
                  <a:pt x="3419856" y="1313563"/>
                </a:lnTo>
                <a:lnTo>
                  <a:pt x="3439287" y="1299498"/>
                </a:lnTo>
                <a:lnTo>
                  <a:pt x="3458718" y="1285349"/>
                </a:lnTo>
                <a:lnTo>
                  <a:pt x="3478149" y="1271119"/>
                </a:lnTo>
                <a:lnTo>
                  <a:pt x="3497580" y="1256813"/>
                </a:lnTo>
                <a:lnTo>
                  <a:pt x="3517011" y="1242433"/>
                </a:lnTo>
                <a:lnTo>
                  <a:pt x="3536442" y="1227984"/>
                </a:lnTo>
                <a:lnTo>
                  <a:pt x="3555873" y="1213469"/>
                </a:lnTo>
                <a:lnTo>
                  <a:pt x="3575304" y="1198892"/>
                </a:lnTo>
                <a:lnTo>
                  <a:pt x="3594735" y="1184255"/>
                </a:lnTo>
                <a:lnTo>
                  <a:pt x="3614166" y="1169563"/>
                </a:lnTo>
                <a:lnTo>
                  <a:pt x="3633597" y="1154820"/>
                </a:lnTo>
                <a:lnTo>
                  <a:pt x="3653028" y="1140028"/>
                </a:lnTo>
                <a:lnTo>
                  <a:pt x="3672459" y="1125192"/>
                </a:lnTo>
                <a:lnTo>
                  <a:pt x="3691890" y="1110315"/>
                </a:lnTo>
                <a:lnTo>
                  <a:pt x="3711321" y="1095402"/>
                </a:lnTo>
                <a:lnTo>
                  <a:pt x="3730752" y="1080454"/>
                </a:lnTo>
                <a:lnTo>
                  <a:pt x="3750183" y="1065478"/>
                </a:lnTo>
                <a:lnTo>
                  <a:pt x="3769614" y="1050475"/>
                </a:lnTo>
                <a:lnTo>
                  <a:pt x="3789045" y="1035450"/>
                </a:lnTo>
                <a:lnTo>
                  <a:pt x="3808476" y="1020406"/>
                </a:lnTo>
                <a:lnTo>
                  <a:pt x="3827907" y="1005347"/>
                </a:lnTo>
                <a:lnTo>
                  <a:pt x="3847338" y="990278"/>
                </a:lnTo>
                <a:lnTo>
                  <a:pt x="3866769" y="975200"/>
                </a:lnTo>
                <a:lnTo>
                  <a:pt x="3886200" y="960120"/>
                </a:lnTo>
                <a:lnTo>
                  <a:pt x="3905631" y="945039"/>
                </a:lnTo>
                <a:lnTo>
                  <a:pt x="3925062" y="929961"/>
                </a:lnTo>
                <a:lnTo>
                  <a:pt x="3944493" y="914892"/>
                </a:lnTo>
                <a:lnTo>
                  <a:pt x="3963924" y="899833"/>
                </a:lnTo>
                <a:lnTo>
                  <a:pt x="3983355" y="884789"/>
                </a:lnTo>
                <a:lnTo>
                  <a:pt x="4002786" y="869764"/>
                </a:lnTo>
                <a:lnTo>
                  <a:pt x="4022217" y="854761"/>
                </a:lnTo>
                <a:lnTo>
                  <a:pt x="4041648" y="839785"/>
                </a:lnTo>
                <a:lnTo>
                  <a:pt x="4061079" y="824837"/>
                </a:lnTo>
                <a:lnTo>
                  <a:pt x="4080510" y="809924"/>
                </a:lnTo>
                <a:lnTo>
                  <a:pt x="4099941" y="795047"/>
                </a:lnTo>
                <a:lnTo>
                  <a:pt x="4119372" y="780211"/>
                </a:lnTo>
                <a:lnTo>
                  <a:pt x="4138803" y="765419"/>
                </a:lnTo>
                <a:lnTo>
                  <a:pt x="4158234" y="750676"/>
                </a:lnTo>
                <a:lnTo>
                  <a:pt x="4177665" y="735984"/>
                </a:lnTo>
                <a:lnTo>
                  <a:pt x="4197096" y="721347"/>
                </a:lnTo>
                <a:lnTo>
                  <a:pt x="4216527" y="706770"/>
                </a:lnTo>
                <a:lnTo>
                  <a:pt x="4235958" y="692255"/>
                </a:lnTo>
                <a:lnTo>
                  <a:pt x="4255389" y="677806"/>
                </a:lnTo>
                <a:lnTo>
                  <a:pt x="4274820" y="663426"/>
                </a:lnTo>
                <a:lnTo>
                  <a:pt x="4294251" y="649120"/>
                </a:lnTo>
                <a:lnTo>
                  <a:pt x="4313682" y="634890"/>
                </a:lnTo>
                <a:lnTo>
                  <a:pt x="4333113" y="620741"/>
                </a:lnTo>
                <a:lnTo>
                  <a:pt x="4352544" y="606676"/>
                </a:lnTo>
                <a:lnTo>
                  <a:pt x="4371975" y="592697"/>
                </a:lnTo>
                <a:lnTo>
                  <a:pt x="4391406" y="578810"/>
                </a:lnTo>
                <a:lnTo>
                  <a:pt x="4410837" y="565016"/>
                </a:lnTo>
                <a:lnTo>
                  <a:pt x="4430268" y="551320"/>
                </a:lnTo>
                <a:lnTo>
                  <a:pt x="4449699" y="537725"/>
                </a:lnTo>
                <a:lnTo>
                  <a:pt x="4469130" y="524234"/>
                </a:lnTo>
                <a:lnTo>
                  <a:pt x="4488561" y="510851"/>
                </a:lnTo>
                <a:lnTo>
                  <a:pt x="4507992" y="497578"/>
                </a:lnTo>
                <a:lnTo>
                  <a:pt x="4527423" y="484420"/>
                </a:lnTo>
                <a:lnTo>
                  <a:pt x="4546854" y="471379"/>
                </a:lnTo>
                <a:lnTo>
                  <a:pt x="4566285" y="458458"/>
                </a:lnTo>
                <a:lnTo>
                  <a:pt x="4585716" y="445661"/>
                </a:lnTo>
                <a:lnTo>
                  <a:pt x="4605147" y="432992"/>
                </a:lnTo>
                <a:lnTo>
                  <a:pt x="4624578" y="420452"/>
                </a:lnTo>
                <a:lnTo>
                  <a:pt x="4644009" y="408045"/>
                </a:lnTo>
                <a:lnTo>
                  <a:pt x="4663440" y="395775"/>
                </a:lnTo>
                <a:lnTo>
                  <a:pt x="4682871" y="383644"/>
                </a:lnTo>
                <a:lnTo>
                  <a:pt x="4702302" y="371655"/>
                </a:lnTo>
                <a:lnTo>
                  <a:pt x="4721733" y="359812"/>
                </a:lnTo>
                <a:lnTo>
                  <a:pt x="4741164" y="348116"/>
                </a:lnTo>
                <a:lnTo>
                  <a:pt x="4760595" y="336571"/>
                </a:lnTo>
                <a:lnTo>
                  <a:pt x="4780026" y="325181"/>
                </a:lnTo>
                <a:lnTo>
                  <a:pt x="4799457" y="313947"/>
                </a:lnTo>
                <a:lnTo>
                  <a:pt x="4818888" y="302872"/>
                </a:lnTo>
                <a:lnTo>
                  <a:pt x="4838319" y="291960"/>
                </a:lnTo>
                <a:lnTo>
                  <a:pt x="4857750" y="281212"/>
                </a:lnTo>
                <a:lnTo>
                  <a:pt x="4877181" y="270632"/>
                </a:lnTo>
                <a:lnTo>
                  <a:pt x="4896612" y="260222"/>
                </a:lnTo>
                <a:lnTo>
                  <a:pt x="4916043" y="249985"/>
                </a:lnTo>
                <a:lnTo>
                  <a:pt x="4935474" y="239923"/>
                </a:lnTo>
                <a:lnTo>
                  <a:pt x="4954905" y="230039"/>
                </a:lnTo>
                <a:lnTo>
                  <a:pt x="4974336" y="220334"/>
                </a:lnTo>
                <a:lnTo>
                  <a:pt x="4993767" y="210813"/>
                </a:lnTo>
                <a:lnTo>
                  <a:pt x="5013198" y="201476"/>
                </a:lnTo>
                <a:lnTo>
                  <a:pt x="5032629" y="192326"/>
                </a:lnTo>
                <a:lnTo>
                  <a:pt x="5052060" y="183366"/>
                </a:lnTo>
                <a:lnTo>
                  <a:pt x="5071491" y="174598"/>
                </a:lnTo>
                <a:lnTo>
                  <a:pt x="5090922" y="166023"/>
                </a:lnTo>
                <a:lnTo>
                  <a:pt x="5110353" y="157644"/>
                </a:lnTo>
                <a:lnTo>
                  <a:pt x="5129784" y="149463"/>
                </a:lnTo>
                <a:lnTo>
                  <a:pt x="5149215" y="141483"/>
                </a:lnTo>
                <a:lnTo>
                  <a:pt x="5168646" y="133704"/>
                </a:lnTo>
                <a:lnTo>
                  <a:pt x="5188077" y="126129"/>
                </a:lnTo>
                <a:lnTo>
                  <a:pt x="5207508" y="118760"/>
                </a:lnTo>
                <a:lnTo>
                  <a:pt x="5226939" y="111598"/>
                </a:lnTo>
                <a:lnTo>
                  <a:pt x="5246370" y="104646"/>
                </a:lnTo>
                <a:lnTo>
                  <a:pt x="5265801" y="97905"/>
                </a:lnTo>
                <a:lnTo>
                  <a:pt x="5285232" y="91377"/>
                </a:lnTo>
                <a:lnTo>
                  <a:pt x="5304663" y="85063"/>
                </a:lnTo>
                <a:lnTo>
                  <a:pt x="5324094" y="78965"/>
                </a:lnTo>
                <a:lnTo>
                  <a:pt x="5343525" y="73084"/>
                </a:lnTo>
                <a:lnTo>
                  <a:pt x="5362956" y="67423"/>
                </a:lnTo>
                <a:lnTo>
                  <a:pt x="5382387" y="61981"/>
                </a:lnTo>
                <a:lnTo>
                  <a:pt x="5401818" y="56761"/>
                </a:lnTo>
                <a:lnTo>
                  <a:pt x="5421249" y="51764"/>
                </a:lnTo>
                <a:lnTo>
                  <a:pt x="5440680" y="46991"/>
                </a:lnTo>
                <a:lnTo>
                  <a:pt x="5460111" y="42444"/>
                </a:lnTo>
                <a:lnTo>
                  <a:pt x="5479542" y="38122"/>
                </a:lnTo>
                <a:lnTo>
                  <a:pt x="5498973" y="34029"/>
                </a:lnTo>
                <a:lnTo>
                  <a:pt x="5518404" y="30163"/>
                </a:lnTo>
                <a:lnTo>
                  <a:pt x="5537835" y="26528"/>
                </a:lnTo>
                <a:lnTo>
                  <a:pt x="5557266" y="23122"/>
                </a:lnTo>
                <a:lnTo>
                  <a:pt x="5576697" y="19948"/>
                </a:lnTo>
                <a:lnTo>
                  <a:pt x="5596128" y="17006"/>
                </a:lnTo>
                <a:lnTo>
                  <a:pt x="5615559" y="14296"/>
                </a:lnTo>
                <a:lnTo>
                  <a:pt x="5634990" y="11820"/>
                </a:lnTo>
                <a:lnTo>
                  <a:pt x="5654421" y="9578"/>
                </a:lnTo>
                <a:lnTo>
                  <a:pt x="5673852" y="7570"/>
                </a:lnTo>
                <a:lnTo>
                  <a:pt x="5693283" y="5798"/>
                </a:lnTo>
                <a:lnTo>
                  <a:pt x="5712714" y="4261"/>
                </a:lnTo>
                <a:lnTo>
                  <a:pt x="5732145" y="2959"/>
                </a:lnTo>
                <a:lnTo>
                  <a:pt x="5751576" y="1894"/>
                </a:lnTo>
                <a:lnTo>
                  <a:pt x="5771007" y="1065"/>
                </a:lnTo>
                <a:lnTo>
                  <a:pt x="5790438" y="473"/>
                </a:lnTo>
                <a:lnTo>
                  <a:pt x="5809869" y="118"/>
                </a:lnTo>
                <a:lnTo>
                  <a:pt x="5829300" y="0"/>
                </a:lnTo>
                <a:lnTo>
                  <a:pt x="5848731" y="118"/>
                </a:lnTo>
                <a:lnTo>
                  <a:pt x="5868162" y="473"/>
                </a:lnTo>
                <a:lnTo>
                  <a:pt x="5887593" y="1065"/>
                </a:lnTo>
                <a:lnTo>
                  <a:pt x="5907024" y="1894"/>
                </a:lnTo>
                <a:lnTo>
                  <a:pt x="5926455" y="2959"/>
                </a:lnTo>
                <a:lnTo>
                  <a:pt x="5945886" y="4261"/>
                </a:lnTo>
                <a:lnTo>
                  <a:pt x="5965317" y="5798"/>
                </a:lnTo>
                <a:lnTo>
                  <a:pt x="5984748" y="7570"/>
                </a:lnTo>
                <a:lnTo>
                  <a:pt x="6004179" y="9578"/>
                </a:lnTo>
                <a:lnTo>
                  <a:pt x="6023610" y="11820"/>
                </a:lnTo>
                <a:lnTo>
                  <a:pt x="6043041" y="14296"/>
                </a:lnTo>
                <a:lnTo>
                  <a:pt x="6062472" y="17006"/>
                </a:lnTo>
                <a:lnTo>
                  <a:pt x="6081903" y="19948"/>
                </a:lnTo>
                <a:lnTo>
                  <a:pt x="6101334" y="23122"/>
                </a:lnTo>
                <a:lnTo>
                  <a:pt x="6120765" y="26528"/>
                </a:lnTo>
                <a:lnTo>
                  <a:pt x="6140196" y="30163"/>
                </a:lnTo>
                <a:lnTo>
                  <a:pt x="6159627" y="34029"/>
                </a:lnTo>
                <a:lnTo>
                  <a:pt x="6179058" y="38122"/>
                </a:lnTo>
                <a:lnTo>
                  <a:pt x="6198489" y="42444"/>
                </a:lnTo>
                <a:lnTo>
                  <a:pt x="6217920" y="46991"/>
                </a:lnTo>
                <a:lnTo>
                  <a:pt x="6237351" y="51764"/>
                </a:lnTo>
                <a:lnTo>
                  <a:pt x="6256782" y="56761"/>
                </a:lnTo>
                <a:lnTo>
                  <a:pt x="6276213" y="61981"/>
                </a:lnTo>
                <a:lnTo>
                  <a:pt x="6295644" y="67423"/>
                </a:lnTo>
                <a:lnTo>
                  <a:pt x="6315075" y="73084"/>
                </a:lnTo>
                <a:lnTo>
                  <a:pt x="6334506" y="78965"/>
                </a:lnTo>
                <a:lnTo>
                  <a:pt x="6353937" y="85063"/>
                </a:lnTo>
                <a:lnTo>
                  <a:pt x="6373368" y="91377"/>
                </a:lnTo>
                <a:lnTo>
                  <a:pt x="6392799" y="97905"/>
                </a:lnTo>
                <a:lnTo>
                  <a:pt x="6412230" y="104646"/>
                </a:lnTo>
                <a:lnTo>
                  <a:pt x="6431661" y="111598"/>
                </a:lnTo>
                <a:lnTo>
                  <a:pt x="6451092" y="118760"/>
                </a:lnTo>
                <a:lnTo>
                  <a:pt x="6470523" y="126129"/>
                </a:lnTo>
                <a:lnTo>
                  <a:pt x="6489954" y="133704"/>
                </a:lnTo>
                <a:lnTo>
                  <a:pt x="6509385" y="141483"/>
                </a:lnTo>
                <a:lnTo>
                  <a:pt x="6528816" y="149463"/>
                </a:lnTo>
                <a:lnTo>
                  <a:pt x="6548247" y="157644"/>
                </a:lnTo>
                <a:lnTo>
                  <a:pt x="6567678" y="166023"/>
                </a:lnTo>
                <a:lnTo>
                  <a:pt x="6587109" y="174598"/>
                </a:lnTo>
                <a:lnTo>
                  <a:pt x="6606540" y="183366"/>
                </a:lnTo>
                <a:lnTo>
                  <a:pt x="6625971" y="192326"/>
                </a:lnTo>
                <a:lnTo>
                  <a:pt x="6645402" y="201476"/>
                </a:lnTo>
                <a:lnTo>
                  <a:pt x="6664833" y="210813"/>
                </a:lnTo>
                <a:lnTo>
                  <a:pt x="6684264" y="220334"/>
                </a:lnTo>
                <a:lnTo>
                  <a:pt x="6703695" y="230039"/>
                </a:lnTo>
                <a:lnTo>
                  <a:pt x="6723126" y="239923"/>
                </a:lnTo>
                <a:lnTo>
                  <a:pt x="6742557" y="249985"/>
                </a:lnTo>
                <a:lnTo>
                  <a:pt x="6761988" y="260222"/>
                </a:lnTo>
                <a:lnTo>
                  <a:pt x="6781419" y="270632"/>
                </a:lnTo>
                <a:lnTo>
                  <a:pt x="6800850" y="281212"/>
                </a:lnTo>
                <a:lnTo>
                  <a:pt x="6820281" y="291960"/>
                </a:lnTo>
                <a:lnTo>
                  <a:pt x="6839712" y="302872"/>
                </a:lnTo>
                <a:lnTo>
                  <a:pt x="6859143" y="313947"/>
                </a:lnTo>
                <a:lnTo>
                  <a:pt x="6878574" y="325181"/>
                </a:lnTo>
                <a:lnTo>
                  <a:pt x="6898005" y="336571"/>
                </a:lnTo>
                <a:lnTo>
                  <a:pt x="6917436" y="348116"/>
                </a:lnTo>
                <a:lnTo>
                  <a:pt x="6936867" y="359812"/>
                </a:lnTo>
                <a:lnTo>
                  <a:pt x="6956298" y="371655"/>
                </a:lnTo>
                <a:lnTo>
                  <a:pt x="6975729" y="383644"/>
                </a:lnTo>
                <a:lnTo>
                  <a:pt x="6995160" y="395775"/>
                </a:lnTo>
                <a:lnTo>
                  <a:pt x="7014591" y="408045"/>
                </a:lnTo>
                <a:lnTo>
                  <a:pt x="7034022" y="420452"/>
                </a:lnTo>
                <a:lnTo>
                  <a:pt x="7053453" y="432992"/>
                </a:lnTo>
                <a:lnTo>
                  <a:pt x="7072884" y="445661"/>
                </a:lnTo>
                <a:lnTo>
                  <a:pt x="7092315" y="458458"/>
                </a:lnTo>
                <a:lnTo>
                  <a:pt x="7111746" y="471379"/>
                </a:lnTo>
                <a:lnTo>
                  <a:pt x="7131177" y="484420"/>
                </a:lnTo>
                <a:lnTo>
                  <a:pt x="7150608" y="497578"/>
                </a:lnTo>
                <a:lnTo>
                  <a:pt x="7170039" y="510851"/>
                </a:lnTo>
                <a:lnTo>
                  <a:pt x="7189470" y="524234"/>
                </a:lnTo>
                <a:lnTo>
                  <a:pt x="7208901" y="537725"/>
                </a:lnTo>
                <a:lnTo>
                  <a:pt x="7228332" y="551320"/>
                </a:lnTo>
                <a:lnTo>
                  <a:pt x="7247763" y="565016"/>
                </a:lnTo>
                <a:lnTo>
                  <a:pt x="7267194" y="578810"/>
                </a:lnTo>
                <a:lnTo>
                  <a:pt x="7286625" y="592697"/>
                </a:lnTo>
                <a:lnTo>
                  <a:pt x="7306056" y="606676"/>
                </a:lnTo>
                <a:lnTo>
                  <a:pt x="7325487" y="620741"/>
                </a:lnTo>
                <a:lnTo>
                  <a:pt x="7344918" y="634890"/>
                </a:lnTo>
                <a:lnTo>
                  <a:pt x="7364349" y="649120"/>
                </a:lnTo>
                <a:lnTo>
                  <a:pt x="7383780" y="663426"/>
                </a:lnTo>
                <a:lnTo>
                  <a:pt x="7403211" y="677806"/>
                </a:lnTo>
                <a:lnTo>
                  <a:pt x="7422642" y="692255"/>
                </a:lnTo>
                <a:lnTo>
                  <a:pt x="7442073" y="706770"/>
                </a:lnTo>
                <a:lnTo>
                  <a:pt x="7461504" y="721347"/>
                </a:lnTo>
                <a:lnTo>
                  <a:pt x="7480935" y="735984"/>
                </a:lnTo>
                <a:lnTo>
                  <a:pt x="7500366" y="750676"/>
                </a:lnTo>
                <a:lnTo>
                  <a:pt x="7519797" y="765419"/>
                </a:lnTo>
                <a:lnTo>
                  <a:pt x="7539228" y="780211"/>
                </a:lnTo>
                <a:lnTo>
                  <a:pt x="7558659" y="795047"/>
                </a:lnTo>
                <a:lnTo>
                  <a:pt x="7578090" y="809924"/>
                </a:lnTo>
                <a:lnTo>
                  <a:pt x="7597521" y="824837"/>
                </a:lnTo>
                <a:lnTo>
                  <a:pt x="7616952" y="839785"/>
                </a:lnTo>
                <a:lnTo>
                  <a:pt x="7636383" y="854761"/>
                </a:lnTo>
                <a:lnTo>
                  <a:pt x="7655814" y="869764"/>
                </a:lnTo>
                <a:lnTo>
                  <a:pt x="7675245" y="884789"/>
                </a:lnTo>
                <a:lnTo>
                  <a:pt x="7694676" y="899833"/>
                </a:lnTo>
                <a:lnTo>
                  <a:pt x="7714107" y="914892"/>
                </a:lnTo>
                <a:lnTo>
                  <a:pt x="7733538" y="929961"/>
                </a:lnTo>
                <a:lnTo>
                  <a:pt x="7752969" y="945039"/>
                </a:lnTo>
                <a:lnTo>
                  <a:pt x="7772400" y="960119"/>
                </a:lnTo>
              </a:path>
            </a:pathLst>
          </a:custGeom>
          <a:noFill/>
          <a:ln w="38100">
            <a:solidFill>
              <a:srgbClr val="C039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4526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ourier New"/>
              </a:rPr>
              <a:t>what the samples reconstruct  ·  1 cycle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33688" y="233172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C0392B"/>
                </a:solidFill>
                <a:latin typeface="Arial"/>
              </a:rPr>
              <a:t>red dots =</a:t>
            </a:r>
          </a:p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C0392B"/>
                </a:solidFill>
                <a:latin typeface="Arial"/>
              </a:rPr>
              <a:t>the only instants</a:t>
            </a:r>
          </a:p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C0392B"/>
                </a:solidFill>
                <a:latin typeface="Arial"/>
              </a:rPr>
              <a:t>the ADC looked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33688" y="3611880"/>
            <a:ext cx="28346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00" b="1">
                <a:solidFill>
                  <a:srgbClr val="1A1F24"/>
                </a:solidFill>
                <a:latin typeface="Courier New"/>
              </a:rPr>
              <a:t>| 1520 - 15x100 |</a:t>
            </a:r>
          </a:p>
          <a:p>
            <a:pPr algn="ctr"/>
            <a:r>
              <a:rPr sz="1900" b="1">
                <a:solidFill>
                  <a:srgbClr val="1A1F24"/>
                </a:solidFill>
                <a:latin typeface="Courier New"/>
              </a:rPr>
              <a:t>=  20 Hz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38928"/>
            <a:ext cx="10874959" cy="804672"/>
          </a:xfrm>
          <a:prstGeom prst="roundRect">
            <a:avLst>
              <a:gd name="adj" fmla="val 10000"/>
            </a:avLst>
          </a:prstGeom>
          <a:solidFill>
            <a:srgbClr val="F7DFDC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1A1F24"/>
                </a:solidFill>
                <a:latin typeface="Arial"/>
              </a:rPr>
              <a:t>The monitor was faithfully displaying the destruction of the bearing - relabelled as a slow load variation.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Arial"/>
              </a:rPr>
              <a:t>THE VERDICT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0874959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 i="0">
                <a:solidFill>
                  <a:srgbClr val="F7F5F1"/>
                </a:solidFill>
                <a:latin typeface="Arial"/>
              </a:rPr>
              <a:t>Nothing was broken.</a:t>
            </a:r>
          </a:p>
          <a:p>
            <a:pPr algn="l">
              <a:lnSpc>
                <a:spcPct val="118000"/>
              </a:lnSpc>
            </a:pPr>
            <a:r>
              <a:rPr sz="3600" b="1" i="0">
                <a:solidFill>
                  <a:srgbClr val="F7F5F1"/>
                </a:solidFill>
                <a:latin typeface="Arial"/>
              </a:rPr>
              <a:t>Every part met spec.</a:t>
            </a:r>
          </a:p>
          <a:p>
            <a:pPr algn="l">
              <a:lnSpc>
                <a:spcPct val="118000"/>
              </a:lnSpc>
            </a:pPr>
            <a:r>
              <a:rPr sz="3600" b="1" i="0">
                <a:solidFill>
                  <a:srgbClr val="F7F5F1"/>
                </a:solidFill>
                <a:latin typeface="Arial"/>
              </a:rPr>
              <a:t>The system was never specified.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617720"/>
            <a:ext cx="137160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892040"/>
            <a:ext cx="99605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Aliasing is permanent. No filter afterwards, no clever software, no machine learning recovers a frequency you failed to sample.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What was missing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One line, in one document, that nobody wrote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86000"/>
            <a:ext cx="10874959" cy="123444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381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800" b="1">
                <a:solidFill>
                  <a:srgbClr val="F7F5F1"/>
                </a:solidFill>
                <a:latin typeface="Courier New"/>
              </a:rPr>
              <a:t>Bandwidth:  ≥ 4 kHz, anti-aliased.    Sample rate:  ≥ 8 kHz.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79476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0392B"/>
                </a:solidFill>
                <a:latin typeface="Arial"/>
              </a:rPr>
              <a:t>One line. One motor.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572000"/>
            <a:ext cx="1087495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0" i="0">
                <a:solidFill>
                  <a:srgbClr val="6B7680"/>
                </a:solidFill>
                <a:latin typeface="Arial"/>
              </a:rPr>
              <a:t>This is also your answer to Poll 4 — option </a:t>
            </a:r>
            <a:r>
              <a:rPr sz="2000" b="1" i="0">
                <a:solidFill>
                  <a:srgbClr val="0E7C86"/>
                </a:solidFill>
                <a:latin typeface="Arial"/>
              </a:rPr>
              <a:t>B</a:t>
            </a:r>
            <a:r>
              <a:rPr sz="2000" b="0" i="0">
                <a:solidFill>
                  <a:srgbClr val="6B7680"/>
                </a:solidFill>
                <a:latin typeface="Arial"/>
              </a:rPr>
              <a:t>. And it is the specification line you were asked to write fifteen minutes ago.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 i="0">
                <a:solidFill>
                  <a:srgbClr val="1A1F24"/>
                </a:solidFill>
                <a:latin typeface="Arial"/>
              </a:rPr>
              <a:t>Lecture 3 is about how that line becomes an ADC configuration. Laboratory 2 is where you make aliasing happen with your own hands.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Four things to keep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CEDEF"/>
                </a:solidFill>
                <a:latin typeface="Courier New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8" y="1856231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F24"/>
                </a:solidFill>
                <a:latin typeface="Arial"/>
              </a:rPr>
              <a:t>A measurement is a chain, and it begins before the sensor.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8" y="2258567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6B7680"/>
                </a:solidFill>
                <a:latin typeface="Arial"/>
              </a:rPr>
              <a:t>Bolt, bracket and housing are part of your instrument.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7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CEDEF"/>
                </a:solidFill>
                <a:latin typeface="Courier New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2880359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F24"/>
                </a:solidFill>
                <a:latin typeface="Arial"/>
              </a:rPr>
              <a:t>Some losses are permanent.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3282695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6B7680"/>
                </a:solidFill>
                <a:latin typeface="Arial"/>
              </a:rPr>
              <a:t>Aliasing and a missing timestamp cannot be repaired downstream.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922775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CEDEF"/>
                </a:solidFill>
                <a:latin typeface="Courier New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8" y="3904487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F24"/>
                </a:solidFill>
                <a:latin typeface="Arial"/>
              </a:rPr>
              <a:t>Shrinking a device is a trade, not an improvement.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8" y="4306823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6B7680"/>
                </a:solidFill>
                <a:latin typeface="Arial"/>
              </a:rPr>
              <a:t>k ∝ L, m ∝ L³, f₀ ∝ 1/L — bandwidth up, noise floor up too.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946903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CEDEF"/>
                </a:solidFill>
                <a:latin typeface="Courier New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8" y="4928615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F24"/>
                </a:solidFill>
                <a:latin typeface="Arial"/>
              </a:rPr>
              <a:t>The specification is the deliverable.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5608" y="5330951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6B7680"/>
                </a:solidFill>
                <a:latin typeface="Arial"/>
              </a:rPr>
              <a:t>Seven lines, each with a reason. Part numbers come afterwards.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Exit ticket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Anonymous. Hand it in at the door — both halves.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5349240" cy="64008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Arial"/>
              </a:rPr>
              <a:t>1  ·  ONE SPECIFICATION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1A1F24"/>
                </a:solidFill>
                <a:latin typeface="Arial"/>
              </a:rPr>
              <a:t>A drone must hold altitude to ±0.5 m.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1A1F24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1A1F24"/>
                </a:solidFill>
                <a:latin typeface="Arial"/>
              </a:rPr>
              <a:t>Write ONE specification line for its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1A1F24"/>
                </a:solidFill>
                <a:latin typeface="Arial"/>
              </a:rPr>
              <a:t>pressure sensor — the line you think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1A1F24"/>
                </a:solidFill>
                <a:latin typeface="Arial"/>
              </a:rPr>
              <a:t>matters most, with its number.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64808" y="1965960"/>
            <a:ext cx="5349240" cy="640080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1A1F24"/>
                </a:solidFill>
                <a:latin typeface="Arial"/>
              </a:rPr>
              <a:t>2  ·  MUDDIEST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83464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1A1F24"/>
                </a:solidFill>
                <a:latin typeface="Arial"/>
              </a:rPr>
              <a:t>What is the one thing from today you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1A1F24"/>
                </a:solidFill>
                <a:latin typeface="Arial"/>
              </a:rPr>
              <a:t>are least sure about?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1A1F24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1A1F24"/>
                </a:solidFill>
                <a:latin typeface="Arial"/>
              </a:rPr>
              <a:t>One sentence. I will answer the three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1A1F24"/>
                </a:solidFill>
                <a:latin typeface="Arial"/>
              </a:rPr>
              <a:t>most common at the start of Lecture 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349240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1">
                <a:solidFill>
                  <a:srgbClr val="0E7C86"/>
                </a:solidFill>
                <a:latin typeface="Arial"/>
              </a:rPr>
              <a:t>This is the first time this course has been taught. Your muddiest points genuinely change what happens next week.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Week 2: Laboratory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Datasheet to data — and yes, it is before the theory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874519"/>
          <a:ext cx="10874958" cy="2912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9970"/>
                <a:gridCol w="3044988"/>
              </a:tblGrid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7F5F1"/>
                          </a:solidFill>
                          <a:latin typeface="Arial"/>
                        </a:rPr>
                        <a:t>At the bench you will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7F5F1"/>
                          </a:solidFill>
                          <a:latin typeface="Arial"/>
                        </a:rPr>
                        <a:t>Which chain stage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Read supply and logic levels from the datasheet BEFORE applying power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before stage 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Wire one I²C sensor to the Nucleo board, with pull-ups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stage 3 → 5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Prove the device is the device you think it is  (device-ID register)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stage 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Configure a full-scale range and an output data rate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stage 5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Convert raw two's-complement codes to SI units — by hand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stage 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Prove the number is true: one axis must read ≈ 9.81 m/s² at rest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stage 6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4937760"/>
            <a:ext cx="10874959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00" b="1">
                <a:solidFill>
                  <a:srgbClr val="F7F5F1"/>
                </a:solidFill>
                <a:latin typeface="Arial"/>
              </a:rPr>
              <a:t>No programming. The boards are already flashed — you drive the sensor from a serial console.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614416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1A1F24"/>
                </a:solidFill>
                <a:latin typeface="Arial"/>
              </a:rPr>
              <a:t>The pre-lab sheet is a gate: no signed pre-lab, no power to your board.</a:t>
            </a:r>
          </a:p>
          <a:p>
            <a:pPr algn="ctr"/>
            <a:r>
              <a:rPr sz="1700" b="1">
                <a:solidFill>
                  <a:srgbClr val="1A1F24"/>
                </a:solidFill>
                <a:latin typeface="Arial"/>
              </a:rPr>
              <a:t>It carries a one-page I²C primer and the console reference — read it before Tuesday.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1  ·  Measurement-system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801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7F5F1"/>
                </a:solidFill>
                <a:latin typeface="Arial"/>
              </a:rPr>
              <a:t>Lecture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574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E7C86"/>
                </a:solidFill>
                <a:latin typeface="Arial"/>
              </a:rPr>
              <a:t>Sensor specifications and datasheet-based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3464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B8C0C6"/>
                </a:solidFill>
                <a:latin typeface="Arial"/>
              </a:rPr>
              <a:t>Bring a laptop or a printed datasheet. We are going to find a number that decides a design — and it will not be on the front page.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023360"/>
            <a:ext cx="1371600" cy="50800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31596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98324"/>
                </a:solidFill>
                <a:latin typeface="Arial"/>
              </a:rPr>
              <a:t>BEFORE NEXT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681728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7F5F1"/>
                </a:solidFill>
                <a:latin typeface="Arial"/>
              </a:rPr>
              <a:t>1 ·  Formative quiz (6 questions, ungraded) — posted tonight</a:t>
            </a:r>
          </a:p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7F5F1"/>
                </a:solidFill>
                <a:latin typeface="Arial"/>
              </a:rPr>
              <a:t>2 ·  Pre-lab sheet for Laboratory 1, including the I²C primer</a:t>
            </a:r>
          </a:p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7F5F1"/>
                </a:solidFill>
                <a:latin typeface="Arial"/>
              </a:rPr>
              <a:t>3 ·  Project deliverable 1: your seven specification lines</a:t>
            </a:r>
          </a:p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7F5F1"/>
                </a:solidFill>
                <a:latin typeface="Arial"/>
              </a:rPr>
              <a:t>4 ·  Reading: Fraden, Handbook of Modern Sensors — Ch. 1–2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