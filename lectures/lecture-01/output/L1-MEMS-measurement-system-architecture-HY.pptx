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32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8784C0E-0A41-4CFB-B7BC-F0E976F0AA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BEFORE THE BELL: have the hook slide ready. Do not open with administration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syllabus, assessment and logistics come at minute 74, not now. The first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 seconds are the most valuable of the semester; spend them on the mystery.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Say: "Before I tell you what this course is, I want to tell you about a motor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died while somebody was watching it."  Then advance immediately.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D8CF008-E025-4044-9CEB-3CF175DE8B3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0:00–0:01. Tell this as a story, not a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"An industrial plant instrumented a motor to catch bearing failure 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Accelerometer on the housing, microcontroller, data logged every day,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trend line on a screen that somebody actually looked at."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rush. Let the room settle into narrative mode. Next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227E73-56D5-4BEF-AC8F-B7D2FF47BE9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0:01–0:02.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flat line: "For six weeks, this. A 20 Hz vibration, slowly rising.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maintenance engineer in this room would read that as load variation."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cliff: "Week seven. The bearing seizes. The motor is scrap."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Pause. Then: "Here is what makes this interesting."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16DA7E7-CCDD-4313-AF64-9CA6952E541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0:02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–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0:03.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aloud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tick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tick.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rhyth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ticks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dox.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"Ever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met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ficati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Nobo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negli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gent.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 still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scrap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flatly: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"So I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verdi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ct."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Adva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nce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0EF9926-9C78-4215-93C1-134261BCE79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0:03–0:05. Baseline commitment poll — NOT assessment.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TO RUN THE VOTE (no polling tool — this is the standard method all semester):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Question stays on screen. "Hands up for A on my count — three, two, one."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Then B, then C, then D, then E. One raise per student.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Count to the nearest quarter of the room and write it down.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ONLY THEN take two spoken answers: "A — tell me why."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SILENT VOTE FIRST, ALWAYS. If anyone says an answer aloud before the hands go up,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room anchors on it and you lose the independent first vote — which is the whole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mechanism. Voting first costs 40 seconds and protects the entire exercise.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CRITICAL: do NOT reveal, hint, or react to the distribution. Say only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"Hold that thought." Any tell here spends the ending you are saving.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DOWN the distribution. You will re-run this exact poll at minute 70 and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 the two side by side. For a first offering, that pair of numbers is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useful evidence you will collect today.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Expected: A and E dominate — both blame a component or a person rather than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absence of a system specification. That habit is what this course replaces.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EE6081-BBE2-47FE-AF98-6E2D2E432F1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0:05–0:07. Now — and only now — you may say what the course 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right-hand box explicitly: many students arrive expecting silicon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and cleanroom photographs. Kill that expectation in one sentence so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stop waiting for it. (Misconception M2.)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the design principle across the bottom slowly. Tell them it is the spine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the syllabus and that every lab is one arrow in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B27B50A-035B-4DBD-A468-E33AF1BF239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0:07–0:08. Fast — 60 seconds. Do not read all four aloud word for word.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Say: "Four things, all of them verbs. If at the end of the hour you can't 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these four, tell me on the exit ticket and I will fix it at the start 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Lecture 2." That promise is cheap and it buys you real exit-ticket honesty.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74723F-4B3A-4341-A4AA-7FA09556556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0:08. Section marker — 15 seconds, do not linger.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7C27702-D199-4B13-9162-2171364D14E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0:08–0:12. Four minutes, no more. This is vocabulary, not physics.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one point worth making: "transducer" is the general term and "sensor" is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 that points inward. Most datasheets use them interchangeably;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should not.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bottom line is the sentence students remember. Deliver it,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53FC231-8ED3-4844-A573-09B860475BF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0:12–0:14. First state change of the lecture — get them talking early,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while the cost of speaking is still low.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ANSWERS: microphone = sensor, sound pressure. Buzzer = actuator (and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transducer). Strain gauge = sensor, strain — PASSIVE, it needs excitation.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MEMS mirror = actuator, angular deflection.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strain gauge is the point of the exercise: a passive sensor produces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nothing on its own. That is the seed of Lecture 12's bridge excitation.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 answers from two pairs, 20 seconds each. Do not survey the room.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90E429-4F32-42AE-B945-C277FB61BDC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0:14–0:15. Start with nothing but the physical world.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"On the left is the only thing that is actually true: the motor is vibrating.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to the right of this box is a story we tell about it. Our job is 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the story faithful."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7054BF-2974-4184-8F9A-090E113F6D9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0:15–0:17. THIS IS THE SLIDE STUDENTS DO NOT EXPECT.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2 first: "Before any electronics exist, the vibration has to travel through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bolt, a bracket, a housing, maybe a rubber pad. That mechanical path is part 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instrument. It has a transfer function. Nobody puts it in the error budget."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box 3, transduction: "Now, finally, physics becomes electricity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capacitance, resistance, charge. Lecture 4 is about how; Lectures 5 to 11 are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which."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11CE6B2-8953-4F5F-9C2D-7A84A26E1C9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0:17–0:20.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4 — conditioning: amplify, filter, level-shift. Say the words "anti-alias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filter" now and flag it: "Remember this box. We come back to it at the end 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hour and it will cost somebody a motor."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5 — sampling and quantisation: "Two separate things happen here and students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merge them for years. Sampling chops time. Quantisation chops amplitude. They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 differently."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A0F0D0-895A-4866-8CDE-427891177E1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0:20–0:22. The complete spine of the course.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6 — codes to units: "The sensor never outputs acceleration. It outputs 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integer. Somebody multiplies it by a number from a datasheet. If that number 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wrong, everything downstream is confidently wrong." (Misconception M4.)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7 — timestamp and decision: "An unstamped sample is nearly worthless. If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cannot say when it was taken, you cannot compute a frequency — and frequency 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tells you the bearing is dying."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 plainly: "This diagram is the syllabus. Sixteen lectures, and every one 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them lives in one of these boxes."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78FD4D-0DE7-4033-9AB6-A8ECDB4E12C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0:22–0:23. Walk the numbers left to right, then down and back.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teaching beat is the 0.9 → 0.6 mg step. Ask: "Which of these numbers would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appear in a datasheet?" Answer: only the ones inside boxes 3 to 6. The 33 % loss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box 2 is invisible to every datasheet ever written, and it is the integrator's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 — yours.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"Now hold on to that, because I want to test whether you believe it."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D1C7038-4DB9-4FCB-A942-838BDF0787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0:23–0:24. Do NOT read the whole table. Read the right-hand column only.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word to land on is "Never" in the sampling row. Circle it with the cursor.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"This is the only 'never' on the slide. Remember which row it is on."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the third and last time you plant the aliasing seed before the reveal.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3AEC49-76FE-41A9-B02E-5561D28227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0:24–0:28. First real ConcepTest. TARGET 40–60 % first vote.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PEER INSTRUCTION PROTOCOL — run it properly: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1. Silent individual vote. 45 s. Everyone commits.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2. "Find someone with a different answer. 90 seconds. Convince them."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3. Re-vote. Announce both percentages out loud.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&gt;70 % FIRST VOTE: skip discussion, take one justification, move 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&lt;30 %: do not discuss. Redraw the rubber pad as a low-pass filter sitting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between the measurand and the proof mass, then re-vote.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BOTH NUMBERS.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5271F48-5E3B-4511-B82A-391A848B15D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Reveal. Then close the loop on each distractor — 20 seconds each, no longer: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— confuses resolution with accuracy. 16 bits is plenty; that was never the issue.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— a real bug, but it changes the SCALE of the answer, not its VALIDITY.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— the exact misconception this course exists to remove: fine resolution on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corrupted signal gives you a precise wrong answer.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"This is why Lecture 5 specifies mounting orientation and Lecture 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specifies mechanical location. They are not housekeeping. They are link one."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BB346C-4937-4C20-972C-1F071B0FE39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0:28. Five seconds of silence on this slide. Let it land,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DAD113-2364-4B4D-B112-A2F7675889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0:28–0:29. Section marker, 15 seconds.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576A75-B10E-428A-ACF4-92EDDA7ABB5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0:29–0:33. Draw attention to three symbols only: m, k, 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 mass on springs between two plates. That is a MEMS accelerometer. If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understood the spring-mass system in mechanics, you already understand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— what you do not yet have is intuition for what happens when you make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a thousand times smaller."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1–2 µm gap is worth a beat: "That gap is smaller than a red blood cell.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also why a speck of dust in the package is a catastrophe, and why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Lecture 4 spends its time on packaging rather than lithography."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derive the transfer function. That is Lecture 5.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17A886D-F2B3-440E-A06D-47D8AB033D4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0:33–0:36. Slow down. This is the load-bearing slide of the lecture.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the substitution on the board, out loud, even though it is on the slide: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k = E·w·t³ / 4L³   →   (s)(s³)/(s³)  =  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"Mass goes as the cube. Stiffness goes as the first power. Students assume they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cancel. They do not, and the gap between them is where MEMS lives."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k ∝ L¹ and m ∝ L³ on the physical board and LEAVE THEM THERE for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rest of the lecture. You will point at them again during Poll 3.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147FE71-F167-44BB-908A-2A9EC8374DC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0:36–0:39.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the algebra once: √(L/L³) = √(L⁻²) = 1/L. Then the table, top to bottom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orders of magnitude in size, eight in frequency.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right-hand column is the engineering payoff and it is what connects 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Lecture 2: bandwidth. "A high resonant frequency is not a curiosity. It is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 you can put an accelerometer on a bearing at all."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set up the poll: "Now — you have the two exponents. Use them."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AF54BE-86EF-460B-A5C3-152785903E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0:39–0:43. HARDEST ITEM. TARGET 30–50 % first vote.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peer instruction. Script for step 2: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"Find someone who voted differently. 90 seconds. Convince them using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k ∝ L and m ∝ L³ — not using your intuition about small things."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IS THE TRAP and it is a good-faith error: it assumes k and m scale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board. k ∝ L¹, m ∝ L³, so k/m ∝ L⁻², so f₀ ∝ 1/L.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&lt;20 % CORRECT AFTER THE RE-VOTE: stop and derive it in three lines on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board, then vote a third time. This concept is load-bearing for Lectures 5,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11 — four extra minutes here is a good trade.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BOTH NUMBERS. If this lands above 70 % first vote, your scaling chunk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was too explicit — note it and compress next year.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DCE6561-30ED-4C9B-BA3B-07723EAEDA0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Reveal, then explain the trade honestly — this is the most intellectually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satisfying two minutes of the lecture: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"Why doesn't everyone just make them smaller? Because the proof mass is what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averages out the thermal buffeting of the gas molecules around it. Smaller mass,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larger Brownian noise-equivalent acceleration. You are trading noise floor for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bandwidth, and the datasheet will make you choose."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write out the full noise formula on the board. The proportionality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 up as m goes down — is the whole content.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"So when you read a noise-density figure in Lecture 2, you now know what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costs to make it smaller."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30C777-16D4-4708-82E1-D38D6DCB50F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0:43–0:44. 60 seconds. Read only the right-hand column aloud.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A/V line at the bottom is the unifying idea: gravity and inertia are volume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effects, friction and adhesion and surface tension are area effects. Shrink, and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area effects win. That is stiction, and it is why a MEMS device can weld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itself shut.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 macroscopic engineer worries about mass. A MEMS engineer worries about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41E082D-9729-47F4-B6D6-0CEBEAA3345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0:44–0:48. DO NOT SKIP THIS AND DO NOT SHORTEN IT BELOW 3 MINUTES.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Genuinely make them stand — posture change is half the effect. Then slides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BLANK (press B in most presenters) so recall is unaided. Free recall with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 off is far stronger than any amount of re-reading.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the room. You will see which boxes are missing across the whole cohort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live diagnostic data, and for a first offering it is gold. Note the two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commonly forgotten boxes.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show the next slide and have them self-correct in a different colour.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keep the sheet; it is their reference page for Lab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DF51857-455E-4979-A796-5C3E5855758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0:48. 45 seconds. Self-correction in a second colour is the point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seeing your own gap is what makes it stick.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 the two commonly missed boxes (adjust to what you actually saw while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walking the room — that is better data than my prediction).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FF0165-BC12-4297-BA32-231E4C5AD1B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0:48–0:49. Section marker.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15B88B-E7BB-43B9-8C3B-6BE1C461C73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0:49–0:50.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it in a slightly bored managerial voice. Then: "There is not one number 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sentence. Until there is, you cannot buy anything, you cannot design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anything, and you certainly cannot be held to anything."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"So here is the interrogation."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CE7135-87FA-4CB5-AC23-23F1EA7C82C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0:50–0:54. Four minutes. Do not lecture all seven — read the headings,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expand only on ACCURACY and BANDWIDTH.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ACCURACY: "Notice the second half of the question — 'over what temperature'.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accuracy figure without a temperature range is marketing, not engineering."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(This is the direct set-up for Lecture 2.)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is highlighted deliberately. Do not explain why yet. If a student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asks, say "good instinct — hold it for ten minutes."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Tell them this list is the semester project's first deliverable and that they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will use it in every lab.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19D39D2-361D-4B58-8B3A-25BCB065F09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0:54–0:58. Build this live if you can — reveal the middle column row by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and ask the room for each number before showing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third column is the pedagogical point: EVERY specification number has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justification. A spec line without a reason is a guess wearing a suit.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the bandwidth row out loud, then say nothing more about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"Notice what is NOT on this slide: a manufacturer, a part number, a price. Those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come after. Lecture 2 is entirely about what happens next."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D2027AC-4574-484F-8FD0-A78A809B803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0:58–1:02. Pairs, 4 minutes. Circulate; do not answer, redirect.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INTENDED INSIGHT: the measurand is not altitude — it is barometric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PRESSURE, and altitude is derived. That reframing is the whole exercise, and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previews Lab 5 directly.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TRAP is range vs resolution: range might be 950–1050 hPa (weather), while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resolution needed for ±0.5 m is about 0.06 hPa. Four orders of magnitude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apart. Students routinely conflate these two, and the exit ticket will show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exactly how many still 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a pair finishes early: "now tell me what happens to your altitude reading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door opens in the room."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69F669A-7193-43F1-A77B-19E2D7B4A59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1:02–1:05. Transfer poll. TARGET 55–75 % — this one should be gettable.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 peer instruction: 60 seconds, then re-vote.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framing in the note line is the actual learning objective: 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judgement is knowing which specification line is FATAL versus merely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SUBOPTIMAL. All four matter. Only one of them decides feasibility.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"Hold that answer. We are going back to the motor."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F24FF4E-A8D3-4A41-A552-D979B4FF717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 briefly — 45 seconds. Do not over-explain; the next four slides do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"Range too small: you clip the peaks. Resolution too coarse: you miss small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faults. Temperature too low: it dies in the cabinet. All bad. All survivable.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too low: you are not measuring the thing you think you are measuring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all. Let me show you."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7E821E2-0AEE-443E-B653-79F3921C823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1:05–1:07. Two minutes. Keep it short — the detail is in the handout.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one thing to emphasise: deliverable 1 contains NO technology. Students will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want to write "STM32 + MPU6050". Refuse it. "If your first page names a part,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 skipped the only step that cannot be undone later."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Teams are the lab teams — say this explicitly so Week 2 is not chaos.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C7CDBD-BEA8-4004-9AE8-6BC8B3C1A86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1:07–1:08. Physical commitment beats a poll here — you can see the whole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room at once, and so can they.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 until every hand is on the paper. Genuinely wait. Then look around and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narrate what you see: "Most of you are on box 5. Some on box 2 — and after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rubber pad question, I understand why."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"Box 5. Sampling. Here are the numbers nobody wrote down."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88A7F4F-8C65-42FD-B06E-0142CD2935C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1:08–1:10. Let the three numbers sit for a moment before you speak.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"1520 Hz of real, physical, destructive vibration. Sampled 100 times a second.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filter."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Nyquist plainly and move to the arithmetic — the next slide is where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understanding actually happens.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15942B-1DFE-41EC-9D54-CCB6D4A9A9D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1:10–1:13. THE INTELLECTUAL CENTRE OF THE LECTURE. Do not rush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it: "Here is the real signal — fast, teal. Here are the only instants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ADC ever looked — the red dots. Now: draw the smoothest curve you can through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the dots." Trace the dashed red line with your hand.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"Twenty hertz. It is not noise, it is not a bug, it is not a broken sensor.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the arithmetic of looking too slowly."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the sum aloud: 15 × 100 = 1500. 1520 − 1500 = 20.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killer detail — say it slowly: "The shaft turns at 1500 rpm, which 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Hz. So a 20 Hz component looked completely plausible to everyone who saw it."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why nobody caught it. The wrong answer was believable.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66DFA0-30AB-42AF-B7C2-A095CBB2284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1:13–1:14. Silence. Read it once, slowly. Do not add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sentence you want them to still have in Week 14.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4CDC7C5-C5D9-4863-8DAB-7BD73550E7F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1:14–1:15. Re-run POLL 1 here if you have 60 seconds — show the original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next to the new one. The shift is the most persuasive thing you can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 on a screen in week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connect forward: "You will alias a signal deliberately in Lab 2, in week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four. It is much more fun when you do it on purpose."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3C21C5-30F9-458F-B18C-FB25B354B1E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1:15–1:16. Ninety seconds. Read the four bold lines only.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5D396C1-D9A2-44F9-B90D-49E46ECCAD6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1:16–1:18.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bottom line is true and students respond to it — say it out loud. Honesty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a first offering buys you far better data than pretending to authority.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COLLECT THESE AND KEEP THEM. Transcribe the muddiest points into one list. Open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Lecture 2 by answering the top three in 90 seconds, referring to concepts and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never to students. This single habit does more for your credibility than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anything else in the first month.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727A7E6-97C0-44EF-B9A0-25213EA29E9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1:18–1:19. THE AGREED MITIGATION for the ordering problem — Lab 1 runs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week before Lecture 3 teaches digital interfaces. Do not skip this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explicit and disarming about it: "You have not been taught I²C yet, and you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have not been taught to program this board yet. Neither is an accident. The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boards are already flashed with a console: you will type register addresses that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 took from the datasheet, and you will do the arithmetic yourself. You write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firmware later in the semester."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 the last part plainly — some students will have been dreading exactly that,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a few will be disappointed. Both are worth defusing in week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Emphasise the gate. It exists to stop somebody putting 5 V on a 1.8 V part.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right-hand column: every bench action maps to a box in today's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diagram. That is why they keep the sketch.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D942573-1FD7-4D58-81FB-EE059ACF6B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1:19–1:20. Do not overrun. End on time in week one and they will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believe you for fifteen more weeks.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words: "Next week, two datasheets, and most of this room is going 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choose the wrong part. I am looking forward to it."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531ED94-D765-47DC-9C74-F1DF311C83E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8763FF-BCA0-4C21-8AF9-4C8CA829A8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FBB6BD-827B-4EC2-A2F4-D3ABF75AE1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ADDDE0-AB2C-4FDB-805F-33F5910FEF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BC9F90-44D9-46B9-8912-24170AFE2B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8C3EA2-C450-4FAD-992F-1EBF7F5C64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65F575-4C84-4A20-AA9F-A810C5710E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6E7B5F-1283-495F-8109-49F3D145F5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797303-58BB-4540-9964-1FAC7F9D0A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BA3C2C-DEA9-4050-A3E0-D8E1B8E041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EA75B-386D-4809-BAD9-67326BF44E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DB3B94-D80A-45F3-9904-32027EA4B7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310680" cy="685764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051560" y="137160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ՄԻԿՐՈԷԼԵԿՏՐԱՄԵԽԱՆԻԿԱԿԱՆ ՀԱՄԱԿԱՐԳԵՐ ԵՎ ՏՎԻՉՆԵՐ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051560" y="2057400"/>
            <a:ext cx="1033236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MEMS, տվիչներ և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չափման համակարգի </a:t>
            </a: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կառուցվածքը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5"/>
          <p:cNvSpPr/>
          <p:nvPr/>
        </p:nvSpPr>
        <p:spPr>
          <a:xfrm>
            <a:off x="1051560" y="431604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1051560" y="4617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Դասա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խոսու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թյուն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1 / 16  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·   80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րոպե  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·  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Բաժին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Ա. 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Հիմուն</a:t>
            </a:r>
            <a:r>
              <a:rPr lang="en-US" sz="18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քներ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051560" y="525780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Բակալավրիատ · Էլեկտրատեխնիկա · 7-րդ կիսամյակ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Էներգետիկայի և էլեկտրատեխնիկայի ինստիտուտ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</a:t>
            </a: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Ակնարկ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58440" y="1737360"/>
            <a:ext cx="10058040" cy="23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2000"/>
              </a:lnSpc>
            </a:pPr>
            <a:r>
              <a:rPr lang="en-US" sz="46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Շարժիչը, որը շարքից դուրս եկավ անհրաժեշտ հսկողության պայմաններում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58440" y="411480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658440" y="44348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1500 պտ/րոպե ասինխրոն շարժիչ։ Վիբրացիաների տվիչ։  6 շաբաթվա տվյալներ։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658440" y="274320"/>
            <a:ext cx="10874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Ի՞ՆՉ ԷՐ ՑՈՒՅՑ ՏԱԼԻՍ ԷԿՐԱՆԸ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58440" y="713160"/>
            <a:ext cx="100580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Վեց շաբաթ՝ սահուն աշխատանք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6"/>
          <p:cNvSpPr/>
          <p:nvPr/>
        </p:nvSpPr>
        <p:spPr>
          <a:xfrm>
            <a:off x="658440" y="3794760"/>
            <a:ext cx="9875160" cy="12240"/>
          </a:xfrm>
          <a:prstGeom prst="rect">
            <a:avLst/>
          </a:prstGeom>
          <a:solidFill>
            <a:srgbClr val="6B76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Freeform 7"/>
          <p:cNvSpPr/>
          <p:nvPr/>
        </p:nvSpPr>
        <p:spPr>
          <a:xfrm>
            <a:off x="658440" y="3098520"/>
            <a:ext cx="8777880" cy="357120"/>
          </a:xfrm>
          <a:custGeom>
            <a:avLst/>
            <a:gdLst>
              <a:gd name="textAreaLeft" fmla="*/ 0 w 8777880"/>
              <a:gd name="textAreaRight" fmla="*/ 8778240 w 8777880"/>
              <a:gd name="textAreaTop" fmla="*/ 0 h 357120"/>
              <a:gd name="textAreaBottom" fmla="*/ 357480 h 357120"/>
            </a:gdLst>
            <a:ahLst/>
            <a:cxnLst/>
            <a:rect l="textAreaLeft" t="textAreaTop" r="textAreaRight" b="textAreaBottom"/>
            <a:pathLst>
              <a:path w="8778240" h="357542">
                <a:moveTo>
                  <a:pt x="0" y="312242"/>
                </a:moveTo>
                <a:lnTo>
                  <a:pt x="146304" y="357542"/>
                </a:lnTo>
                <a:lnTo>
                  <a:pt x="292608" y="290246"/>
                </a:lnTo>
                <a:lnTo>
                  <a:pt x="438912" y="251964"/>
                </a:lnTo>
                <a:lnTo>
                  <a:pt x="585216" y="318803"/>
                </a:lnTo>
                <a:lnTo>
                  <a:pt x="731520" y="329539"/>
                </a:lnTo>
                <a:lnTo>
                  <a:pt x="877824" y="249611"/>
                </a:lnTo>
                <a:lnTo>
                  <a:pt x="1024128" y="249150"/>
                </a:lnTo>
                <a:lnTo>
                  <a:pt x="1170432" y="318874"/>
                </a:lnTo>
                <a:lnTo>
                  <a:pt x="1316736" y="291046"/>
                </a:lnTo>
                <a:lnTo>
                  <a:pt x="1463040" y="218171"/>
                </a:lnTo>
                <a:lnTo>
                  <a:pt x="1609344" y="254456"/>
                </a:lnTo>
                <a:lnTo>
                  <a:pt x="1755648" y="307659"/>
                </a:lnTo>
                <a:lnTo>
                  <a:pt x="1901952" y="247342"/>
                </a:lnTo>
                <a:lnTo>
                  <a:pt x="2048256" y="199360"/>
                </a:lnTo>
                <a:lnTo>
                  <a:pt x="2194560" y="261719"/>
                </a:lnTo>
                <a:lnTo>
                  <a:pt x="2340864" y="283310"/>
                </a:lnTo>
                <a:lnTo>
                  <a:pt x="2487168" y="205065"/>
                </a:lnTo>
                <a:lnTo>
                  <a:pt x="2633472" y="193315"/>
                </a:lnTo>
                <a:lnTo>
                  <a:pt x="2779776" y="264266"/>
                </a:lnTo>
                <a:lnTo>
                  <a:pt x="2926080" y="247410"/>
                </a:lnTo>
                <a:lnTo>
                  <a:pt x="3072384" y="170481"/>
                </a:lnTo>
                <a:lnTo>
                  <a:pt x="3218688" y="196838"/>
                </a:lnTo>
                <a:lnTo>
                  <a:pt x="3364992" y="256653"/>
                </a:lnTo>
                <a:lnTo>
                  <a:pt x="3511296" y="204560"/>
                </a:lnTo>
                <a:lnTo>
                  <a:pt x="3657600" y="147846"/>
                </a:lnTo>
                <a:lnTo>
                  <a:pt x="3803904" y="204232"/>
                </a:lnTo>
                <a:lnTo>
                  <a:pt x="3950208" y="236094"/>
                </a:lnTo>
                <a:lnTo>
                  <a:pt x="4096512" y="161175"/>
                </a:lnTo>
                <a:lnTo>
                  <a:pt x="4242816" y="138297"/>
                </a:lnTo>
                <a:lnTo>
                  <a:pt x="4389120" y="208789"/>
                </a:lnTo>
                <a:lnTo>
                  <a:pt x="4535424" y="203180"/>
                </a:lnTo>
                <a:lnTo>
                  <a:pt x="4681728" y="123812"/>
                </a:lnTo>
                <a:lnTo>
                  <a:pt x="4828032" y="139551"/>
                </a:lnTo>
                <a:lnTo>
                  <a:pt x="4974336" y="204541"/>
                </a:lnTo>
                <a:lnTo>
                  <a:pt x="5120640" y="161732"/>
                </a:lnTo>
                <a:lnTo>
                  <a:pt x="5266944" y="97451"/>
                </a:lnTo>
                <a:lnTo>
                  <a:pt x="5413248" y="146502"/>
                </a:lnTo>
                <a:lnTo>
                  <a:pt x="5559552" y="187821"/>
                </a:lnTo>
                <a:lnTo>
                  <a:pt x="5705856" y="117801"/>
                </a:lnTo>
                <a:lnTo>
                  <a:pt x="5852160" y="84203"/>
                </a:lnTo>
                <a:lnTo>
                  <a:pt x="5998464" y="152559"/>
                </a:lnTo>
                <a:lnTo>
                  <a:pt x="6144768" y="158220"/>
                </a:lnTo>
                <a:lnTo>
                  <a:pt x="6291072" y="78083"/>
                </a:lnTo>
                <a:lnTo>
                  <a:pt x="6437376" y="82750"/>
                </a:lnTo>
                <a:lnTo>
                  <a:pt x="6583680" y="151363"/>
                </a:lnTo>
                <a:lnTo>
                  <a:pt x="6729984" y="118693"/>
                </a:lnTo>
                <a:lnTo>
                  <a:pt x="6876288" y="48177"/>
                </a:lnTo>
                <a:lnTo>
                  <a:pt x="7022592" y="88696"/>
                </a:lnTo>
                <a:lnTo>
                  <a:pt x="7168896" y="138448"/>
                </a:lnTo>
                <a:lnTo>
                  <a:pt x="7315200" y="74786"/>
                </a:lnTo>
                <a:lnTo>
                  <a:pt x="7461504" y="31117"/>
                </a:lnTo>
                <a:lnTo>
                  <a:pt x="7607808" y="95710"/>
                </a:lnTo>
                <a:lnTo>
                  <a:pt x="7754112" y="112412"/>
                </a:lnTo>
                <a:lnTo>
                  <a:pt x="7900416" y="33193"/>
                </a:lnTo>
                <a:lnTo>
                  <a:pt x="8046720" y="26582"/>
                </a:lnTo>
                <a:lnTo>
                  <a:pt x="8193024" y="97183"/>
                </a:lnTo>
                <a:lnTo>
                  <a:pt x="8339328" y="75278"/>
                </a:lnTo>
                <a:lnTo>
                  <a:pt x="8485632" y="0"/>
                </a:lnTo>
                <a:lnTo>
                  <a:pt x="8631936" y="30981"/>
                </a:lnTo>
                <a:lnTo>
                  <a:pt x="8778240" y="87953"/>
                </a:lnTo>
              </a:path>
            </a:pathLst>
          </a:custGeom>
          <a:noFill/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658440" y="422460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E7C86"/>
                </a:solidFill>
                <a:effectLst/>
                <a:uFillTx/>
                <a:latin typeface="DejaVu Sans Mono"/>
              </a:rPr>
              <a:t>20 Hz  ·  ամպլիտուդը դանդաղ աճում է  ·  ընկալվել է որպես բնականոն բեռ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Freeform 9"/>
          <p:cNvSpPr/>
          <p:nvPr/>
        </p:nvSpPr>
        <p:spPr>
          <a:xfrm>
            <a:off x="9436680" y="1463040"/>
            <a:ext cx="566640" cy="2057040"/>
          </a:xfrm>
          <a:custGeom>
            <a:avLst/>
            <a:gdLst>
              <a:gd name="textAreaLeft" fmla="*/ 0 w 566640"/>
              <a:gd name="textAreaRight" fmla="*/ 567000 w 566640"/>
              <a:gd name="textAreaTop" fmla="*/ 0 h 2057040"/>
              <a:gd name="textAreaBottom" fmla="*/ 2057400 h 2057040"/>
            </a:gdLst>
            <a:ahLst/>
            <a:cxnLst/>
            <a:rect l="textAreaLeft" t="textAreaTop" r="textAreaRight" b="textAreaBottom"/>
            <a:pathLst>
              <a:path w="566928" h="2057400">
                <a:moveTo>
                  <a:pt x="0" y="1673352"/>
                </a:moveTo>
                <a:lnTo>
                  <a:pt x="274320" y="0"/>
                </a:lnTo>
                <a:lnTo>
                  <a:pt x="566928" y="2057400"/>
                </a:lnTo>
              </a:path>
            </a:pathLst>
          </a:custGeom>
          <a:noFill/>
          <a:ln w="381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10149840" y="14173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C0392B"/>
                </a:solidFill>
                <a:effectLst/>
                <a:uFillTx/>
                <a:latin typeface="DejaVu Sans Mono"/>
              </a:rPr>
              <a:t>7-ՐԴ ՇԱԲԱԹ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9967320" y="1737360"/>
            <a:ext cx="2148480" cy="87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44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առանցքակալը խցանվեց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</a:pPr>
            <a:r>
              <a:rPr lang="en-US" sz="170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շարժիչը փչացավ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658440" y="39229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1-ին շաբաթ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Ոչինչ չի խափանվել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3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Հետագա քննությունը ստուգել է բոլոր բաղադրիչները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7"/>
          <p:cNvSpPr/>
          <p:nvPr/>
        </p:nvSpPr>
        <p:spPr>
          <a:xfrm>
            <a:off x="658440" y="196596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Աքսելերոմետրը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4636080" y="20941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9"/>
          <p:cNvSpPr/>
          <p:nvPr/>
        </p:nvSpPr>
        <p:spPr>
          <a:xfrm>
            <a:off x="5184720" y="214884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4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համապատասխանում էր datasheet-ի բոլոր թվերին</a:t>
            </a:r>
            <a:endParaRPr lang="en-US" sz="1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10"/>
          <p:cNvSpPr/>
          <p:nvPr/>
        </p:nvSpPr>
        <p:spPr>
          <a:xfrm>
            <a:off x="658440" y="275220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Տպ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աս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ալի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կը 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(Пл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ата</a:t>
            </a: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1"/>
          <p:cNvSpPr/>
          <p:nvPr/>
        </p:nvSpPr>
        <p:spPr>
          <a:xfrm>
            <a:off x="4636080" y="28803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5184720" y="293508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2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անսարքություն չհայտնաբերվեց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13"/>
          <p:cNvSpPr/>
          <p:nvPr/>
        </p:nvSpPr>
        <p:spPr>
          <a:xfrm>
            <a:off x="658440" y="353880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Ծրագրային ապահովումը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4636080" y="3666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5"/>
          <p:cNvSpPr/>
          <p:nvPr/>
        </p:nvSpPr>
        <p:spPr>
          <a:xfrm>
            <a:off x="5184720" y="3721680"/>
            <a:ext cx="5943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2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սխալ չհայտնաբերվեց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16"/>
          <p:cNvSpPr/>
          <p:nvPr/>
        </p:nvSpPr>
        <p:spPr>
          <a:xfrm>
            <a:off x="658440" y="432504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Տվյալների գրանցման բլոկը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7"/>
          <p:cNvSpPr/>
          <p:nvPr/>
        </p:nvSpPr>
        <p:spPr>
          <a:xfrm>
            <a:off x="4636080" y="44532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8"/>
          <p:cNvSpPr/>
          <p:nvPr/>
        </p:nvSpPr>
        <p:spPr>
          <a:xfrm>
            <a:off x="5184720" y="4507920"/>
            <a:ext cx="59432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գրանցել է ամեն մի նմուշ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19"/>
          <p:cNvSpPr/>
          <p:nvPr/>
        </p:nvSpPr>
        <p:spPr>
          <a:xfrm>
            <a:off x="658440" y="511164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Վերահսկող ինժեները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20"/>
          <p:cNvSpPr/>
          <p:nvPr/>
        </p:nvSpPr>
        <p:spPr>
          <a:xfrm>
            <a:off x="4636080" y="52394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1"/>
          <p:cNvSpPr/>
          <p:nvPr/>
        </p:nvSpPr>
        <p:spPr>
          <a:xfrm>
            <a:off x="5184720" y="5294520"/>
            <a:ext cx="59432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ամեն շաբաթ նայել է էկրանին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ՀԱՐՑՈՒՄ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5"/>
          <p:cNvSpPr/>
          <p:nvPr/>
        </p:nvSpPr>
        <p:spPr>
          <a:xfrm>
            <a:off x="658440" y="658440"/>
            <a:ext cx="108745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Որտե՞ղ էր սխալը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6"/>
          <p:cNvSpPr/>
          <p:nvPr/>
        </p:nvSpPr>
        <p:spPr>
          <a:xfrm>
            <a:off x="658440" y="205740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59680" y="217620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1371600" y="2185560"/>
            <a:ext cx="98686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Աքսելերոմետրը չափազանց էժան էր արդյունաբերական կիրառության համար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ounded Rectangle 9"/>
          <p:cNvSpPr/>
          <p:nvPr/>
        </p:nvSpPr>
        <p:spPr>
          <a:xfrm>
            <a:off x="658440" y="270648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859680" y="28256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11"/>
          <p:cNvSpPr/>
          <p:nvPr/>
        </p:nvSpPr>
        <p:spPr>
          <a:xfrm>
            <a:off x="1371600" y="2834640"/>
            <a:ext cx="986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Ծրագրում սխալ կար, որը ոչ ոք չգտավ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12"/>
          <p:cNvSpPr/>
          <p:nvPr/>
        </p:nvSpPr>
        <p:spPr>
          <a:xfrm>
            <a:off x="658440" y="335592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13"/>
          <p:cNvSpPr/>
          <p:nvPr/>
        </p:nvSpPr>
        <p:spPr>
          <a:xfrm>
            <a:off x="859680" y="347472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14"/>
          <p:cNvSpPr/>
          <p:nvPr/>
        </p:nvSpPr>
        <p:spPr>
          <a:xfrm>
            <a:off x="1371600" y="3483720"/>
            <a:ext cx="986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Ոչ ոք չսահմանեց նմուշառման հաճախությունը՝ ելնելով վնասվածքի հաճախությունից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15"/>
          <p:cNvSpPr/>
          <p:nvPr/>
        </p:nvSpPr>
        <p:spPr>
          <a:xfrm>
            <a:off x="658440" y="400500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6"/>
          <p:cNvSpPr/>
          <p:nvPr/>
        </p:nvSpPr>
        <p:spPr>
          <a:xfrm>
            <a:off x="859680" y="412380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7"/>
          <p:cNvSpPr/>
          <p:nvPr/>
        </p:nvSpPr>
        <p:spPr>
          <a:xfrm>
            <a:off x="1371600" y="4133160"/>
            <a:ext cx="986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9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Առանցքակալի մաշվածությունը հնարավոր չէ հայտնաբերել թրթռման միջոցով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8"/>
          <p:cNvSpPr/>
          <p:nvPr/>
        </p:nvSpPr>
        <p:spPr>
          <a:xfrm>
            <a:off x="658440" y="465444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9"/>
          <p:cNvSpPr/>
          <p:nvPr/>
        </p:nvSpPr>
        <p:spPr>
          <a:xfrm>
            <a:off x="859680" y="47732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20"/>
          <p:cNvSpPr/>
          <p:nvPr/>
        </p:nvSpPr>
        <p:spPr>
          <a:xfrm>
            <a:off x="1371600" y="4782240"/>
            <a:ext cx="986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Սպասարկող խումբը անտեսեց աճող միտումը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658440" y="475560"/>
            <a:ext cx="1087452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Որն է այս դասընթացի նպատակը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658440" y="1353240"/>
            <a:ext cx="108745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և, նույնքան կարևոր՝ որն չէ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7"/>
          <p:cNvSpPr/>
          <p:nvPr/>
        </p:nvSpPr>
        <p:spPr>
          <a:xfrm>
            <a:off x="658440" y="2011680"/>
            <a:ext cx="5303160" cy="105120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ԱՅՍ ԴԱՍԸՆԹԱՑՆ Է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749880" y="3246120"/>
            <a:ext cx="5120280" cy="102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Իրական տվիչների ընտրություն,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միացում, ստուգաչափում,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ինտեգրում իրական համակարգերում։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9"/>
          <p:cNvSpPr/>
          <p:nvPr/>
        </p:nvSpPr>
        <p:spPr>
          <a:xfrm>
            <a:off x="6464880" y="2011680"/>
            <a:ext cx="5303160" cy="1051200"/>
          </a:xfrm>
          <a:prstGeom prst="roundRect">
            <a:avLst>
              <a:gd name="adj" fmla="val 10000"/>
            </a:avLst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ԱՅՆ ՉԷ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6556320" y="3246120"/>
            <a:ext cx="5120280" cy="13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Տվիչների արտադրության դասընթաց։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Արտադրությանն անդրադառնում ենք մեկ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անգամ՝ 4-րդ դասախոսությունում, միայն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փաթեթավորման և շեղման չափով։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11"/>
          <p:cNvSpPr/>
          <p:nvPr/>
        </p:nvSpPr>
        <p:spPr>
          <a:xfrm>
            <a:off x="658440" y="5074920"/>
            <a:ext cx="10874520" cy="18720"/>
          </a:xfrm>
          <a:prstGeom prst="rect">
            <a:avLst/>
          </a:prstGeom>
          <a:solidFill>
            <a:srgbClr val="E4E2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658440" y="5349240"/>
            <a:ext cx="1087452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Դասընթացի սկզբունքը՝  չափվող մեծությունը → տվիչի ընտրություն → միացում → վստահելի տվյալներ → ստուգաչափում → մշակում կամ միավորում → ինտեգրում։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658440" y="475560"/>
            <a:ext cx="1087452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Դասընթացի վերջում դուք կկարողանաք…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6"/>
          <p:cNvSpPr/>
          <p:nvPr/>
        </p:nvSpPr>
        <p:spPr>
          <a:xfrm>
            <a:off x="658440" y="200268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1435680" y="20577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ԳԾԵԼ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3355920" y="1993320"/>
            <a:ext cx="813780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  <a:ea typeface="Noto Sans CJK SC"/>
              </a:rPr>
              <a:t>ֆիզիկական մեծությունից մինչև գրանցված թիվ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ուղին, և ասել՝ որտեղ է կորչում տեղեկույթը։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658440" y="297180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1435680" y="293508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ԴԱՍԵԼ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11"/>
          <p:cNvSpPr/>
          <p:nvPr/>
        </p:nvSpPr>
        <p:spPr>
          <a:xfrm>
            <a:off x="3355920" y="2962800"/>
            <a:ext cx="813780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ծա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նո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սա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րք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ը՝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տվ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իչ,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խ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ակ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եր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պի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թե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ակ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տո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ւա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տո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ր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—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և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ոշ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ել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փվ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ող 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ծո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ւթյ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</a:t>
            </a: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2"/>
          <p:cNvSpPr/>
          <p:nvPr/>
        </p:nvSpPr>
        <p:spPr>
          <a:xfrm>
            <a:off x="658440" y="394092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3"/>
          <p:cNvSpPr/>
          <p:nvPr/>
        </p:nvSpPr>
        <p:spPr>
          <a:xfrm>
            <a:off x="1435680" y="39045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4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ԳՈՒՇԱԿԵԼ</a:t>
            </a:r>
            <a:endParaRPr lang="en-US" sz="2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4"/>
          <p:cNvSpPr/>
          <p:nvPr/>
        </p:nvSpPr>
        <p:spPr>
          <a:xfrm>
            <a:off x="3355920" y="3931920"/>
            <a:ext cx="8137800" cy="67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7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մասշտաբման օրենքներից՝ ինչու են MEMS սարքերն արագ — և թե որ պարամետրն է վատանում է չափսերի փոքրացման արդյունքում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15"/>
          <p:cNvSpPr/>
          <p:nvPr/>
        </p:nvSpPr>
        <p:spPr>
          <a:xfrm>
            <a:off x="658440" y="4910400"/>
            <a:ext cx="63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6"/>
          <p:cNvSpPr/>
          <p:nvPr/>
        </p:nvSpPr>
        <p:spPr>
          <a:xfrm>
            <a:off x="1435680" y="487368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ՎԵՐԱԾԵԼ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7"/>
          <p:cNvSpPr/>
          <p:nvPr/>
        </p:nvSpPr>
        <p:spPr>
          <a:xfrm>
            <a:off x="3355920" y="4901040"/>
            <a:ext cx="813780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անորոշ պահանջները տեխնիկական առաջադրանքի, ըստ որի կարելի է նախագիծ կատարել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ՄԱՍ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58440" y="1737360"/>
            <a:ext cx="904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Շղթան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6"/>
          <p:cNvSpPr/>
          <p:nvPr/>
        </p:nvSpPr>
        <p:spPr>
          <a:xfrm>
            <a:off x="8790120" y="2559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B7680"/>
                </a:solidFill>
                <a:effectLst/>
                <a:uFillTx/>
                <a:latin typeface="Courier New"/>
              </a:rPr>
              <a:t>08:00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8"/>
          <p:cNvSpPr/>
          <p:nvPr/>
        </p:nvSpPr>
        <p:spPr>
          <a:xfrm>
            <a:off x="658440" y="4160520"/>
            <a:ext cx="10874520" cy="86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just"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Չափումը բաղադրիչ չէ։ Այն ուղի է — իսկ ուղին ճշմարիտ է այնքան,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որքան իր ամենաթույլ օղակը։ Այս ուղին կկառուցենք քայլ առ քայլ։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Երեք բառ, որ կօգտագործենք ճշգրիտ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որովհետև այսուհետ տարբերությունը կարևոր է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7"/>
          <p:cNvSpPr/>
          <p:nvPr/>
        </p:nvSpPr>
        <p:spPr>
          <a:xfrm>
            <a:off x="65844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ՏՎԻՉ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768240" y="2907720"/>
            <a:ext cx="3300480" cy="103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just" defTabSz="457200">
              <a:lnSpc>
                <a:spcPct val="135000"/>
              </a:lnSpc>
            </a:pPr>
            <a:r>
              <a:rPr lang="en-US" sz="167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 մեծությունը վերածում է ազդանշանի, որը կարող եք կարդալ։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9"/>
          <p:cNvSpPr/>
          <p:nvPr/>
        </p:nvSpPr>
        <p:spPr>
          <a:xfrm>
            <a:off x="768240" y="4370760"/>
            <a:ext cx="731160" cy="378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768240" y="4599360"/>
            <a:ext cx="3300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MEMS խոսափող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ձայնային ճնշում → լարում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11"/>
          <p:cNvSpPr/>
          <p:nvPr/>
        </p:nvSpPr>
        <p:spPr>
          <a:xfrm>
            <a:off x="449892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ՓՈԽԱԿԵՐՊԻՉ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8720" y="2907720"/>
            <a:ext cx="3300480" cy="11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just"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Էներգիան վերածում է մի տեսակից մյուսի։ Տվիչը դրա տեսակներից է։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3"/>
          <p:cNvSpPr/>
          <p:nvPr/>
        </p:nvSpPr>
        <p:spPr>
          <a:xfrm>
            <a:off x="4608720" y="4370760"/>
            <a:ext cx="731160" cy="378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14"/>
          <p:cNvSpPr/>
          <p:nvPr/>
        </p:nvSpPr>
        <p:spPr>
          <a:xfrm>
            <a:off x="4608720" y="4599360"/>
            <a:ext cx="3300480" cy="8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բարձրախոս, դեֆորմացիայի տվիչ,</a:t>
            </a:r>
            <a:r>
              <a:rPr lang="en-US" sz="137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պիեզո սկավառակ — երկու ուղղությամբ</a:t>
            </a:r>
            <a:endParaRPr lang="en-U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ounded Rectangle 15"/>
          <p:cNvSpPr/>
          <p:nvPr/>
        </p:nvSpPr>
        <p:spPr>
          <a:xfrm>
            <a:off x="833940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7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ԱԿՏՈՒԱՏՈՐ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6"/>
          <p:cNvSpPr/>
          <p:nvPr/>
        </p:nvSpPr>
        <p:spPr>
          <a:xfrm>
            <a:off x="8449200" y="2907720"/>
            <a:ext cx="3300480" cy="10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just"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Ազդանշանը վերածում է </a:t>
            </a:r>
            <a:r>
              <a:rPr lang="en-US" sz="165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 ազդեցության աշխարհի վրա։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17"/>
          <p:cNvSpPr/>
          <p:nvPr/>
        </p:nvSpPr>
        <p:spPr>
          <a:xfrm>
            <a:off x="8449200" y="4370760"/>
            <a:ext cx="731160" cy="378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8"/>
          <p:cNvSpPr/>
          <p:nvPr/>
        </p:nvSpPr>
        <p:spPr>
          <a:xfrm>
            <a:off x="8449200" y="4599360"/>
            <a:ext cx="3300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MEMS հայելի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լարում → ճառագայթի շեղում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658440" y="5760720"/>
            <a:ext cx="1087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Այս դասընթացում ամեն ակտուատոր նաև չափման խնդիր է. դուք գիտեք, որ այն գործել է, միայն եթե զգում եք արդյունքը։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Երեսուն վայրկյան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Տվիչ, փոխակերպիչ թե ակտուատոր։ Իսկ ո՞րն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է չափվող մեծությունը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ounded Rectangle 7"/>
          <p:cNvSpPr/>
          <p:nvPr/>
        </p:nvSpPr>
        <p:spPr>
          <a:xfrm>
            <a:off x="65844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Arial"/>
              </a:rPr>
              <a:t>MEMS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խոսափող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8"/>
          <p:cNvSpPr/>
          <p:nvPr/>
        </p:nvSpPr>
        <p:spPr>
          <a:xfrm>
            <a:off x="65844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ounded Rectangle 9"/>
          <p:cNvSpPr/>
          <p:nvPr/>
        </p:nvSpPr>
        <p:spPr>
          <a:xfrm>
            <a:off x="335592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Պիեզո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79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ազդանշանիչ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ounded Rectangle 10"/>
          <p:cNvSpPr/>
          <p:nvPr/>
        </p:nvSpPr>
        <p:spPr>
          <a:xfrm>
            <a:off x="335592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ounded Rectangle 11"/>
          <p:cNvSpPr/>
          <p:nvPr/>
        </p:nvSpPr>
        <p:spPr>
          <a:xfrm>
            <a:off x="605340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79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Դեֆորմացիայի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տվիչ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ounded Rectangle 12"/>
          <p:cNvSpPr/>
          <p:nvPr/>
        </p:nvSpPr>
        <p:spPr>
          <a:xfrm>
            <a:off x="605340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ounded Rectangle 13"/>
          <p:cNvSpPr/>
          <p:nvPr/>
        </p:nvSpPr>
        <p:spPr>
          <a:xfrm>
            <a:off x="875088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Arial"/>
              </a:rPr>
              <a:t>MEMS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հայելի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14"/>
          <p:cNvSpPr/>
          <p:nvPr/>
        </p:nvSpPr>
        <p:spPr>
          <a:xfrm>
            <a:off x="875088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6"/>
          <p:cNvSpPr/>
          <p:nvPr/>
        </p:nvSpPr>
        <p:spPr>
          <a:xfrm>
            <a:off x="658440" y="5577840"/>
            <a:ext cx="1087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700" b="0" i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Այս չորսից մեկը պասիվ է — փոխում է դիմադրությունը և կարիք ունի սնման հոսանքի, որպեսզի ընդհանրապես ինչ-որ բան «ասի»։ Ո՞րը, և ինչու՞ է դա կարևոր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Չափվող մեծությունը</a:t>
            </a:r>
            <a:endParaRPr lang="en-US" sz="2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ounded Rectangle 6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7"/>
          <p:cNvSpPr/>
          <p:nvPr/>
        </p:nvSpPr>
        <p:spPr>
          <a:xfrm>
            <a:off x="7315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ounded Rectangle 8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9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10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ԱՆԱԼՈԳԱՅԻՆ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ՄՇԱԿՈՒՄ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ounded Rectangle 11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ՔՎԱՆՏԱՑՈՒՄ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ounded Rectangle 12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ԿՈԴԵՐ → ՄՀ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ՄԻԱՎՈՐՆԵՐ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13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ԳՐԱՆՑՈՒՄ, </a:t>
            </a: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ՈՐՈՇՈՒՄ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Այն չի սկսվում տվիչից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8"/>
          <p:cNvSpPr/>
          <p:nvPr/>
        </p:nvSpPr>
        <p:spPr>
          <a:xfrm>
            <a:off x="7315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0"/>
          <p:cNvSpPr/>
          <p:nvPr/>
        </p:nvSpPr>
        <p:spPr>
          <a:xfrm>
            <a:off x="34200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2"/>
          <p:cNvSpPr/>
          <p:nvPr/>
        </p:nvSpPr>
        <p:spPr>
          <a:xfrm>
            <a:off x="61081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14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15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Rounded Rectangle 16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ight Arrow 17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Right Arrow 18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Էլեկտրոնիկայի միջով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7315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10"/>
          <p:cNvSpPr/>
          <p:nvPr/>
        </p:nvSpPr>
        <p:spPr>
          <a:xfrm>
            <a:off x="34200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12"/>
          <p:cNvSpPr/>
          <p:nvPr/>
        </p:nvSpPr>
        <p:spPr>
          <a:xfrm>
            <a:off x="61081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4"/>
          <p:cNvSpPr/>
          <p:nvPr/>
        </p:nvSpPr>
        <p:spPr>
          <a:xfrm>
            <a:off x="87966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ounded Rectangle 15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6"/>
          <p:cNvSpPr/>
          <p:nvPr/>
        </p:nvSpPr>
        <p:spPr>
          <a:xfrm>
            <a:off x="879660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unded Rectangle 17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ounded Rectangle 18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ight Arrow 19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Right Arrow 20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Right Arrow 21"/>
          <p:cNvSpPr/>
          <p:nvPr/>
        </p:nvSpPr>
        <p:spPr>
          <a:xfrm>
            <a:off x="83026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Down Arrow 22"/>
          <p:cNvSpPr/>
          <p:nvPr/>
        </p:nvSpPr>
        <p:spPr>
          <a:xfrm>
            <a:off x="9729360" y="33465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Ամբողջական շղթան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8"/>
          <p:cNvSpPr/>
          <p:nvPr/>
        </p:nvSpPr>
        <p:spPr>
          <a:xfrm>
            <a:off x="7315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10"/>
          <p:cNvSpPr/>
          <p:nvPr/>
        </p:nvSpPr>
        <p:spPr>
          <a:xfrm>
            <a:off x="34200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2"/>
          <p:cNvSpPr/>
          <p:nvPr/>
        </p:nvSpPr>
        <p:spPr>
          <a:xfrm>
            <a:off x="61081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4"/>
          <p:cNvSpPr/>
          <p:nvPr/>
        </p:nvSpPr>
        <p:spPr>
          <a:xfrm>
            <a:off x="87966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15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16"/>
          <p:cNvSpPr/>
          <p:nvPr/>
        </p:nvSpPr>
        <p:spPr>
          <a:xfrm>
            <a:off x="879660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ounded Rectangle 17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610812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ounded Rectangle 19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342000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ight Arrow 21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Right Arrow 22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Right Arrow 23"/>
          <p:cNvSpPr/>
          <p:nvPr/>
        </p:nvSpPr>
        <p:spPr>
          <a:xfrm>
            <a:off x="83026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Down Arrow 24"/>
          <p:cNvSpPr/>
          <p:nvPr/>
        </p:nvSpPr>
        <p:spPr>
          <a:xfrm>
            <a:off x="9729360" y="33465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Left Arrow 25"/>
          <p:cNvSpPr/>
          <p:nvPr/>
        </p:nvSpPr>
        <p:spPr>
          <a:xfrm>
            <a:off x="561456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Left Arrow 26"/>
          <p:cNvSpPr/>
          <p:nvPr/>
        </p:nvSpPr>
        <p:spPr>
          <a:xfrm>
            <a:off x="292608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Նույն շղթան՝ իրական թվերով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Մե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կ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0.9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mg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թր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թռ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ու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մ՝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ամ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բո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ղջ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ճա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նա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պ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ար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հը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մի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նչ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և 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որ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ոշ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ու</a:t>
            </a: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7"/>
          <p:cNvSpPr/>
          <p:nvPr/>
        </p:nvSpPr>
        <p:spPr>
          <a:xfrm>
            <a:off x="65844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8"/>
          <p:cNvSpPr/>
          <p:nvPr/>
        </p:nvSpPr>
        <p:spPr>
          <a:xfrm>
            <a:off x="731520" y="24231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ounded Rectangle 9"/>
          <p:cNvSpPr/>
          <p:nvPr/>
        </p:nvSpPr>
        <p:spPr>
          <a:xfrm>
            <a:off x="334656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10"/>
          <p:cNvSpPr/>
          <p:nvPr/>
        </p:nvSpPr>
        <p:spPr>
          <a:xfrm>
            <a:off x="3420000" y="24231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ounded Rectangle 11"/>
          <p:cNvSpPr/>
          <p:nvPr/>
        </p:nvSpPr>
        <p:spPr>
          <a:xfrm>
            <a:off x="603504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2"/>
          <p:cNvSpPr/>
          <p:nvPr/>
        </p:nvSpPr>
        <p:spPr>
          <a:xfrm>
            <a:off x="6108120" y="24231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3"/>
          <p:cNvSpPr/>
          <p:nvPr/>
        </p:nvSpPr>
        <p:spPr>
          <a:xfrm>
            <a:off x="872352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8796600" y="24231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15"/>
          <p:cNvSpPr/>
          <p:nvPr/>
        </p:nvSpPr>
        <p:spPr>
          <a:xfrm>
            <a:off x="872352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16"/>
          <p:cNvSpPr/>
          <p:nvPr/>
        </p:nvSpPr>
        <p:spPr>
          <a:xfrm>
            <a:off x="8796600" y="41972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ounded Rectangle 17"/>
          <p:cNvSpPr/>
          <p:nvPr/>
        </p:nvSpPr>
        <p:spPr>
          <a:xfrm>
            <a:off x="603504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18"/>
          <p:cNvSpPr/>
          <p:nvPr/>
        </p:nvSpPr>
        <p:spPr>
          <a:xfrm>
            <a:off x="6108120" y="41972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19"/>
          <p:cNvSpPr/>
          <p:nvPr/>
        </p:nvSpPr>
        <p:spPr>
          <a:xfrm>
            <a:off x="334656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20"/>
          <p:cNvSpPr/>
          <p:nvPr/>
        </p:nvSpPr>
        <p:spPr>
          <a:xfrm>
            <a:off x="3420000" y="41972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ight Arrow 21"/>
          <p:cNvSpPr/>
          <p:nvPr/>
        </p:nvSpPr>
        <p:spPr>
          <a:xfrm>
            <a:off x="292608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22"/>
          <p:cNvSpPr/>
          <p:nvPr/>
        </p:nvSpPr>
        <p:spPr>
          <a:xfrm>
            <a:off x="2359080" y="2084760"/>
            <a:ext cx="1499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0.9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ight Arrow 23"/>
          <p:cNvSpPr/>
          <p:nvPr/>
        </p:nvSpPr>
        <p:spPr>
          <a:xfrm>
            <a:off x="561456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24"/>
          <p:cNvSpPr/>
          <p:nvPr/>
        </p:nvSpPr>
        <p:spPr>
          <a:xfrm>
            <a:off x="5047560" y="2084760"/>
            <a:ext cx="1499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0.6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ight Arrow 25"/>
          <p:cNvSpPr/>
          <p:nvPr/>
        </p:nvSpPr>
        <p:spPr>
          <a:xfrm>
            <a:off x="830268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26"/>
          <p:cNvSpPr/>
          <p:nvPr/>
        </p:nvSpPr>
        <p:spPr>
          <a:xfrm>
            <a:off x="7735680" y="2084760"/>
            <a:ext cx="1499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1.4 mV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Down Arrow 27"/>
          <p:cNvSpPr/>
          <p:nvPr/>
        </p:nvSpPr>
        <p:spPr>
          <a:xfrm>
            <a:off x="9729360" y="34563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Left Arrow 28"/>
          <p:cNvSpPr/>
          <p:nvPr/>
        </p:nvSpPr>
        <p:spPr>
          <a:xfrm>
            <a:off x="5614560" y="45352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29"/>
          <p:cNvSpPr/>
          <p:nvPr/>
        </p:nvSpPr>
        <p:spPr>
          <a:xfrm>
            <a:off x="5047560" y="3858840"/>
            <a:ext cx="1499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 Mono"/>
              </a:rPr>
              <a:t>կոդ 8412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Left Arrow 30"/>
          <p:cNvSpPr/>
          <p:nvPr/>
        </p:nvSpPr>
        <p:spPr>
          <a:xfrm>
            <a:off x="2926080" y="45352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31"/>
          <p:cNvSpPr/>
          <p:nvPr/>
        </p:nvSpPr>
        <p:spPr>
          <a:xfrm>
            <a:off x="2359080" y="3858840"/>
            <a:ext cx="1499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0.61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32"/>
          <p:cNvSpPr/>
          <p:nvPr/>
        </p:nvSpPr>
        <p:spPr>
          <a:xfrm>
            <a:off x="658440" y="5596200"/>
            <a:ext cx="10874520" cy="5666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Ուշադրություն 2-րդ փուլին. մեխանիկական ուղին արդեն կորցրել է ազդանշանի մեկ երրորդը — դեռ ոչ մի էլեկտրոն չի շարժվել։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Որտեղ է կորչում ճշմարտությունը</a:t>
            </a:r>
            <a:endParaRPr lang="en-US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և արդյոք երբևէ կարող եք վերականգնել այն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2" name="Table 7"/>
          <p:cNvGraphicFramePr/>
          <p:nvPr/>
        </p:nvGraphicFramePr>
        <p:xfrm>
          <a:off x="658440" y="1920240"/>
          <a:ext cx="10874520" cy="4049640"/>
        </p:xfrm>
        <a:graphic>
          <a:graphicData uri="http://schemas.openxmlformats.org/drawingml/2006/table">
            <a:tbl>
              <a:tblPr/>
              <a:tblGrid>
                <a:gridCol w="2936160"/>
                <a:gridCol w="4784760"/>
                <a:gridCol w="3153600"/>
              </a:tblGrid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Փուլ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Ինչ է կորչում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Վերականգնելի՞ է հետո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2  Մեխանիկական կապակցում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ամպլիտուդ և փուլ, հաճախությունից կախված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Ոչ — չափե՛ք ինքներդ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3  Փոխակերպում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1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առանցքային խաչաձև ազդեցություն, ոչ գծայնություն, ջերմային շեղում</a:t>
                      </a:r>
                      <a:endParaRPr lang="en-US" sz="141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Մասամբ — ստուգաչափմամբ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4  Մշակում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հագեցումը կտրում է գագաթները. սխալ ֆիլտրը սպանում է ազդանշանը</a:t>
                      </a:r>
                      <a:endParaRPr lang="en-US" sz="14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Ոչ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6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5  Նմուշառում</a:t>
                      </a:r>
                      <a:endParaRPr lang="en-US" sz="14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4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ամեն ինչ նմուշառման հաճախության կիսից վեր՝ ալիասինգով ներս է ընկնում</a:t>
                      </a:r>
                      <a:endParaRPr lang="en-US" sz="13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Երբեք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5  Քվանտացում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մանրամասնություն մեկ LSB-ից ցածր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Մասամբ — միջինացմամբ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6  Միավորների բերում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ճշտություն, եթե զգայունության հաստատունը սխալ է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9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Այո — վերահաշվե՛ք</a:t>
                      </a:r>
                      <a:endParaRPr lang="en-US" sz="149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75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7  Ժամանականիշ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3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ժամանակի առանցքը, հետևաբար՝ ամբողջ հաճախային պարունակությունը</a:t>
                      </a:r>
                      <a:endParaRPr lang="en-US" sz="14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Ոչ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3" name="TextBox 8"/>
          <p:cNvSpPr/>
          <p:nvPr/>
        </p:nvSpPr>
        <p:spPr>
          <a:xfrm>
            <a:off x="658440" y="5943600"/>
            <a:ext cx="108745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Սրանցից երեքը անվերադարձ են։ Նախագծման որոշումներ են, ոչ ստուգաչափման խնդիրներ։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ՀԱՐՑՈՒՄ 2   ·   ՐՈՊԵ 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5"/>
          <p:cNvSpPr/>
          <p:nvPr/>
        </p:nvSpPr>
        <p:spPr>
          <a:xfrm>
            <a:off x="658440" y="658440"/>
            <a:ext cx="10874520" cy="17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0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0.061 mg լուծունակությամբ աքսելերոմետրը ամրացված է շարժիչի իրանին 5 մմ ռետինե միջադիրի միջոցով։ Ո՞ր փուլն է արդեն ոչնչացրել հաղորդված թվի ճշտությունը</a:t>
            </a:r>
            <a:endParaRPr lang="en-US" sz="2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ounded Rectangle 6"/>
          <p:cNvSpPr/>
          <p:nvPr/>
        </p:nvSpPr>
        <p:spPr>
          <a:xfrm>
            <a:off x="658440" y="24872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7"/>
          <p:cNvSpPr/>
          <p:nvPr/>
        </p:nvSpPr>
        <p:spPr>
          <a:xfrm>
            <a:off x="859680" y="26060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8"/>
          <p:cNvSpPr/>
          <p:nvPr/>
        </p:nvSpPr>
        <p:spPr>
          <a:xfrm>
            <a:off x="1371600" y="261504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Թվայնացումը — 16 բիթը չի կարող ապահովել երեք տասնորդական նշան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658440" y="32918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0"/>
          <p:cNvSpPr/>
          <p:nvPr/>
        </p:nvSpPr>
        <p:spPr>
          <a:xfrm>
            <a:off x="859680" y="34106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11"/>
          <p:cNvSpPr/>
          <p:nvPr/>
        </p:nvSpPr>
        <p:spPr>
          <a:xfrm>
            <a:off x="1371600" y="34200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Միավորների ձևափոխումը — mg-ը երբեք չի վերածվել m/s²-ի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658440" y="40964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13"/>
          <p:cNvSpPr/>
          <p:nvPr/>
        </p:nvSpPr>
        <p:spPr>
          <a:xfrm>
            <a:off x="859680" y="42152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4"/>
          <p:cNvSpPr/>
          <p:nvPr/>
        </p:nvSpPr>
        <p:spPr>
          <a:xfrm>
            <a:off x="1371600" y="42246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 կապակցումը — ռետինե միջադիրը ֆիլտրում է թրթռումը, մինչ էլեկտրոնիկան տեսնի այն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ounded Rectangle 15"/>
          <p:cNvSpPr/>
          <p:nvPr/>
        </p:nvSpPr>
        <p:spPr>
          <a:xfrm>
            <a:off x="658440" y="49010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16"/>
          <p:cNvSpPr/>
          <p:nvPr/>
        </p:nvSpPr>
        <p:spPr>
          <a:xfrm>
            <a:off x="859680" y="50202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17"/>
          <p:cNvSpPr/>
          <p:nvPr/>
        </p:nvSpPr>
        <p:spPr>
          <a:xfrm>
            <a:off x="1371600" y="50292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Ոչ մի փուլ — 0.061 mg լուծունակությունը երաշխավորում է, որ նշանները իմաստալից են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4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Նախ քվեարկե՛ք ինքնուրույն։ Ապա գտե՛ք մեկին, ով համաձայն չէ ձեզ հետ։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ՀԱՐՑՈՒՄ 2   ·   ՐՈՊԵ 24   ·   ՊԱՏԱՍԽԱՆ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5"/>
          <p:cNvSpPr/>
          <p:nvPr/>
        </p:nvSpPr>
        <p:spPr>
          <a:xfrm>
            <a:off x="658440" y="658440"/>
            <a:ext cx="10874520" cy="17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0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0.061 mg լուծունակությամբ աքսելերոմետրը ամրացված է շարժիչի իրանին 5 մմ ռետինե միջադիրի միջոցով։ Ո՞ր փուլն է արդեն ոչնչացրել հաղորդված թվի ճշտությունը</a:t>
            </a:r>
            <a:endParaRPr lang="en-US" sz="2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6"/>
          <p:cNvSpPr/>
          <p:nvPr/>
        </p:nvSpPr>
        <p:spPr>
          <a:xfrm>
            <a:off x="658440" y="24872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7"/>
          <p:cNvSpPr/>
          <p:nvPr/>
        </p:nvSpPr>
        <p:spPr>
          <a:xfrm>
            <a:off x="859680" y="26060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8"/>
          <p:cNvSpPr/>
          <p:nvPr/>
        </p:nvSpPr>
        <p:spPr>
          <a:xfrm>
            <a:off x="1371600" y="261504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Թվայնացումը — 16 բիթը չի կարող ապահովել երեք տասնորդական նշան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ounded Rectangle 9"/>
          <p:cNvSpPr/>
          <p:nvPr/>
        </p:nvSpPr>
        <p:spPr>
          <a:xfrm>
            <a:off x="658440" y="32918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10"/>
          <p:cNvSpPr/>
          <p:nvPr/>
        </p:nvSpPr>
        <p:spPr>
          <a:xfrm>
            <a:off x="859680" y="34106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11"/>
          <p:cNvSpPr/>
          <p:nvPr/>
        </p:nvSpPr>
        <p:spPr>
          <a:xfrm>
            <a:off x="1371600" y="34200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Միավորների ձևափոխումը — mg-ը երբեք չի վերածվել m/s²-ի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Rounded Rectangle 12"/>
          <p:cNvSpPr/>
          <p:nvPr/>
        </p:nvSpPr>
        <p:spPr>
          <a:xfrm>
            <a:off x="658440" y="40964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13"/>
          <p:cNvSpPr/>
          <p:nvPr/>
        </p:nvSpPr>
        <p:spPr>
          <a:xfrm>
            <a:off x="859680" y="421524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1371600" y="42246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 կապակցումը — ռետինե միջադիրը ֆիլտրում է թրթռումը, մինչ էլեկտրոնիկան տեսնի այն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ounded Rectangle 15"/>
          <p:cNvSpPr/>
          <p:nvPr/>
        </p:nvSpPr>
        <p:spPr>
          <a:xfrm>
            <a:off x="658440" y="49010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16"/>
          <p:cNvSpPr/>
          <p:nvPr/>
        </p:nvSpPr>
        <p:spPr>
          <a:xfrm>
            <a:off x="859680" y="50202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17"/>
          <p:cNvSpPr/>
          <p:nvPr/>
        </p:nvSpPr>
        <p:spPr>
          <a:xfrm>
            <a:off x="1371600" y="502920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Ոչ մի փուլ — 0.061 mg լուծունակությունը երաշխավորում է, որ նշանները իմաստալից են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Չափման շղթան սկսվում է տվիչից առաջ։ Եթե մեխանիկական ուղին «ստում է» իներցիոն զանգվածին, հետագա ոչ մի ճշգրտություն ճշմարտությունը չի վերականգնի։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ՊԱՀԵ՛Ք ՍԱ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5"/>
          <p:cNvSpPr/>
          <p:nvPr/>
        </p:nvSpPr>
        <p:spPr>
          <a:xfrm>
            <a:off x="658440" y="1965960"/>
            <a:ext cx="108745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Շղթան սկսվում է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տվիչից առաջ։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6" name="TextBox 7"/>
          <p:cNvSpPr/>
          <p:nvPr/>
        </p:nvSpPr>
        <p:spPr>
          <a:xfrm>
            <a:off x="658440" y="4892040"/>
            <a:ext cx="99601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Ձեր չափիչ սարքը ներառում է պտուտակը, ամրակն ու իրանը։ Դրանցից ոչ մեկը datasheet-ում չկա, և բոլորն էլ ձե՛րն են։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</a:t>
            </a: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ՄԱՍ 2  ·  ՐՈՊԵ 26–44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5"/>
          <p:cNvSpPr/>
          <p:nvPr/>
        </p:nvSpPr>
        <p:spPr>
          <a:xfrm>
            <a:off x="658440" y="1737360"/>
            <a:ext cx="904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Ինչու է միկրոաշխարհը այլ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6"/>
          <p:cNvSpPr/>
          <p:nvPr/>
        </p:nvSpPr>
        <p:spPr>
          <a:xfrm>
            <a:off x="8790120" y="2559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B7680"/>
                </a:solidFill>
                <a:effectLst/>
                <a:uFillTx/>
                <a:latin typeface="Courier New"/>
              </a:rPr>
              <a:t>26:00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Box 8"/>
          <p:cNvSpPr/>
          <p:nvPr/>
        </p:nvSpPr>
        <p:spPr>
          <a:xfrm>
            <a:off x="658440" y="4160520"/>
            <a:ext cx="108745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Երեք տարի ձեռք եք բերել ինտուիցիա մեքենաների վրա, որ կարող եք ձեռքում պահել։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Միկրոմետրային մասշտաբում այդ ինտուիցիայի կեսը շրջվում է։ Ահա՛ թե որ կեսը։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Ինչ կա իրականում ներսում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Ունակային MEMS աքսելերոմետր՝ լայնական կտրվածքով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7"/>
          <p:cNvSpPr/>
          <p:nvPr/>
        </p:nvSpPr>
        <p:spPr>
          <a:xfrm>
            <a:off x="3108960" y="2148840"/>
            <a:ext cx="5851800" cy="383760"/>
          </a:xfrm>
          <a:prstGeom prst="rect">
            <a:avLst/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ԱՆՇԱՐԺ ԹԻԹԵՂ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3108960" y="4224600"/>
            <a:ext cx="5851800" cy="383760"/>
          </a:xfrm>
          <a:prstGeom prst="rect">
            <a:avLst/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ԱՆՇԱՐԺ ԹԻԹԵՂ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Rectangle 9"/>
          <p:cNvSpPr/>
          <p:nvPr/>
        </p:nvSpPr>
        <p:spPr>
          <a:xfrm>
            <a:off x="4206240" y="2999160"/>
            <a:ext cx="3657240" cy="785880"/>
          </a:xfrm>
          <a:prstGeom prst="rect">
            <a:avLst/>
          </a:prstGeom>
          <a:solidFill>
            <a:srgbClr val="DCEDEF"/>
          </a:solidFill>
          <a:ln w="2540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ԻՆԵՐՑԻՈՆ ԶԱՆԳՎԱԾ  m</a:t>
            </a:r>
            <a:endParaRPr lang="en-US" sz="14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Freeform 10"/>
          <p:cNvSpPr/>
          <p:nvPr/>
        </p:nvSpPr>
        <p:spPr>
          <a:xfrm>
            <a:off x="3383280" y="3017520"/>
            <a:ext cx="639720" cy="767880"/>
          </a:xfrm>
          <a:custGeom>
            <a:avLst/>
            <a:gdLst>
              <a:gd name="textAreaLeft" fmla="*/ 0 w 639720"/>
              <a:gd name="textAreaRight" fmla="*/ 640080 w 639720"/>
              <a:gd name="textAreaTop" fmla="*/ 0 h 767880"/>
              <a:gd name="textAreaBottom" fmla="*/ 768240 h 767880"/>
            </a:gdLst>
            <a:ahLst/>
            <a:cxnLst/>
            <a:rect l="textAreaLeft" t="textAreaTop" r="textAreaRight" b="textAreaBottom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/>
          <a:ln w="2540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Freeform 11"/>
          <p:cNvSpPr/>
          <p:nvPr/>
        </p:nvSpPr>
        <p:spPr>
          <a:xfrm>
            <a:off x="8138160" y="3017520"/>
            <a:ext cx="639720" cy="767880"/>
          </a:xfrm>
          <a:custGeom>
            <a:avLst/>
            <a:gdLst>
              <a:gd name="textAreaLeft" fmla="*/ 0 w 639720"/>
              <a:gd name="textAreaRight" fmla="*/ 640080 w 639720"/>
              <a:gd name="textAreaTop" fmla="*/ 0 h 767880"/>
              <a:gd name="textAreaBottom" fmla="*/ 768240 h 767880"/>
            </a:gdLst>
            <a:ahLst/>
            <a:cxnLst/>
            <a:rect l="textAreaLeft" t="textAreaTop" r="textAreaRight" b="textAreaBottom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/>
          <a:ln w="2540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2331720" y="3063240"/>
            <a:ext cx="91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20000"/>
              </a:lnSpc>
            </a:pPr>
            <a:r>
              <a:rPr lang="en-US" sz="13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առաձգական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20000"/>
              </a:lnSpc>
            </a:pPr>
            <a:r>
              <a:rPr lang="en-US" sz="111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հեծաններ,  k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13"/>
          <p:cNvSpPr/>
          <p:nvPr/>
        </p:nvSpPr>
        <p:spPr>
          <a:xfrm>
            <a:off x="8915400" y="3063240"/>
            <a:ext cx="1005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առաձգական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11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հեծաններ,  k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14"/>
          <p:cNvSpPr/>
          <p:nvPr/>
        </p:nvSpPr>
        <p:spPr>
          <a:xfrm>
            <a:off x="9098280" y="265176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10" b="1" u="none" strike="noStrike">
                <a:solidFill>
                  <a:srgbClr val="D98324"/>
                </a:solidFill>
                <a:effectLst/>
                <a:uFillTx/>
                <a:latin typeface="DejaVu Sans Mono"/>
              </a:rPr>
              <a:t>բացակ  d ≈ 1–2 µm</a:t>
            </a:r>
            <a:endParaRPr lang="en-US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Left Brace 15"/>
          <p:cNvSpPr/>
          <p:nvPr/>
        </p:nvSpPr>
        <p:spPr>
          <a:xfrm>
            <a:off x="8888040" y="2597040"/>
            <a:ext cx="164160" cy="328680"/>
          </a:xfrm>
          <a:prstGeom prst="leftBrace">
            <a:avLst>
              <a:gd name="adj1" fmla="val 8333"/>
              <a:gd name="adj2" fmla="val 50000"/>
            </a:avLst>
          </a:prstGeom>
          <a:noFill/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9098280" y="385884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 Mono"/>
              </a:rPr>
              <a:t>բացակ  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Left Brace 17"/>
          <p:cNvSpPr/>
          <p:nvPr/>
        </p:nvSpPr>
        <p:spPr>
          <a:xfrm>
            <a:off x="8888040" y="3803760"/>
            <a:ext cx="164160" cy="328680"/>
          </a:xfrm>
          <a:prstGeom prst="leftBrace">
            <a:avLst>
              <a:gd name="adj1" fmla="val 8333"/>
              <a:gd name="adj2" fmla="val 50000"/>
            </a:avLst>
          </a:prstGeom>
          <a:noFill/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2" name="TextBox 18"/>
          <p:cNvSpPr/>
          <p:nvPr/>
        </p:nvSpPr>
        <p:spPr>
          <a:xfrm>
            <a:off x="658440" y="4956120"/>
            <a:ext cx="1087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6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Արագացումը շարժում է զանգվածը։ Շարժումը փոխում է երկու բացակները — մեկը մեծանում է, մյուսը՝ փոքրանում — և դիֆերենցիալ ունակությունը C = εA/d հանդիսանում է ազդանշանը։</a:t>
            </a:r>
            <a:endParaRPr lang="en-US" sz="1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800" b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Ահա՛ ամբողջ սարքը — datasheet-ի ամեն ինչ m, k և d-ի հետևանք է։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Փոքրացրե՛ք բոլոր չափերը նույն գործակցով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7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Իզոտրոպ մասշտաբում. երկարություն, լայնություն, հաստություն — բոլորը s գործակցով</a:t>
            </a:r>
            <a:endParaRPr lang="en-US" sz="14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ounded Rectangle 7"/>
          <p:cNvSpPr/>
          <p:nvPr/>
        </p:nvSpPr>
        <p:spPr>
          <a:xfrm>
            <a:off x="658440" y="2057400"/>
            <a:ext cx="5257440" cy="1234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m  ∝  L³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8"/>
          <p:cNvSpPr/>
          <p:nvPr/>
        </p:nvSpPr>
        <p:spPr>
          <a:xfrm>
            <a:off x="749880" y="345636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8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զանգվածը մասշտաբվում է ծավալի հետ</a:t>
            </a:r>
            <a:endParaRPr lang="en-U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Rounded Rectangle 9"/>
          <p:cNvSpPr/>
          <p:nvPr/>
        </p:nvSpPr>
        <p:spPr>
          <a:xfrm>
            <a:off x="6236280" y="2057400"/>
            <a:ext cx="5257440" cy="1234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D98324"/>
                </a:solidFill>
                <a:effectLst/>
                <a:uFillTx/>
                <a:latin typeface="Courier New"/>
              </a:rPr>
              <a:t>k  ∝  L¹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10"/>
          <p:cNvSpPr/>
          <p:nvPr/>
        </p:nvSpPr>
        <p:spPr>
          <a:xfrm>
            <a:off x="6327720" y="3456360"/>
            <a:ext cx="5120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90" b="0" u="none" strike="noStrike">
                <a:solidFill>
                  <a:srgbClr val="6B7680"/>
                </a:solidFill>
                <a:effectLst/>
                <a:uFillTx/>
                <a:latin typeface="DejaVu Sans Mono"/>
              </a:rPr>
              <a:t>հեծանի կոշտություն  k = E·w·t³ / 4L³</a:t>
            </a:r>
            <a:endParaRPr lang="en-US" sz="1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Rounded Rectangle 11"/>
          <p:cNvSpPr/>
          <p:nvPr/>
        </p:nvSpPr>
        <p:spPr>
          <a:xfrm>
            <a:off x="658440" y="4224600"/>
            <a:ext cx="10874520" cy="95976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Նրանք միասին չեն մասշտաբվում։  Այս մեկ փաստն է ամբողջ դասախոսությունը։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12"/>
          <p:cNvSpPr/>
          <p:nvPr/>
        </p:nvSpPr>
        <p:spPr>
          <a:xfrm>
            <a:off x="658440" y="5440680"/>
            <a:ext cx="1087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7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Տեղադրե՛ք w, t և L-ը նույն s գործակցով k = E·w·t³/4L³ բանաձևում և կստանաք s·s³/s³ = s։ Կոշտությունը նվազում է գծայնորեն։ Զանգվածը՝ խորանարդորեն։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96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Ուստի ռեզոնանսային հաճախությունը աճում է</a:t>
            </a:r>
            <a:endParaRPr lang="en-US" sz="2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Box 6"/>
          <p:cNvSpPr/>
          <p:nvPr/>
        </p:nvSpPr>
        <p:spPr>
          <a:xfrm>
            <a:off x="658440" y="1965960"/>
            <a:ext cx="10874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5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f₀  =  (1/2π) · √(k/m)   ∝   √( L¹ / L³ )   =   √( L⁻² )   =   1 / 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ounded Rectangle 7"/>
          <p:cNvSpPr/>
          <p:nvPr/>
        </p:nvSpPr>
        <p:spPr>
          <a:xfrm>
            <a:off x="658440" y="3200400"/>
            <a:ext cx="10874520" cy="82260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9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Փոքրացրե՛ք սարքը 10 անգամ  →  ռեզոնանսային հաճախությունը աճում է 10 անգամ</a:t>
            </a:r>
            <a:endParaRPr lang="en-US" sz="2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2" name="Table 8"/>
          <p:cNvGraphicFramePr/>
          <p:nvPr/>
        </p:nvGraphicFramePr>
        <p:xfrm>
          <a:off x="658440" y="4251960"/>
          <a:ext cx="6949080" cy="2194560"/>
        </p:xfrm>
        <a:graphic>
          <a:graphicData uri="http://schemas.openxmlformats.org/drawingml/2006/table">
            <a:tbl>
              <a:tblPr/>
              <a:tblGrid>
                <a:gridCol w="3196440"/>
                <a:gridCol w="1876320"/>
                <a:gridCol w="1876320"/>
              </a:tblGrid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Սարք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Բնորոշ չափ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Ռեզոնանս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</a:tr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Կամրջի թռիչք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100 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≈ 0.2 Hz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Կարգաբերիչ պատառաքաղ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10 cm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≈ 440 Hz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MEMS աքսելերոմետր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300 µm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≈ 5 kHz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MEMS գիրոսկոպի շարժիչ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100 µm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≈ 20 kHz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36576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MEMS ՌՀ ռեզոնատոր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10 µm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Courier New"/>
                        </a:rPr>
                        <a:t>≈ 100 MHz+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3" name="TextBox 9"/>
          <p:cNvSpPr/>
          <p:nvPr/>
        </p:nvSpPr>
        <p:spPr>
          <a:xfrm>
            <a:off x="8019360" y="4279320"/>
            <a:ext cx="356580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Ահա թե ինչու MEMS-ը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28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կարող է չափել արագ երևույթներ։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Տվիչը չի կարող հավաստի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28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հաղորդել իր սեփական ռեզոնանսին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31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մոտ ազդանշանները — ուստի բարձր</a:t>
            </a:r>
            <a:endParaRPr lang="en-US" sz="13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48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f₀-ն է, որ ապահովում է</a:t>
            </a:r>
            <a:endParaRPr lang="en-U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lang="en-US" sz="128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թողունակությունը։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ՀԱՐՑՈՒՄ 3   ·   ՐՈՊԵ 40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5"/>
          <p:cNvSpPr/>
          <p:nvPr/>
        </p:nvSpPr>
        <p:spPr>
          <a:xfrm>
            <a:off x="658440" y="658440"/>
            <a:ext cx="108745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MEMS աքսելերոմետրի իներցիոն զանգվածը և առաձգական հեծանները փոքրացվել են 10 անգամ։ Ո՞ր պնդումը ճիշտ է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7"/>
          <p:cNvSpPr/>
          <p:nvPr/>
        </p:nvSpPr>
        <p:spPr>
          <a:xfrm>
            <a:off x="859680" y="24048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8"/>
          <p:cNvSpPr/>
          <p:nvPr/>
        </p:nvSpPr>
        <p:spPr>
          <a:xfrm>
            <a:off x="1371600" y="24141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7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աճում է ×10, և ջերմամեխանիկական աղմուկը վատանում է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859680" y="32094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1371600" y="32187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նվազում է ×10, և աղմուկը լավանում է, քանի որ սարքը փոքր է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13"/>
          <p:cNvSpPr/>
          <p:nvPr/>
        </p:nvSpPr>
        <p:spPr>
          <a:xfrm>
            <a:off x="859680" y="40143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14"/>
          <p:cNvSpPr/>
          <p:nvPr/>
        </p:nvSpPr>
        <p:spPr>
          <a:xfrm>
            <a:off x="1371600" y="40233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չի փոխվում — զանգվածն ու կոշտությունը փոքրանում են, ուստի հարաբերությունը հաստատուն է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6"/>
          <p:cNvSpPr/>
          <p:nvPr/>
        </p:nvSpPr>
        <p:spPr>
          <a:xfrm>
            <a:off x="859680" y="4818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Box 17"/>
          <p:cNvSpPr/>
          <p:nvPr/>
        </p:nvSpPr>
        <p:spPr>
          <a:xfrm>
            <a:off x="1371600" y="48279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աճում է ×10, և աղմուկը լավանում է, քանի որ քիչ նյութ է թրթռում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Դասախոսության ամենադժվար հարցը։ Օգտագործե՛ք գրատախտակի երկու ցուցիչները, ոչ թե ձեր ինտուիցիան։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ՀԱՐՑՈՒՄ 3   ·   ՐՈՊԵ 40   ·   ՊԱՏԱՍԽԱՆ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5"/>
          <p:cNvSpPr/>
          <p:nvPr/>
        </p:nvSpPr>
        <p:spPr>
          <a:xfrm>
            <a:off x="658440" y="658440"/>
            <a:ext cx="108745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MEMS աքսելերոմետրի իներցիոն զանգվածը և առաձգական հեծանները փոքրացվել են 10 անգամ։ Ո՞ր պնդումը ճիշտ է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859680" y="24048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1371600" y="24141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7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աճում է ×10, և ջերմամեխանիկական աղմուկը վատանում է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0"/>
          <p:cNvSpPr/>
          <p:nvPr/>
        </p:nvSpPr>
        <p:spPr>
          <a:xfrm>
            <a:off x="859680" y="32094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11"/>
          <p:cNvSpPr/>
          <p:nvPr/>
        </p:nvSpPr>
        <p:spPr>
          <a:xfrm>
            <a:off x="1371600" y="32187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նվազում է ×10, և աղմուկը լավանում է, քանի որ սարքը փոքր է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13"/>
          <p:cNvSpPr/>
          <p:nvPr/>
        </p:nvSpPr>
        <p:spPr>
          <a:xfrm>
            <a:off x="859680" y="40143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14"/>
          <p:cNvSpPr/>
          <p:nvPr/>
        </p:nvSpPr>
        <p:spPr>
          <a:xfrm>
            <a:off x="1371600" y="40233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նսային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հաճախ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ությունը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չի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փոխվու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 —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զանգվա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ծն ու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կոշտութ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յունը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փոքրան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ում են,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ուստի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հարաբե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րություն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ը 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հաստա</a:t>
            </a: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տուն է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16"/>
          <p:cNvSpPr/>
          <p:nvPr/>
        </p:nvSpPr>
        <p:spPr>
          <a:xfrm>
            <a:off x="859680" y="4818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17"/>
          <p:cNvSpPr/>
          <p:nvPr/>
        </p:nvSpPr>
        <p:spPr>
          <a:xfrm>
            <a:off x="1371600" y="48279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Ռեզոնանսային հաճախությունը աճում է ×10, և աղմուկը լավանում է, քանի որ քիչ նյութ է թրթռում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340" b="0" i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Ջերմամեխանիկական աղմուկը ∝ √(4kBT·ω₀ / mQ) — աճում է, երբ իներցիոն զանգվածը նվազում է։ Դուք ձեռք եք բերում թողունակություն և վճարում աղմուկի հատակով։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1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Փոքրը միանշանակ ավելի լավը չէ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5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Սարքի փոքրացման ազնիվ հաշվեկազմը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Rounded Rectangle 7"/>
          <p:cNvSpPr/>
          <p:nvPr/>
        </p:nvSpPr>
        <p:spPr>
          <a:xfrm>
            <a:off x="658440" y="1920240"/>
            <a:ext cx="5303160" cy="621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ԼԱՎԱՆՈՒՄ 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Rounded Rectangle 8"/>
          <p:cNvSpPr/>
          <p:nvPr/>
        </p:nvSpPr>
        <p:spPr>
          <a:xfrm>
            <a:off x="6464880" y="1920240"/>
            <a:ext cx="5303160" cy="62136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ՎԱՏԱՆՈՒՄ 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9"/>
          <p:cNvSpPr/>
          <p:nvPr/>
        </p:nvSpPr>
        <p:spPr>
          <a:xfrm>
            <a:off x="704160" y="274320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8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Թողունակություն — f₀ ∝ 1/L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10"/>
          <p:cNvSpPr/>
          <p:nvPr/>
        </p:nvSpPr>
        <p:spPr>
          <a:xfrm>
            <a:off x="6510600" y="274320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Աղմուկի հատակ ∝ 1/√m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Box 11"/>
          <p:cNvSpPr/>
          <p:nvPr/>
        </p:nvSpPr>
        <p:spPr>
          <a:xfrm>
            <a:off x="704160" y="334656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Արձագանքում և ջերմային կայունացում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12"/>
          <p:cNvSpPr/>
          <p:nvPr/>
        </p:nvSpPr>
        <p:spPr>
          <a:xfrm>
            <a:off x="6510600" y="334656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Կպչողություն — մակերևույթն է գերիշխում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13"/>
          <p:cNvSpPr/>
          <p:nvPr/>
        </p:nvSpPr>
        <p:spPr>
          <a:xfrm>
            <a:off x="704160" y="395028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44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Հզորություն մեկ սարքի հաշվով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4"/>
          <p:cNvSpPr/>
          <p:nvPr/>
        </p:nvSpPr>
        <p:spPr>
          <a:xfrm>
            <a:off x="6510600" y="395028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Զգայունություն փաթեթի լարվածությանը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Box 15"/>
          <p:cNvSpPr/>
          <p:nvPr/>
        </p:nvSpPr>
        <p:spPr>
          <a:xfrm>
            <a:off x="704160" y="455364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Արժեք մեկ սարքի հաշվով, մեծ ծավալում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16"/>
          <p:cNvSpPr/>
          <p:nvPr/>
        </p:nvSpPr>
        <p:spPr>
          <a:xfrm>
            <a:off x="6510600" y="455364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Ջերմային շեղում և զրոյի կայունություն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Box 17"/>
          <p:cNvSpPr/>
          <p:nvPr/>
        </p:nvSpPr>
        <p:spPr>
          <a:xfrm>
            <a:off x="704160" y="515736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Խմբաքանակ՝ հազարներ մեկ թիթեղից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18"/>
          <p:cNvSpPr/>
          <p:nvPr/>
        </p:nvSpPr>
        <p:spPr>
          <a:xfrm>
            <a:off x="6510600" y="5157360"/>
            <a:ext cx="5211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▸  Աղտոտում. փոշին ճակատագրական է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Rounded Rectangle 19"/>
          <p:cNvSpPr/>
          <p:nvPr/>
        </p:nvSpPr>
        <p:spPr>
          <a:xfrm>
            <a:off x="658440" y="5706000"/>
            <a:ext cx="10874520" cy="52992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DejaVu Sans Mono"/>
              </a:rPr>
              <a:t>Մակերես / ծավալ  ∝  1 / L   —   փոքր մասշտաբում աշխարհն ամբողջովին մակերես է։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ՐՈՊԵ 44  ·  ԲՈԼՈՐԸ ՈՏՔԻ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5"/>
          <p:cNvSpPr/>
          <p:nvPr/>
        </p:nvSpPr>
        <p:spPr>
          <a:xfrm>
            <a:off x="658440" y="16002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59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Սլայդներն անջատած։ Թուղթը դուրս։</a:t>
            </a:r>
            <a:endParaRPr lang="en-US" sz="32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Rounded Rectangle 6"/>
          <p:cNvSpPr/>
          <p:nvPr/>
        </p:nvSpPr>
        <p:spPr>
          <a:xfrm>
            <a:off x="658440" y="2834640"/>
            <a:ext cx="566640" cy="56664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7"/>
          <p:cNvSpPr/>
          <p:nvPr/>
        </p:nvSpPr>
        <p:spPr>
          <a:xfrm>
            <a:off x="1527120" y="2889360"/>
            <a:ext cx="9509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2100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Ոտքի՛ ելեք։ Իսկապես ոտքի։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ounded Rectangle 8"/>
          <p:cNvSpPr/>
          <p:nvPr/>
        </p:nvSpPr>
        <p:spPr>
          <a:xfrm>
            <a:off x="658440" y="3822120"/>
            <a:ext cx="566640" cy="56664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"/>
          <p:cNvSpPr/>
          <p:nvPr/>
        </p:nvSpPr>
        <p:spPr>
          <a:xfrm>
            <a:off x="1527120" y="3877200"/>
            <a:ext cx="9509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2100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Զույգերով, մեկ թերթ. վերագծե՛ք չափման շղթան հիշողությամբ։ Ամեն վանդակ, ամեն սլաք։ 90 վայրկյան։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Rounded Rectangle 10"/>
          <p:cNvSpPr/>
          <p:nvPr/>
        </p:nvSpPr>
        <p:spPr>
          <a:xfrm>
            <a:off x="658440" y="4809600"/>
            <a:ext cx="566640" cy="56664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11"/>
          <p:cNvSpPr/>
          <p:nvPr/>
        </p:nvSpPr>
        <p:spPr>
          <a:xfrm>
            <a:off x="1527120" y="4864680"/>
            <a:ext cx="9509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2100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X նշե՛ք ամեն վանդակի վրա, որտեղ շարժիչի թիվը կարող էր փչանալ։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12"/>
          <p:cNvSpPr/>
          <p:nvPr/>
        </p:nvSpPr>
        <p:spPr>
          <a:xfrm>
            <a:off x="658440" y="585216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Պահե՛ք այս թերթը։ Կօգտագործեք լաբորատորիայում 2-րդ շաբաթում։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9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Ստուգե՛ք ձեր թերթը</a:t>
            </a:r>
            <a:endParaRPr lang="en-US" sz="31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Ուղղե՛ք այլ գույնով — չվերագրեք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8"/>
          <p:cNvSpPr/>
          <p:nvPr/>
        </p:nvSpPr>
        <p:spPr>
          <a:xfrm>
            <a:off x="7315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Box 10"/>
          <p:cNvSpPr/>
          <p:nvPr/>
        </p:nvSpPr>
        <p:spPr>
          <a:xfrm>
            <a:off x="34200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12"/>
          <p:cNvSpPr/>
          <p:nvPr/>
        </p:nvSpPr>
        <p:spPr>
          <a:xfrm>
            <a:off x="610812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14"/>
          <p:cNvSpPr/>
          <p:nvPr/>
        </p:nvSpPr>
        <p:spPr>
          <a:xfrm>
            <a:off x="8796600" y="231336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Rounded Rectangle 15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16"/>
          <p:cNvSpPr/>
          <p:nvPr/>
        </p:nvSpPr>
        <p:spPr>
          <a:xfrm>
            <a:off x="879660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Rounded Rectangle 17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Box 18"/>
          <p:cNvSpPr/>
          <p:nvPr/>
        </p:nvSpPr>
        <p:spPr>
          <a:xfrm>
            <a:off x="610812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Rounded Rectangle 19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20"/>
          <p:cNvSpPr/>
          <p:nvPr/>
        </p:nvSpPr>
        <p:spPr>
          <a:xfrm>
            <a:off x="3420000" y="408744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Right Arrow 21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Right Arrow 22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Right Arrow 23"/>
          <p:cNvSpPr/>
          <p:nvPr/>
        </p:nvSpPr>
        <p:spPr>
          <a:xfrm>
            <a:off x="83026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Down Arrow 24"/>
          <p:cNvSpPr/>
          <p:nvPr/>
        </p:nvSpPr>
        <p:spPr>
          <a:xfrm>
            <a:off x="9729360" y="33465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Left Arrow 25"/>
          <p:cNvSpPr/>
          <p:nvPr/>
        </p:nvSpPr>
        <p:spPr>
          <a:xfrm>
            <a:off x="561456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Left Arrow 26"/>
          <p:cNvSpPr/>
          <p:nvPr/>
        </p:nvSpPr>
        <p:spPr>
          <a:xfrm>
            <a:off x="292608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Box 27"/>
          <p:cNvSpPr/>
          <p:nvPr/>
        </p:nvSpPr>
        <p:spPr>
          <a:xfrm>
            <a:off x="658440" y="5650920"/>
            <a:ext cx="10874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700" b="0" i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Երկու վանդակ ամենից շատ մոռացվում է՝ մեխանիկական կապակցումը և ժամանականիշը։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540" b="0" i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Երկուսն էլ datasheet-ում անտեսանելի են։ Երկուսն էլ ձե՛րն են։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ՄԱՍ 3  ·  ՐՈՊԵ 48–66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Box 5"/>
          <p:cNvSpPr/>
          <p:nvPr/>
        </p:nvSpPr>
        <p:spPr>
          <a:xfrm>
            <a:off x="658440" y="1737360"/>
            <a:ext cx="9045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404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Ցանկությունից՝ տեխնիկական բնութագիր</a:t>
            </a:r>
            <a:endParaRPr lang="en-US" sz="4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6"/>
          <p:cNvSpPr/>
          <p:nvPr/>
        </p:nvSpPr>
        <p:spPr>
          <a:xfrm>
            <a:off x="8790120" y="25596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B7680"/>
                </a:solidFill>
                <a:effectLst/>
                <a:uFillTx/>
                <a:latin typeface="Courier New"/>
              </a:rPr>
              <a:t>48:00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TextBox 8"/>
          <p:cNvSpPr/>
          <p:nvPr/>
        </p:nvSpPr>
        <p:spPr>
          <a:xfrm>
            <a:off x="658440" y="4160520"/>
            <a:ext cx="108745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Ոչ ոք ձեզ երբեք տեխնիկական բնութագիր չի տա։ Ձեզ կտան մի նախադասություն՝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հաջորդ սլայդի նման, և վերջում կսպասեն չափիչ սարք։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ՊԱՏՎԻՐԱՏՈՒՆ ԱՍՈՒՄ Է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Box 5"/>
          <p:cNvSpPr/>
          <p:nvPr/>
        </p:nvSpPr>
        <p:spPr>
          <a:xfrm>
            <a:off x="658440" y="1965960"/>
            <a:ext cx="108745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lang="en-US" sz="3509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«Ուղղակի ասե՛ք՝ արդյոք շարժիչը</a:t>
            </a:r>
            <a:endParaRPr lang="en-US" sz="35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38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չափազանց թրթռում է»։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TextBox 7"/>
          <p:cNvSpPr/>
          <p:nvPr/>
        </p:nvSpPr>
        <p:spPr>
          <a:xfrm>
            <a:off x="658440" y="4892040"/>
            <a:ext cx="99601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Ահա՛ իրական պահանջի տեսքը։ Այն չի պարունակում ո՛չ մեծություն, ո՛չ տիրույթ, ո՛չ թողունակություն, ո՛չ ճշտություն, ո՛չ միջավայր։ Սա դեռ ինժեներական խնդիր չէ։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Յոթ հարց՝ ցանկությունից դեպի բնութագիր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Rounded Rectangle 6"/>
          <p:cNvSpPr/>
          <p:nvPr/>
        </p:nvSpPr>
        <p:spPr>
          <a:xfrm>
            <a:off x="658440" y="187452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2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ՄԵԾՈՒԹՅՈՒՆ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7"/>
          <p:cNvSpPr/>
          <p:nvPr/>
        </p:nvSpPr>
        <p:spPr>
          <a:xfrm>
            <a:off x="3447360" y="199332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Ո՞ր ֆիզիկական մեծությունը, ո՞ր միավորներով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ounded Rectangle 8"/>
          <p:cNvSpPr/>
          <p:nvPr/>
        </p:nvSpPr>
        <p:spPr>
          <a:xfrm>
            <a:off x="658440" y="249624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3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ՏԻՐՈՒՅԹ</a:t>
            </a:r>
            <a:endParaRPr lang="en-US" sz="1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9"/>
          <p:cNvSpPr/>
          <p:nvPr/>
        </p:nvSpPr>
        <p:spPr>
          <a:xfrm>
            <a:off x="3447360" y="26150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Նվազագույն և առավելագույն արժեքը, որ պետք է հաղորդվի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Rounded Rectangle 10"/>
          <p:cNvSpPr/>
          <p:nvPr/>
        </p:nvSpPr>
        <p:spPr>
          <a:xfrm>
            <a:off x="658440" y="311796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8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ԼՈՒԾՈՒՆԱԿՈՒԹՅՈՒՆ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11"/>
          <p:cNvSpPr/>
          <p:nvPr/>
        </p:nvSpPr>
        <p:spPr>
          <a:xfrm>
            <a:off x="3447360" y="323712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5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Նվազագույն փոփոխությունը, որ պետք է տարբերակելի լինի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ounded Rectangle 12"/>
          <p:cNvSpPr/>
          <p:nvPr/>
        </p:nvSpPr>
        <p:spPr>
          <a:xfrm>
            <a:off x="658440" y="374004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2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ՃՇՏՈՒԹՅՈՒՆ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Box 13"/>
          <p:cNvSpPr/>
          <p:nvPr/>
        </p:nvSpPr>
        <p:spPr>
          <a:xfrm>
            <a:off x="3447360" y="385884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Որքա՞ն կարող է սխալ լինել ցուցմունքը — և ո՞ր ջերմաստիճաններում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Rounded Rectangle 14"/>
          <p:cNvSpPr/>
          <p:nvPr/>
        </p:nvSpPr>
        <p:spPr>
          <a:xfrm>
            <a:off x="658440" y="436176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8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ԹՈՂՈՒՆԱԿՈՒԹՅՈՒՆ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Box 15"/>
          <p:cNvSpPr/>
          <p:nvPr/>
        </p:nvSpPr>
        <p:spPr>
          <a:xfrm>
            <a:off x="3447360" y="448056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Որքա՞ն արագ է փոփոխվում։ Ո՞րն է կարևոր առավելագույն հաճախությունը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Rounded Rectangle 16"/>
          <p:cNvSpPr/>
          <p:nvPr/>
        </p:nvSpPr>
        <p:spPr>
          <a:xfrm>
            <a:off x="658440" y="498348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ՄԻՋԱՎԱՅՐ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Box 17"/>
          <p:cNvSpPr/>
          <p:nvPr/>
        </p:nvSpPr>
        <p:spPr>
          <a:xfrm>
            <a:off x="3447360" y="510228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7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Ջերմաստիճան, խոնավություն, թրթռում, խանգարումներ, սնում, հզորություն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Rounded Rectangle 18"/>
          <p:cNvSpPr/>
          <p:nvPr/>
        </p:nvSpPr>
        <p:spPr>
          <a:xfrm>
            <a:off x="658440" y="560520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ԵԼՔ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19"/>
          <p:cNvSpPr/>
          <p:nvPr/>
        </p:nvSpPr>
        <p:spPr>
          <a:xfrm>
            <a:off x="3447360" y="572400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Ո՞վ, ի՞նչ ձևով, ի՞նչ հաճախությամբ, ի՞նչ ժամանականիշով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20"/>
          <p:cNvSpPr/>
          <p:nvPr/>
        </p:nvSpPr>
        <p:spPr>
          <a:xfrm>
            <a:off x="658440" y="61448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i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Այս յոթից մեկը սպանեց շարժիչը։ Դուք արդեն գիտեք՝ որը։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Նույն պահանջը՝ բնութագրված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Այժմ սա մի բան է, ըստ որի կարելի է պատվիրել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9" name="Table 7"/>
          <p:cNvGraphicFramePr/>
          <p:nvPr/>
        </p:nvGraphicFramePr>
        <p:xfrm>
          <a:off x="658440" y="1920240"/>
          <a:ext cx="10874520" cy="3841200"/>
        </p:xfrm>
        <a:graphic>
          <a:graphicData uri="http://schemas.openxmlformats.org/drawingml/2006/table">
            <a:tbl>
              <a:tblPr/>
              <a:tblGrid>
                <a:gridCol w="1848600"/>
                <a:gridCol w="4132440"/>
                <a:gridCol w="4893480"/>
              </a:tblGrid>
              <a:tr h="457200">
                <a:tc>
                  <a:txBody>
                    <a:bodyPr tIns="27360" bIns="27360" anchor="ctr">
                      <a:noAutofit/>
                    </a:bodyPr>
                    <a:p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Բնութագիր</a:t>
                      </a:r>
                      <a:endParaRPr lang="en-US" sz="15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Որտեղից է եկել թիվը</a:t>
                      </a:r>
                      <a:endParaRPr lang="en-US" sz="15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7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Մեծություն</a:t>
                      </a:r>
                      <a:endParaRPr lang="en-US" sz="137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իրանի արագացում, m/s² RMS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առանցքակալը ճառագայթում է հենց թրթռում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9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Տիրույթ</a:t>
                      </a:r>
                      <a:endParaRPr lang="en-US" sz="129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Arial"/>
                        </a:rPr>
                        <a:t>±16 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հարվածային անցողիկ պրոցեսներ, ոչ կայուն թրթռում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4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Լուծունակություն</a:t>
                      </a:r>
                      <a:endParaRPr lang="en-US" sz="12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Arial"/>
                        </a:rPr>
                        <a:t>≤ 5 mg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1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ամենավաղ հայտնաբերելի վնասվածքը ≈ 30 mg</a:t>
                      </a:r>
                      <a:endParaRPr lang="en-US" sz="141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7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Ճշտություն</a:t>
                      </a:r>
                      <a:endParaRPr lang="en-US" sz="137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±5 % ցուցմունքից, 0–70 °C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միտումի հայտնաբերում, ոչ բացարձակ չափագիտություն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4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Թողունակություն</a:t>
                      </a:r>
                      <a:endParaRPr lang="en-US" sz="12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1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≥ 4 kHz, հակաալիասինգային</a:t>
                      </a:r>
                      <a:endParaRPr lang="en-US" sz="141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4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առանցքակալի ստորագրությունը 1–4 kHz տիրույթում է</a:t>
                      </a:r>
                      <a:endParaRPr lang="en-US" sz="12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5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Միջավայր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4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0–70 °C, 24 V սնում, յուղոտ, էլմագ. խանգարումներ հաճախակարգավորիչից</a:t>
                      </a:r>
                      <a:endParaRPr lang="en-US" sz="124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շարժիչի իրական պահարանը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5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Ելք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5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RMS + սպեկտր, 1 Hz, ժամանականիշ ±1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որպեսզի հաճախությունը հաշվարկելի լինի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0" name="TextBox 8"/>
          <p:cNvSpPr/>
          <p:nvPr/>
        </p:nvSpPr>
        <p:spPr>
          <a:xfrm>
            <a:off x="658440" y="589788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Յոթ տող։ Ահա՛ արդյունքը — ոչ թե սարքի կոդը։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Ձեր հերթն է</a:t>
            </a:r>
            <a:endParaRPr lang="en-US" sz="3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Չորս րոպե, զույգերով — գրե՛ք յոթ տողը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Rounded Rectangle 7"/>
          <p:cNvSpPr/>
          <p:nvPr/>
        </p:nvSpPr>
        <p:spPr>
          <a:xfrm>
            <a:off x="658440" y="1965960"/>
            <a:ext cx="10874520" cy="114264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«Դրոնը շարունակ վեր-վար է գնում։ Արե՛ք, որ բարձրությունը նորմալ պահի»։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Rounded Rectangle 8"/>
          <p:cNvSpPr/>
          <p:nvPr/>
        </p:nvSpPr>
        <p:spPr>
          <a:xfrm>
            <a:off x="6584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8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Սկսե՛ք այստեղից</a:t>
            </a:r>
            <a:endParaRPr lang="en-US" sz="12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Box 9"/>
          <p:cNvSpPr/>
          <p:nvPr/>
        </p:nvSpPr>
        <p:spPr>
          <a:xfrm>
            <a:off x="749880" y="416052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Ո՞րն է ֆիզիկական մեծությունը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Հավանաբար բարձրությունը չէ։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Rounded Rectangle 10"/>
          <p:cNvSpPr/>
          <p:nvPr/>
        </p:nvSpPr>
        <p:spPr>
          <a:xfrm>
            <a:off x="43160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Դժվարը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11"/>
          <p:cNvSpPr/>
          <p:nvPr/>
        </p:nvSpPr>
        <p:spPr>
          <a:xfrm>
            <a:off x="4407480" y="416052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679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Ի՞նչ թողունակություն։ Որքա՞ն արագ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է իրականում փոխվում դրոնի բարձրությունը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Rounded Rectangle 12"/>
          <p:cNvSpPr/>
          <p:nvPr/>
        </p:nvSpPr>
        <p:spPr>
          <a:xfrm>
            <a:off x="79736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Թակարդը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Box 13"/>
          <p:cNvSpPr/>
          <p:nvPr/>
        </p:nvSpPr>
        <p:spPr>
          <a:xfrm>
            <a:off x="8065080" y="416052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Ո՞րն է ՏԻՐՈՒՅԹԸ — և արդյոք նույնն է,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ինչ անհրաժեշտ ԼՈՒԾՈՒՆԱԿՈՒԹՅՈՒՆԸ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14"/>
          <p:cNvSpPr/>
          <p:nvPr/>
        </p:nvSpPr>
        <p:spPr>
          <a:xfrm>
            <a:off x="658440" y="576072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Յոթ տողն ամբողջությամբ չեք ավարտի։ Երեքը ճի՛շտ արեք։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ՀԱՐՑՈՒՄ 4   ·   ՐՈՊԵ 62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58440" y="658440"/>
            <a:ext cx="108745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Առանցքակալի վնասվածքի էներգիան հայտնվում է 1–4 kHz տիրույթում։ Բնութագրի ո՞ր մեկ տողն է որոշում՝ ընդհանրապես կաշխատի՞ ձեր համակարգը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Box 7"/>
          <p:cNvSpPr/>
          <p:nvPr/>
        </p:nvSpPr>
        <p:spPr>
          <a:xfrm>
            <a:off x="859680" y="24048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Box 8"/>
          <p:cNvSpPr/>
          <p:nvPr/>
        </p:nvSpPr>
        <p:spPr>
          <a:xfrm>
            <a:off x="1371600" y="24141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9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Չափման լրիվ տիրույթ ≥ ±16 g</a:t>
            </a:r>
            <a:endParaRPr lang="en-US" sz="1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Box 10"/>
          <p:cNvSpPr/>
          <p:nvPr/>
        </p:nvSpPr>
        <p:spPr>
          <a:xfrm>
            <a:off x="859680" y="32094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Box 11"/>
          <p:cNvSpPr/>
          <p:nvPr/>
        </p:nvSpPr>
        <p:spPr>
          <a:xfrm>
            <a:off x="1371600" y="32187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Թողունակություն ≥ 4 kHz, նմուշառում ≥ 8 kHz, հակաալիասինգային ֆիլտրով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Box 13"/>
          <p:cNvSpPr/>
          <p:nvPr/>
        </p:nvSpPr>
        <p:spPr>
          <a:xfrm>
            <a:off x="859680" y="40143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14"/>
          <p:cNvSpPr/>
          <p:nvPr/>
        </p:nvSpPr>
        <p:spPr>
          <a:xfrm>
            <a:off x="1371600" y="40233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Լուծունակություն ≤ 0.1 mg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Box 16"/>
          <p:cNvSpPr/>
          <p:nvPr/>
        </p:nvSpPr>
        <p:spPr>
          <a:xfrm>
            <a:off x="859680" y="4818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Box 17"/>
          <p:cNvSpPr/>
          <p:nvPr/>
        </p:nvSpPr>
        <p:spPr>
          <a:xfrm>
            <a:off x="1371600" y="48279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Աշխատանքային ջերմաստիճան մինչև 85 °C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Այս չորսից ամեն մեկը իրական պահանջ է։ Միայն մեկը, սխալ լինելու դեպքում, համակարգը դարձնում է անկարող, ոչ պարզապես անկատար։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ՀԱՐՑՈՒՄ 4   ·   ՐՈՊԵ 62   ·   ՊԱՏԱՍԽԱՆ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Box 5"/>
          <p:cNvSpPr/>
          <p:nvPr/>
        </p:nvSpPr>
        <p:spPr>
          <a:xfrm>
            <a:off x="658440" y="658440"/>
            <a:ext cx="108745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Առանցքակալի վնասվածքի էներգիան հայտնվում է 1–4 kHz տիրույթում։ Բնութագրի ո՞ր մեկ տողն է որոշում՝ ընդհանրապես կաշխատի՞ ձեր համակարգը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859680" y="24048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8"/>
          <p:cNvSpPr/>
          <p:nvPr/>
        </p:nvSpPr>
        <p:spPr>
          <a:xfrm>
            <a:off x="1371600" y="24141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9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Չափման լրիվ տիրույթ ≥ ±16 g</a:t>
            </a:r>
            <a:endParaRPr lang="en-US" sz="1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859680" y="320940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Arial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1371600" y="32187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Թողունակություն ≥ 4 kHz, նմուշառում ≥ 8 kHz, հակաալիասինգային ֆիլտրով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859680" y="40143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1371600" y="40233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Լուծունակություն ≤ 0.1 mg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59680" y="4818960"/>
            <a:ext cx="456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Box 17"/>
          <p:cNvSpPr/>
          <p:nvPr/>
        </p:nvSpPr>
        <p:spPr>
          <a:xfrm>
            <a:off x="1371600" y="4827960"/>
            <a:ext cx="9868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Աշխատանքային ջերմաստիճան մինչև 85 °C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658440" y="5541120"/>
            <a:ext cx="108745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Ա, Գ և Դ-ն իրական պահանջներ են — սխալվեք, և համակարգը կլինի անկատար։ Սխալվե՛ք Բ-ում, և համակարգը կլինի կո՛ւյր։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Կիսամյակային նախագիծը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6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Առաջին արդյունքը՝ մինչև 3-րդ դասախոսությունը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Rounded Rectangle 7"/>
          <p:cNvSpPr/>
          <p:nvPr/>
        </p:nvSpPr>
        <p:spPr>
          <a:xfrm>
            <a:off x="658440" y="1920240"/>
            <a:ext cx="5348880" cy="621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ԻՆՉ ԿԿԱՌՈՒՑԵՔ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Box 8"/>
          <p:cNvSpPr/>
          <p:nvPr/>
        </p:nvSpPr>
        <p:spPr>
          <a:xfrm>
            <a:off x="731520" y="2743200"/>
            <a:ext cx="5211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Բազմատվիչ ներդրված համակարգ, որը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77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չափում է իրական մեծություն՝ ստուգաչափված,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ֆիլտրված, ժամանականիշով, վալիդացված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9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հայտարարված պահանջների նկատմամբ — և ազնիվ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52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իր սահմանափակումների վերաբերյալ։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Rounded Rectangle 9"/>
          <p:cNvSpPr/>
          <p:nvPr/>
        </p:nvSpPr>
        <p:spPr>
          <a:xfrm>
            <a:off x="6464880" y="1920240"/>
            <a:ext cx="5348880" cy="62136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ԱՐԴՅՈՒՆՔ 1  ·  ՄԵԿ ԷՋ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Box 10"/>
          <p:cNvSpPr/>
          <p:nvPr/>
        </p:nvSpPr>
        <p:spPr>
          <a:xfrm>
            <a:off x="6537960" y="2743200"/>
            <a:ext cx="5211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Յոթ բնութագրային տողերը՝ ձեր ընտրած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չափման խնդրի համար։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Ոչ մի սարքի կոդ։ Ոչ սխեմա։ Ոչ ծրագիր։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Միայն յոթ տողը — յուրաքանչյուրը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իր արժեքի հիմնավորմամբ։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Rounded Rectangle 11"/>
          <p:cNvSpPr/>
          <p:nvPr/>
        </p:nvSpPr>
        <p:spPr>
          <a:xfrm>
            <a:off x="658440" y="5230440"/>
            <a:ext cx="10874520" cy="68544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6B76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59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2–3 հոգանոց խմբեր։ Նույն խմբերը, ինչ լաբորատորիայում։ Ընտրե՛ք ձեր չափվող մեծությունը այս շաբաթ։</a:t>
            </a:r>
            <a:endParaRPr lang="en-US" sz="1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1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Վերադառնանք շարժիչին</a:t>
            </a:r>
            <a:endParaRPr lang="en-US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Մինչ ասեմ — որոշե՛ք, ֆիզիկապես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5844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Box 8"/>
          <p:cNvSpPr/>
          <p:nvPr/>
        </p:nvSpPr>
        <p:spPr>
          <a:xfrm>
            <a:off x="731520" y="217620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Rounded Rectangle 9"/>
          <p:cNvSpPr/>
          <p:nvPr/>
        </p:nvSpPr>
        <p:spPr>
          <a:xfrm>
            <a:off x="334656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Box 10"/>
          <p:cNvSpPr/>
          <p:nvPr/>
        </p:nvSpPr>
        <p:spPr>
          <a:xfrm>
            <a:off x="3420000" y="217620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Rounded Rectangle 11"/>
          <p:cNvSpPr/>
          <p:nvPr/>
        </p:nvSpPr>
        <p:spPr>
          <a:xfrm>
            <a:off x="603504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Box 12"/>
          <p:cNvSpPr/>
          <p:nvPr/>
        </p:nvSpPr>
        <p:spPr>
          <a:xfrm>
            <a:off x="6108120" y="217620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Rounded Rectangle 13"/>
          <p:cNvSpPr/>
          <p:nvPr/>
        </p:nvSpPr>
        <p:spPr>
          <a:xfrm>
            <a:off x="872352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14"/>
          <p:cNvSpPr/>
          <p:nvPr/>
        </p:nvSpPr>
        <p:spPr>
          <a:xfrm>
            <a:off x="8796600" y="217620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ounded Rectangle 15"/>
          <p:cNvSpPr/>
          <p:nvPr/>
        </p:nvSpPr>
        <p:spPr>
          <a:xfrm>
            <a:off x="872352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Box 16"/>
          <p:cNvSpPr/>
          <p:nvPr/>
        </p:nvSpPr>
        <p:spPr>
          <a:xfrm>
            <a:off x="8796600" y="395028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Rounded Rectangle 17"/>
          <p:cNvSpPr/>
          <p:nvPr/>
        </p:nvSpPr>
        <p:spPr>
          <a:xfrm>
            <a:off x="603504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Box 18"/>
          <p:cNvSpPr/>
          <p:nvPr/>
        </p:nvSpPr>
        <p:spPr>
          <a:xfrm>
            <a:off x="6108120" y="395028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Rounded Rectangle 19"/>
          <p:cNvSpPr/>
          <p:nvPr/>
        </p:nvSpPr>
        <p:spPr>
          <a:xfrm>
            <a:off x="334656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Box 20"/>
          <p:cNvSpPr/>
          <p:nvPr/>
        </p:nvSpPr>
        <p:spPr>
          <a:xfrm>
            <a:off x="3420000" y="3950280"/>
            <a:ext cx="273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Right Arrow 21"/>
          <p:cNvSpPr/>
          <p:nvPr/>
        </p:nvSpPr>
        <p:spPr>
          <a:xfrm>
            <a:off x="292608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3" name="Right Arrow 22"/>
          <p:cNvSpPr/>
          <p:nvPr/>
        </p:nvSpPr>
        <p:spPr>
          <a:xfrm>
            <a:off x="561456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Right Arrow 23"/>
          <p:cNvSpPr/>
          <p:nvPr/>
        </p:nvSpPr>
        <p:spPr>
          <a:xfrm>
            <a:off x="830268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5" name="Down Arrow 24"/>
          <p:cNvSpPr/>
          <p:nvPr/>
        </p:nvSpPr>
        <p:spPr>
          <a:xfrm>
            <a:off x="9729360" y="320940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6" name="Left Arrow 25"/>
          <p:cNvSpPr/>
          <p:nvPr/>
        </p:nvSpPr>
        <p:spPr>
          <a:xfrm>
            <a:off x="5614560" y="42886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Left Arrow 26"/>
          <p:cNvSpPr/>
          <p:nvPr/>
        </p:nvSpPr>
        <p:spPr>
          <a:xfrm>
            <a:off x="2926080" y="42886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Rounded Rectangle 27"/>
          <p:cNvSpPr/>
          <p:nvPr/>
        </p:nvSpPr>
        <p:spPr>
          <a:xfrm>
            <a:off x="658440" y="5486400"/>
            <a:ext cx="10874520" cy="73116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Մատը դրե՛ք այն վանդակի վրա, որտեղ հիմա կարծում եք՝ սա ձախողվեց։ Բոլորը։ Ես նայում եմ։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Հետագա քննության երեք թիվը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4" name="Rounded Rectangle 6"/>
          <p:cNvSpPr/>
          <p:nvPr/>
        </p:nvSpPr>
        <p:spPr>
          <a:xfrm>
            <a:off x="6584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0E7C86"/>
                </a:solidFill>
                <a:effectLst/>
                <a:uFillTx/>
                <a:latin typeface="Courier New"/>
              </a:rPr>
              <a:t>1520 Hz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749880" y="36392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5000"/>
              </a:lnSpc>
            </a:pPr>
            <a:r>
              <a:rPr lang="en-US" sz="151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առանցքակալի վնասվածքի ստորագրությունը</a:t>
            </a:r>
            <a:endParaRPr lang="en-US" sz="1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Rounded Rectangle 8"/>
          <p:cNvSpPr/>
          <p:nvPr/>
        </p:nvSpPr>
        <p:spPr>
          <a:xfrm>
            <a:off x="43160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C0392B"/>
                </a:solidFill>
                <a:effectLst/>
                <a:uFillTx/>
                <a:latin typeface="Courier New"/>
              </a:rPr>
              <a:t>100 Hz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Box 9"/>
          <p:cNvSpPr/>
          <p:nvPr/>
        </p:nvSpPr>
        <p:spPr>
          <a:xfrm>
            <a:off x="4407480" y="36392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5000"/>
              </a:lnSpc>
            </a:pPr>
            <a:r>
              <a:rPr lang="en-US" sz="144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նմուշառման հաճախությունը, որ ինչ-որ մեկն ընտրել է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Rounded Rectangle 10"/>
          <p:cNvSpPr/>
          <p:nvPr/>
        </p:nvSpPr>
        <p:spPr>
          <a:xfrm>
            <a:off x="79736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3890" b="1" u="none" strike="noStrike">
                <a:solidFill>
                  <a:srgbClr val="C0392B"/>
                </a:solidFill>
                <a:effectLst/>
                <a:uFillTx/>
                <a:latin typeface="DejaVu Sans Mono"/>
              </a:rPr>
              <a:t>ոչ մի</a:t>
            </a:r>
            <a:endParaRPr lang="en-US" sz="38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Box 11"/>
          <p:cNvSpPr/>
          <p:nvPr/>
        </p:nvSpPr>
        <p:spPr>
          <a:xfrm>
            <a:off x="8065080" y="363924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25000"/>
              </a:lnSpc>
            </a:pPr>
            <a:r>
              <a:rPr lang="en-US" sz="154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տեղադրված հակաալիասինգային ֆիլտր</a:t>
            </a:r>
            <a:endParaRPr lang="en-US" sz="1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Rounded Rectangle 12"/>
          <p:cNvSpPr/>
          <p:nvPr/>
        </p:nvSpPr>
        <p:spPr>
          <a:xfrm>
            <a:off x="658440" y="4572000"/>
            <a:ext cx="10874520" cy="91404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100 Hz նմուշառման դեպքում 50 Hz-ից վեր ամեն ինչ ծալվում է շերտի ներս —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և քանի որ ԱԹԿ-ից առաջ ֆիլտր չկար, ոչինչ չէր կանգնեցնում այն։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Box 13"/>
          <p:cNvSpPr/>
          <p:nvPr/>
        </p:nvSpPr>
        <p:spPr>
          <a:xfrm>
            <a:off x="658440" y="5760720"/>
            <a:ext cx="1087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Նայքվիստ. 1520 Hz տեսնելու համար պետք է նմուշառել 3040 Hz-ից վեր։ Նրանք նմուշառել են 30 անգամ դանդաղ։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3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39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Որտեղից եկավ 20 Hz գիծը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Գծված է 19 պարբերություն 20 նմուշի դիմաց, որ տեսանելի լինի — շարժիչի հարաբերությունն էր 1520:100, նույն թվաբանությունը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Rectangle 7"/>
          <p:cNvSpPr/>
          <p:nvPr/>
        </p:nvSpPr>
        <p:spPr>
          <a:xfrm>
            <a:off x="795600" y="3429000"/>
            <a:ext cx="7772040" cy="12240"/>
          </a:xfrm>
          <a:prstGeom prst="rect">
            <a:avLst/>
          </a:prstGeom>
          <a:solidFill>
            <a:srgbClr val="E4E2D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9" name="Freeform 8"/>
          <p:cNvSpPr/>
          <p:nvPr/>
        </p:nvSpPr>
        <p:spPr>
          <a:xfrm>
            <a:off x="795600" y="2468880"/>
            <a:ext cx="7772040" cy="1919880"/>
          </a:xfrm>
          <a:custGeom>
            <a:avLst/>
            <a:gdLst>
              <a:gd name="textAreaLeft" fmla="*/ 0 w 7772040"/>
              <a:gd name="textAreaRight" fmla="*/ 7772400 w 7772040"/>
              <a:gd name="textAreaTop" fmla="*/ 0 h 1919880"/>
              <a:gd name="textAreaBottom" fmla="*/ 1920240 h 1919880"/>
            </a:gdLst>
            <a:ahLst/>
            <a:cxnLst/>
            <a:rect l="textAreaLeft" t="textAreaTop" r="textAreaRight" b="textAreaBottom"/>
            <a:pathLst>
              <a:path w="7772400" h="1920240">
                <a:moveTo>
                  <a:pt x="0" y="960120"/>
                </a:moveTo>
                <a:lnTo>
                  <a:pt x="19431" y="677806"/>
                </a:lnTo>
                <a:lnTo>
                  <a:pt x="38862" y="420452"/>
                </a:lnTo>
                <a:lnTo>
                  <a:pt x="58293" y="210813"/>
                </a:lnTo>
                <a:lnTo>
                  <a:pt x="77724" y="67423"/>
                </a:lnTo>
                <a:lnTo>
                  <a:pt x="97155" y="2959"/>
                </a:lnTo>
                <a:lnTo>
                  <a:pt x="116586" y="23122"/>
                </a:lnTo>
                <a:lnTo>
                  <a:pt x="136017" y="126129"/>
                </a:lnTo>
                <a:lnTo>
                  <a:pt x="155448" y="302872"/>
                </a:lnTo>
                <a:lnTo>
                  <a:pt x="174879" y="537725"/>
                </a:lnTo>
                <a:lnTo>
                  <a:pt x="194310" y="809924"/>
                </a:lnTo>
                <a:lnTo>
                  <a:pt x="213741" y="1095402"/>
                </a:lnTo>
                <a:lnTo>
                  <a:pt x="233172" y="1368919"/>
                </a:lnTo>
                <a:lnTo>
                  <a:pt x="252603" y="1606292"/>
                </a:lnTo>
                <a:lnTo>
                  <a:pt x="272034" y="1786535"/>
                </a:lnTo>
                <a:lnTo>
                  <a:pt x="291465" y="1893711"/>
                </a:lnTo>
                <a:lnTo>
                  <a:pt x="310896" y="1918345"/>
                </a:lnTo>
                <a:lnTo>
                  <a:pt x="330327" y="1858258"/>
                </a:lnTo>
                <a:lnTo>
                  <a:pt x="349758" y="1718763"/>
                </a:lnTo>
                <a:lnTo>
                  <a:pt x="369189" y="1512194"/>
                </a:lnTo>
                <a:lnTo>
                  <a:pt x="388620" y="1256813"/>
                </a:lnTo>
                <a:lnTo>
                  <a:pt x="408051" y="975200"/>
                </a:lnTo>
                <a:lnTo>
                  <a:pt x="427482" y="692255"/>
                </a:lnTo>
                <a:lnTo>
                  <a:pt x="446913" y="432992"/>
                </a:lnTo>
                <a:lnTo>
                  <a:pt x="466344" y="220334"/>
                </a:lnTo>
                <a:lnTo>
                  <a:pt x="485775" y="73084"/>
                </a:lnTo>
                <a:lnTo>
                  <a:pt x="505206" y="4261"/>
                </a:lnTo>
                <a:lnTo>
                  <a:pt x="524637" y="19948"/>
                </a:lnTo>
                <a:lnTo>
                  <a:pt x="544068" y="118760"/>
                </a:lnTo>
                <a:lnTo>
                  <a:pt x="563499" y="291960"/>
                </a:lnTo>
                <a:lnTo>
                  <a:pt x="582930" y="524234"/>
                </a:lnTo>
                <a:lnTo>
                  <a:pt x="602361" y="795047"/>
                </a:lnTo>
                <a:lnTo>
                  <a:pt x="621792" y="1080454"/>
                </a:lnTo>
                <a:lnTo>
                  <a:pt x="641223" y="1355223"/>
                </a:lnTo>
                <a:lnTo>
                  <a:pt x="660654" y="1595058"/>
                </a:lnTo>
                <a:lnTo>
                  <a:pt x="680085" y="1778756"/>
                </a:lnTo>
                <a:lnTo>
                  <a:pt x="699516" y="1890076"/>
                </a:lnTo>
                <a:lnTo>
                  <a:pt x="718947" y="1919174"/>
                </a:lnTo>
                <a:lnTo>
                  <a:pt x="738378" y="1863478"/>
                </a:lnTo>
                <a:lnTo>
                  <a:pt x="757809" y="1727913"/>
                </a:lnTo>
                <a:lnTo>
                  <a:pt x="777240" y="1524464"/>
                </a:lnTo>
                <a:lnTo>
                  <a:pt x="796671" y="1271119"/>
                </a:lnTo>
                <a:lnTo>
                  <a:pt x="816102" y="990278"/>
                </a:lnTo>
                <a:lnTo>
                  <a:pt x="835533" y="706770"/>
                </a:lnTo>
                <a:lnTo>
                  <a:pt x="854964" y="445661"/>
                </a:lnTo>
                <a:lnTo>
                  <a:pt x="874395" y="230039"/>
                </a:lnTo>
                <a:lnTo>
                  <a:pt x="893826" y="78965"/>
                </a:lnTo>
                <a:lnTo>
                  <a:pt x="913257" y="5798"/>
                </a:lnTo>
                <a:lnTo>
                  <a:pt x="932688" y="17006"/>
                </a:lnTo>
                <a:lnTo>
                  <a:pt x="952119" y="111598"/>
                </a:lnTo>
                <a:lnTo>
                  <a:pt x="971550" y="281212"/>
                </a:lnTo>
                <a:lnTo>
                  <a:pt x="990981" y="510851"/>
                </a:lnTo>
                <a:lnTo>
                  <a:pt x="1010412" y="780211"/>
                </a:lnTo>
                <a:lnTo>
                  <a:pt x="1029843" y="1065478"/>
                </a:lnTo>
                <a:lnTo>
                  <a:pt x="1049274" y="1341429"/>
                </a:lnTo>
                <a:lnTo>
                  <a:pt x="1068705" y="1583668"/>
                </a:lnTo>
                <a:lnTo>
                  <a:pt x="1088136" y="1770776"/>
                </a:lnTo>
                <a:lnTo>
                  <a:pt x="1107567" y="1886210"/>
                </a:lnTo>
                <a:lnTo>
                  <a:pt x="1126998" y="1919766"/>
                </a:lnTo>
                <a:lnTo>
                  <a:pt x="1146429" y="1868475"/>
                </a:lnTo>
                <a:lnTo>
                  <a:pt x="1165860" y="1736873"/>
                </a:lnTo>
                <a:lnTo>
                  <a:pt x="1185291" y="1536595"/>
                </a:lnTo>
                <a:lnTo>
                  <a:pt x="1204722" y="1285349"/>
                </a:lnTo>
                <a:lnTo>
                  <a:pt x="1224153" y="1005347"/>
                </a:lnTo>
                <a:lnTo>
                  <a:pt x="1243584" y="721347"/>
                </a:lnTo>
                <a:lnTo>
                  <a:pt x="1263015" y="458458"/>
                </a:lnTo>
                <a:lnTo>
                  <a:pt x="1282446" y="239923"/>
                </a:lnTo>
                <a:lnTo>
                  <a:pt x="1301877" y="85063"/>
                </a:lnTo>
                <a:lnTo>
                  <a:pt x="1321308" y="7570"/>
                </a:lnTo>
                <a:lnTo>
                  <a:pt x="1340739" y="14296"/>
                </a:lnTo>
                <a:lnTo>
                  <a:pt x="1360170" y="104646"/>
                </a:lnTo>
                <a:lnTo>
                  <a:pt x="1379601" y="270632"/>
                </a:lnTo>
                <a:lnTo>
                  <a:pt x="1399032" y="497578"/>
                </a:lnTo>
                <a:lnTo>
                  <a:pt x="1418463" y="765419"/>
                </a:lnTo>
                <a:lnTo>
                  <a:pt x="1437894" y="1050475"/>
                </a:lnTo>
                <a:lnTo>
                  <a:pt x="1457325" y="1327542"/>
                </a:lnTo>
                <a:lnTo>
                  <a:pt x="1476756" y="1572123"/>
                </a:lnTo>
                <a:lnTo>
                  <a:pt x="1496187" y="1762595"/>
                </a:lnTo>
                <a:lnTo>
                  <a:pt x="1515618" y="1882117"/>
                </a:lnTo>
                <a:lnTo>
                  <a:pt x="1535049" y="1920121"/>
                </a:lnTo>
                <a:lnTo>
                  <a:pt x="1554480" y="1873248"/>
                </a:lnTo>
                <a:lnTo>
                  <a:pt x="1573911" y="1745641"/>
                </a:lnTo>
                <a:lnTo>
                  <a:pt x="1593342" y="1548584"/>
                </a:lnTo>
                <a:lnTo>
                  <a:pt x="1612773" y="1299498"/>
                </a:lnTo>
                <a:lnTo>
                  <a:pt x="1632204" y="1020406"/>
                </a:lnTo>
                <a:lnTo>
                  <a:pt x="1651635" y="735984"/>
                </a:lnTo>
                <a:lnTo>
                  <a:pt x="1671066" y="471379"/>
                </a:lnTo>
                <a:lnTo>
                  <a:pt x="1690497" y="249985"/>
                </a:lnTo>
                <a:lnTo>
                  <a:pt x="1709928" y="91377"/>
                </a:lnTo>
                <a:lnTo>
                  <a:pt x="1729359" y="9578"/>
                </a:lnTo>
                <a:lnTo>
                  <a:pt x="1748790" y="11820"/>
                </a:lnTo>
                <a:lnTo>
                  <a:pt x="1768221" y="97905"/>
                </a:lnTo>
                <a:lnTo>
                  <a:pt x="1787652" y="260222"/>
                </a:lnTo>
                <a:lnTo>
                  <a:pt x="1807083" y="484420"/>
                </a:lnTo>
                <a:lnTo>
                  <a:pt x="1826514" y="750676"/>
                </a:lnTo>
                <a:lnTo>
                  <a:pt x="1845945" y="1035450"/>
                </a:lnTo>
                <a:lnTo>
                  <a:pt x="1865376" y="1313563"/>
                </a:lnTo>
                <a:lnTo>
                  <a:pt x="1884807" y="1560427"/>
                </a:lnTo>
                <a:lnTo>
                  <a:pt x="1904238" y="1754216"/>
                </a:lnTo>
                <a:lnTo>
                  <a:pt x="1923669" y="1877795"/>
                </a:lnTo>
                <a:lnTo>
                  <a:pt x="1943100" y="1920240"/>
                </a:lnTo>
                <a:lnTo>
                  <a:pt x="1962531" y="1877795"/>
                </a:lnTo>
                <a:lnTo>
                  <a:pt x="1981962" y="1754216"/>
                </a:lnTo>
                <a:lnTo>
                  <a:pt x="2001393" y="1560427"/>
                </a:lnTo>
                <a:lnTo>
                  <a:pt x="2020824" y="1313563"/>
                </a:lnTo>
                <a:lnTo>
                  <a:pt x="2040255" y="1035450"/>
                </a:lnTo>
                <a:lnTo>
                  <a:pt x="2059686" y="750676"/>
                </a:lnTo>
                <a:lnTo>
                  <a:pt x="2079117" y="484420"/>
                </a:lnTo>
                <a:lnTo>
                  <a:pt x="2098548" y="260222"/>
                </a:lnTo>
                <a:lnTo>
                  <a:pt x="2117979" y="97905"/>
                </a:lnTo>
                <a:lnTo>
                  <a:pt x="2137410" y="11820"/>
                </a:lnTo>
                <a:lnTo>
                  <a:pt x="2156841" y="9578"/>
                </a:lnTo>
                <a:lnTo>
                  <a:pt x="2176272" y="91377"/>
                </a:lnTo>
                <a:lnTo>
                  <a:pt x="2195703" y="249985"/>
                </a:lnTo>
                <a:lnTo>
                  <a:pt x="2215134" y="471379"/>
                </a:lnTo>
                <a:lnTo>
                  <a:pt x="2234565" y="735984"/>
                </a:lnTo>
                <a:lnTo>
                  <a:pt x="2253996" y="1020406"/>
                </a:lnTo>
                <a:lnTo>
                  <a:pt x="2273427" y="1299498"/>
                </a:lnTo>
                <a:lnTo>
                  <a:pt x="2292858" y="1548584"/>
                </a:lnTo>
                <a:lnTo>
                  <a:pt x="2312289" y="1745641"/>
                </a:lnTo>
                <a:lnTo>
                  <a:pt x="2331720" y="1873248"/>
                </a:lnTo>
                <a:lnTo>
                  <a:pt x="2351151" y="1920121"/>
                </a:lnTo>
                <a:lnTo>
                  <a:pt x="2370582" y="1882117"/>
                </a:lnTo>
                <a:lnTo>
                  <a:pt x="2390013" y="1762595"/>
                </a:lnTo>
                <a:lnTo>
                  <a:pt x="2409444" y="1572123"/>
                </a:lnTo>
                <a:lnTo>
                  <a:pt x="2428875" y="1327542"/>
                </a:lnTo>
                <a:lnTo>
                  <a:pt x="2448306" y="1050475"/>
                </a:lnTo>
                <a:lnTo>
                  <a:pt x="2467737" y="765419"/>
                </a:lnTo>
                <a:lnTo>
                  <a:pt x="2487168" y="497578"/>
                </a:lnTo>
                <a:lnTo>
                  <a:pt x="2506599" y="270632"/>
                </a:lnTo>
                <a:lnTo>
                  <a:pt x="2526030" y="104646"/>
                </a:lnTo>
                <a:lnTo>
                  <a:pt x="2545461" y="14296"/>
                </a:lnTo>
                <a:lnTo>
                  <a:pt x="2564892" y="7570"/>
                </a:lnTo>
                <a:lnTo>
                  <a:pt x="2584323" y="85063"/>
                </a:lnTo>
                <a:lnTo>
                  <a:pt x="2603754" y="239923"/>
                </a:lnTo>
                <a:lnTo>
                  <a:pt x="2623185" y="458458"/>
                </a:lnTo>
                <a:lnTo>
                  <a:pt x="2642616" y="721347"/>
                </a:lnTo>
                <a:lnTo>
                  <a:pt x="2662047" y="1005347"/>
                </a:lnTo>
                <a:lnTo>
                  <a:pt x="2681478" y="1285349"/>
                </a:lnTo>
                <a:lnTo>
                  <a:pt x="2700909" y="1536595"/>
                </a:lnTo>
                <a:lnTo>
                  <a:pt x="2720340" y="1736873"/>
                </a:lnTo>
                <a:lnTo>
                  <a:pt x="2739771" y="1868475"/>
                </a:lnTo>
                <a:lnTo>
                  <a:pt x="2759202" y="1919766"/>
                </a:lnTo>
                <a:lnTo>
                  <a:pt x="2778633" y="1886210"/>
                </a:lnTo>
                <a:lnTo>
                  <a:pt x="2798064" y="1770776"/>
                </a:lnTo>
                <a:lnTo>
                  <a:pt x="2817495" y="1583668"/>
                </a:lnTo>
                <a:lnTo>
                  <a:pt x="2836926" y="1341429"/>
                </a:lnTo>
                <a:lnTo>
                  <a:pt x="2856357" y="1065478"/>
                </a:lnTo>
                <a:lnTo>
                  <a:pt x="2875788" y="780211"/>
                </a:lnTo>
                <a:lnTo>
                  <a:pt x="2895219" y="510851"/>
                </a:lnTo>
                <a:lnTo>
                  <a:pt x="2914650" y="281212"/>
                </a:lnTo>
                <a:lnTo>
                  <a:pt x="2934081" y="111598"/>
                </a:lnTo>
                <a:lnTo>
                  <a:pt x="2953512" y="17006"/>
                </a:lnTo>
                <a:lnTo>
                  <a:pt x="2972943" y="5798"/>
                </a:lnTo>
                <a:lnTo>
                  <a:pt x="2992374" y="78965"/>
                </a:lnTo>
                <a:lnTo>
                  <a:pt x="3011805" y="230039"/>
                </a:lnTo>
                <a:lnTo>
                  <a:pt x="3031236" y="445661"/>
                </a:lnTo>
                <a:lnTo>
                  <a:pt x="3050667" y="706770"/>
                </a:lnTo>
                <a:lnTo>
                  <a:pt x="3070098" y="990278"/>
                </a:lnTo>
                <a:lnTo>
                  <a:pt x="3089529" y="1271119"/>
                </a:lnTo>
                <a:lnTo>
                  <a:pt x="3108960" y="1524464"/>
                </a:lnTo>
                <a:lnTo>
                  <a:pt x="3128391" y="1727913"/>
                </a:lnTo>
                <a:lnTo>
                  <a:pt x="3147822" y="1863478"/>
                </a:lnTo>
                <a:lnTo>
                  <a:pt x="3167253" y="1919174"/>
                </a:lnTo>
                <a:lnTo>
                  <a:pt x="3186684" y="1890076"/>
                </a:lnTo>
                <a:lnTo>
                  <a:pt x="3206115" y="1778756"/>
                </a:lnTo>
                <a:lnTo>
                  <a:pt x="3225546" y="1595058"/>
                </a:lnTo>
                <a:lnTo>
                  <a:pt x="3244977" y="1355223"/>
                </a:lnTo>
                <a:lnTo>
                  <a:pt x="3264408" y="1080454"/>
                </a:lnTo>
                <a:lnTo>
                  <a:pt x="3283839" y="795047"/>
                </a:lnTo>
                <a:lnTo>
                  <a:pt x="3303270" y="524234"/>
                </a:lnTo>
                <a:lnTo>
                  <a:pt x="3322701" y="291960"/>
                </a:lnTo>
                <a:lnTo>
                  <a:pt x="3342132" y="118760"/>
                </a:lnTo>
                <a:lnTo>
                  <a:pt x="3361563" y="19948"/>
                </a:lnTo>
                <a:lnTo>
                  <a:pt x="3380994" y="4261"/>
                </a:lnTo>
                <a:lnTo>
                  <a:pt x="3400425" y="73084"/>
                </a:lnTo>
                <a:lnTo>
                  <a:pt x="3419856" y="220334"/>
                </a:lnTo>
                <a:lnTo>
                  <a:pt x="3439287" y="432992"/>
                </a:lnTo>
                <a:lnTo>
                  <a:pt x="3458718" y="692255"/>
                </a:lnTo>
                <a:lnTo>
                  <a:pt x="3478149" y="975200"/>
                </a:lnTo>
                <a:lnTo>
                  <a:pt x="3497580" y="1256813"/>
                </a:lnTo>
                <a:lnTo>
                  <a:pt x="3517011" y="1512194"/>
                </a:lnTo>
                <a:lnTo>
                  <a:pt x="3536442" y="1718763"/>
                </a:lnTo>
                <a:lnTo>
                  <a:pt x="3555873" y="1858258"/>
                </a:lnTo>
                <a:lnTo>
                  <a:pt x="3575304" y="1918345"/>
                </a:lnTo>
                <a:lnTo>
                  <a:pt x="3594735" y="1893711"/>
                </a:lnTo>
                <a:lnTo>
                  <a:pt x="3614166" y="1786535"/>
                </a:lnTo>
                <a:lnTo>
                  <a:pt x="3633597" y="1606292"/>
                </a:lnTo>
                <a:lnTo>
                  <a:pt x="3653028" y="1368919"/>
                </a:lnTo>
                <a:lnTo>
                  <a:pt x="3672459" y="1095402"/>
                </a:lnTo>
                <a:lnTo>
                  <a:pt x="3691890" y="809924"/>
                </a:lnTo>
                <a:lnTo>
                  <a:pt x="3711321" y="537725"/>
                </a:lnTo>
                <a:lnTo>
                  <a:pt x="3730752" y="302872"/>
                </a:lnTo>
                <a:lnTo>
                  <a:pt x="3750183" y="126129"/>
                </a:lnTo>
                <a:lnTo>
                  <a:pt x="3769614" y="23122"/>
                </a:lnTo>
                <a:lnTo>
                  <a:pt x="3789045" y="2959"/>
                </a:lnTo>
                <a:lnTo>
                  <a:pt x="3808476" y="67423"/>
                </a:lnTo>
                <a:lnTo>
                  <a:pt x="3827907" y="210813"/>
                </a:lnTo>
                <a:lnTo>
                  <a:pt x="3847338" y="420452"/>
                </a:lnTo>
                <a:lnTo>
                  <a:pt x="3866769" y="677806"/>
                </a:lnTo>
                <a:lnTo>
                  <a:pt x="3886200" y="960119"/>
                </a:lnTo>
                <a:lnTo>
                  <a:pt x="3905631" y="1242433"/>
                </a:lnTo>
                <a:lnTo>
                  <a:pt x="3925062" y="1499787"/>
                </a:lnTo>
                <a:lnTo>
                  <a:pt x="3944493" y="1709426"/>
                </a:lnTo>
                <a:lnTo>
                  <a:pt x="3963924" y="1852816"/>
                </a:lnTo>
                <a:lnTo>
                  <a:pt x="3983355" y="1917280"/>
                </a:lnTo>
                <a:lnTo>
                  <a:pt x="4002786" y="1897117"/>
                </a:lnTo>
                <a:lnTo>
                  <a:pt x="4022217" y="1794110"/>
                </a:lnTo>
                <a:lnTo>
                  <a:pt x="4041648" y="1617367"/>
                </a:lnTo>
                <a:lnTo>
                  <a:pt x="4061079" y="1382514"/>
                </a:lnTo>
                <a:lnTo>
                  <a:pt x="4080510" y="1110315"/>
                </a:lnTo>
                <a:lnTo>
                  <a:pt x="4099941" y="824837"/>
                </a:lnTo>
                <a:lnTo>
                  <a:pt x="4119372" y="551320"/>
                </a:lnTo>
                <a:lnTo>
                  <a:pt x="4138803" y="313947"/>
                </a:lnTo>
                <a:lnTo>
                  <a:pt x="4158234" y="133704"/>
                </a:lnTo>
                <a:lnTo>
                  <a:pt x="4177665" y="26528"/>
                </a:lnTo>
                <a:lnTo>
                  <a:pt x="4197096" y="1894"/>
                </a:lnTo>
                <a:lnTo>
                  <a:pt x="4216527" y="61981"/>
                </a:lnTo>
                <a:lnTo>
                  <a:pt x="4235958" y="201476"/>
                </a:lnTo>
                <a:lnTo>
                  <a:pt x="4255389" y="408045"/>
                </a:lnTo>
                <a:lnTo>
                  <a:pt x="4274820" y="663426"/>
                </a:lnTo>
                <a:lnTo>
                  <a:pt x="4294251" y="945039"/>
                </a:lnTo>
                <a:lnTo>
                  <a:pt x="4313682" y="1227984"/>
                </a:lnTo>
                <a:lnTo>
                  <a:pt x="4333113" y="1487247"/>
                </a:lnTo>
                <a:lnTo>
                  <a:pt x="4352544" y="1699905"/>
                </a:lnTo>
                <a:lnTo>
                  <a:pt x="4371975" y="1847155"/>
                </a:lnTo>
                <a:lnTo>
                  <a:pt x="4391406" y="1915978"/>
                </a:lnTo>
                <a:lnTo>
                  <a:pt x="4410837" y="1900291"/>
                </a:lnTo>
                <a:lnTo>
                  <a:pt x="4430268" y="1801479"/>
                </a:lnTo>
                <a:lnTo>
                  <a:pt x="4449699" y="1628279"/>
                </a:lnTo>
                <a:lnTo>
                  <a:pt x="4469130" y="1396005"/>
                </a:lnTo>
                <a:lnTo>
                  <a:pt x="4488561" y="1125192"/>
                </a:lnTo>
                <a:lnTo>
                  <a:pt x="4507992" y="839785"/>
                </a:lnTo>
                <a:lnTo>
                  <a:pt x="4527423" y="565016"/>
                </a:lnTo>
                <a:lnTo>
                  <a:pt x="4546854" y="325181"/>
                </a:lnTo>
                <a:lnTo>
                  <a:pt x="4566285" y="141483"/>
                </a:lnTo>
                <a:lnTo>
                  <a:pt x="4585716" y="30163"/>
                </a:lnTo>
                <a:lnTo>
                  <a:pt x="4605147" y="1065"/>
                </a:lnTo>
                <a:lnTo>
                  <a:pt x="4624578" y="56761"/>
                </a:lnTo>
                <a:lnTo>
                  <a:pt x="4644009" y="192326"/>
                </a:lnTo>
                <a:lnTo>
                  <a:pt x="4663440" y="395775"/>
                </a:lnTo>
                <a:lnTo>
                  <a:pt x="4682871" y="649120"/>
                </a:lnTo>
                <a:lnTo>
                  <a:pt x="4702302" y="929961"/>
                </a:lnTo>
                <a:lnTo>
                  <a:pt x="4721733" y="1213469"/>
                </a:lnTo>
                <a:lnTo>
                  <a:pt x="4741164" y="1474578"/>
                </a:lnTo>
                <a:lnTo>
                  <a:pt x="4760595" y="1690200"/>
                </a:lnTo>
                <a:lnTo>
                  <a:pt x="4780026" y="1841274"/>
                </a:lnTo>
                <a:lnTo>
                  <a:pt x="4799457" y="1914441"/>
                </a:lnTo>
                <a:lnTo>
                  <a:pt x="4818888" y="1903233"/>
                </a:lnTo>
                <a:lnTo>
                  <a:pt x="4838319" y="1808641"/>
                </a:lnTo>
                <a:lnTo>
                  <a:pt x="4857750" y="1639027"/>
                </a:lnTo>
                <a:lnTo>
                  <a:pt x="4877181" y="1409388"/>
                </a:lnTo>
                <a:lnTo>
                  <a:pt x="4896612" y="1140028"/>
                </a:lnTo>
                <a:lnTo>
                  <a:pt x="4916043" y="854761"/>
                </a:lnTo>
                <a:lnTo>
                  <a:pt x="4935474" y="578810"/>
                </a:lnTo>
                <a:lnTo>
                  <a:pt x="4954905" y="336571"/>
                </a:lnTo>
                <a:lnTo>
                  <a:pt x="4974336" y="149463"/>
                </a:lnTo>
                <a:lnTo>
                  <a:pt x="4993767" y="34029"/>
                </a:lnTo>
                <a:lnTo>
                  <a:pt x="5013198" y="473"/>
                </a:lnTo>
                <a:lnTo>
                  <a:pt x="5032629" y="51764"/>
                </a:lnTo>
                <a:lnTo>
                  <a:pt x="5052060" y="183366"/>
                </a:lnTo>
                <a:lnTo>
                  <a:pt x="5071491" y="383644"/>
                </a:lnTo>
                <a:lnTo>
                  <a:pt x="5090922" y="634890"/>
                </a:lnTo>
                <a:lnTo>
                  <a:pt x="5110353" y="914892"/>
                </a:lnTo>
                <a:lnTo>
                  <a:pt x="5129784" y="1198892"/>
                </a:lnTo>
                <a:lnTo>
                  <a:pt x="5149215" y="1461781"/>
                </a:lnTo>
                <a:lnTo>
                  <a:pt x="5168646" y="1680316"/>
                </a:lnTo>
                <a:lnTo>
                  <a:pt x="5188077" y="1835176"/>
                </a:lnTo>
                <a:lnTo>
                  <a:pt x="5207508" y="1912669"/>
                </a:lnTo>
                <a:lnTo>
                  <a:pt x="5226939" y="1905943"/>
                </a:lnTo>
                <a:lnTo>
                  <a:pt x="5246370" y="1815593"/>
                </a:lnTo>
                <a:lnTo>
                  <a:pt x="5265801" y="1649607"/>
                </a:lnTo>
                <a:lnTo>
                  <a:pt x="5285232" y="1422661"/>
                </a:lnTo>
                <a:lnTo>
                  <a:pt x="5304663" y="1154820"/>
                </a:lnTo>
                <a:lnTo>
                  <a:pt x="5324094" y="869764"/>
                </a:lnTo>
                <a:lnTo>
                  <a:pt x="5343525" y="592697"/>
                </a:lnTo>
                <a:lnTo>
                  <a:pt x="5362956" y="348116"/>
                </a:lnTo>
                <a:lnTo>
                  <a:pt x="5382387" y="157644"/>
                </a:lnTo>
                <a:lnTo>
                  <a:pt x="5401818" y="38122"/>
                </a:lnTo>
                <a:lnTo>
                  <a:pt x="5421249" y="118"/>
                </a:lnTo>
                <a:lnTo>
                  <a:pt x="5440680" y="46991"/>
                </a:lnTo>
                <a:lnTo>
                  <a:pt x="5460111" y="174598"/>
                </a:lnTo>
                <a:lnTo>
                  <a:pt x="5479542" y="371655"/>
                </a:lnTo>
                <a:lnTo>
                  <a:pt x="5498973" y="620741"/>
                </a:lnTo>
                <a:lnTo>
                  <a:pt x="5518404" y="899833"/>
                </a:lnTo>
                <a:lnTo>
                  <a:pt x="5537835" y="1184255"/>
                </a:lnTo>
                <a:lnTo>
                  <a:pt x="5557266" y="1448860"/>
                </a:lnTo>
                <a:lnTo>
                  <a:pt x="5576697" y="1670254"/>
                </a:lnTo>
                <a:lnTo>
                  <a:pt x="5596128" y="1828862"/>
                </a:lnTo>
                <a:lnTo>
                  <a:pt x="5615559" y="1910661"/>
                </a:lnTo>
                <a:lnTo>
                  <a:pt x="5634990" y="1908419"/>
                </a:lnTo>
                <a:lnTo>
                  <a:pt x="5654421" y="1822334"/>
                </a:lnTo>
                <a:lnTo>
                  <a:pt x="5673852" y="1660017"/>
                </a:lnTo>
                <a:lnTo>
                  <a:pt x="5693283" y="1435819"/>
                </a:lnTo>
                <a:lnTo>
                  <a:pt x="5712714" y="1169563"/>
                </a:lnTo>
                <a:lnTo>
                  <a:pt x="5732145" y="884789"/>
                </a:lnTo>
                <a:lnTo>
                  <a:pt x="5751576" y="606676"/>
                </a:lnTo>
                <a:lnTo>
                  <a:pt x="5771007" y="359812"/>
                </a:lnTo>
                <a:lnTo>
                  <a:pt x="5790438" y="166023"/>
                </a:lnTo>
                <a:lnTo>
                  <a:pt x="5809869" y="42444"/>
                </a:lnTo>
                <a:lnTo>
                  <a:pt x="5829300" y="0"/>
                </a:lnTo>
                <a:lnTo>
                  <a:pt x="5848731" y="42444"/>
                </a:lnTo>
                <a:lnTo>
                  <a:pt x="5868162" y="166023"/>
                </a:lnTo>
                <a:lnTo>
                  <a:pt x="5887593" y="359812"/>
                </a:lnTo>
                <a:lnTo>
                  <a:pt x="5907024" y="606676"/>
                </a:lnTo>
                <a:lnTo>
                  <a:pt x="5926455" y="884789"/>
                </a:lnTo>
                <a:lnTo>
                  <a:pt x="5945886" y="1169563"/>
                </a:lnTo>
                <a:lnTo>
                  <a:pt x="5965317" y="1435819"/>
                </a:lnTo>
                <a:lnTo>
                  <a:pt x="5984748" y="1660017"/>
                </a:lnTo>
                <a:lnTo>
                  <a:pt x="6004179" y="1822334"/>
                </a:lnTo>
                <a:lnTo>
                  <a:pt x="6023610" y="1908419"/>
                </a:lnTo>
                <a:lnTo>
                  <a:pt x="6043041" y="1910661"/>
                </a:lnTo>
                <a:lnTo>
                  <a:pt x="6062472" y="1828862"/>
                </a:lnTo>
                <a:lnTo>
                  <a:pt x="6081903" y="1670254"/>
                </a:lnTo>
                <a:lnTo>
                  <a:pt x="6101334" y="1448860"/>
                </a:lnTo>
                <a:lnTo>
                  <a:pt x="6120765" y="1184255"/>
                </a:lnTo>
                <a:lnTo>
                  <a:pt x="6140196" y="899833"/>
                </a:lnTo>
                <a:lnTo>
                  <a:pt x="6159627" y="620741"/>
                </a:lnTo>
                <a:lnTo>
                  <a:pt x="6179058" y="371655"/>
                </a:lnTo>
                <a:lnTo>
                  <a:pt x="6198489" y="174598"/>
                </a:lnTo>
                <a:lnTo>
                  <a:pt x="6217920" y="46991"/>
                </a:lnTo>
                <a:lnTo>
                  <a:pt x="6237351" y="118"/>
                </a:lnTo>
                <a:lnTo>
                  <a:pt x="6256782" y="38122"/>
                </a:lnTo>
                <a:lnTo>
                  <a:pt x="6276213" y="157644"/>
                </a:lnTo>
                <a:lnTo>
                  <a:pt x="6295644" y="348116"/>
                </a:lnTo>
                <a:lnTo>
                  <a:pt x="6315075" y="592697"/>
                </a:lnTo>
                <a:lnTo>
                  <a:pt x="6334506" y="869764"/>
                </a:lnTo>
                <a:lnTo>
                  <a:pt x="6353937" y="1154820"/>
                </a:lnTo>
                <a:lnTo>
                  <a:pt x="6373368" y="1422661"/>
                </a:lnTo>
                <a:lnTo>
                  <a:pt x="6392799" y="1649607"/>
                </a:lnTo>
                <a:lnTo>
                  <a:pt x="6412230" y="1815593"/>
                </a:lnTo>
                <a:lnTo>
                  <a:pt x="6431661" y="1905943"/>
                </a:lnTo>
                <a:lnTo>
                  <a:pt x="6451092" y="1912669"/>
                </a:lnTo>
                <a:lnTo>
                  <a:pt x="6470523" y="1835176"/>
                </a:lnTo>
                <a:lnTo>
                  <a:pt x="6489954" y="1680316"/>
                </a:lnTo>
                <a:lnTo>
                  <a:pt x="6509385" y="1461781"/>
                </a:lnTo>
                <a:lnTo>
                  <a:pt x="6528816" y="1198892"/>
                </a:lnTo>
                <a:lnTo>
                  <a:pt x="6548247" y="914892"/>
                </a:lnTo>
                <a:lnTo>
                  <a:pt x="6567678" y="634890"/>
                </a:lnTo>
                <a:lnTo>
                  <a:pt x="6587109" y="383644"/>
                </a:lnTo>
                <a:lnTo>
                  <a:pt x="6606540" y="183366"/>
                </a:lnTo>
                <a:lnTo>
                  <a:pt x="6625971" y="51764"/>
                </a:lnTo>
                <a:lnTo>
                  <a:pt x="6645402" y="473"/>
                </a:lnTo>
                <a:lnTo>
                  <a:pt x="6664833" y="34029"/>
                </a:lnTo>
                <a:lnTo>
                  <a:pt x="6684264" y="149463"/>
                </a:lnTo>
                <a:lnTo>
                  <a:pt x="6703695" y="336571"/>
                </a:lnTo>
                <a:lnTo>
                  <a:pt x="6723126" y="578810"/>
                </a:lnTo>
                <a:lnTo>
                  <a:pt x="6742557" y="854761"/>
                </a:lnTo>
                <a:lnTo>
                  <a:pt x="6761988" y="1140028"/>
                </a:lnTo>
                <a:lnTo>
                  <a:pt x="6781419" y="1409388"/>
                </a:lnTo>
                <a:lnTo>
                  <a:pt x="6800850" y="1639027"/>
                </a:lnTo>
                <a:lnTo>
                  <a:pt x="6820281" y="1808641"/>
                </a:lnTo>
                <a:lnTo>
                  <a:pt x="6839712" y="1903233"/>
                </a:lnTo>
                <a:lnTo>
                  <a:pt x="6859143" y="1914441"/>
                </a:lnTo>
                <a:lnTo>
                  <a:pt x="6878574" y="1841274"/>
                </a:lnTo>
                <a:lnTo>
                  <a:pt x="6898005" y="1690200"/>
                </a:lnTo>
                <a:lnTo>
                  <a:pt x="6917436" y="1474578"/>
                </a:lnTo>
                <a:lnTo>
                  <a:pt x="6936867" y="1213469"/>
                </a:lnTo>
                <a:lnTo>
                  <a:pt x="6956298" y="929961"/>
                </a:lnTo>
                <a:lnTo>
                  <a:pt x="6975729" y="649120"/>
                </a:lnTo>
                <a:lnTo>
                  <a:pt x="6995160" y="395775"/>
                </a:lnTo>
                <a:lnTo>
                  <a:pt x="7014591" y="192326"/>
                </a:lnTo>
                <a:lnTo>
                  <a:pt x="7034022" y="56761"/>
                </a:lnTo>
                <a:lnTo>
                  <a:pt x="7053453" y="1065"/>
                </a:lnTo>
                <a:lnTo>
                  <a:pt x="7072884" y="30163"/>
                </a:lnTo>
                <a:lnTo>
                  <a:pt x="7092315" y="141483"/>
                </a:lnTo>
                <a:lnTo>
                  <a:pt x="7111746" y="325181"/>
                </a:lnTo>
                <a:lnTo>
                  <a:pt x="7131177" y="565016"/>
                </a:lnTo>
                <a:lnTo>
                  <a:pt x="7150608" y="839785"/>
                </a:lnTo>
                <a:lnTo>
                  <a:pt x="7170039" y="1125192"/>
                </a:lnTo>
                <a:lnTo>
                  <a:pt x="7189470" y="1396005"/>
                </a:lnTo>
                <a:lnTo>
                  <a:pt x="7208901" y="1628279"/>
                </a:lnTo>
                <a:lnTo>
                  <a:pt x="7228332" y="1801479"/>
                </a:lnTo>
                <a:lnTo>
                  <a:pt x="7247763" y="1900291"/>
                </a:lnTo>
                <a:lnTo>
                  <a:pt x="7267194" y="1915978"/>
                </a:lnTo>
                <a:lnTo>
                  <a:pt x="7286625" y="1847155"/>
                </a:lnTo>
                <a:lnTo>
                  <a:pt x="7306056" y="1699905"/>
                </a:lnTo>
                <a:lnTo>
                  <a:pt x="7325487" y="1487247"/>
                </a:lnTo>
                <a:lnTo>
                  <a:pt x="7344918" y="1227984"/>
                </a:lnTo>
                <a:lnTo>
                  <a:pt x="7364349" y="945039"/>
                </a:lnTo>
                <a:lnTo>
                  <a:pt x="7383780" y="663426"/>
                </a:lnTo>
                <a:lnTo>
                  <a:pt x="7403211" y="408045"/>
                </a:lnTo>
                <a:lnTo>
                  <a:pt x="7422642" y="201476"/>
                </a:lnTo>
                <a:lnTo>
                  <a:pt x="7442073" y="61981"/>
                </a:lnTo>
                <a:lnTo>
                  <a:pt x="7461504" y="1894"/>
                </a:lnTo>
                <a:lnTo>
                  <a:pt x="7480935" y="26528"/>
                </a:lnTo>
                <a:lnTo>
                  <a:pt x="7500366" y="133704"/>
                </a:lnTo>
                <a:lnTo>
                  <a:pt x="7519797" y="313947"/>
                </a:lnTo>
                <a:lnTo>
                  <a:pt x="7539228" y="551320"/>
                </a:lnTo>
                <a:lnTo>
                  <a:pt x="7558659" y="824837"/>
                </a:lnTo>
                <a:lnTo>
                  <a:pt x="7578090" y="1110315"/>
                </a:lnTo>
                <a:lnTo>
                  <a:pt x="7597521" y="1382514"/>
                </a:lnTo>
                <a:lnTo>
                  <a:pt x="7616952" y="1617367"/>
                </a:lnTo>
                <a:lnTo>
                  <a:pt x="7636383" y="1794110"/>
                </a:lnTo>
                <a:lnTo>
                  <a:pt x="7655814" y="1897117"/>
                </a:lnTo>
                <a:lnTo>
                  <a:pt x="7675245" y="1917280"/>
                </a:lnTo>
                <a:lnTo>
                  <a:pt x="7694676" y="1852816"/>
                </a:lnTo>
                <a:lnTo>
                  <a:pt x="7714107" y="1709426"/>
                </a:lnTo>
                <a:lnTo>
                  <a:pt x="7733538" y="1499787"/>
                </a:lnTo>
                <a:lnTo>
                  <a:pt x="7752969" y="1242433"/>
                </a:lnTo>
                <a:lnTo>
                  <a:pt x="7772400" y="960120"/>
                </a:lnTo>
              </a:path>
            </a:pathLst>
          </a:custGeom>
          <a:noFill/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Box 9"/>
          <p:cNvSpPr/>
          <p:nvPr/>
        </p:nvSpPr>
        <p:spPr>
          <a:xfrm>
            <a:off x="795600" y="20847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10" b="1" u="none" strike="noStrike">
                <a:solidFill>
                  <a:srgbClr val="0E7C86"/>
                </a:solidFill>
                <a:effectLst/>
                <a:uFillTx/>
                <a:latin typeface="DejaVu Sans Mono"/>
              </a:rPr>
              <a:t>իրական թրթռումը  ·  19 պարբերություն</a:t>
            </a:r>
            <a:endParaRPr lang="en-US" sz="14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Oval 10"/>
          <p:cNvSpPr/>
          <p:nvPr/>
        </p:nvSpPr>
        <p:spPr>
          <a:xfrm>
            <a:off x="7452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2" name="Oval 11"/>
          <p:cNvSpPr/>
          <p:nvPr/>
        </p:nvSpPr>
        <p:spPr>
          <a:xfrm>
            <a:off x="1134000" y="36752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3" name="Oval 12"/>
          <p:cNvSpPr/>
          <p:nvPr/>
        </p:nvSpPr>
        <p:spPr>
          <a:xfrm>
            <a:off x="1522440" y="3943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Oval 13"/>
          <p:cNvSpPr/>
          <p:nvPr/>
        </p:nvSpPr>
        <p:spPr>
          <a:xfrm>
            <a:off x="1911240" y="4155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5" name="Oval 14"/>
          <p:cNvSpPr/>
          <p:nvPr/>
        </p:nvSpPr>
        <p:spPr>
          <a:xfrm>
            <a:off x="2299680" y="42919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6" name="Oval 15"/>
          <p:cNvSpPr/>
          <p:nvPr/>
        </p:nvSpPr>
        <p:spPr>
          <a:xfrm>
            <a:off x="2688480" y="43387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7" name="Oval 16"/>
          <p:cNvSpPr/>
          <p:nvPr/>
        </p:nvSpPr>
        <p:spPr>
          <a:xfrm>
            <a:off x="3076920" y="42919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8" name="Oval 17"/>
          <p:cNvSpPr/>
          <p:nvPr/>
        </p:nvSpPr>
        <p:spPr>
          <a:xfrm>
            <a:off x="3465720" y="4155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9" name="Oval 18"/>
          <p:cNvSpPr/>
          <p:nvPr/>
        </p:nvSpPr>
        <p:spPr>
          <a:xfrm>
            <a:off x="3854160" y="3943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0" name="Oval 19"/>
          <p:cNvSpPr/>
          <p:nvPr/>
        </p:nvSpPr>
        <p:spPr>
          <a:xfrm>
            <a:off x="4242960" y="36752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1" name="Oval 20"/>
          <p:cNvSpPr/>
          <p:nvPr/>
        </p:nvSpPr>
        <p:spPr>
          <a:xfrm>
            <a:off x="46314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2" name="Oval 21"/>
          <p:cNvSpPr/>
          <p:nvPr/>
        </p:nvSpPr>
        <p:spPr>
          <a:xfrm>
            <a:off x="5020200" y="308196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3" name="Oval 22"/>
          <p:cNvSpPr/>
          <p:nvPr/>
        </p:nvSpPr>
        <p:spPr>
          <a:xfrm>
            <a:off x="5408640" y="2814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4" name="Oval 23"/>
          <p:cNvSpPr/>
          <p:nvPr/>
        </p:nvSpPr>
        <p:spPr>
          <a:xfrm>
            <a:off x="5797440" y="2602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5" name="Oval 24"/>
          <p:cNvSpPr/>
          <p:nvPr/>
        </p:nvSpPr>
        <p:spPr>
          <a:xfrm>
            <a:off x="6185880" y="24656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6" name="Oval 25"/>
          <p:cNvSpPr/>
          <p:nvPr/>
        </p:nvSpPr>
        <p:spPr>
          <a:xfrm>
            <a:off x="6574680" y="2418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7" name="Oval 26"/>
          <p:cNvSpPr/>
          <p:nvPr/>
        </p:nvSpPr>
        <p:spPr>
          <a:xfrm>
            <a:off x="6963120" y="24656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8" name="Oval 27"/>
          <p:cNvSpPr/>
          <p:nvPr/>
        </p:nvSpPr>
        <p:spPr>
          <a:xfrm>
            <a:off x="7351920" y="2602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9" name="Oval 28"/>
          <p:cNvSpPr/>
          <p:nvPr/>
        </p:nvSpPr>
        <p:spPr>
          <a:xfrm>
            <a:off x="7740360" y="2814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0" name="Oval 29"/>
          <p:cNvSpPr/>
          <p:nvPr/>
        </p:nvSpPr>
        <p:spPr>
          <a:xfrm>
            <a:off x="8129160" y="308196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1" name="Oval 30"/>
          <p:cNvSpPr/>
          <p:nvPr/>
        </p:nvSpPr>
        <p:spPr>
          <a:xfrm>
            <a:off x="85176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2" name="Freeform 31"/>
          <p:cNvSpPr/>
          <p:nvPr/>
        </p:nvSpPr>
        <p:spPr>
          <a:xfrm>
            <a:off x="795600" y="2468880"/>
            <a:ext cx="7772040" cy="1919880"/>
          </a:xfrm>
          <a:custGeom>
            <a:avLst/>
            <a:gdLst>
              <a:gd name="textAreaLeft" fmla="*/ 0 w 7772040"/>
              <a:gd name="textAreaRight" fmla="*/ 7772400 w 7772040"/>
              <a:gd name="textAreaTop" fmla="*/ 0 h 1919880"/>
              <a:gd name="textAreaBottom" fmla="*/ 1920240 h 1919880"/>
            </a:gdLst>
            <a:ahLst/>
            <a:cxnLst/>
            <a:rect l="textAreaLeft" t="textAreaTop" r="textAreaRight" b="textAreaBottom"/>
            <a:pathLst>
              <a:path w="7772400" h="1920240">
                <a:moveTo>
                  <a:pt x="0" y="960120"/>
                </a:moveTo>
                <a:lnTo>
                  <a:pt x="19431" y="975200"/>
                </a:lnTo>
                <a:lnTo>
                  <a:pt x="38862" y="990278"/>
                </a:lnTo>
                <a:lnTo>
                  <a:pt x="58293" y="1005347"/>
                </a:lnTo>
                <a:lnTo>
                  <a:pt x="77724" y="1020406"/>
                </a:lnTo>
                <a:lnTo>
                  <a:pt x="97155" y="1035450"/>
                </a:lnTo>
                <a:lnTo>
                  <a:pt x="116586" y="1050475"/>
                </a:lnTo>
                <a:lnTo>
                  <a:pt x="136017" y="1065478"/>
                </a:lnTo>
                <a:lnTo>
                  <a:pt x="155448" y="1080454"/>
                </a:lnTo>
                <a:lnTo>
                  <a:pt x="174879" y="1095402"/>
                </a:lnTo>
                <a:lnTo>
                  <a:pt x="194310" y="1110315"/>
                </a:lnTo>
                <a:lnTo>
                  <a:pt x="213741" y="1125192"/>
                </a:lnTo>
                <a:lnTo>
                  <a:pt x="233172" y="1140028"/>
                </a:lnTo>
                <a:lnTo>
                  <a:pt x="252603" y="1154820"/>
                </a:lnTo>
                <a:lnTo>
                  <a:pt x="272034" y="1169563"/>
                </a:lnTo>
                <a:lnTo>
                  <a:pt x="291465" y="1184255"/>
                </a:lnTo>
                <a:lnTo>
                  <a:pt x="310896" y="1198892"/>
                </a:lnTo>
                <a:lnTo>
                  <a:pt x="330327" y="1213469"/>
                </a:lnTo>
                <a:lnTo>
                  <a:pt x="349758" y="1227984"/>
                </a:lnTo>
                <a:lnTo>
                  <a:pt x="369189" y="1242433"/>
                </a:lnTo>
                <a:lnTo>
                  <a:pt x="388620" y="1256813"/>
                </a:lnTo>
                <a:lnTo>
                  <a:pt x="408051" y="1271119"/>
                </a:lnTo>
                <a:lnTo>
                  <a:pt x="427482" y="1285349"/>
                </a:lnTo>
                <a:lnTo>
                  <a:pt x="446913" y="1299498"/>
                </a:lnTo>
                <a:lnTo>
                  <a:pt x="466344" y="1313563"/>
                </a:lnTo>
                <a:lnTo>
                  <a:pt x="485775" y="1327542"/>
                </a:lnTo>
                <a:lnTo>
                  <a:pt x="505206" y="1341429"/>
                </a:lnTo>
                <a:lnTo>
                  <a:pt x="524637" y="1355223"/>
                </a:lnTo>
                <a:lnTo>
                  <a:pt x="544068" y="1368919"/>
                </a:lnTo>
                <a:lnTo>
                  <a:pt x="563499" y="1382514"/>
                </a:lnTo>
                <a:lnTo>
                  <a:pt x="582930" y="1396005"/>
                </a:lnTo>
                <a:lnTo>
                  <a:pt x="602361" y="1409388"/>
                </a:lnTo>
                <a:lnTo>
                  <a:pt x="621792" y="1422661"/>
                </a:lnTo>
                <a:lnTo>
                  <a:pt x="641223" y="1435819"/>
                </a:lnTo>
                <a:lnTo>
                  <a:pt x="660654" y="1448860"/>
                </a:lnTo>
                <a:lnTo>
                  <a:pt x="680085" y="1461781"/>
                </a:lnTo>
                <a:lnTo>
                  <a:pt x="699516" y="1474578"/>
                </a:lnTo>
                <a:lnTo>
                  <a:pt x="718947" y="1487247"/>
                </a:lnTo>
                <a:lnTo>
                  <a:pt x="738378" y="1499787"/>
                </a:lnTo>
                <a:lnTo>
                  <a:pt x="757809" y="1512194"/>
                </a:lnTo>
                <a:lnTo>
                  <a:pt x="777240" y="1524464"/>
                </a:lnTo>
                <a:lnTo>
                  <a:pt x="796671" y="1536595"/>
                </a:lnTo>
                <a:lnTo>
                  <a:pt x="816102" y="1548584"/>
                </a:lnTo>
                <a:lnTo>
                  <a:pt x="835533" y="1560427"/>
                </a:lnTo>
                <a:lnTo>
                  <a:pt x="854964" y="1572123"/>
                </a:lnTo>
                <a:lnTo>
                  <a:pt x="874395" y="1583668"/>
                </a:lnTo>
                <a:lnTo>
                  <a:pt x="893826" y="1595058"/>
                </a:lnTo>
                <a:lnTo>
                  <a:pt x="913257" y="1606292"/>
                </a:lnTo>
                <a:lnTo>
                  <a:pt x="932688" y="1617367"/>
                </a:lnTo>
                <a:lnTo>
                  <a:pt x="952119" y="1628279"/>
                </a:lnTo>
                <a:lnTo>
                  <a:pt x="971550" y="1639027"/>
                </a:lnTo>
                <a:lnTo>
                  <a:pt x="990981" y="1649607"/>
                </a:lnTo>
                <a:lnTo>
                  <a:pt x="1010412" y="1660017"/>
                </a:lnTo>
                <a:lnTo>
                  <a:pt x="1029843" y="1670254"/>
                </a:lnTo>
                <a:lnTo>
                  <a:pt x="1049274" y="1680316"/>
                </a:lnTo>
                <a:lnTo>
                  <a:pt x="1068705" y="1690200"/>
                </a:lnTo>
                <a:lnTo>
                  <a:pt x="1088136" y="1699905"/>
                </a:lnTo>
                <a:lnTo>
                  <a:pt x="1107567" y="1709426"/>
                </a:lnTo>
                <a:lnTo>
                  <a:pt x="1126998" y="1718763"/>
                </a:lnTo>
                <a:lnTo>
                  <a:pt x="1146429" y="1727913"/>
                </a:lnTo>
                <a:lnTo>
                  <a:pt x="1165860" y="1736873"/>
                </a:lnTo>
                <a:lnTo>
                  <a:pt x="1185291" y="1745641"/>
                </a:lnTo>
                <a:lnTo>
                  <a:pt x="1204722" y="1754216"/>
                </a:lnTo>
                <a:lnTo>
                  <a:pt x="1224153" y="1762595"/>
                </a:lnTo>
                <a:lnTo>
                  <a:pt x="1243584" y="1770776"/>
                </a:lnTo>
                <a:lnTo>
                  <a:pt x="1263015" y="1778756"/>
                </a:lnTo>
                <a:lnTo>
                  <a:pt x="1282446" y="1786535"/>
                </a:lnTo>
                <a:lnTo>
                  <a:pt x="1301877" y="1794110"/>
                </a:lnTo>
                <a:lnTo>
                  <a:pt x="1321308" y="1801479"/>
                </a:lnTo>
                <a:lnTo>
                  <a:pt x="1340739" y="1808641"/>
                </a:lnTo>
                <a:lnTo>
                  <a:pt x="1360170" y="1815593"/>
                </a:lnTo>
                <a:lnTo>
                  <a:pt x="1379601" y="1822334"/>
                </a:lnTo>
                <a:lnTo>
                  <a:pt x="1399032" y="1828862"/>
                </a:lnTo>
                <a:lnTo>
                  <a:pt x="1418463" y="1835176"/>
                </a:lnTo>
                <a:lnTo>
                  <a:pt x="1437894" y="1841274"/>
                </a:lnTo>
                <a:lnTo>
                  <a:pt x="1457325" y="1847155"/>
                </a:lnTo>
                <a:lnTo>
                  <a:pt x="1476756" y="1852816"/>
                </a:lnTo>
                <a:lnTo>
                  <a:pt x="1496187" y="1858258"/>
                </a:lnTo>
                <a:lnTo>
                  <a:pt x="1515618" y="1863478"/>
                </a:lnTo>
                <a:lnTo>
                  <a:pt x="1535049" y="1868475"/>
                </a:lnTo>
                <a:lnTo>
                  <a:pt x="1554480" y="1873248"/>
                </a:lnTo>
                <a:lnTo>
                  <a:pt x="1573911" y="1877795"/>
                </a:lnTo>
                <a:lnTo>
                  <a:pt x="1593342" y="1882117"/>
                </a:lnTo>
                <a:lnTo>
                  <a:pt x="1612773" y="1886210"/>
                </a:lnTo>
                <a:lnTo>
                  <a:pt x="1632204" y="1890076"/>
                </a:lnTo>
                <a:lnTo>
                  <a:pt x="1651635" y="1893711"/>
                </a:lnTo>
                <a:lnTo>
                  <a:pt x="1671066" y="1897117"/>
                </a:lnTo>
                <a:lnTo>
                  <a:pt x="1690497" y="1900291"/>
                </a:lnTo>
                <a:lnTo>
                  <a:pt x="1709928" y="1903233"/>
                </a:lnTo>
                <a:lnTo>
                  <a:pt x="1729359" y="1905943"/>
                </a:lnTo>
                <a:lnTo>
                  <a:pt x="1748790" y="1908419"/>
                </a:lnTo>
                <a:lnTo>
                  <a:pt x="1768221" y="1910661"/>
                </a:lnTo>
                <a:lnTo>
                  <a:pt x="1787652" y="1912669"/>
                </a:lnTo>
                <a:lnTo>
                  <a:pt x="1807083" y="1914441"/>
                </a:lnTo>
                <a:lnTo>
                  <a:pt x="1826514" y="1915978"/>
                </a:lnTo>
                <a:lnTo>
                  <a:pt x="1845945" y="1917280"/>
                </a:lnTo>
                <a:lnTo>
                  <a:pt x="1865376" y="1918345"/>
                </a:lnTo>
                <a:lnTo>
                  <a:pt x="1884807" y="1919174"/>
                </a:lnTo>
                <a:lnTo>
                  <a:pt x="1904238" y="1919766"/>
                </a:lnTo>
                <a:lnTo>
                  <a:pt x="1923669" y="1920121"/>
                </a:lnTo>
                <a:lnTo>
                  <a:pt x="1943100" y="1920240"/>
                </a:lnTo>
                <a:lnTo>
                  <a:pt x="1962531" y="1920121"/>
                </a:lnTo>
                <a:lnTo>
                  <a:pt x="1981962" y="1919766"/>
                </a:lnTo>
                <a:lnTo>
                  <a:pt x="2001393" y="1919174"/>
                </a:lnTo>
                <a:lnTo>
                  <a:pt x="2020824" y="1918345"/>
                </a:lnTo>
                <a:lnTo>
                  <a:pt x="2040255" y="1917280"/>
                </a:lnTo>
                <a:lnTo>
                  <a:pt x="2059686" y="1915978"/>
                </a:lnTo>
                <a:lnTo>
                  <a:pt x="2079117" y="1914441"/>
                </a:lnTo>
                <a:lnTo>
                  <a:pt x="2098548" y="1912669"/>
                </a:lnTo>
                <a:lnTo>
                  <a:pt x="2117979" y="1910661"/>
                </a:lnTo>
                <a:lnTo>
                  <a:pt x="2137410" y="1908419"/>
                </a:lnTo>
                <a:lnTo>
                  <a:pt x="2156841" y="1905943"/>
                </a:lnTo>
                <a:lnTo>
                  <a:pt x="2176272" y="1903233"/>
                </a:lnTo>
                <a:lnTo>
                  <a:pt x="2195703" y="1900291"/>
                </a:lnTo>
                <a:lnTo>
                  <a:pt x="2215134" y="1897117"/>
                </a:lnTo>
                <a:lnTo>
                  <a:pt x="2234565" y="1893711"/>
                </a:lnTo>
                <a:lnTo>
                  <a:pt x="2253996" y="1890076"/>
                </a:lnTo>
                <a:lnTo>
                  <a:pt x="2273427" y="1886210"/>
                </a:lnTo>
                <a:lnTo>
                  <a:pt x="2292858" y="1882117"/>
                </a:lnTo>
                <a:lnTo>
                  <a:pt x="2312289" y="1877795"/>
                </a:lnTo>
                <a:lnTo>
                  <a:pt x="2331720" y="1873248"/>
                </a:lnTo>
                <a:lnTo>
                  <a:pt x="2351151" y="1868475"/>
                </a:lnTo>
                <a:lnTo>
                  <a:pt x="2370582" y="1863478"/>
                </a:lnTo>
                <a:lnTo>
                  <a:pt x="2390013" y="1858258"/>
                </a:lnTo>
                <a:lnTo>
                  <a:pt x="2409444" y="1852816"/>
                </a:lnTo>
                <a:lnTo>
                  <a:pt x="2428875" y="1847155"/>
                </a:lnTo>
                <a:lnTo>
                  <a:pt x="2448306" y="1841274"/>
                </a:lnTo>
                <a:lnTo>
                  <a:pt x="2467737" y="1835176"/>
                </a:lnTo>
                <a:lnTo>
                  <a:pt x="2487168" y="1828862"/>
                </a:lnTo>
                <a:lnTo>
                  <a:pt x="2506599" y="1822334"/>
                </a:lnTo>
                <a:lnTo>
                  <a:pt x="2526030" y="1815593"/>
                </a:lnTo>
                <a:lnTo>
                  <a:pt x="2545461" y="1808641"/>
                </a:lnTo>
                <a:lnTo>
                  <a:pt x="2564892" y="1801479"/>
                </a:lnTo>
                <a:lnTo>
                  <a:pt x="2584323" y="1794110"/>
                </a:lnTo>
                <a:lnTo>
                  <a:pt x="2603754" y="1786535"/>
                </a:lnTo>
                <a:lnTo>
                  <a:pt x="2623185" y="1778756"/>
                </a:lnTo>
                <a:lnTo>
                  <a:pt x="2642616" y="1770776"/>
                </a:lnTo>
                <a:lnTo>
                  <a:pt x="2662047" y="1762595"/>
                </a:lnTo>
                <a:lnTo>
                  <a:pt x="2681478" y="1754216"/>
                </a:lnTo>
                <a:lnTo>
                  <a:pt x="2700909" y="1745641"/>
                </a:lnTo>
                <a:lnTo>
                  <a:pt x="2720340" y="1736873"/>
                </a:lnTo>
                <a:lnTo>
                  <a:pt x="2739771" y="1727913"/>
                </a:lnTo>
                <a:lnTo>
                  <a:pt x="2759202" y="1718763"/>
                </a:lnTo>
                <a:lnTo>
                  <a:pt x="2778633" y="1709426"/>
                </a:lnTo>
                <a:lnTo>
                  <a:pt x="2798064" y="1699905"/>
                </a:lnTo>
                <a:lnTo>
                  <a:pt x="2817495" y="1690200"/>
                </a:lnTo>
                <a:lnTo>
                  <a:pt x="2836926" y="1680316"/>
                </a:lnTo>
                <a:lnTo>
                  <a:pt x="2856357" y="1670254"/>
                </a:lnTo>
                <a:lnTo>
                  <a:pt x="2875788" y="1660017"/>
                </a:lnTo>
                <a:lnTo>
                  <a:pt x="2895219" y="1649607"/>
                </a:lnTo>
                <a:lnTo>
                  <a:pt x="2914650" y="1639027"/>
                </a:lnTo>
                <a:lnTo>
                  <a:pt x="2934081" y="1628279"/>
                </a:lnTo>
                <a:lnTo>
                  <a:pt x="2953512" y="1617367"/>
                </a:lnTo>
                <a:lnTo>
                  <a:pt x="2972943" y="1606292"/>
                </a:lnTo>
                <a:lnTo>
                  <a:pt x="2992374" y="1595058"/>
                </a:lnTo>
                <a:lnTo>
                  <a:pt x="3011805" y="1583668"/>
                </a:lnTo>
                <a:lnTo>
                  <a:pt x="3031236" y="1572123"/>
                </a:lnTo>
                <a:lnTo>
                  <a:pt x="3050667" y="1560427"/>
                </a:lnTo>
                <a:lnTo>
                  <a:pt x="3070098" y="1548584"/>
                </a:lnTo>
                <a:lnTo>
                  <a:pt x="3089529" y="1536595"/>
                </a:lnTo>
                <a:lnTo>
                  <a:pt x="3108960" y="1524464"/>
                </a:lnTo>
                <a:lnTo>
                  <a:pt x="3128391" y="1512194"/>
                </a:lnTo>
                <a:lnTo>
                  <a:pt x="3147822" y="1499787"/>
                </a:lnTo>
                <a:lnTo>
                  <a:pt x="3167253" y="1487247"/>
                </a:lnTo>
                <a:lnTo>
                  <a:pt x="3186684" y="1474578"/>
                </a:lnTo>
                <a:lnTo>
                  <a:pt x="3206115" y="1461781"/>
                </a:lnTo>
                <a:lnTo>
                  <a:pt x="3225546" y="1448860"/>
                </a:lnTo>
                <a:lnTo>
                  <a:pt x="3244977" y="1435819"/>
                </a:lnTo>
                <a:lnTo>
                  <a:pt x="3264408" y="1422661"/>
                </a:lnTo>
                <a:lnTo>
                  <a:pt x="3283839" y="1409388"/>
                </a:lnTo>
                <a:lnTo>
                  <a:pt x="3303270" y="1396005"/>
                </a:lnTo>
                <a:lnTo>
                  <a:pt x="3322701" y="1382514"/>
                </a:lnTo>
                <a:lnTo>
                  <a:pt x="3342132" y="1368919"/>
                </a:lnTo>
                <a:lnTo>
                  <a:pt x="3361563" y="1355223"/>
                </a:lnTo>
                <a:lnTo>
                  <a:pt x="3380994" y="1341429"/>
                </a:lnTo>
                <a:lnTo>
                  <a:pt x="3400425" y="1327542"/>
                </a:lnTo>
                <a:lnTo>
                  <a:pt x="3419856" y="1313563"/>
                </a:lnTo>
                <a:lnTo>
                  <a:pt x="3439287" y="1299498"/>
                </a:lnTo>
                <a:lnTo>
                  <a:pt x="3458718" y="1285349"/>
                </a:lnTo>
                <a:lnTo>
                  <a:pt x="3478149" y="1271119"/>
                </a:lnTo>
                <a:lnTo>
                  <a:pt x="3497580" y="1256813"/>
                </a:lnTo>
                <a:lnTo>
                  <a:pt x="3517011" y="1242433"/>
                </a:lnTo>
                <a:lnTo>
                  <a:pt x="3536442" y="1227984"/>
                </a:lnTo>
                <a:lnTo>
                  <a:pt x="3555873" y="1213469"/>
                </a:lnTo>
                <a:lnTo>
                  <a:pt x="3575304" y="1198892"/>
                </a:lnTo>
                <a:lnTo>
                  <a:pt x="3594735" y="1184255"/>
                </a:lnTo>
                <a:lnTo>
                  <a:pt x="3614166" y="1169563"/>
                </a:lnTo>
                <a:lnTo>
                  <a:pt x="3633597" y="1154820"/>
                </a:lnTo>
                <a:lnTo>
                  <a:pt x="3653028" y="1140028"/>
                </a:lnTo>
                <a:lnTo>
                  <a:pt x="3672459" y="1125192"/>
                </a:lnTo>
                <a:lnTo>
                  <a:pt x="3691890" y="1110315"/>
                </a:lnTo>
                <a:lnTo>
                  <a:pt x="3711321" y="1095402"/>
                </a:lnTo>
                <a:lnTo>
                  <a:pt x="3730752" y="1080454"/>
                </a:lnTo>
                <a:lnTo>
                  <a:pt x="3750183" y="1065478"/>
                </a:lnTo>
                <a:lnTo>
                  <a:pt x="3769614" y="1050475"/>
                </a:lnTo>
                <a:lnTo>
                  <a:pt x="3789045" y="1035450"/>
                </a:lnTo>
                <a:lnTo>
                  <a:pt x="3808476" y="1020406"/>
                </a:lnTo>
                <a:lnTo>
                  <a:pt x="3827907" y="1005347"/>
                </a:lnTo>
                <a:lnTo>
                  <a:pt x="3847338" y="990278"/>
                </a:lnTo>
                <a:lnTo>
                  <a:pt x="3866769" y="975200"/>
                </a:lnTo>
                <a:lnTo>
                  <a:pt x="3886200" y="960120"/>
                </a:lnTo>
                <a:lnTo>
                  <a:pt x="3905631" y="945039"/>
                </a:lnTo>
                <a:lnTo>
                  <a:pt x="3925062" y="929961"/>
                </a:lnTo>
                <a:lnTo>
                  <a:pt x="3944493" y="914892"/>
                </a:lnTo>
                <a:lnTo>
                  <a:pt x="3963924" y="899833"/>
                </a:lnTo>
                <a:lnTo>
                  <a:pt x="3983355" y="884789"/>
                </a:lnTo>
                <a:lnTo>
                  <a:pt x="4002786" y="869764"/>
                </a:lnTo>
                <a:lnTo>
                  <a:pt x="4022217" y="854761"/>
                </a:lnTo>
                <a:lnTo>
                  <a:pt x="4041648" y="839785"/>
                </a:lnTo>
                <a:lnTo>
                  <a:pt x="4061079" y="824837"/>
                </a:lnTo>
                <a:lnTo>
                  <a:pt x="4080510" y="809924"/>
                </a:lnTo>
                <a:lnTo>
                  <a:pt x="4099941" y="795047"/>
                </a:lnTo>
                <a:lnTo>
                  <a:pt x="4119372" y="780211"/>
                </a:lnTo>
                <a:lnTo>
                  <a:pt x="4138803" y="765419"/>
                </a:lnTo>
                <a:lnTo>
                  <a:pt x="4158234" y="750676"/>
                </a:lnTo>
                <a:lnTo>
                  <a:pt x="4177665" y="735984"/>
                </a:lnTo>
                <a:lnTo>
                  <a:pt x="4197096" y="721347"/>
                </a:lnTo>
                <a:lnTo>
                  <a:pt x="4216527" y="706770"/>
                </a:lnTo>
                <a:lnTo>
                  <a:pt x="4235958" y="692255"/>
                </a:lnTo>
                <a:lnTo>
                  <a:pt x="4255389" y="677806"/>
                </a:lnTo>
                <a:lnTo>
                  <a:pt x="4274820" y="663426"/>
                </a:lnTo>
                <a:lnTo>
                  <a:pt x="4294251" y="649120"/>
                </a:lnTo>
                <a:lnTo>
                  <a:pt x="4313682" y="634890"/>
                </a:lnTo>
                <a:lnTo>
                  <a:pt x="4333113" y="620741"/>
                </a:lnTo>
                <a:lnTo>
                  <a:pt x="4352544" y="606676"/>
                </a:lnTo>
                <a:lnTo>
                  <a:pt x="4371975" y="592697"/>
                </a:lnTo>
                <a:lnTo>
                  <a:pt x="4391406" y="578810"/>
                </a:lnTo>
                <a:lnTo>
                  <a:pt x="4410837" y="565016"/>
                </a:lnTo>
                <a:lnTo>
                  <a:pt x="4430268" y="551320"/>
                </a:lnTo>
                <a:lnTo>
                  <a:pt x="4449699" y="537725"/>
                </a:lnTo>
                <a:lnTo>
                  <a:pt x="4469130" y="524234"/>
                </a:lnTo>
                <a:lnTo>
                  <a:pt x="4488561" y="510851"/>
                </a:lnTo>
                <a:lnTo>
                  <a:pt x="4507992" y="497578"/>
                </a:lnTo>
                <a:lnTo>
                  <a:pt x="4527423" y="484420"/>
                </a:lnTo>
                <a:lnTo>
                  <a:pt x="4546854" y="471379"/>
                </a:lnTo>
                <a:lnTo>
                  <a:pt x="4566285" y="458458"/>
                </a:lnTo>
                <a:lnTo>
                  <a:pt x="4585716" y="445661"/>
                </a:lnTo>
                <a:lnTo>
                  <a:pt x="4605147" y="432992"/>
                </a:lnTo>
                <a:lnTo>
                  <a:pt x="4624578" y="420452"/>
                </a:lnTo>
                <a:lnTo>
                  <a:pt x="4644009" y="408045"/>
                </a:lnTo>
                <a:lnTo>
                  <a:pt x="4663440" y="395775"/>
                </a:lnTo>
                <a:lnTo>
                  <a:pt x="4682871" y="383644"/>
                </a:lnTo>
                <a:lnTo>
                  <a:pt x="4702302" y="371655"/>
                </a:lnTo>
                <a:lnTo>
                  <a:pt x="4721733" y="359812"/>
                </a:lnTo>
                <a:lnTo>
                  <a:pt x="4741164" y="348116"/>
                </a:lnTo>
                <a:lnTo>
                  <a:pt x="4760595" y="336571"/>
                </a:lnTo>
                <a:lnTo>
                  <a:pt x="4780026" y="325181"/>
                </a:lnTo>
                <a:lnTo>
                  <a:pt x="4799457" y="313947"/>
                </a:lnTo>
                <a:lnTo>
                  <a:pt x="4818888" y="302872"/>
                </a:lnTo>
                <a:lnTo>
                  <a:pt x="4838319" y="291960"/>
                </a:lnTo>
                <a:lnTo>
                  <a:pt x="4857750" y="281212"/>
                </a:lnTo>
                <a:lnTo>
                  <a:pt x="4877181" y="270632"/>
                </a:lnTo>
                <a:lnTo>
                  <a:pt x="4896612" y="260222"/>
                </a:lnTo>
                <a:lnTo>
                  <a:pt x="4916043" y="249985"/>
                </a:lnTo>
                <a:lnTo>
                  <a:pt x="4935474" y="239923"/>
                </a:lnTo>
                <a:lnTo>
                  <a:pt x="4954905" y="230039"/>
                </a:lnTo>
                <a:lnTo>
                  <a:pt x="4974336" y="220334"/>
                </a:lnTo>
                <a:lnTo>
                  <a:pt x="4993767" y="210813"/>
                </a:lnTo>
                <a:lnTo>
                  <a:pt x="5013198" y="201476"/>
                </a:lnTo>
                <a:lnTo>
                  <a:pt x="5032629" y="192326"/>
                </a:lnTo>
                <a:lnTo>
                  <a:pt x="5052060" y="183366"/>
                </a:lnTo>
                <a:lnTo>
                  <a:pt x="5071491" y="174598"/>
                </a:lnTo>
                <a:lnTo>
                  <a:pt x="5090922" y="166023"/>
                </a:lnTo>
                <a:lnTo>
                  <a:pt x="5110353" y="157644"/>
                </a:lnTo>
                <a:lnTo>
                  <a:pt x="5129784" y="149463"/>
                </a:lnTo>
                <a:lnTo>
                  <a:pt x="5149215" y="141483"/>
                </a:lnTo>
                <a:lnTo>
                  <a:pt x="5168646" y="133704"/>
                </a:lnTo>
                <a:lnTo>
                  <a:pt x="5188077" y="126129"/>
                </a:lnTo>
                <a:lnTo>
                  <a:pt x="5207508" y="118760"/>
                </a:lnTo>
                <a:lnTo>
                  <a:pt x="5226939" y="111598"/>
                </a:lnTo>
                <a:lnTo>
                  <a:pt x="5246370" y="104646"/>
                </a:lnTo>
                <a:lnTo>
                  <a:pt x="5265801" y="97905"/>
                </a:lnTo>
                <a:lnTo>
                  <a:pt x="5285232" y="91377"/>
                </a:lnTo>
                <a:lnTo>
                  <a:pt x="5304663" y="85063"/>
                </a:lnTo>
                <a:lnTo>
                  <a:pt x="5324094" y="78965"/>
                </a:lnTo>
                <a:lnTo>
                  <a:pt x="5343525" y="73084"/>
                </a:lnTo>
                <a:lnTo>
                  <a:pt x="5362956" y="67423"/>
                </a:lnTo>
                <a:lnTo>
                  <a:pt x="5382387" y="61981"/>
                </a:lnTo>
                <a:lnTo>
                  <a:pt x="5401818" y="56761"/>
                </a:lnTo>
                <a:lnTo>
                  <a:pt x="5421249" y="51764"/>
                </a:lnTo>
                <a:lnTo>
                  <a:pt x="5440680" y="46991"/>
                </a:lnTo>
                <a:lnTo>
                  <a:pt x="5460111" y="42444"/>
                </a:lnTo>
                <a:lnTo>
                  <a:pt x="5479542" y="38122"/>
                </a:lnTo>
                <a:lnTo>
                  <a:pt x="5498973" y="34029"/>
                </a:lnTo>
                <a:lnTo>
                  <a:pt x="5518404" y="30163"/>
                </a:lnTo>
                <a:lnTo>
                  <a:pt x="5537835" y="26528"/>
                </a:lnTo>
                <a:lnTo>
                  <a:pt x="5557266" y="23122"/>
                </a:lnTo>
                <a:lnTo>
                  <a:pt x="5576697" y="19948"/>
                </a:lnTo>
                <a:lnTo>
                  <a:pt x="5596128" y="17006"/>
                </a:lnTo>
                <a:lnTo>
                  <a:pt x="5615559" y="14296"/>
                </a:lnTo>
                <a:lnTo>
                  <a:pt x="5634990" y="11820"/>
                </a:lnTo>
                <a:lnTo>
                  <a:pt x="5654421" y="9578"/>
                </a:lnTo>
                <a:lnTo>
                  <a:pt x="5673852" y="7570"/>
                </a:lnTo>
                <a:lnTo>
                  <a:pt x="5693283" y="5798"/>
                </a:lnTo>
                <a:lnTo>
                  <a:pt x="5712714" y="4261"/>
                </a:lnTo>
                <a:lnTo>
                  <a:pt x="5732145" y="2959"/>
                </a:lnTo>
                <a:lnTo>
                  <a:pt x="5751576" y="1894"/>
                </a:lnTo>
                <a:lnTo>
                  <a:pt x="5771007" y="1065"/>
                </a:lnTo>
                <a:lnTo>
                  <a:pt x="5790438" y="473"/>
                </a:lnTo>
                <a:lnTo>
                  <a:pt x="5809869" y="118"/>
                </a:lnTo>
                <a:lnTo>
                  <a:pt x="5829300" y="0"/>
                </a:lnTo>
                <a:lnTo>
                  <a:pt x="5848731" y="118"/>
                </a:lnTo>
                <a:lnTo>
                  <a:pt x="5868162" y="473"/>
                </a:lnTo>
                <a:lnTo>
                  <a:pt x="5887593" y="1065"/>
                </a:lnTo>
                <a:lnTo>
                  <a:pt x="5907024" y="1894"/>
                </a:lnTo>
                <a:lnTo>
                  <a:pt x="5926455" y="2959"/>
                </a:lnTo>
                <a:lnTo>
                  <a:pt x="5945886" y="4261"/>
                </a:lnTo>
                <a:lnTo>
                  <a:pt x="5965317" y="5798"/>
                </a:lnTo>
                <a:lnTo>
                  <a:pt x="5984748" y="7570"/>
                </a:lnTo>
                <a:lnTo>
                  <a:pt x="6004179" y="9578"/>
                </a:lnTo>
                <a:lnTo>
                  <a:pt x="6023610" y="11820"/>
                </a:lnTo>
                <a:lnTo>
                  <a:pt x="6043041" y="14296"/>
                </a:lnTo>
                <a:lnTo>
                  <a:pt x="6062472" y="17006"/>
                </a:lnTo>
                <a:lnTo>
                  <a:pt x="6081903" y="19948"/>
                </a:lnTo>
                <a:lnTo>
                  <a:pt x="6101334" y="23122"/>
                </a:lnTo>
                <a:lnTo>
                  <a:pt x="6120765" y="26528"/>
                </a:lnTo>
                <a:lnTo>
                  <a:pt x="6140196" y="30163"/>
                </a:lnTo>
                <a:lnTo>
                  <a:pt x="6159627" y="34029"/>
                </a:lnTo>
                <a:lnTo>
                  <a:pt x="6179058" y="38122"/>
                </a:lnTo>
                <a:lnTo>
                  <a:pt x="6198489" y="42444"/>
                </a:lnTo>
                <a:lnTo>
                  <a:pt x="6217920" y="46991"/>
                </a:lnTo>
                <a:lnTo>
                  <a:pt x="6237351" y="51764"/>
                </a:lnTo>
                <a:lnTo>
                  <a:pt x="6256782" y="56761"/>
                </a:lnTo>
                <a:lnTo>
                  <a:pt x="6276213" y="61981"/>
                </a:lnTo>
                <a:lnTo>
                  <a:pt x="6295644" y="67423"/>
                </a:lnTo>
                <a:lnTo>
                  <a:pt x="6315075" y="73084"/>
                </a:lnTo>
                <a:lnTo>
                  <a:pt x="6334506" y="78965"/>
                </a:lnTo>
                <a:lnTo>
                  <a:pt x="6353937" y="85063"/>
                </a:lnTo>
                <a:lnTo>
                  <a:pt x="6373368" y="91377"/>
                </a:lnTo>
                <a:lnTo>
                  <a:pt x="6392799" y="97905"/>
                </a:lnTo>
                <a:lnTo>
                  <a:pt x="6412230" y="104646"/>
                </a:lnTo>
                <a:lnTo>
                  <a:pt x="6431661" y="111598"/>
                </a:lnTo>
                <a:lnTo>
                  <a:pt x="6451092" y="118760"/>
                </a:lnTo>
                <a:lnTo>
                  <a:pt x="6470523" y="126129"/>
                </a:lnTo>
                <a:lnTo>
                  <a:pt x="6489954" y="133704"/>
                </a:lnTo>
                <a:lnTo>
                  <a:pt x="6509385" y="141483"/>
                </a:lnTo>
                <a:lnTo>
                  <a:pt x="6528816" y="149463"/>
                </a:lnTo>
                <a:lnTo>
                  <a:pt x="6548247" y="157644"/>
                </a:lnTo>
                <a:lnTo>
                  <a:pt x="6567678" y="166023"/>
                </a:lnTo>
                <a:lnTo>
                  <a:pt x="6587109" y="174598"/>
                </a:lnTo>
                <a:lnTo>
                  <a:pt x="6606540" y="183366"/>
                </a:lnTo>
                <a:lnTo>
                  <a:pt x="6625971" y="192326"/>
                </a:lnTo>
                <a:lnTo>
                  <a:pt x="6645402" y="201476"/>
                </a:lnTo>
                <a:lnTo>
                  <a:pt x="6664833" y="210813"/>
                </a:lnTo>
                <a:lnTo>
                  <a:pt x="6684264" y="220334"/>
                </a:lnTo>
                <a:lnTo>
                  <a:pt x="6703695" y="230039"/>
                </a:lnTo>
                <a:lnTo>
                  <a:pt x="6723126" y="239923"/>
                </a:lnTo>
                <a:lnTo>
                  <a:pt x="6742557" y="249985"/>
                </a:lnTo>
                <a:lnTo>
                  <a:pt x="6761988" y="260222"/>
                </a:lnTo>
                <a:lnTo>
                  <a:pt x="6781419" y="270632"/>
                </a:lnTo>
                <a:lnTo>
                  <a:pt x="6800850" y="281212"/>
                </a:lnTo>
                <a:lnTo>
                  <a:pt x="6820281" y="291960"/>
                </a:lnTo>
                <a:lnTo>
                  <a:pt x="6839712" y="302872"/>
                </a:lnTo>
                <a:lnTo>
                  <a:pt x="6859143" y="313947"/>
                </a:lnTo>
                <a:lnTo>
                  <a:pt x="6878574" y="325181"/>
                </a:lnTo>
                <a:lnTo>
                  <a:pt x="6898005" y="336571"/>
                </a:lnTo>
                <a:lnTo>
                  <a:pt x="6917436" y="348116"/>
                </a:lnTo>
                <a:lnTo>
                  <a:pt x="6936867" y="359812"/>
                </a:lnTo>
                <a:lnTo>
                  <a:pt x="6956298" y="371655"/>
                </a:lnTo>
                <a:lnTo>
                  <a:pt x="6975729" y="383644"/>
                </a:lnTo>
                <a:lnTo>
                  <a:pt x="6995160" y="395775"/>
                </a:lnTo>
                <a:lnTo>
                  <a:pt x="7014591" y="408045"/>
                </a:lnTo>
                <a:lnTo>
                  <a:pt x="7034022" y="420452"/>
                </a:lnTo>
                <a:lnTo>
                  <a:pt x="7053453" y="432992"/>
                </a:lnTo>
                <a:lnTo>
                  <a:pt x="7072884" y="445661"/>
                </a:lnTo>
                <a:lnTo>
                  <a:pt x="7092315" y="458458"/>
                </a:lnTo>
                <a:lnTo>
                  <a:pt x="7111746" y="471379"/>
                </a:lnTo>
                <a:lnTo>
                  <a:pt x="7131177" y="484420"/>
                </a:lnTo>
                <a:lnTo>
                  <a:pt x="7150608" y="497578"/>
                </a:lnTo>
                <a:lnTo>
                  <a:pt x="7170039" y="510851"/>
                </a:lnTo>
                <a:lnTo>
                  <a:pt x="7189470" y="524234"/>
                </a:lnTo>
                <a:lnTo>
                  <a:pt x="7208901" y="537725"/>
                </a:lnTo>
                <a:lnTo>
                  <a:pt x="7228332" y="551320"/>
                </a:lnTo>
                <a:lnTo>
                  <a:pt x="7247763" y="565016"/>
                </a:lnTo>
                <a:lnTo>
                  <a:pt x="7267194" y="578810"/>
                </a:lnTo>
                <a:lnTo>
                  <a:pt x="7286625" y="592697"/>
                </a:lnTo>
                <a:lnTo>
                  <a:pt x="7306056" y="606676"/>
                </a:lnTo>
                <a:lnTo>
                  <a:pt x="7325487" y="620741"/>
                </a:lnTo>
                <a:lnTo>
                  <a:pt x="7344918" y="634890"/>
                </a:lnTo>
                <a:lnTo>
                  <a:pt x="7364349" y="649120"/>
                </a:lnTo>
                <a:lnTo>
                  <a:pt x="7383780" y="663426"/>
                </a:lnTo>
                <a:lnTo>
                  <a:pt x="7403211" y="677806"/>
                </a:lnTo>
                <a:lnTo>
                  <a:pt x="7422642" y="692255"/>
                </a:lnTo>
                <a:lnTo>
                  <a:pt x="7442073" y="706770"/>
                </a:lnTo>
                <a:lnTo>
                  <a:pt x="7461504" y="721347"/>
                </a:lnTo>
                <a:lnTo>
                  <a:pt x="7480935" y="735984"/>
                </a:lnTo>
                <a:lnTo>
                  <a:pt x="7500366" y="750676"/>
                </a:lnTo>
                <a:lnTo>
                  <a:pt x="7519797" y="765419"/>
                </a:lnTo>
                <a:lnTo>
                  <a:pt x="7539228" y="780211"/>
                </a:lnTo>
                <a:lnTo>
                  <a:pt x="7558659" y="795047"/>
                </a:lnTo>
                <a:lnTo>
                  <a:pt x="7578090" y="809924"/>
                </a:lnTo>
                <a:lnTo>
                  <a:pt x="7597521" y="824837"/>
                </a:lnTo>
                <a:lnTo>
                  <a:pt x="7616952" y="839785"/>
                </a:lnTo>
                <a:lnTo>
                  <a:pt x="7636383" y="854761"/>
                </a:lnTo>
                <a:lnTo>
                  <a:pt x="7655814" y="869764"/>
                </a:lnTo>
                <a:lnTo>
                  <a:pt x="7675245" y="884789"/>
                </a:lnTo>
                <a:lnTo>
                  <a:pt x="7694676" y="899833"/>
                </a:lnTo>
                <a:lnTo>
                  <a:pt x="7714107" y="914892"/>
                </a:lnTo>
                <a:lnTo>
                  <a:pt x="7733538" y="929961"/>
                </a:lnTo>
                <a:lnTo>
                  <a:pt x="7752969" y="945039"/>
                </a:lnTo>
                <a:lnTo>
                  <a:pt x="7772400" y="960119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Box 32"/>
          <p:cNvSpPr/>
          <p:nvPr/>
        </p:nvSpPr>
        <p:spPr>
          <a:xfrm>
            <a:off x="795600" y="45262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40" b="1" u="none" strike="noStrike">
                <a:solidFill>
                  <a:srgbClr val="C0392B"/>
                </a:solidFill>
                <a:effectLst/>
                <a:uFillTx/>
                <a:latin typeface="DejaVu Sans Mono"/>
              </a:rPr>
              <a:t>ինչ վերականգնում են նմուշները  ·  1 պարբերություն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Box 33"/>
          <p:cNvSpPr/>
          <p:nvPr/>
        </p:nvSpPr>
        <p:spPr>
          <a:xfrm>
            <a:off x="8933760" y="2331720"/>
            <a:ext cx="2742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8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կարմիր կետերը =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60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միայն այն պահերը,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4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երբ ԱԹԿ-ն նայել է</a:t>
            </a:r>
            <a:endParaRPr lang="en-US" sz="14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Rounded Rectangle 34"/>
          <p:cNvSpPr/>
          <p:nvPr/>
        </p:nvSpPr>
        <p:spPr>
          <a:xfrm>
            <a:off x="8933760" y="3611880"/>
            <a:ext cx="2834280" cy="1051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| 1520 - 15x100 |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A1F24"/>
                </a:solidFill>
                <a:effectLst/>
                <a:uFillTx/>
                <a:latin typeface="Courier New"/>
              </a:rPr>
              <a:t>=  20 Hz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Rounded Rectangle 35"/>
          <p:cNvSpPr/>
          <p:nvPr/>
        </p:nvSpPr>
        <p:spPr>
          <a:xfrm>
            <a:off x="658440" y="5139000"/>
            <a:ext cx="10874520" cy="80424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Հսկիչը ճշգրտորեն ցույց էր տալիս առանցքակալի քայքայումը՝ պիտակավորված որպես բեռի դանդաղ փոփոխություն։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8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40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ԴԱՏԱՎՃԻՌԸ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Box 5"/>
          <p:cNvSpPr/>
          <p:nvPr/>
        </p:nvSpPr>
        <p:spPr>
          <a:xfrm>
            <a:off x="658440" y="1965960"/>
            <a:ext cx="108745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lang="en-US" sz="36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Ոչինչ խափանված չէր։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288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Ամեն մասը համապատասխանում էր բնութագրին։</a:t>
            </a:r>
            <a:endParaRPr lang="en-US" sz="2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36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Համակարգը երբեք բնութագրված չէր։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3" name="TextBox 7"/>
          <p:cNvSpPr/>
          <p:nvPr/>
        </p:nvSpPr>
        <p:spPr>
          <a:xfrm>
            <a:off x="658440" y="4892040"/>
            <a:ext cx="99601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Ալիասինգը անվերադարձ է։ Ոչ մի հետագա ֆիլտր, ոչ խելացի ծրագիր, ոչ մեքենայական ուսուցում չի վերականգնի հաճախությունը, որը չեք նմուշառել։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41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9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Ինչը բացակայում էր</a:t>
            </a:r>
            <a:endParaRPr lang="en-US" sz="31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Մեկ տող, մեկ փաստաթղթում, որը ոչ ոք չգրեց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Rounded Rectangle 7"/>
          <p:cNvSpPr/>
          <p:nvPr/>
        </p:nvSpPr>
        <p:spPr>
          <a:xfrm>
            <a:off x="658440" y="2286000"/>
            <a:ext cx="10874520" cy="123408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38100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590" b="1" u="none" strike="noStrike">
                <a:solidFill>
                  <a:srgbClr val="F7F5F1"/>
                </a:solidFill>
                <a:effectLst/>
                <a:uFillTx/>
                <a:latin typeface="DejaVu Sans Mono"/>
              </a:rPr>
              <a:t>Թողունակություն.  ≥ 4 kHz, հակաալիասինգային.    Նմուշառում.  ≥ 8 kHz։</a:t>
            </a:r>
            <a:endParaRPr lang="en-US" sz="25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Box 8"/>
          <p:cNvSpPr/>
          <p:nvPr/>
        </p:nvSpPr>
        <p:spPr>
          <a:xfrm>
            <a:off x="658440" y="3794760"/>
            <a:ext cx="1087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C0392B"/>
                </a:solidFill>
                <a:effectLst/>
                <a:uFillTx/>
                <a:latin typeface="DejaVu Sans"/>
              </a:rPr>
              <a:t>Մեկ տող։ Մեկ շարժիչ։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Box 9"/>
          <p:cNvSpPr/>
          <p:nvPr/>
        </p:nvSpPr>
        <p:spPr>
          <a:xfrm>
            <a:off x="658440" y="4572000"/>
            <a:ext cx="108745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Սա նաև ձեր պատասխանն է 4-րդ հարցմանը — տարբերակ Բ։ Եվ սա հենց այն բնութագրային տողն է, որը ձեզ խնդրեցի գրել տասնհինգ րոպե առաջ։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20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3-րդ դասախոսությունը այն մասին է, թե ինչպես այդ տողը դառնում է ԱԹԿ-ի կարգավորում։ 2-րդ լաբորատորիայում ալիասինգը կստեղծեք ձեր ձեռքերով։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42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Չորս բան՝ հիշելու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8" name="TextBox 6"/>
          <p:cNvSpPr/>
          <p:nvPr/>
        </p:nvSpPr>
        <p:spPr>
          <a:xfrm>
            <a:off x="658440" y="187452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1435680" y="18561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Չափումը շղթա է, և այն սկսվում է տվիչից առաջ։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Box 8"/>
          <p:cNvSpPr/>
          <p:nvPr/>
        </p:nvSpPr>
        <p:spPr>
          <a:xfrm>
            <a:off x="1435680" y="225864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Պտուտակը, ամրակն ու իրանը ձեր չափիչ սարքի մասն են։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Box 9"/>
          <p:cNvSpPr/>
          <p:nvPr/>
        </p:nvSpPr>
        <p:spPr>
          <a:xfrm>
            <a:off x="658440" y="289872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10"/>
          <p:cNvSpPr/>
          <p:nvPr/>
        </p:nvSpPr>
        <p:spPr>
          <a:xfrm>
            <a:off x="1435680" y="28803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29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Որոշ կորուստներ անվերադարձ են։</a:t>
            </a:r>
            <a:endParaRPr lang="en-US" sz="20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11"/>
          <p:cNvSpPr/>
          <p:nvPr/>
        </p:nvSpPr>
        <p:spPr>
          <a:xfrm>
            <a:off x="1435680" y="328284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Ալիասինգը և բացակայող ժամանականիշը հետագայում ուղղելի չեն։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Box 12"/>
          <p:cNvSpPr/>
          <p:nvPr/>
        </p:nvSpPr>
        <p:spPr>
          <a:xfrm>
            <a:off x="658440" y="392292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13"/>
          <p:cNvSpPr/>
          <p:nvPr/>
        </p:nvSpPr>
        <p:spPr>
          <a:xfrm>
            <a:off x="1435680" y="39045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Սարքի փոքրացումը փոխզիջում է, ոչ բարելավում։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Box 14"/>
          <p:cNvSpPr/>
          <p:nvPr/>
        </p:nvSpPr>
        <p:spPr>
          <a:xfrm>
            <a:off x="1435680" y="430668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4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k ∝ L, m ∝ L³, f₀ ∝ 1/L — թողունակությունը վեր, աղմուկի հատակն էլ վեր։</a:t>
            </a:r>
            <a:endParaRPr lang="en-US" sz="1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15"/>
          <p:cNvSpPr/>
          <p:nvPr/>
        </p:nvSpPr>
        <p:spPr>
          <a:xfrm>
            <a:off x="658440" y="4946760"/>
            <a:ext cx="685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Courier New"/>
              </a:rPr>
              <a:t>04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Box 16"/>
          <p:cNvSpPr/>
          <p:nvPr/>
        </p:nvSpPr>
        <p:spPr>
          <a:xfrm>
            <a:off x="1435680" y="49287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Տեխնիկական բնութագիրն է արդյունքը։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Box 17"/>
          <p:cNvSpPr/>
          <p:nvPr/>
        </p:nvSpPr>
        <p:spPr>
          <a:xfrm>
            <a:off x="1435680" y="533088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Յոթ տող, յուրաքանչյուրը հիմնավորմամբ։ Սարքերի կոդերը գալիս են հետո։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1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43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Ելքի տոմս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Անանուն։ Հանձնե՛ք դռան մոտ — երկու մասն էլ։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Rounded Rectangle 7"/>
          <p:cNvSpPr/>
          <p:nvPr/>
        </p:nvSpPr>
        <p:spPr>
          <a:xfrm>
            <a:off x="658440" y="1965960"/>
            <a:ext cx="5348880" cy="6397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1  ·  ՄԵԿ ԲՆՈՒԹԱԳՐԱՅԻՆ ՏՈՂ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8"/>
          <p:cNvSpPr/>
          <p:nvPr/>
        </p:nvSpPr>
        <p:spPr>
          <a:xfrm>
            <a:off x="731520" y="2834640"/>
            <a:ext cx="52117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169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Դրոնը պետք է բարձրությունը պահի ±0.5 մ ճշտությամբ։</a:t>
            </a:r>
            <a:endParaRPr lang="en-US" sz="1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Գրե՛ք ՄԵԿ բնութագրային տող նրա ճնշման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տվիչի համար — այն տողը, որը կարծում եք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ամենակարևորն է, իր թվով։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Rounded Rectangle 9"/>
          <p:cNvSpPr/>
          <p:nvPr/>
        </p:nvSpPr>
        <p:spPr>
          <a:xfrm>
            <a:off x="6464880" y="1965960"/>
            <a:ext cx="5348880" cy="63972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4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2  ·  ԱՄԵՆԱԱՆՀԱՍԿԱՆԱԼԻ ԿԵՏԸ</a:t>
            </a:r>
            <a:endParaRPr lang="en-US" sz="14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Box 10"/>
          <p:cNvSpPr/>
          <p:nvPr/>
        </p:nvSpPr>
        <p:spPr>
          <a:xfrm>
            <a:off x="6537960" y="2834640"/>
            <a:ext cx="52117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Ո՞րն է այսօրվանից այն մեկ բանը, որում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ամենաքիչ վստահ եք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200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Մեկ նախադասություն։ Երեք ամենահաճախ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lang="en-US" sz="1720" b="0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հանդիպողին կպատասխանեմ 2-րդ դասախոսության սկզբում։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11"/>
          <p:cNvSpPr/>
          <p:nvPr/>
        </p:nvSpPr>
        <p:spPr>
          <a:xfrm>
            <a:off x="658440" y="5349240"/>
            <a:ext cx="10874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i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Այս դասընթացը դասավանդվում է առաջին անգամ։ Ձեր անհասկանալի կետերը իրապես փոխում են այն, ինչ տեղի կունենա հաջորդ շաբաթ։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2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Arial"/>
              </a:rPr>
              <a:t>44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4"/>
          <p:cNvSpPr/>
          <p:nvPr/>
        </p:nvSpPr>
        <p:spPr>
          <a:xfrm>
            <a:off x="658440" y="475560"/>
            <a:ext cx="1087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1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2-րդ շաբաթ. Լաբորատորիա 1</a:t>
            </a:r>
            <a:endParaRPr lang="en-US" sz="30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6" name="TextBox 6"/>
          <p:cNvSpPr/>
          <p:nvPr/>
        </p:nvSpPr>
        <p:spPr>
          <a:xfrm>
            <a:off x="658440" y="1353240"/>
            <a:ext cx="1087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DejaVu Sans"/>
              </a:rPr>
              <a:t>Datasheet-ից տվյալ — և այո, դա տեսությունից առաջ է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7" name="Table 7"/>
          <p:cNvGraphicFramePr/>
          <p:nvPr/>
        </p:nvGraphicFramePr>
        <p:xfrm>
          <a:off x="658440" y="1874520"/>
          <a:ext cx="10874520" cy="3097080"/>
        </p:xfrm>
        <a:graphic>
          <a:graphicData uri="http://schemas.openxmlformats.org/drawingml/2006/table">
            <a:tbl>
              <a:tblPr/>
              <a:tblGrid>
                <a:gridCol w="7829640"/>
                <a:gridCol w="3044880"/>
              </a:tblGrid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Լաբորատորիայում դուք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Շղթայի որ փուլը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Կկարդաք սնման և տրամաբանական մակարդակները datasheet-ից ՄԻՆՉ լարման միացումը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9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1-ին փուլից առաջ</a:t>
                      </a:r>
                      <a:endParaRPr lang="en-US" sz="149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Կմիացնեք մեկ I²C տվիչ Nucleo տախտակին՝ ձգող դիմադրություններով</a:t>
                      </a:r>
                      <a:endParaRPr lang="en-US" sz="14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փուլ 3 → 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Կապացուցեք, որ սարքը հենց այն սարքն է  (սարքի ID ռեգիստր)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փուլ 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7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Կկարգավորեք չափման տիրույթը և ելքային տվյալների հաճախությունը</a:t>
                      </a:r>
                      <a:endParaRPr lang="en-US" sz="147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փուլ 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Կվերածեք չմշակված լրացուցիչ կոդերը ՄՀ միավորների — ձեռքով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փուլ 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800">
                <a:tc>
                  <a:txBody>
                    <a:bodyPr tIns="2736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Կապացուցեք, որ թիվը ճիշտ է. հանգստի վիճակում մեկ առանցքը պետք է ցույց տա ≈ 9.81 m/s²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 tIns="27360" bIns="2736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DejaVu Sans"/>
                        </a:rPr>
                        <a:t>փուլ 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738" name="Rounded Rectangle 8"/>
          <p:cNvSpPr/>
          <p:nvPr/>
        </p:nvSpPr>
        <p:spPr>
          <a:xfrm>
            <a:off x="658440" y="4937760"/>
            <a:ext cx="10874520" cy="56664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Ոչ մի ծրագրավորում։ Տախտակները արդեն ծրագրավորված են — տվիչը կառավարում եք սերիական կոնսոլից։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Rounded Rectangle 9"/>
          <p:cNvSpPr/>
          <p:nvPr/>
        </p:nvSpPr>
        <p:spPr>
          <a:xfrm>
            <a:off x="658440" y="56145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Նախալաբորատոր թերթը արգելակ է. առանց ստորագրված նախալաբորատորի՝ լարում չկա։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F24"/>
                </a:solidFill>
                <a:effectLst/>
                <a:uFillTx/>
                <a:latin typeface="DejaVu Sans"/>
              </a:rPr>
              <a:t>Այն պարունակում է մեկ էջ I²C ներածություն և կոնսոլի ուղեցույցը — կարդացե՛ք մինչ երեքշաբթի։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1" name="TextBox 2"/>
          <p:cNvSpPr/>
          <p:nvPr/>
        </p:nvSpPr>
        <p:spPr>
          <a:xfrm>
            <a:off x="658440" y="6400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DejaVu Sans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Box 3"/>
          <p:cNvSpPr/>
          <p:nvPr/>
        </p:nvSpPr>
        <p:spPr>
          <a:xfrm>
            <a:off x="10618920" y="640080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Arial"/>
              </a:rPr>
              <a:t>45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Box 4"/>
          <p:cNvSpPr/>
          <p:nvPr/>
        </p:nvSpPr>
        <p:spPr>
          <a:xfrm>
            <a:off x="658440" y="274320"/>
            <a:ext cx="10874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6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ՀԱՋՈՐԴԸ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Box 5"/>
          <p:cNvSpPr/>
          <p:nvPr/>
        </p:nvSpPr>
        <p:spPr>
          <a:xfrm>
            <a:off x="658440" y="128016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Դասախոսություն 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Box 6"/>
          <p:cNvSpPr/>
          <p:nvPr/>
        </p:nvSpPr>
        <p:spPr>
          <a:xfrm>
            <a:off x="658440" y="205740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E7C86"/>
                </a:solidFill>
                <a:effectLst/>
                <a:uFillTx/>
                <a:latin typeface="DejaVu Sans"/>
              </a:rPr>
              <a:t>Տվիչների բնութագրերը և ընտրությունը datasheet-ի հիման վրա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Box 7"/>
          <p:cNvSpPr/>
          <p:nvPr/>
        </p:nvSpPr>
        <p:spPr>
          <a:xfrm>
            <a:off x="658440" y="2834640"/>
            <a:ext cx="9600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lang="en-US" sz="2100" b="0" u="none" strike="noStrike">
                <a:solidFill>
                  <a:srgbClr val="B8C0C6"/>
                </a:solidFill>
                <a:effectLst/>
                <a:uFillTx/>
                <a:latin typeface="DejaVu Sans"/>
              </a:rPr>
              <a:t>Բերե՛ք նոութբուք կամ տպված datasheet։ Կգտնենք մի թիվ, որը որոշում է նախագիծը — և այն առաջին էջում չի լինելու։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Rectangle 8"/>
          <p:cNvSpPr/>
          <p:nvPr/>
        </p:nvSpPr>
        <p:spPr>
          <a:xfrm>
            <a:off x="658440" y="402336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Box 9"/>
          <p:cNvSpPr/>
          <p:nvPr/>
        </p:nvSpPr>
        <p:spPr>
          <a:xfrm>
            <a:off x="658440" y="431604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D98324"/>
                </a:solidFill>
                <a:effectLst/>
                <a:uFillTx/>
                <a:latin typeface="DejaVu Sans"/>
              </a:rPr>
              <a:t>ՄԻՆՉ ՀԱՋՈՐԴ ՇԱԲԱԹ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Box 10"/>
          <p:cNvSpPr/>
          <p:nvPr/>
        </p:nvSpPr>
        <p:spPr>
          <a:xfrm>
            <a:off x="658440" y="4681800"/>
            <a:ext cx="100580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45000"/>
              </a:lnSpc>
            </a:pPr>
            <a:r>
              <a:rPr lang="en-US" sz="1620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1 ·  Ձևավորող թեստ (6 հարց, առանց գնահատականի) — կտեղադրվի այսօր երեկոյան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5000"/>
              </a:lnSpc>
            </a:pPr>
            <a:r>
              <a:rPr lang="en-US" sz="1629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2 ·  Նախալաբորատոր թերթ Լաբորատորիա 1-ի համար, ներառյալ I²C ներածությունը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5000"/>
              </a:lnSpc>
            </a:pPr>
            <a:r>
              <a:rPr lang="en-US" sz="1800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3 ·  Նախագծի արդյունք 1. ձեր յոթ բնութագրային տողերը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45000"/>
              </a:lnSpc>
            </a:pPr>
            <a:r>
              <a:rPr lang="en-US" sz="1679" b="0" u="none" strike="noStrike">
                <a:solidFill>
                  <a:srgbClr val="F7F5F1"/>
                </a:solidFill>
                <a:effectLst/>
                <a:uFillTx/>
                <a:latin typeface="DejaVu Sans"/>
              </a:rPr>
              <a:t>4 ·  Ընթերցանություն. Fraden, Handbook of Modern Sensors — գլ. 1–2</a:t>
            </a:r>
            <a:endParaRPr lang="en-US" sz="167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LibreOffice/26.2.5.2$Linux_X86_64 LibreOffice_project/6d2b0d33fb0f5da53a12f98bed3e9973e56ff1f0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2026-08-25T15:14:56Z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